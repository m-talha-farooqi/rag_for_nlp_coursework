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73" r:id="rId9"/>
    <p:sldId id="263" r:id="rId10"/>
    <p:sldId id="264" r:id="rId11"/>
    <p:sldId id="265" r:id="rId12"/>
    <p:sldId id="266" r:id="rId13"/>
    <p:sldId id="267" r:id="rId14"/>
    <p:sldId id="272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A9E06-FDD4-18CE-DA92-8FC7E6E62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E467E-FB58-ADE1-0A2C-775DF2169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F2EC7-06E6-3CB2-0AED-86A61DD9A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8530A-A4FB-49FF-A56B-7222E309FC9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12FF6-1ACB-8AA2-FFCA-961FB8BB0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AFA4B-C816-5D21-DE90-4544B4FE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0518-6F53-40FF-BC60-75F5BCEDA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709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5788F-D739-EDE8-9500-2ECDC865C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85F98-98DA-6FDA-734B-2EB23C78E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FF500-7860-E9AB-29F3-45311010D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8530A-A4FB-49FF-A56B-7222E309FC9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35ABF-829B-0679-EF94-CA886C7C4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F57E0-8146-85F9-DC5A-08CF73638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0518-6F53-40FF-BC60-75F5BCEDA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83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D513D-FC23-1566-7B04-AAF9F61BC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7E113-3DE8-9F9F-1AB6-3FA85BFD1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B00EF-286E-B5AA-C303-94C9A04CF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8530A-A4FB-49FF-A56B-7222E309FC9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6D132-8845-83ED-D965-C5C2362EF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54B9A-8A46-1F5E-ED80-BF97E7E4B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0518-6F53-40FF-BC60-75F5BCEDA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589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5686D-6E09-C7BB-A958-05BB89F17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562C0-69D8-067E-7FE0-039D4F908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9EBE8-4908-6332-7306-510E1C96F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FAC60-C310-F1A1-3E9F-30F5EFA65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8530A-A4FB-49FF-A56B-7222E309FC9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4F3F9-DDA0-BC86-68E9-FFD338DD4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1900A-E7F3-B5C6-9963-D9F65F345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0518-6F53-40FF-BC60-75F5BCEDA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76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01212-FB5C-87FA-8C88-466F25ED9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90507-E7CF-3443-84E3-86054AABC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EB190-63C1-0AB0-D128-90C1286DF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14B6B8-7D63-1A2B-6A74-8578F87D5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63F5F8-A384-500E-BE60-01665CA62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BB984B-8CB1-F5F5-80E5-369A1288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8530A-A4FB-49FF-A56B-7222E309FC9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B90460-4464-5D0A-F0BF-FD7FDBDF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146D61-2A0C-D8C3-7BFC-B7FBEB45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0518-6F53-40FF-BC60-75F5BCEDA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74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8089-9180-2545-2B28-F32D9F167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0BDBC0-9750-7903-22A8-BF65F1F4C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8530A-A4FB-49FF-A56B-7222E309FC9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C8F5D7-C082-3397-3975-602836B8F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6271E-B1DE-80D3-A26C-5D4D6181D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0518-6F53-40FF-BC60-75F5BCEDA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33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272054-95DE-F2E8-F896-FFA37F852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8530A-A4FB-49FF-A56B-7222E309FC9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B80859-1465-B687-41B5-679CE4B4E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E15C1-139F-C875-B6DA-2FF4639CB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0518-6F53-40FF-BC60-75F5BCEDA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47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2E4F-D9F7-2C72-67A9-A3757F6DF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D4011-AF28-ECA3-870F-340352F81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90B54-83CF-8B89-CBEB-26D147837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83793-3D43-06F7-AC6C-6A9D79C51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8530A-A4FB-49FF-A56B-7222E309FC9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68186-8A02-490B-D041-DC3717E75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D8190-39FC-853A-1B74-669EC109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0518-6F53-40FF-BC60-75F5BCEDA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93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F59F2-16D4-FD48-9086-C4185FC70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B4537-C565-DFC1-0EAB-E1141268FD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B115A-CA67-5377-795D-C8C0B1C16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14636-1CE4-7109-50B8-EF14E8E49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8530A-A4FB-49FF-A56B-7222E309FC9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5DBE7-5144-31E7-31CB-1F0855B1A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1EB4D-9BDC-FBCE-7ADD-1386692B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0518-6F53-40FF-BC60-75F5BCEDA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543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231DD-92AF-0E5B-F650-1D3942406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AC3613-37A1-1499-D879-763F128C8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88529-F7AF-8BF8-086A-CEAD479DA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8530A-A4FB-49FF-A56B-7222E309FC9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DCE75-1770-788C-19D7-1DF1484B9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BB4AE-AD9B-F50C-D7E1-A77D718A2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0518-6F53-40FF-BC60-75F5BCEDA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0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2C4B3C-1547-894B-20A6-1DD6B5DFB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071D10-0AB7-85F5-6826-6501A82A2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5D793-26D1-C660-D779-3B68594F7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8530A-A4FB-49FF-A56B-7222E309FC9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CA971-C927-222A-E2EC-4BBA1CEFD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1AE70-5828-CB6C-F54D-B928654C2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0518-6F53-40FF-BC60-75F5BCEDA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3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75F9BA-2AA9-7118-6ABB-D52CCF908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C4390-6F09-8B76-263B-4966093EC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DCB48-E8AA-4726-6877-E558EA1222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8530A-A4FB-49FF-A56B-7222E309FC9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F1B50-7870-93A1-9160-4A7FF0C1A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A511F-C33A-323A-E5A6-D62C95815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00518-6F53-40FF-BC60-75F5BCEDA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53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2F0AA-50B7-ADC4-C448-E73052063C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BERT Model</a:t>
            </a:r>
          </a:p>
        </p:txBody>
      </p:sp>
    </p:spTree>
    <p:extLst>
      <p:ext uri="{BB962C8B-B14F-4D97-AF65-F5344CB8AC3E}">
        <p14:creationId xmlns:p14="http://schemas.microsoft.com/office/powerpoint/2010/main" val="3123120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C2266-9ECC-A720-92FB-26C0F83FF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26EB7-2D6A-351B-1FF5-D827219D7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BERT</a:t>
            </a:r>
            <a:r>
              <a:rPr lang="en-US" dirty="0"/>
              <a:t> stands for </a:t>
            </a:r>
            <a:r>
              <a:rPr lang="en-US" b="1" dirty="0"/>
              <a:t>Bidirectional Encoder Representations from Transformers</a:t>
            </a:r>
          </a:p>
          <a:p>
            <a:r>
              <a:rPr lang="en-US" dirty="0"/>
              <a:t>It was introduced by Google AI in </a:t>
            </a:r>
            <a:r>
              <a:rPr lang="en-US" b="1" dirty="0"/>
              <a:t>2018</a:t>
            </a:r>
            <a:r>
              <a:rPr lang="en-US" dirty="0"/>
              <a:t> (by Jacob Devlin et al.) and revolutionized </a:t>
            </a:r>
            <a:r>
              <a:rPr lang="en-US" b="1" dirty="0"/>
              <a:t>Natural Language Processing (NLP)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30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306E-4B73-20CE-67B7-3E0DB3975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Before BERT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CDAF2-BB3B-B12E-A549-BC3A4CA33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Earlier models like </a:t>
            </a:r>
            <a:r>
              <a:rPr lang="en-US" b="1" dirty="0"/>
              <a:t>Word2Vec</a:t>
            </a:r>
            <a:r>
              <a:rPr lang="en-US" dirty="0"/>
              <a:t> and </a:t>
            </a:r>
            <a:r>
              <a:rPr lang="en-US" b="1" dirty="0" err="1"/>
              <a:t>GloVe</a:t>
            </a:r>
            <a:r>
              <a:rPr lang="en-US" dirty="0"/>
              <a:t> created </a:t>
            </a:r>
            <a:r>
              <a:rPr lang="en-US" i="1" dirty="0"/>
              <a:t>static embeddings</a:t>
            </a:r>
            <a:r>
              <a:rPr lang="en-US" dirty="0"/>
              <a:t> —</a:t>
            </a:r>
            <a:br>
              <a:rPr lang="en-US" dirty="0"/>
            </a:br>
            <a:r>
              <a:rPr lang="en-US" dirty="0"/>
              <a:t>the word “bank” always had one vector, whether in:</a:t>
            </a:r>
          </a:p>
          <a:p>
            <a:pPr lvl="1"/>
            <a:r>
              <a:rPr lang="en-US" dirty="0"/>
              <a:t>“river bank” or</a:t>
            </a:r>
          </a:p>
          <a:p>
            <a:pPr lvl="1"/>
            <a:r>
              <a:rPr lang="en-US" dirty="0"/>
              <a:t>“bank account”</a:t>
            </a:r>
          </a:p>
          <a:p>
            <a:r>
              <a:rPr lang="en-US" dirty="0"/>
              <a:t>These models didn’t understand </a:t>
            </a:r>
            <a:r>
              <a:rPr lang="en-US" b="1" dirty="0"/>
              <a:t>context</a:t>
            </a:r>
            <a:r>
              <a:rPr lang="en-US" dirty="0"/>
              <a:t>.</a:t>
            </a:r>
          </a:p>
          <a:p>
            <a:r>
              <a:rPr lang="en-US" dirty="0"/>
              <a:t>Then came </a:t>
            </a:r>
            <a:r>
              <a:rPr lang="en-US" b="1" dirty="0"/>
              <a:t>Transformers</a:t>
            </a:r>
            <a:r>
              <a:rPr lang="en-US" dirty="0"/>
              <a:t> (by Vaswani et al., 2017) — which use </a:t>
            </a:r>
            <a:r>
              <a:rPr lang="en-US" b="1" dirty="0"/>
              <a:t>self-attention</a:t>
            </a:r>
            <a:r>
              <a:rPr lang="en-US" dirty="0"/>
              <a:t> to understand context globally.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625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991C4-25FD-5C1B-0458-4B270571A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Definition - Transformer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BF249-217F-90DE-21FF-5A1C5AFAD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say </a:t>
            </a:r>
            <a:r>
              <a:rPr lang="en-US" b="1" dirty="0"/>
              <a:t>Transformer</a:t>
            </a:r>
            <a:r>
              <a:rPr lang="en-US" dirty="0"/>
              <a:t>, we’re referring to a </a:t>
            </a:r>
            <a:r>
              <a:rPr lang="en-US" i="1" dirty="0"/>
              <a:t>specific neural network design</a:t>
            </a:r>
            <a:r>
              <a:rPr lang="en-US" dirty="0"/>
              <a:t> introduced by Vaswani et al. (2017) in</a:t>
            </a:r>
            <a:br>
              <a:rPr lang="en-US" dirty="0"/>
            </a:br>
            <a:r>
              <a:rPr lang="en-US" b="1" dirty="0"/>
              <a:t>“Attention Is All You Need.”</a:t>
            </a:r>
            <a:endParaRPr lang="en-US" dirty="0"/>
          </a:p>
          <a:p>
            <a:r>
              <a:rPr lang="en-US" dirty="0"/>
              <a:t>That paper introduced two key ideas:</a:t>
            </a:r>
          </a:p>
          <a:p>
            <a:r>
              <a:rPr lang="en-US" dirty="0"/>
              <a:t>The </a:t>
            </a:r>
            <a:r>
              <a:rPr lang="en-US" b="1" dirty="0"/>
              <a:t>self-attention mechanism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b="1" dirty="0"/>
              <a:t>stacked layer architecture</a:t>
            </a:r>
            <a:r>
              <a:rPr lang="en-US" dirty="0"/>
              <a:t> (multi-head attention + feedforward layers + residual connections + layer normalization)</a:t>
            </a:r>
          </a:p>
          <a:p>
            <a:pPr lvl="1"/>
            <a:r>
              <a:rPr lang="en-US" dirty="0"/>
              <a:t>Those architectural principles are what make a model a </a:t>
            </a:r>
            <a:r>
              <a:rPr lang="en-US" b="1" dirty="0"/>
              <a:t>Transformer</a:t>
            </a:r>
            <a:r>
              <a:rPr lang="en-US" dirty="0"/>
              <a:t> — not necessarily the presence of both encoder </a:t>
            </a:r>
            <a:r>
              <a:rPr lang="en-US" i="1" dirty="0"/>
              <a:t>and</a:t>
            </a:r>
            <a:r>
              <a:rPr lang="en-US" dirty="0"/>
              <a:t> decoder.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917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739D1-D8BF-9888-B90C-FDDCC6162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BBB74-FC06-97A7-A7E8-7A9A6F40D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174"/>
            <a:ext cx="10515600" cy="4721789"/>
          </a:xfrm>
        </p:spPr>
        <p:txBody>
          <a:bodyPr>
            <a:normAutofit/>
          </a:bodyPr>
          <a:lstStyle/>
          <a:p>
            <a:r>
              <a:rPr lang="en-US" sz="2000" dirty="0"/>
              <a:t>The </a:t>
            </a:r>
            <a:r>
              <a:rPr lang="en-US" sz="2000" b="1" dirty="0"/>
              <a:t>Transformer</a:t>
            </a:r>
            <a:r>
              <a:rPr lang="en-US" sz="2000" dirty="0"/>
              <a:t> model has two main parts:</a:t>
            </a:r>
          </a:p>
          <a:p>
            <a:pPr lvl="1"/>
            <a:r>
              <a:rPr lang="en-US" sz="1800" b="1" dirty="0"/>
              <a:t>Encoder</a:t>
            </a:r>
            <a:r>
              <a:rPr lang="en-US" sz="1800" dirty="0"/>
              <a:t> — reads input text and creates contextual representations</a:t>
            </a:r>
          </a:p>
          <a:p>
            <a:pPr lvl="1"/>
            <a:r>
              <a:rPr lang="en-US" sz="1800" b="1" dirty="0"/>
              <a:t>Decoder</a:t>
            </a:r>
            <a:r>
              <a:rPr lang="en-US" sz="1800" dirty="0"/>
              <a:t> — generates text (used in translation, GPT, etc.)</a:t>
            </a:r>
          </a:p>
          <a:p>
            <a:r>
              <a:rPr lang="en-US" sz="2400" dirty="0"/>
              <a:t>“Transformer” = a neural network built using </a:t>
            </a:r>
            <a:r>
              <a:rPr lang="en-US" sz="2400" b="1" dirty="0"/>
              <a:t>self-attention layers</a:t>
            </a:r>
            <a:br>
              <a:rPr lang="en-US" sz="2400" dirty="0"/>
            </a:br>
            <a:r>
              <a:rPr lang="en-US" sz="2400" dirty="0"/>
              <a:t>(not necessarily both encoder and decoder blocks).</a:t>
            </a:r>
            <a:endParaRPr lang="en-US" sz="2200" dirty="0"/>
          </a:p>
          <a:p>
            <a:r>
              <a:rPr lang="en-US" sz="2000" dirty="0"/>
              <a:t>BERT only uses the </a:t>
            </a:r>
            <a:r>
              <a:rPr lang="en-US" sz="2000" b="1" dirty="0"/>
              <a:t>Encoder part</a:t>
            </a:r>
            <a:r>
              <a:rPr lang="en-US" sz="2000" dirty="0"/>
              <a:t> of the Transformer — that’s why it’s great for </a:t>
            </a:r>
            <a:r>
              <a:rPr lang="en-US" sz="2000" b="1" dirty="0"/>
              <a:t>understanding</a:t>
            </a:r>
            <a:r>
              <a:rPr lang="en-US" sz="2000" dirty="0"/>
              <a:t> text, not generating it.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4E017-83CD-9C1D-B0F1-B8B211B29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365" y="4126321"/>
            <a:ext cx="5524531" cy="217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202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EA907-82F7-C50A-5BF3-19F677051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between BERT and 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0EC54-33F2-2C4C-F538-D87379EF4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BERT use only encoder part of transformers</a:t>
            </a:r>
          </a:p>
          <a:p>
            <a:r>
              <a:rPr lang="en-US" dirty="0"/>
              <a:t>GPT use only decoder part of transformers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B41198-F6B8-E334-94D4-6644D1AFD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652" y="3180020"/>
            <a:ext cx="9666696" cy="29969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BF46B1-A970-548E-5FCA-742B97A46C18}"/>
              </a:ext>
            </a:extLst>
          </p:cNvPr>
          <p:cNvSpPr txBox="1"/>
          <p:nvPr/>
        </p:nvSpPr>
        <p:spPr>
          <a:xfrm>
            <a:off x="1262652" y="6213989"/>
            <a:ext cx="1020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*you </a:t>
            </a:r>
            <a:r>
              <a:rPr lang="en-US" b="1" dirty="0"/>
              <a:t>can</a:t>
            </a:r>
            <a:r>
              <a:rPr lang="en-US" dirty="0"/>
              <a:t> use GPT (decoder-only models) for classification — but it’s not what it was originally designed for.</a:t>
            </a:r>
          </a:p>
        </p:txBody>
      </p:sp>
    </p:spTree>
    <p:extLst>
      <p:ext uri="{BB962C8B-B14F-4D97-AF65-F5344CB8AC3E}">
        <p14:creationId xmlns:p14="http://schemas.microsoft.com/office/powerpoint/2010/main" val="348890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6E53D-97D1-A864-6EE3-8A87762B0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 Vs GPT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67C08C-1EFE-8F06-D03B-63C30ABC2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3798" y="2194932"/>
            <a:ext cx="9120192" cy="374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73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0C60-CAA5-75CA-9F0B-6710988D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important architectures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27E413-1B8D-547C-B0F8-CD253BEBE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6384" y="2155656"/>
            <a:ext cx="6737281" cy="386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481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196E2-3612-15B4-854A-44FDB2CD8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T5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A3DD-247B-98B3-D8A9-E505C5A95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T5 = Full Transformer (Encoder + Decoder)</a:t>
            </a:r>
          </a:p>
          <a:p>
            <a:r>
              <a:rPr lang="en-US" dirty="0"/>
              <a:t>T5 (Text-to-Text Transfer Transformer) combines:</a:t>
            </a:r>
          </a:p>
          <a:p>
            <a:pPr lvl="1"/>
            <a:r>
              <a:rPr lang="en-US" dirty="0"/>
              <a:t>🧠 </a:t>
            </a:r>
            <a:r>
              <a:rPr lang="en-US" b="1" dirty="0"/>
              <a:t>Encoder:</a:t>
            </a:r>
            <a:r>
              <a:rPr lang="en-US" dirty="0"/>
              <a:t> understands input deeply (like BERT)</a:t>
            </a:r>
          </a:p>
          <a:p>
            <a:pPr lvl="1"/>
            <a:r>
              <a:rPr lang="en-US" dirty="0"/>
              <a:t>🗣️ </a:t>
            </a:r>
            <a:r>
              <a:rPr lang="en-US" b="1" dirty="0"/>
              <a:t>Decoder:</a:t>
            </a:r>
            <a:r>
              <a:rPr lang="en-US" dirty="0"/>
              <a:t> generates output text (like GPT)</a:t>
            </a:r>
          </a:p>
          <a:p>
            <a:r>
              <a:rPr lang="en-US" dirty="0"/>
              <a:t>So T5 can </a:t>
            </a:r>
            <a:r>
              <a:rPr lang="en-US" i="1" dirty="0"/>
              <a:t>understand and generate</a:t>
            </a:r>
            <a:r>
              <a:rPr lang="en-US" dirty="0"/>
              <a:t> at the same time.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E5D50-BFC1-4123-1310-8976EE616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763" y="4153763"/>
            <a:ext cx="5515921" cy="244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022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1F34-62DB-DD2A-3972-0533BD67F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T5 not always better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CAA031-8057-9609-5A03-625FC24491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6770" y="2290456"/>
            <a:ext cx="8714406" cy="265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150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B4A52-8BAE-25A0-598A-9381D88FA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FF4174-694D-DE47-80FF-6A35720FB7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7418" y="1466783"/>
            <a:ext cx="9307396" cy="3704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C27792-E572-2F46-EB87-F78991BD27DE}"/>
              </a:ext>
            </a:extLst>
          </p:cNvPr>
          <p:cNvSpPr txBox="1"/>
          <p:nvPr/>
        </p:nvSpPr>
        <p:spPr>
          <a:xfrm>
            <a:off x="1217418" y="5391217"/>
            <a:ext cx="6747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*GPT or LSTMs read text in </a:t>
            </a:r>
            <a:r>
              <a:rPr lang="en-US" i="1" dirty="0"/>
              <a:t>one direction</a:t>
            </a:r>
            <a:r>
              <a:rPr lang="en-US" dirty="0"/>
              <a:t> (left-to-right or right-to-left).</a:t>
            </a:r>
          </a:p>
        </p:txBody>
      </p:sp>
    </p:spTree>
    <p:extLst>
      <p:ext uri="{BB962C8B-B14F-4D97-AF65-F5344CB8AC3E}">
        <p14:creationId xmlns:p14="http://schemas.microsoft.com/office/powerpoint/2010/main" val="1975101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0E444-74EA-0A03-B17D-F94167502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 of bi-direction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E9F660-D01E-0D6A-3E8B-67A96B307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168" y="1879315"/>
            <a:ext cx="8831664" cy="354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861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E8B33-EC73-5D34-7A01-4E024CF1B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2E563D-E307-B766-B348-62AB37658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8233" y="1811481"/>
            <a:ext cx="7496415" cy="419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481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F468C-042D-B88A-883A-1CED761AE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 Architecture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86B395-6E98-08A7-09B5-B4CD20FC78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2030" y="1825625"/>
            <a:ext cx="58279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21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38F5E-9B6A-4A31-39FF-B89D3C121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Bert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57E3D2-A422-652F-9484-34F45E6FB3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5233" y="1690688"/>
            <a:ext cx="8581534" cy="458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403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25B25-C8CE-4331-A448-90D24DE90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529" y="2351241"/>
            <a:ext cx="2514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Bert Pretraining tasks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2 Tasks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4370DF-452E-DD45-A088-B0C90BCCD3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2057" y="365125"/>
            <a:ext cx="5783762" cy="575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796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002AC-E164-CEED-351C-C3058326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Successor inspired by BERT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A1387C-0DF0-964E-DDE6-6F93DB7B6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428" y="2208814"/>
            <a:ext cx="8163143" cy="363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630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8A961-FF09-4FFB-7D40-66D3CF48A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Summery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D71042-136D-6492-324A-E827831367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8689" y="1913420"/>
            <a:ext cx="7492925" cy="353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49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396</Words>
  <Application>Microsoft Office PowerPoint</Application>
  <PresentationFormat>Widescreen</PresentationFormat>
  <Paragraphs>44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BERT Model</vt:lpstr>
      <vt:lpstr>BERT</vt:lpstr>
      <vt:lpstr>The Problem Before BERT</vt:lpstr>
      <vt:lpstr>Basic Definition - Transformer Architecture </vt:lpstr>
      <vt:lpstr>Transformer Architecture </vt:lpstr>
      <vt:lpstr>Comparison between BERT and GPT</vt:lpstr>
      <vt:lpstr>BERT Vs GPT</vt:lpstr>
      <vt:lpstr>Three important architectures</vt:lpstr>
      <vt:lpstr>T5 model</vt:lpstr>
      <vt:lpstr>T5 not always better</vt:lpstr>
      <vt:lpstr>BERT</vt:lpstr>
      <vt:lpstr>Benefit of bi-direction</vt:lpstr>
      <vt:lpstr>BERT Architecture</vt:lpstr>
      <vt:lpstr>BERT Architecture</vt:lpstr>
      <vt:lpstr>Types of Bert Model</vt:lpstr>
      <vt:lpstr>Bert Pretraining tasks  2 Tasks </vt:lpstr>
      <vt:lpstr>Successor inspired by BERT</vt:lpstr>
      <vt:lpstr>Summery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BERT Model</dc:title>
  <dc:creator>Dr Ali Saeed</dc:creator>
  <cp:lastModifiedBy>Waqar Ashiq</cp:lastModifiedBy>
  <cp:revision>41</cp:revision>
  <dcterms:created xsi:type="dcterms:W3CDTF">2025-10-23T08:48:06Z</dcterms:created>
  <dcterms:modified xsi:type="dcterms:W3CDTF">2026-01-14T08:46:52Z</dcterms:modified>
</cp:coreProperties>
</file>