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554" r:id="rId2"/>
    <p:sldId id="555" r:id="rId3"/>
    <p:sldId id="574" r:id="rId4"/>
    <p:sldId id="258" r:id="rId5"/>
    <p:sldId id="260" r:id="rId6"/>
    <p:sldId id="325" r:id="rId7"/>
    <p:sldId id="327" r:id="rId8"/>
    <p:sldId id="331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3" r:id="rId18"/>
    <p:sldId id="345" r:id="rId19"/>
    <p:sldId id="268" r:id="rId20"/>
    <p:sldId id="275" r:id="rId21"/>
    <p:sldId id="372" r:id="rId22"/>
    <p:sldId id="382" r:id="rId23"/>
    <p:sldId id="274" r:id="rId24"/>
    <p:sldId id="270" r:id="rId25"/>
    <p:sldId id="278" r:id="rId26"/>
    <p:sldId id="301" r:id="rId27"/>
    <p:sldId id="303" r:id="rId28"/>
    <p:sldId id="304" r:id="rId29"/>
    <p:sldId id="305" r:id="rId30"/>
    <p:sldId id="306" r:id="rId31"/>
    <p:sldId id="307" r:id="rId32"/>
    <p:sldId id="308" r:id="rId33"/>
    <p:sldId id="316" r:id="rId34"/>
    <p:sldId id="277" r:id="rId35"/>
    <p:sldId id="312" r:id="rId36"/>
    <p:sldId id="309" r:id="rId37"/>
    <p:sldId id="311" r:id="rId38"/>
    <p:sldId id="313" r:id="rId39"/>
    <p:sldId id="314" r:id="rId40"/>
    <p:sldId id="315" r:id="rId41"/>
    <p:sldId id="276" r:id="rId42"/>
    <p:sldId id="281" r:id="rId43"/>
    <p:sldId id="27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2C27D-87A8-41D1-8EBD-D1A8C72F9C57}" v="38" dt="2024-11-13T05:46:09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qar Ashiq" userId="df8082c0668f3e8a" providerId="LiveId" clId="{6672C27D-87A8-41D1-8EBD-D1A8C72F9C57}"/>
    <pc:docChg chg="custSel addSld delSld modSld sldOrd">
      <pc:chgData name="Waqar Ashiq" userId="df8082c0668f3e8a" providerId="LiveId" clId="{6672C27D-87A8-41D1-8EBD-D1A8C72F9C57}" dt="2024-11-13T05:47:52.540" v="93" actId="2696"/>
      <pc:docMkLst>
        <pc:docMk/>
      </pc:docMkLst>
      <pc:sldChg chg="del">
        <pc:chgData name="Waqar Ashiq" userId="df8082c0668f3e8a" providerId="LiveId" clId="{6672C27D-87A8-41D1-8EBD-D1A8C72F9C57}" dt="2024-11-13T04:12:24.271" v="1" actId="2696"/>
        <pc:sldMkLst>
          <pc:docMk/>
          <pc:sldMk cId="2548337510" sldId="257"/>
        </pc:sldMkLst>
      </pc:sldChg>
      <pc:sldChg chg="modSp mod">
        <pc:chgData name="Waqar Ashiq" userId="df8082c0668f3e8a" providerId="LiveId" clId="{6672C27D-87A8-41D1-8EBD-D1A8C72F9C57}" dt="2024-11-13T04:12:11.968" v="0"/>
        <pc:sldMkLst>
          <pc:docMk/>
          <pc:sldMk cId="467738832" sldId="258"/>
        </pc:sldMkLst>
        <pc:spChg chg="mod">
          <ac:chgData name="Waqar Ashiq" userId="df8082c0668f3e8a" providerId="LiveId" clId="{6672C27D-87A8-41D1-8EBD-D1A8C72F9C57}" dt="2024-11-13T04:12:11.968" v="0"/>
          <ac:spMkLst>
            <pc:docMk/>
            <pc:sldMk cId="467738832" sldId="258"/>
            <ac:spMk id="239619" creationId="{00000000-0000-0000-0000-000000000000}"/>
          </ac:spMkLst>
        </pc:spChg>
      </pc:sldChg>
      <pc:sldChg chg="modSp mod">
        <pc:chgData name="Waqar Ashiq" userId="df8082c0668f3e8a" providerId="LiveId" clId="{6672C27D-87A8-41D1-8EBD-D1A8C72F9C57}" dt="2024-11-13T04:21:33.629" v="8" actId="20577"/>
        <pc:sldMkLst>
          <pc:docMk/>
          <pc:sldMk cId="2893604477" sldId="259"/>
        </pc:sldMkLst>
        <pc:spChg chg="mod">
          <ac:chgData name="Waqar Ashiq" userId="df8082c0668f3e8a" providerId="LiveId" clId="{6672C27D-87A8-41D1-8EBD-D1A8C72F9C57}" dt="2024-11-13T04:21:33.629" v="8" actId="20577"/>
          <ac:spMkLst>
            <pc:docMk/>
            <pc:sldMk cId="2893604477" sldId="259"/>
            <ac:spMk id="240643" creationId="{00000000-0000-0000-0000-000000000000}"/>
          </ac:spMkLst>
        </pc:spChg>
      </pc:sldChg>
      <pc:sldChg chg="modSp mod">
        <pc:chgData name="Waqar Ashiq" userId="df8082c0668f3e8a" providerId="LiveId" clId="{6672C27D-87A8-41D1-8EBD-D1A8C72F9C57}" dt="2024-11-13T04:19:12.471" v="7" actId="123"/>
        <pc:sldMkLst>
          <pc:docMk/>
          <pc:sldMk cId="1235774334" sldId="260"/>
        </pc:sldMkLst>
        <pc:spChg chg="mod">
          <ac:chgData name="Waqar Ashiq" userId="df8082c0668f3e8a" providerId="LiveId" clId="{6672C27D-87A8-41D1-8EBD-D1A8C72F9C57}" dt="2024-11-13T04:19:12.471" v="7" actId="123"/>
          <ac:spMkLst>
            <pc:docMk/>
            <pc:sldMk cId="1235774334" sldId="260"/>
            <ac:spMk id="229379" creationId="{00000000-0000-0000-0000-000000000000}"/>
          </ac:spMkLst>
        </pc:spChg>
      </pc:sldChg>
      <pc:sldChg chg="modSp mod">
        <pc:chgData name="Waqar Ashiq" userId="df8082c0668f3e8a" providerId="LiveId" clId="{6672C27D-87A8-41D1-8EBD-D1A8C72F9C57}" dt="2024-11-13T04:16:21.827" v="2" actId="1076"/>
        <pc:sldMkLst>
          <pc:docMk/>
          <pc:sldMk cId="344466271" sldId="264"/>
        </pc:sldMkLst>
        <pc:picChg chg="mod">
          <ac:chgData name="Waqar Ashiq" userId="df8082c0668f3e8a" providerId="LiveId" clId="{6672C27D-87A8-41D1-8EBD-D1A8C72F9C57}" dt="2024-11-13T04:16:21.827" v="2" actId="1076"/>
          <ac:picMkLst>
            <pc:docMk/>
            <pc:sldMk cId="344466271" sldId="264"/>
            <ac:picMk id="5" creationId="{00000000-0000-0000-0000-000000000000}"/>
          </ac:picMkLst>
        </pc:picChg>
      </pc:sldChg>
      <pc:sldChg chg="del">
        <pc:chgData name="Waqar Ashiq" userId="df8082c0668f3e8a" providerId="LiveId" clId="{6672C27D-87A8-41D1-8EBD-D1A8C72F9C57}" dt="2024-11-13T04:49:36.462" v="11" actId="2696"/>
        <pc:sldMkLst>
          <pc:docMk/>
          <pc:sldMk cId="4135778494" sldId="269"/>
        </pc:sldMkLst>
      </pc:sldChg>
      <pc:sldChg chg="modSp mod">
        <pc:chgData name="Waqar Ashiq" userId="df8082c0668f3e8a" providerId="LiveId" clId="{6672C27D-87A8-41D1-8EBD-D1A8C72F9C57}" dt="2024-11-13T04:52:18.742" v="25" actId="20577"/>
        <pc:sldMkLst>
          <pc:docMk/>
          <pc:sldMk cId="3817416267" sldId="273"/>
        </pc:sldMkLst>
        <pc:spChg chg="mod">
          <ac:chgData name="Waqar Ashiq" userId="df8082c0668f3e8a" providerId="LiveId" clId="{6672C27D-87A8-41D1-8EBD-D1A8C72F9C57}" dt="2024-11-13T04:52:18.742" v="25" actId="20577"/>
          <ac:spMkLst>
            <pc:docMk/>
            <pc:sldMk cId="3817416267" sldId="273"/>
            <ac:spMk id="3" creationId="{00000000-0000-0000-0000-000000000000}"/>
          </ac:spMkLst>
        </pc:spChg>
      </pc:sldChg>
      <pc:sldChg chg="modSp mod">
        <pc:chgData name="Waqar Ashiq" userId="df8082c0668f3e8a" providerId="LiveId" clId="{6672C27D-87A8-41D1-8EBD-D1A8C72F9C57}" dt="2024-11-13T04:54:45.472" v="30" actId="20577"/>
        <pc:sldMkLst>
          <pc:docMk/>
          <pc:sldMk cId="1659285019" sldId="274"/>
        </pc:sldMkLst>
        <pc:spChg chg="mod">
          <ac:chgData name="Waqar Ashiq" userId="df8082c0668f3e8a" providerId="LiveId" clId="{6672C27D-87A8-41D1-8EBD-D1A8C72F9C57}" dt="2024-11-13T04:54:45.472" v="30" actId="20577"/>
          <ac:spMkLst>
            <pc:docMk/>
            <pc:sldMk cId="1659285019" sldId="274"/>
            <ac:spMk id="58" creationId="{00000000-0000-0000-0000-000000000000}"/>
          </ac:spMkLst>
        </pc:spChg>
      </pc:sldChg>
      <pc:sldChg chg="ord">
        <pc:chgData name="Waqar Ashiq" userId="df8082c0668f3e8a" providerId="LiveId" clId="{6672C27D-87A8-41D1-8EBD-D1A8C72F9C57}" dt="2024-11-13T05:28:28.571" v="40"/>
        <pc:sldMkLst>
          <pc:docMk/>
          <pc:sldMk cId="965160032" sldId="277"/>
        </pc:sldMkLst>
      </pc:sldChg>
      <pc:sldChg chg="add">
        <pc:chgData name="Waqar Ashiq" userId="df8082c0668f3e8a" providerId="LiveId" clId="{6672C27D-87A8-41D1-8EBD-D1A8C72F9C57}" dt="2024-11-13T05:29:25.164" v="42"/>
        <pc:sldMkLst>
          <pc:docMk/>
          <pc:sldMk cId="357304241" sldId="278"/>
        </pc:sldMkLst>
      </pc:sldChg>
      <pc:sldChg chg="del">
        <pc:chgData name="Waqar Ashiq" userId="df8082c0668f3e8a" providerId="LiveId" clId="{6672C27D-87A8-41D1-8EBD-D1A8C72F9C57}" dt="2024-11-13T05:28:59.822" v="41" actId="2696"/>
        <pc:sldMkLst>
          <pc:docMk/>
          <pc:sldMk cId="1410645982" sldId="278"/>
        </pc:sldMkLst>
      </pc:sldChg>
      <pc:sldChg chg="add del">
        <pc:chgData name="Waqar Ashiq" userId="df8082c0668f3e8a" providerId="LiveId" clId="{6672C27D-87A8-41D1-8EBD-D1A8C72F9C57}" dt="2024-11-13T05:47:52.540" v="93" actId="2696"/>
        <pc:sldMkLst>
          <pc:docMk/>
          <pc:sldMk cId="388155103" sldId="279"/>
        </pc:sldMkLst>
      </pc:sldChg>
      <pc:sldChg chg="del">
        <pc:chgData name="Waqar Ashiq" userId="df8082c0668f3e8a" providerId="LiveId" clId="{6672C27D-87A8-41D1-8EBD-D1A8C72F9C57}" dt="2024-11-13T05:28:59.822" v="41" actId="2696"/>
        <pc:sldMkLst>
          <pc:docMk/>
          <pc:sldMk cId="2358114911" sldId="279"/>
        </pc:sldMkLst>
      </pc:sldChg>
      <pc:sldChg chg="add del">
        <pc:chgData name="Waqar Ashiq" userId="df8082c0668f3e8a" providerId="LiveId" clId="{6672C27D-87A8-41D1-8EBD-D1A8C72F9C57}" dt="2024-11-13T05:47:52.540" v="93" actId="2696"/>
        <pc:sldMkLst>
          <pc:docMk/>
          <pc:sldMk cId="912406237" sldId="280"/>
        </pc:sldMkLst>
      </pc:sldChg>
      <pc:sldChg chg="del">
        <pc:chgData name="Waqar Ashiq" userId="df8082c0668f3e8a" providerId="LiveId" clId="{6672C27D-87A8-41D1-8EBD-D1A8C72F9C57}" dt="2024-11-13T05:28:59.822" v="41" actId="2696"/>
        <pc:sldMkLst>
          <pc:docMk/>
          <pc:sldMk cId="2770549587" sldId="280"/>
        </pc:sldMkLst>
      </pc:sldChg>
      <pc:sldChg chg="del">
        <pc:chgData name="Waqar Ashiq" userId="df8082c0668f3e8a" providerId="LiveId" clId="{6672C27D-87A8-41D1-8EBD-D1A8C72F9C57}" dt="2024-11-13T05:28:59.822" v="41" actId="2696"/>
        <pc:sldMkLst>
          <pc:docMk/>
          <pc:sldMk cId="197490314" sldId="282"/>
        </pc:sldMkLst>
      </pc:sldChg>
      <pc:sldChg chg="modSp add del mod">
        <pc:chgData name="Waqar Ashiq" userId="df8082c0668f3e8a" providerId="LiveId" clId="{6672C27D-87A8-41D1-8EBD-D1A8C72F9C57}" dt="2024-11-13T05:47:52.540" v="93" actId="2696"/>
        <pc:sldMkLst>
          <pc:docMk/>
          <pc:sldMk cId="3958296172" sldId="282"/>
        </pc:sldMkLst>
        <pc:spChg chg="mod">
          <ac:chgData name="Waqar Ashiq" userId="df8082c0668f3e8a" providerId="LiveId" clId="{6672C27D-87A8-41D1-8EBD-D1A8C72F9C57}" dt="2024-11-13T05:31:20.914" v="53" actId="27636"/>
          <ac:spMkLst>
            <pc:docMk/>
            <pc:sldMk cId="3958296172" sldId="282"/>
            <ac:spMk id="39" creationId="{00000000-0000-0000-0000-000000000000}"/>
          </ac:spMkLst>
        </pc:spChg>
      </pc:sldChg>
      <pc:sldChg chg="modSp mod">
        <pc:chgData name="Waqar Ashiq" userId="df8082c0668f3e8a" providerId="LiveId" clId="{6672C27D-87A8-41D1-8EBD-D1A8C72F9C57}" dt="2024-11-13T05:03:21.930" v="38" actId="20577"/>
        <pc:sldMkLst>
          <pc:docMk/>
          <pc:sldMk cId="2996732452" sldId="301"/>
        </pc:sldMkLst>
        <pc:spChg chg="mod">
          <ac:chgData name="Waqar Ashiq" userId="df8082c0668f3e8a" providerId="LiveId" clId="{6672C27D-87A8-41D1-8EBD-D1A8C72F9C57}" dt="2024-11-13T05:03:21.930" v="38" actId="20577"/>
          <ac:spMkLst>
            <pc:docMk/>
            <pc:sldMk cId="2996732452" sldId="301"/>
            <ac:spMk id="5" creationId="{00000000-0000-0000-0000-000000000000}"/>
          </ac:spMkLst>
        </pc:spChg>
      </pc:sldChg>
      <pc:sldChg chg="del">
        <pc:chgData name="Waqar Ashiq" userId="df8082c0668f3e8a" providerId="LiveId" clId="{6672C27D-87A8-41D1-8EBD-D1A8C72F9C57}" dt="2024-11-13T04:18:13.267" v="3" actId="2696"/>
        <pc:sldMkLst>
          <pc:docMk/>
          <pc:sldMk cId="1012971564" sldId="317"/>
        </pc:sldMkLst>
      </pc:sldChg>
      <pc:sldChg chg="del">
        <pc:chgData name="Waqar Ashiq" userId="df8082c0668f3e8a" providerId="LiveId" clId="{6672C27D-87A8-41D1-8EBD-D1A8C72F9C57}" dt="2024-11-13T05:46:56.904" v="92" actId="47"/>
        <pc:sldMkLst>
          <pc:docMk/>
          <pc:sldMk cId="3866559144" sldId="318"/>
        </pc:sldMkLst>
      </pc:sldChg>
      <pc:sldChg chg="modSp del">
        <pc:chgData name="Waqar Ashiq" userId="df8082c0668f3e8a" providerId="LiveId" clId="{6672C27D-87A8-41D1-8EBD-D1A8C72F9C57}" dt="2024-11-13T04:40:17.886" v="10" actId="2696"/>
        <pc:sldMkLst>
          <pc:docMk/>
          <pc:sldMk cId="3308137166" sldId="341"/>
        </pc:sldMkLst>
        <pc:spChg chg="mod">
          <ac:chgData name="Waqar Ashiq" userId="df8082c0668f3e8a" providerId="LiveId" clId="{6672C27D-87A8-41D1-8EBD-D1A8C72F9C57}" dt="2024-11-13T04:39:54.831" v="9" actId="20577"/>
          <ac:spMkLst>
            <pc:docMk/>
            <pc:sldMk cId="3308137166" sldId="341"/>
            <ac:spMk id="93" creationId="{00000000-0000-0000-0000-000000000000}"/>
          </ac:spMkLst>
        </pc:spChg>
      </pc:sldChg>
      <pc:sldChg chg="modSp">
        <pc:chgData name="Waqar Ashiq" userId="df8082c0668f3e8a" providerId="LiveId" clId="{6672C27D-87A8-41D1-8EBD-D1A8C72F9C57}" dt="2024-11-13T05:46:09.374" v="89" actId="20577"/>
        <pc:sldMkLst>
          <pc:docMk/>
          <pc:sldMk cId="685424660" sldId="555"/>
        </pc:sldMkLst>
        <pc:spChg chg="mod">
          <ac:chgData name="Waqar Ashiq" userId="df8082c0668f3e8a" providerId="LiveId" clId="{6672C27D-87A8-41D1-8EBD-D1A8C72F9C57}" dt="2024-11-13T05:46:09.374" v="89" actId="20577"/>
          <ac:spMkLst>
            <pc:docMk/>
            <pc:sldMk cId="685424660" sldId="555"/>
            <ac:spMk id="13" creationId="{662CB1DD-D0E6-4BC7-BF82-6F2EF9B65413}"/>
          </ac:spMkLst>
        </pc:spChg>
      </pc:sldChg>
      <pc:sldChg chg="del">
        <pc:chgData name="Waqar Ashiq" userId="df8082c0668f3e8a" providerId="LiveId" clId="{6672C27D-87A8-41D1-8EBD-D1A8C72F9C57}" dt="2024-11-13T05:46:19.496" v="90" actId="2696"/>
        <pc:sldMkLst>
          <pc:docMk/>
          <pc:sldMk cId="3124542002" sldId="573"/>
        </pc:sldMkLst>
      </pc:sldChg>
      <pc:sldChg chg="add del">
        <pc:chgData name="Waqar Ashiq" userId="df8082c0668f3e8a" providerId="LiveId" clId="{6672C27D-87A8-41D1-8EBD-D1A8C72F9C57}" dt="2024-11-13T05:46:56.904" v="92" actId="47"/>
        <pc:sldMkLst>
          <pc:docMk/>
          <pc:sldMk cId="3378735946" sldId="5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BFEC2-8640-446B-A84C-57091AEAA22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37D34-6334-48D0-8DB6-3BE6926A4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32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67C87E59-CAC3-4472-AB54-5ED1AADFA436}" type="slidenum">
              <a:rPr lang="id-ID" smtClean="0">
                <a:solidFill>
                  <a:prstClr val="black"/>
                </a:solidFill>
              </a:rPr>
              <a:pPr defTabSz="914400">
                <a:defRPr/>
              </a:pPr>
              <a:t>2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14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288706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6618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4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0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8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3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5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89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06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3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6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5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0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DC481-8336-459B-A785-BA20D1B3380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AE2F-0F52-46BC-A89F-22E3B69A9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2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9600" y="2057400"/>
            <a:ext cx="10972800" cy="0"/>
          </a:xfrm>
          <a:prstGeom prst="line">
            <a:avLst/>
          </a:prstGeom>
          <a:ln w="76200">
            <a:solidFill>
              <a:srgbClr val="4C28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" y="4754880"/>
            <a:ext cx="10972800" cy="0"/>
          </a:xfrm>
          <a:prstGeom prst="line">
            <a:avLst/>
          </a:prstGeom>
          <a:ln w="76200">
            <a:solidFill>
              <a:srgbClr val="4C28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92" y="2145681"/>
            <a:ext cx="11912616" cy="25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691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5A1C158-D519-4CA5-9C59-A33E899102DF}"/>
              </a:ext>
            </a:extLst>
          </p:cNvPr>
          <p:cNvSpPr/>
          <p:nvPr/>
        </p:nvSpPr>
        <p:spPr>
          <a:xfrm>
            <a:off x="-1" y="-1"/>
            <a:ext cx="6547103" cy="6857999"/>
          </a:xfrm>
          <a:custGeom>
            <a:avLst/>
            <a:gdLst>
              <a:gd name="connsiteX0" fmla="*/ 4012691 w 7484608"/>
              <a:gd name="connsiteY0" fmla="*/ 0 h 6858000"/>
              <a:gd name="connsiteX1" fmla="*/ 7484608 w 7484608"/>
              <a:gd name="connsiteY1" fmla="*/ 0 h 6858000"/>
              <a:gd name="connsiteX2" fmla="*/ 1739373 w 7484608"/>
              <a:gd name="connsiteY2" fmla="*/ 5624464 h 6858000"/>
              <a:gd name="connsiteX3" fmla="*/ 2999396 w 7484608"/>
              <a:gd name="connsiteY3" fmla="*/ 6858000 h 6858000"/>
              <a:gd name="connsiteX4" fmla="*/ 0 w 7484608"/>
              <a:gd name="connsiteY4" fmla="*/ 6858000 h 6858000"/>
              <a:gd name="connsiteX5" fmla="*/ 0 w 7484608"/>
              <a:gd name="connsiteY5" fmla="*/ 3928340 h 6858000"/>
              <a:gd name="connsiteX6" fmla="*/ 4012691 w 7484608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84608" h="6858000">
                <a:moveTo>
                  <a:pt x="4012691" y="0"/>
                </a:moveTo>
                <a:lnTo>
                  <a:pt x="7484608" y="0"/>
                </a:lnTo>
                <a:lnTo>
                  <a:pt x="1739373" y="5624464"/>
                </a:lnTo>
                <a:lnTo>
                  <a:pt x="2999396" y="6858000"/>
                </a:lnTo>
                <a:lnTo>
                  <a:pt x="0" y="6858000"/>
                </a:lnTo>
                <a:lnTo>
                  <a:pt x="0" y="3928340"/>
                </a:lnTo>
                <a:lnTo>
                  <a:pt x="401269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89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AED063E-AD16-4A9D-8C36-909EC15FDC62}"/>
              </a:ext>
            </a:extLst>
          </p:cNvPr>
          <p:cNvSpPr/>
          <p:nvPr/>
        </p:nvSpPr>
        <p:spPr>
          <a:xfrm>
            <a:off x="0" y="3603171"/>
            <a:ext cx="3797997" cy="3254829"/>
          </a:xfrm>
          <a:custGeom>
            <a:avLst/>
            <a:gdLst>
              <a:gd name="connsiteX0" fmla="*/ 368998 w 3797997"/>
              <a:gd name="connsiteY0" fmla="*/ 0 h 3428999"/>
              <a:gd name="connsiteX1" fmla="*/ 3797997 w 3797997"/>
              <a:gd name="connsiteY1" fmla="*/ 3428999 h 3428999"/>
              <a:gd name="connsiteX2" fmla="*/ 0 w 3797997"/>
              <a:gd name="connsiteY2" fmla="*/ 3428999 h 3428999"/>
              <a:gd name="connsiteX3" fmla="*/ 0 w 3797997"/>
              <a:gd name="connsiteY3" fmla="*/ 368998 h 3428999"/>
              <a:gd name="connsiteX4" fmla="*/ 368998 w 3797997"/>
              <a:gd name="connsiteY4" fmla="*/ 0 h 342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7997" h="3428999">
                <a:moveTo>
                  <a:pt x="368998" y="0"/>
                </a:moveTo>
                <a:lnTo>
                  <a:pt x="3797997" y="3428999"/>
                </a:lnTo>
                <a:lnTo>
                  <a:pt x="0" y="3428999"/>
                </a:lnTo>
                <a:lnTo>
                  <a:pt x="0" y="368998"/>
                </a:lnTo>
                <a:lnTo>
                  <a:pt x="368998" y="0"/>
                </a:lnTo>
                <a:close/>
              </a:path>
            </a:pathLst>
          </a:custGeom>
          <a:solidFill>
            <a:srgbClr val="4C2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2CB1DD-D0E6-4BC7-BF82-6F2EF9B65413}"/>
              </a:ext>
            </a:extLst>
          </p:cNvPr>
          <p:cNvSpPr txBox="1"/>
          <p:nvPr/>
        </p:nvSpPr>
        <p:spPr>
          <a:xfrm>
            <a:off x="4304179" y="2476194"/>
            <a:ext cx="710256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989"/>
            <a:r>
              <a:rPr lang="en-US" sz="40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Natural Language Processing</a:t>
            </a:r>
            <a:endParaRPr lang="id-ID" sz="4000" b="1" dirty="0">
              <a:solidFill>
                <a:srgbClr val="E7E6E6">
                  <a:lumMod val="10000"/>
                </a:srgbClr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51869-BB3E-46DB-B00D-F7450FFB47CD}"/>
              </a:ext>
            </a:extLst>
          </p:cNvPr>
          <p:cNvSpPr txBox="1"/>
          <p:nvPr/>
        </p:nvSpPr>
        <p:spPr>
          <a:xfrm>
            <a:off x="4304179" y="3515470"/>
            <a:ext cx="2369578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defTabSz="913989"/>
            <a:r>
              <a:rPr lang="en-US" sz="3200" b="1" dirty="0">
                <a:solidFill>
                  <a:prstClr val="black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Lecture  –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B998F4-CE3A-4558-8B60-445A773575FD}"/>
              </a:ext>
            </a:extLst>
          </p:cNvPr>
          <p:cNvSpPr txBox="1"/>
          <p:nvPr/>
        </p:nvSpPr>
        <p:spPr>
          <a:xfrm>
            <a:off x="6721933" y="4917333"/>
            <a:ext cx="5054417" cy="36933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defTabSz="913989"/>
            <a:r>
              <a: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Dr. Rao Muhammad Adeel Nawab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B998F4-CE3A-4558-8B60-445A773575FD}"/>
              </a:ext>
            </a:extLst>
          </p:cNvPr>
          <p:cNvSpPr txBox="1"/>
          <p:nvPr/>
        </p:nvSpPr>
        <p:spPr>
          <a:xfrm>
            <a:off x="6721933" y="5725511"/>
            <a:ext cx="4859630" cy="36933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defTabSz="913989"/>
            <a:r>
              <a: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Mr. Waqar Ashiq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B998F4-CE3A-4558-8B60-445A773575FD}"/>
              </a:ext>
            </a:extLst>
          </p:cNvPr>
          <p:cNvSpPr txBox="1"/>
          <p:nvPr/>
        </p:nvSpPr>
        <p:spPr>
          <a:xfrm>
            <a:off x="4298801" y="4819007"/>
            <a:ext cx="1667595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defTabSz="913989"/>
            <a:r>
              <a:rPr lang="en-US" sz="2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Author:</a:t>
            </a:r>
            <a:endParaRPr lang="en-US" sz="2800" b="1" dirty="0">
              <a:solidFill>
                <a:prstClr val="black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451869-BB3E-46DB-B00D-F7450FFB47CD}"/>
              </a:ext>
            </a:extLst>
          </p:cNvPr>
          <p:cNvSpPr txBox="1"/>
          <p:nvPr/>
        </p:nvSpPr>
        <p:spPr>
          <a:xfrm>
            <a:off x="6498661" y="3530593"/>
            <a:ext cx="5277689" cy="461665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 defTabSz="913989"/>
            <a:r>
              <a:rPr lang="en-US" sz="3000" b="1" dirty="0">
                <a:solidFill>
                  <a:prstClr val="black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Artificial Neural Networks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B998F4-CE3A-4558-8B60-445A773575FD}"/>
              </a:ext>
            </a:extLst>
          </p:cNvPr>
          <p:cNvSpPr txBox="1"/>
          <p:nvPr/>
        </p:nvSpPr>
        <p:spPr>
          <a:xfrm>
            <a:off x="4298801" y="5663956"/>
            <a:ext cx="2249065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defTabSz="913989"/>
            <a:r>
              <a:rPr lang="en-US" sz="2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Instructor:</a:t>
            </a:r>
            <a:endParaRPr lang="en-US" sz="2800" b="1" dirty="0">
              <a:solidFill>
                <a:prstClr val="black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4246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17388D3-70DD-44E4-B488-F2F93D0FDCC1}"/>
              </a:ext>
            </a:extLst>
          </p:cNvPr>
          <p:cNvGrpSpPr/>
          <p:nvPr/>
        </p:nvGrpSpPr>
        <p:grpSpPr>
          <a:xfrm>
            <a:off x="1010820" y="842677"/>
            <a:ext cx="10619795" cy="5222549"/>
            <a:chOff x="4634941" y="684897"/>
            <a:chExt cx="6227368" cy="497198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2CA5C34-AEAB-4565-8553-966BFF95E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4941" y="684897"/>
              <a:ext cx="1030" cy="4818762"/>
            </a:xfrm>
            <a:prstGeom prst="line">
              <a:avLst/>
            </a:prstGeom>
            <a:noFill/>
            <a:ln w="44450">
              <a:solidFill>
                <a:srgbClr val="494B6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B320C04-AD47-41B4-9088-8E72BA6F5A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7758" y="696425"/>
              <a:ext cx="6224551" cy="0"/>
            </a:xfrm>
            <a:prstGeom prst="line">
              <a:avLst/>
            </a:prstGeom>
            <a:noFill/>
            <a:ln w="44450">
              <a:solidFill>
                <a:srgbClr val="494B6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3A7F5A2-C864-49B7-A535-F494A9B122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8500" y="686275"/>
              <a:ext cx="0" cy="4966073"/>
            </a:xfrm>
            <a:prstGeom prst="line">
              <a:avLst/>
            </a:prstGeom>
            <a:noFill/>
            <a:ln w="44450">
              <a:solidFill>
                <a:srgbClr val="494B6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6E35D2B-BC4C-4889-BE5E-FA96991814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680" y="5652347"/>
              <a:ext cx="5961629" cy="4532"/>
            </a:xfrm>
            <a:prstGeom prst="line">
              <a:avLst/>
            </a:prstGeom>
            <a:noFill/>
            <a:ln w="44450">
              <a:solidFill>
                <a:srgbClr val="494B6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BE509-C23A-44AC-9355-99F0F5CBE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15"/>
            <a:ext cx="10515600" cy="5605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Lecture Outline</a:t>
            </a:r>
            <a:endParaRPr lang="x-none"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x-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5F60F7-EB31-4A53-AD70-564F5FAAC35B}"/>
              </a:ext>
            </a:extLst>
          </p:cNvPr>
          <p:cNvGrpSpPr/>
          <p:nvPr/>
        </p:nvGrpSpPr>
        <p:grpSpPr>
          <a:xfrm>
            <a:off x="619651" y="928431"/>
            <a:ext cx="2218303" cy="682745"/>
            <a:chOff x="619651" y="2004756"/>
            <a:chExt cx="2218303" cy="68274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DD7CECB-0772-4199-9289-65CC16890BF4}"/>
                </a:ext>
              </a:extLst>
            </p:cNvPr>
            <p:cNvSpPr/>
            <p:nvPr/>
          </p:nvSpPr>
          <p:spPr>
            <a:xfrm>
              <a:off x="731478" y="2072107"/>
              <a:ext cx="568163" cy="555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494B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C53646B-9C51-4EDE-B821-1B59A7FF7FE0}"/>
                </a:ext>
              </a:extLst>
            </p:cNvPr>
            <p:cNvSpPr/>
            <p:nvPr/>
          </p:nvSpPr>
          <p:spPr>
            <a:xfrm>
              <a:off x="1307983" y="2035335"/>
              <a:ext cx="1529971" cy="6521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en-US" sz="3400" b="1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Recap </a:t>
              </a:r>
              <a:endParaRPr lang="en-US" sz="34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BA4D7B-6CA1-4560-858F-3284DBFC4814}"/>
                </a:ext>
              </a:extLst>
            </p:cNvPr>
            <p:cNvSpPr txBox="1"/>
            <p:nvPr/>
          </p:nvSpPr>
          <p:spPr>
            <a:xfrm>
              <a:off x="619651" y="2004756"/>
              <a:ext cx="791815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 defTabSz="914400"/>
              <a:r>
                <a:rPr lang="en-US" altLang="ko-KR" sz="3600" b="1" dirty="0">
                  <a:solidFill>
                    <a:srgbClr val="494B69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  <a:endParaRPr lang="ko-KR" altLang="en-US" sz="3600" b="1" dirty="0">
                <a:solidFill>
                  <a:srgbClr val="494B69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0F71B1F-E033-4652-86D5-2A5C8C1448F5}"/>
              </a:ext>
            </a:extLst>
          </p:cNvPr>
          <p:cNvGrpSpPr/>
          <p:nvPr/>
        </p:nvGrpSpPr>
        <p:grpSpPr>
          <a:xfrm>
            <a:off x="619651" y="1588201"/>
            <a:ext cx="10044097" cy="688580"/>
            <a:chOff x="619651" y="3055051"/>
            <a:chExt cx="10044097" cy="68858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FF259D0-9F1E-4FA8-A2A4-711A1B2D0D4A}"/>
                </a:ext>
              </a:extLst>
            </p:cNvPr>
            <p:cNvSpPr/>
            <p:nvPr/>
          </p:nvSpPr>
          <p:spPr>
            <a:xfrm>
              <a:off x="739820" y="3130533"/>
              <a:ext cx="568163" cy="555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494B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E9BB456-0AC4-4234-B89B-CBC290F1AAEE}"/>
                </a:ext>
              </a:extLst>
            </p:cNvPr>
            <p:cNvSpPr txBox="1"/>
            <p:nvPr/>
          </p:nvSpPr>
          <p:spPr>
            <a:xfrm>
              <a:off x="619651" y="3055051"/>
              <a:ext cx="791815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 defTabSz="914400"/>
              <a:r>
                <a:rPr lang="en-US" altLang="ko-KR" sz="3600" b="1" dirty="0">
                  <a:solidFill>
                    <a:srgbClr val="494B69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  <a:endParaRPr lang="ko-KR" altLang="en-US" sz="3600" b="1" dirty="0">
                <a:solidFill>
                  <a:srgbClr val="494B69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2A77FE5-03BE-4020-BC8D-71668BE68C36}"/>
                </a:ext>
              </a:extLst>
            </p:cNvPr>
            <p:cNvSpPr/>
            <p:nvPr/>
          </p:nvSpPr>
          <p:spPr>
            <a:xfrm>
              <a:off x="1310279" y="3091465"/>
              <a:ext cx="9353469" cy="6521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en-US" sz="3400" b="1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Artificial Neural Networks </a:t>
              </a:r>
              <a:endParaRPr lang="en-US" sz="34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E94FF5E-A013-48E7-8AC8-002FBB2A8A63}"/>
              </a:ext>
            </a:extLst>
          </p:cNvPr>
          <p:cNvGrpSpPr/>
          <p:nvPr/>
        </p:nvGrpSpPr>
        <p:grpSpPr>
          <a:xfrm>
            <a:off x="617853" y="2305249"/>
            <a:ext cx="10826570" cy="688580"/>
            <a:chOff x="617853" y="4115961"/>
            <a:chExt cx="10826570" cy="68858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40A813D-F716-4718-90B3-DDCE6DF7B06D}"/>
                </a:ext>
              </a:extLst>
            </p:cNvPr>
            <p:cNvSpPr/>
            <p:nvPr/>
          </p:nvSpPr>
          <p:spPr>
            <a:xfrm>
              <a:off x="724438" y="4145915"/>
              <a:ext cx="568163" cy="555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494B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AF1A73-D472-4735-A696-509C6C77F94F}"/>
                </a:ext>
              </a:extLst>
            </p:cNvPr>
            <p:cNvSpPr txBox="1"/>
            <p:nvPr/>
          </p:nvSpPr>
          <p:spPr>
            <a:xfrm>
              <a:off x="617853" y="4115961"/>
              <a:ext cx="791815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 defTabSz="914400"/>
              <a:r>
                <a:rPr lang="en-US" altLang="ko-KR" sz="3600" b="1" dirty="0">
                  <a:solidFill>
                    <a:srgbClr val="494B69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  <a:endParaRPr lang="ko-KR" altLang="en-US" sz="3600" b="1" dirty="0">
                <a:solidFill>
                  <a:srgbClr val="494B69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4401057-6EB8-44E0-88E5-2481D6109D2D}"/>
                </a:ext>
              </a:extLst>
            </p:cNvPr>
            <p:cNvSpPr/>
            <p:nvPr/>
          </p:nvSpPr>
          <p:spPr>
            <a:xfrm>
              <a:off x="1310279" y="4152375"/>
              <a:ext cx="10134144" cy="6521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en-US" sz="3400" b="1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General Architecture - Artificial Neural Networks </a:t>
              </a:r>
              <a:endParaRPr lang="en-US" sz="34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FFB209-8791-4E90-B35F-180DF2570AED}"/>
              </a:ext>
            </a:extLst>
          </p:cNvPr>
          <p:cNvCxnSpPr>
            <a:cxnSpLocks/>
          </p:cNvCxnSpPr>
          <p:nvPr/>
        </p:nvCxnSpPr>
        <p:spPr>
          <a:xfrm>
            <a:off x="930406" y="692827"/>
            <a:ext cx="32778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5F60F7-EB31-4A53-AD70-564F5FAAC35B}"/>
              </a:ext>
            </a:extLst>
          </p:cNvPr>
          <p:cNvGrpSpPr/>
          <p:nvPr/>
        </p:nvGrpSpPr>
        <p:grpSpPr>
          <a:xfrm>
            <a:off x="617853" y="2986805"/>
            <a:ext cx="11446315" cy="728571"/>
            <a:chOff x="619651" y="2004756"/>
            <a:chExt cx="11446315" cy="72857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DD7CECB-0772-4199-9289-65CC16890BF4}"/>
                </a:ext>
              </a:extLst>
            </p:cNvPr>
            <p:cNvSpPr/>
            <p:nvPr/>
          </p:nvSpPr>
          <p:spPr>
            <a:xfrm>
              <a:off x="731478" y="2072107"/>
              <a:ext cx="568163" cy="555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494B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C53646B-9C51-4EDE-B821-1B59A7FF7FE0}"/>
                </a:ext>
              </a:extLst>
            </p:cNvPr>
            <p:cNvSpPr/>
            <p:nvPr/>
          </p:nvSpPr>
          <p:spPr>
            <a:xfrm>
              <a:off x="1323355" y="2081161"/>
              <a:ext cx="10742611" cy="6521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en-US" sz="3400" b="1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Perceptron - Two Layer Artificial Neural Networks</a:t>
              </a:r>
              <a:endParaRPr lang="en-US" sz="34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BA4D7B-6CA1-4560-858F-3284DBFC4814}"/>
                </a:ext>
              </a:extLst>
            </p:cNvPr>
            <p:cNvSpPr txBox="1"/>
            <p:nvPr/>
          </p:nvSpPr>
          <p:spPr>
            <a:xfrm>
              <a:off x="619651" y="2004756"/>
              <a:ext cx="791815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 defTabSz="914400"/>
              <a:r>
                <a:rPr lang="en-US" altLang="ko-KR" sz="3600" b="1" dirty="0">
                  <a:solidFill>
                    <a:srgbClr val="494B69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  <a:endParaRPr lang="ko-KR" altLang="en-US" sz="3600" b="1" dirty="0">
                <a:solidFill>
                  <a:srgbClr val="494B69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F71B1F-E033-4652-86D5-2A5C8C1448F5}"/>
              </a:ext>
            </a:extLst>
          </p:cNvPr>
          <p:cNvGrpSpPr/>
          <p:nvPr/>
        </p:nvGrpSpPr>
        <p:grpSpPr>
          <a:xfrm>
            <a:off x="624334" y="3666095"/>
            <a:ext cx="10050133" cy="680634"/>
            <a:chOff x="619651" y="3055051"/>
            <a:chExt cx="10050133" cy="68063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FF259D0-9F1E-4FA8-A2A4-711A1B2D0D4A}"/>
                </a:ext>
              </a:extLst>
            </p:cNvPr>
            <p:cNvSpPr/>
            <p:nvPr/>
          </p:nvSpPr>
          <p:spPr>
            <a:xfrm>
              <a:off x="739820" y="3130533"/>
              <a:ext cx="568163" cy="555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494B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E9BB456-0AC4-4234-B89B-CBC290F1AAEE}"/>
                </a:ext>
              </a:extLst>
            </p:cNvPr>
            <p:cNvSpPr txBox="1"/>
            <p:nvPr/>
          </p:nvSpPr>
          <p:spPr>
            <a:xfrm>
              <a:off x="619651" y="3055051"/>
              <a:ext cx="791815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 defTabSz="914400"/>
              <a:r>
                <a:rPr lang="en-US" altLang="ko-KR" sz="3600" b="1" dirty="0">
                  <a:solidFill>
                    <a:srgbClr val="494B69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  <a:endParaRPr lang="ko-KR" altLang="en-US" sz="3600" b="1" dirty="0">
                <a:solidFill>
                  <a:srgbClr val="494B69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2A77FE5-03BE-4020-BC8D-71668BE68C36}"/>
                </a:ext>
              </a:extLst>
            </p:cNvPr>
            <p:cNvSpPr/>
            <p:nvPr/>
          </p:nvSpPr>
          <p:spPr>
            <a:xfrm>
              <a:off x="1316315" y="3083519"/>
              <a:ext cx="9353469" cy="6521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en-US" sz="3400" b="1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Machine Learning Cycle – Perceptron </a:t>
              </a:r>
              <a:endParaRPr lang="en-US" sz="34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E94FF5E-A013-48E7-8AC8-002FBB2A8A63}"/>
              </a:ext>
            </a:extLst>
          </p:cNvPr>
          <p:cNvGrpSpPr/>
          <p:nvPr/>
        </p:nvGrpSpPr>
        <p:grpSpPr>
          <a:xfrm>
            <a:off x="624334" y="4423118"/>
            <a:ext cx="10839646" cy="664242"/>
            <a:chOff x="617853" y="4115961"/>
            <a:chExt cx="10839646" cy="66424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40A813D-F716-4718-90B3-DDCE6DF7B06D}"/>
                </a:ext>
              </a:extLst>
            </p:cNvPr>
            <p:cNvSpPr/>
            <p:nvPr/>
          </p:nvSpPr>
          <p:spPr>
            <a:xfrm>
              <a:off x="724438" y="4145915"/>
              <a:ext cx="568163" cy="555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494B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DAF1A73-D472-4735-A696-509C6C77F94F}"/>
                </a:ext>
              </a:extLst>
            </p:cNvPr>
            <p:cNvSpPr txBox="1"/>
            <p:nvPr/>
          </p:nvSpPr>
          <p:spPr>
            <a:xfrm>
              <a:off x="617853" y="4115961"/>
              <a:ext cx="791815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 defTabSz="914400"/>
              <a:r>
                <a:rPr lang="en-US" altLang="ko-KR" sz="3600" b="1" dirty="0">
                  <a:solidFill>
                    <a:srgbClr val="494B69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6</a:t>
              </a:r>
              <a:endParaRPr lang="ko-KR" altLang="en-US" sz="3600" b="1" dirty="0">
                <a:solidFill>
                  <a:srgbClr val="494B69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4401057-6EB8-44E0-88E5-2481D6109D2D}"/>
                </a:ext>
              </a:extLst>
            </p:cNvPr>
            <p:cNvSpPr/>
            <p:nvPr/>
          </p:nvSpPr>
          <p:spPr>
            <a:xfrm>
              <a:off x="1323355" y="4128037"/>
              <a:ext cx="10134144" cy="6521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en-US" sz="3400" b="1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Multi-layer Artificial Neural Networks</a:t>
              </a:r>
              <a:endParaRPr lang="en-US" sz="34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94FF5E-A013-48E7-8AC8-002FBB2A8A63}"/>
              </a:ext>
            </a:extLst>
          </p:cNvPr>
          <p:cNvGrpSpPr/>
          <p:nvPr/>
        </p:nvGrpSpPr>
        <p:grpSpPr>
          <a:xfrm>
            <a:off x="624334" y="5163701"/>
            <a:ext cx="10796375" cy="668936"/>
            <a:chOff x="617853" y="4115961"/>
            <a:chExt cx="10796375" cy="66893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40A813D-F716-4718-90B3-DDCE6DF7B06D}"/>
                </a:ext>
              </a:extLst>
            </p:cNvPr>
            <p:cNvSpPr/>
            <p:nvPr/>
          </p:nvSpPr>
          <p:spPr>
            <a:xfrm>
              <a:off x="724438" y="4145915"/>
              <a:ext cx="568163" cy="555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494B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AF1A73-D472-4735-A696-509C6C77F94F}"/>
                </a:ext>
              </a:extLst>
            </p:cNvPr>
            <p:cNvSpPr txBox="1"/>
            <p:nvPr/>
          </p:nvSpPr>
          <p:spPr>
            <a:xfrm>
              <a:off x="617853" y="4115961"/>
              <a:ext cx="791815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 defTabSz="914400"/>
              <a:r>
                <a:rPr lang="en-US" altLang="ko-KR" sz="3600" b="1" dirty="0">
                  <a:solidFill>
                    <a:srgbClr val="494B69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7</a:t>
              </a:r>
              <a:endParaRPr lang="ko-KR" altLang="en-US" sz="3600" b="1" dirty="0">
                <a:solidFill>
                  <a:srgbClr val="494B69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4401057-6EB8-44E0-88E5-2481D6109D2D}"/>
                </a:ext>
              </a:extLst>
            </p:cNvPr>
            <p:cNvSpPr/>
            <p:nvPr/>
          </p:nvSpPr>
          <p:spPr>
            <a:xfrm>
              <a:off x="1280084" y="4132731"/>
              <a:ext cx="10134144" cy="6521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en-US" sz="3400" b="1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Overfitting – Artificial Neural Networks</a:t>
              </a:r>
              <a:endParaRPr lang="en-US" sz="34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7467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6D1533-D436-DF40-B144-D838C318457F}" type="slidenum">
              <a:rPr lang="en-US"/>
              <a:pPr>
                <a:defRPr/>
              </a:pPr>
              <a:t>4</a:t>
            </a:fld>
            <a:endParaRPr lang="en-US">
              <a:latin typeface="Times New Roman" charset="0"/>
            </a:endParaRP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1319" y="1692106"/>
            <a:ext cx="11381367" cy="48102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inspiration from biological neural systems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the most robust learning systems we know.</a:t>
            </a:r>
          </a:p>
          <a:p>
            <a:pPr>
              <a:lnSpc>
                <a:spcPct val="100000"/>
              </a:lnSpc>
              <a:defRPr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Attempt to understand natural biological systems through computational modeling.</a:t>
            </a:r>
          </a:p>
          <a:p>
            <a:pPr>
              <a:lnSpc>
                <a:spcPct val="100000"/>
              </a:lnSpc>
              <a:defRPr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Neural networks in artificial intelligence draw significant inspiration from biological neural systems, particularly the human brain. The basic building blocks of both systems are neurons: biological neurons in the human brain and artificial neurons in computational models.</a:t>
            </a:r>
            <a:b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32514" y="425014"/>
            <a:ext cx="7110483" cy="8032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Neural Networks ?</a:t>
            </a:r>
            <a:endParaRPr lang="en-US" sz="3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73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F8C0A3-6348-6041-986E-A7D66C35F736}" type="slidenum">
              <a:rPr lang="en-US"/>
              <a:pPr>
                <a:defRPr/>
              </a:pPr>
              <a:t>5</a:t>
            </a:fld>
            <a:endParaRPr lang="en-US">
              <a:latin typeface="Times New Roman" charset="0"/>
            </a:endParaRP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7590" y="1897039"/>
            <a:ext cx="11058354" cy="4459313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Learning approach of NN algorithm based on modeling while learning in biological neural systems is based on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adaptation.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 eaLnBrk="1" hangingPunct="1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main algorithms: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Perceptron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Initial algorithm for learning simple neural networks (with no hidden layer) developed in the 1950</a:t>
            </a:r>
            <a:r>
              <a:rPr lang="ja-JP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s.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Backpropagation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More complex algorithm for learning multi-layer neural networks developed in the 1980</a:t>
            </a:r>
            <a:r>
              <a:rPr lang="ja-JP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s.</a:t>
            </a:r>
          </a:p>
          <a:p>
            <a:pPr lvl="1" eaLnBrk="1" hangingPunct="1"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3392" y="461137"/>
            <a:ext cx="6555330" cy="87634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Network Learning</a:t>
            </a:r>
            <a:endParaRPr lang="en-US" sz="3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77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198" y="365126"/>
            <a:ext cx="10571923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General Architecture - Artificial Neural Networks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6"/>
            <a:ext cx="9281330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91" y="1244009"/>
            <a:ext cx="9281329" cy="29309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grpSp>
        <p:nvGrpSpPr>
          <p:cNvPr id="37" name="Group 36"/>
          <p:cNvGrpSpPr/>
          <p:nvPr/>
        </p:nvGrpSpPr>
        <p:grpSpPr>
          <a:xfrm>
            <a:off x="947191" y="4458724"/>
            <a:ext cx="9281330" cy="1752004"/>
            <a:chOff x="1383666" y="1769854"/>
            <a:chExt cx="5344937" cy="93853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455469" y="1769857"/>
              <a:ext cx="5273134" cy="9385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560114" cy="9362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1977547" y="4412483"/>
            <a:ext cx="8262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Three Main Layers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2540540" y="4900339"/>
            <a:ext cx="8605770" cy="369332"/>
            <a:chOff x="2398672" y="4955398"/>
            <a:chExt cx="9203336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55398"/>
              <a:ext cx="884778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Input Layer</a:t>
              </a:r>
              <a:endParaRPr lang="ko-KR" altLang="en-US" sz="2400" b="1" dirty="0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3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54" name="Freeform 46">
            <a:extLst>
              <a:ext uri="{FF2B5EF4-FFF2-40B4-BE49-F238E27FC236}">
                <a16:creationId xmlns:a16="http://schemas.microsoft.com/office/drawing/2014/main" id="{DB88BF59-9C05-4D32-AF17-5F928BAEB0D5}"/>
              </a:ext>
            </a:extLst>
          </p:cNvPr>
          <p:cNvSpPr/>
          <p:nvPr/>
        </p:nvSpPr>
        <p:spPr>
          <a:xfrm>
            <a:off x="1132939" y="5103642"/>
            <a:ext cx="571130" cy="480979"/>
          </a:xfrm>
          <a:custGeom>
            <a:avLst/>
            <a:gdLst/>
            <a:ahLst/>
            <a:cxnLst/>
            <a:rect l="l" t="t" r="r" b="b"/>
            <a:pathLst>
              <a:path w="348343" h="304800">
                <a:moveTo>
                  <a:pt x="273333" y="227920"/>
                </a:moveTo>
                <a:lnTo>
                  <a:pt x="265169" y="266530"/>
                </a:lnTo>
                <a:lnTo>
                  <a:pt x="287281" y="227920"/>
                </a:lnTo>
                <a:close/>
                <a:moveTo>
                  <a:pt x="195432" y="227920"/>
                </a:moveTo>
                <a:lnTo>
                  <a:pt x="252072" y="286260"/>
                </a:lnTo>
                <a:cubicBezTo>
                  <a:pt x="252979" y="285807"/>
                  <a:pt x="253716" y="285523"/>
                  <a:pt x="254283" y="285410"/>
                </a:cubicBezTo>
                <a:lnTo>
                  <a:pt x="257005" y="280647"/>
                </a:lnTo>
                <a:lnTo>
                  <a:pt x="268060" y="227920"/>
                </a:lnTo>
                <a:close/>
                <a:moveTo>
                  <a:pt x="164476" y="227920"/>
                </a:moveTo>
                <a:lnTo>
                  <a:pt x="106306" y="288131"/>
                </a:lnTo>
                <a:lnTo>
                  <a:pt x="167538" y="288131"/>
                </a:lnTo>
                <a:cubicBezTo>
                  <a:pt x="169579" y="286317"/>
                  <a:pt x="171790" y="285410"/>
                  <a:pt x="174171" y="285410"/>
                </a:cubicBezTo>
                <a:cubicBezTo>
                  <a:pt x="176552" y="285410"/>
                  <a:pt x="178764" y="286317"/>
                  <a:pt x="180805" y="288131"/>
                </a:cubicBezTo>
                <a:lnTo>
                  <a:pt x="246969" y="288131"/>
                </a:lnTo>
                <a:lnTo>
                  <a:pt x="188799" y="227920"/>
                </a:lnTo>
                <a:close/>
                <a:moveTo>
                  <a:pt x="93889" y="227920"/>
                </a:moveTo>
                <a:lnTo>
                  <a:pt x="93889" y="284900"/>
                </a:lnTo>
                <a:lnTo>
                  <a:pt x="94569" y="285920"/>
                </a:lnTo>
                <a:cubicBezTo>
                  <a:pt x="96157" y="286487"/>
                  <a:pt x="97404" y="287224"/>
                  <a:pt x="98311" y="288131"/>
                </a:cubicBezTo>
                <a:lnTo>
                  <a:pt x="99162" y="288131"/>
                </a:lnTo>
                <a:lnTo>
                  <a:pt x="157332" y="227920"/>
                </a:lnTo>
                <a:close/>
                <a:moveTo>
                  <a:pt x="61062" y="227920"/>
                </a:moveTo>
                <a:lnTo>
                  <a:pt x="88786" y="276055"/>
                </a:lnTo>
                <a:lnTo>
                  <a:pt x="88786" y="227920"/>
                </a:lnTo>
                <a:close/>
                <a:moveTo>
                  <a:pt x="176552" y="215333"/>
                </a:moveTo>
                <a:lnTo>
                  <a:pt x="169409" y="222817"/>
                </a:lnTo>
                <a:lnTo>
                  <a:pt x="183866" y="222817"/>
                </a:lnTo>
                <a:close/>
                <a:moveTo>
                  <a:pt x="277245" y="209380"/>
                </a:moveTo>
                <a:lnTo>
                  <a:pt x="274354" y="222817"/>
                </a:lnTo>
                <a:lnTo>
                  <a:pt x="287281" y="222817"/>
                </a:lnTo>
                <a:cubicBezTo>
                  <a:pt x="287394" y="222137"/>
                  <a:pt x="287677" y="221513"/>
                  <a:pt x="288131" y="220946"/>
                </a:cubicBezTo>
                <a:close/>
                <a:moveTo>
                  <a:pt x="88786" y="190670"/>
                </a:moveTo>
                <a:lnTo>
                  <a:pt x="60211" y="220776"/>
                </a:lnTo>
                <a:cubicBezTo>
                  <a:pt x="60665" y="221683"/>
                  <a:pt x="60948" y="222363"/>
                  <a:pt x="61062" y="222817"/>
                </a:cubicBezTo>
                <a:lnTo>
                  <a:pt x="88786" y="222817"/>
                </a:lnTo>
                <a:close/>
                <a:moveTo>
                  <a:pt x="230131" y="159714"/>
                </a:moveTo>
                <a:lnTo>
                  <a:pt x="179784" y="211931"/>
                </a:lnTo>
                <a:lnTo>
                  <a:pt x="190500" y="222817"/>
                </a:lnTo>
                <a:lnTo>
                  <a:pt x="269251" y="222817"/>
                </a:lnTo>
                <a:lnTo>
                  <a:pt x="272993" y="204958"/>
                </a:lnTo>
                <a:close/>
                <a:moveTo>
                  <a:pt x="120593" y="156993"/>
                </a:moveTo>
                <a:lnTo>
                  <a:pt x="93889" y="185227"/>
                </a:lnTo>
                <a:lnTo>
                  <a:pt x="93889" y="222817"/>
                </a:lnTo>
                <a:lnTo>
                  <a:pt x="162265" y="222817"/>
                </a:lnTo>
                <a:lnTo>
                  <a:pt x="173151" y="211591"/>
                </a:lnTo>
                <a:close/>
                <a:moveTo>
                  <a:pt x="93889" y="129438"/>
                </a:moveTo>
                <a:lnTo>
                  <a:pt x="93889" y="177743"/>
                </a:lnTo>
                <a:lnTo>
                  <a:pt x="117021" y="153421"/>
                </a:lnTo>
                <a:close/>
                <a:moveTo>
                  <a:pt x="174001" y="100353"/>
                </a:moveTo>
                <a:lnTo>
                  <a:pt x="123485" y="153931"/>
                </a:lnTo>
                <a:lnTo>
                  <a:pt x="176382" y="208189"/>
                </a:lnTo>
                <a:lnTo>
                  <a:pt x="226729" y="155972"/>
                </a:lnTo>
                <a:close/>
                <a:moveTo>
                  <a:pt x="300377" y="99162"/>
                </a:moveTo>
                <a:lnTo>
                  <a:pt x="278436" y="203257"/>
                </a:lnTo>
                <a:lnTo>
                  <a:pt x="291533" y="217204"/>
                </a:lnTo>
                <a:cubicBezTo>
                  <a:pt x="292100" y="216864"/>
                  <a:pt x="292950" y="216467"/>
                  <a:pt x="294084" y="216013"/>
                </a:cubicBezTo>
                <a:lnTo>
                  <a:pt x="329293" y="154611"/>
                </a:lnTo>
                <a:cubicBezTo>
                  <a:pt x="329066" y="153477"/>
                  <a:pt x="328952" y="152684"/>
                  <a:pt x="328952" y="152230"/>
                </a:cubicBezTo>
                <a:cubicBezTo>
                  <a:pt x="328952" y="152117"/>
                  <a:pt x="329122" y="151209"/>
                  <a:pt x="329463" y="149509"/>
                </a:cubicBezTo>
                <a:close/>
                <a:moveTo>
                  <a:pt x="295955" y="91678"/>
                </a:moveTo>
                <a:lnTo>
                  <a:pt x="233702" y="156142"/>
                </a:lnTo>
                <a:lnTo>
                  <a:pt x="274184" y="198834"/>
                </a:lnTo>
                <a:lnTo>
                  <a:pt x="296635" y="92699"/>
                </a:lnTo>
                <a:lnTo>
                  <a:pt x="296125" y="91848"/>
                </a:lnTo>
                <a:close/>
                <a:moveTo>
                  <a:pt x="56980" y="91168"/>
                </a:moveTo>
                <a:cubicBezTo>
                  <a:pt x="55506" y="92075"/>
                  <a:pt x="53861" y="92642"/>
                  <a:pt x="52047" y="92869"/>
                </a:cubicBezTo>
                <a:lnTo>
                  <a:pt x="19050" y="150019"/>
                </a:lnTo>
                <a:cubicBezTo>
                  <a:pt x="19163" y="150472"/>
                  <a:pt x="19220" y="151209"/>
                  <a:pt x="19220" y="152230"/>
                </a:cubicBezTo>
                <a:cubicBezTo>
                  <a:pt x="19220" y="153364"/>
                  <a:pt x="19106" y="154214"/>
                  <a:pt x="18880" y="154781"/>
                </a:cubicBezTo>
                <a:lnTo>
                  <a:pt x="54258" y="216013"/>
                </a:lnTo>
                <a:cubicBezTo>
                  <a:pt x="54485" y="216013"/>
                  <a:pt x="54740" y="216070"/>
                  <a:pt x="55024" y="216184"/>
                </a:cubicBezTo>
                <a:cubicBezTo>
                  <a:pt x="55307" y="216297"/>
                  <a:pt x="55619" y="216439"/>
                  <a:pt x="55959" y="216609"/>
                </a:cubicBezTo>
                <a:cubicBezTo>
                  <a:pt x="56299" y="216779"/>
                  <a:pt x="56583" y="216921"/>
                  <a:pt x="56810" y="217034"/>
                </a:cubicBezTo>
                <a:lnTo>
                  <a:pt x="88786" y="183186"/>
                </a:lnTo>
                <a:lnTo>
                  <a:pt x="88786" y="124165"/>
                </a:lnTo>
                <a:close/>
                <a:moveTo>
                  <a:pt x="88786" y="72458"/>
                </a:moveTo>
                <a:lnTo>
                  <a:pt x="60892" y="82493"/>
                </a:lnTo>
                <a:cubicBezTo>
                  <a:pt x="60892" y="82607"/>
                  <a:pt x="60920" y="82720"/>
                  <a:pt x="60977" y="82834"/>
                </a:cubicBezTo>
                <a:cubicBezTo>
                  <a:pt x="61033" y="82947"/>
                  <a:pt x="61062" y="83060"/>
                  <a:pt x="61062" y="83174"/>
                </a:cubicBezTo>
                <a:cubicBezTo>
                  <a:pt x="61062" y="84988"/>
                  <a:pt x="60608" y="86632"/>
                  <a:pt x="59701" y="88106"/>
                </a:cubicBezTo>
                <a:lnTo>
                  <a:pt x="88786" y="118212"/>
                </a:lnTo>
                <a:close/>
                <a:moveTo>
                  <a:pt x="132499" y="56640"/>
                </a:moveTo>
                <a:lnTo>
                  <a:pt x="93889" y="70587"/>
                </a:lnTo>
                <a:lnTo>
                  <a:pt x="93889" y="123485"/>
                </a:lnTo>
                <a:lnTo>
                  <a:pt x="119913" y="150189"/>
                </a:lnTo>
                <a:lnTo>
                  <a:pt x="170429" y="96781"/>
                </a:lnTo>
                <a:close/>
                <a:moveTo>
                  <a:pt x="88786" y="29085"/>
                </a:moveTo>
                <a:lnTo>
                  <a:pt x="61062" y="77051"/>
                </a:lnTo>
                <a:lnTo>
                  <a:pt x="88786" y="67015"/>
                </a:lnTo>
                <a:close/>
                <a:moveTo>
                  <a:pt x="96270" y="18370"/>
                </a:moveTo>
                <a:cubicBezTo>
                  <a:pt x="95590" y="18597"/>
                  <a:pt x="95023" y="18767"/>
                  <a:pt x="94569" y="18880"/>
                </a:cubicBezTo>
                <a:lnTo>
                  <a:pt x="93889" y="20241"/>
                </a:lnTo>
                <a:lnTo>
                  <a:pt x="93889" y="65144"/>
                </a:lnTo>
                <a:lnTo>
                  <a:pt x="128757" y="52558"/>
                </a:lnTo>
                <a:close/>
                <a:moveTo>
                  <a:pt x="251902" y="18030"/>
                </a:moveTo>
                <a:lnTo>
                  <a:pt x="177573" y="96781"/>
                </a:lnTo>
                <a:lnTo>
                  <a:pt x="230301" y="152400"/>
                </a:lnTo>
                <a:lnTo>
                  <a:pt x="292213" y="88106"/>
                </a:lnTo>
                <a:cubicBezTo>
                  <a:pt x="291306" y="86632"/>
                  <a:pt x="290852" y="84988"/>
                  <a:pt x="290852" y="83174"/>
                </a:cubicBezTo>
                <a:lnTo>
                  <a:pt x="290852" y="82834"/>
                </a:lnTo>
                <a:lnTo>
                  <a:pt x="254113" y="18880"/>
                </a:lnTo>
                <a:cubicBezTo>
                  <a:pt x="253546" y="18767"/>
                  <a:pt x="252809" y="18483"/>
                  <a:pt x="251902" y="18030"/>
                </a:cubicBezTo>
                <a:close/>
                <a:moveTo>
                  <a:pt x="243397" y="16669"/>
                </a:moveTo>
                <a:lnTo>
                  <a:pt x="137772" y="54769"/>
                </a:lnTo>
                <a:lnTo>
                  <a:pt x="174001" y="93039"/>
                </a:lnTo>
                <a:lnTo>
                  <a:pt x="246119" y="16669"/>
                </a:lnTo>
                <a:close/>
                <a:moveTo>
                  <a:pt x="101713" y="16669"/>
                </a:moveTo>
                <a:lnTo>
                  <a:pt x="134030" y="50687"/>
                </a:lnTo>
                <a:lnTo>
                  <a:pt x="228260" y="16669"/>
                </a:lnTo>
                <a:lnTo>
                  <a:pt x="180635" y="16669"/>
                </a:lnTo>
                <a:cubicBezTo>
                  <a:pt x="178820" y="18483"/>
                  <a:pt x="176666" y="19390"/>
                  <a:pt x="174171" y="19390"/>
                </a:cubicBezTo>
                <a:cubicBezTo>
                  <a:pt x="171677" y="19390"/>
                  <a:pt x="169522" y="18483"/>
                  <a:pt x="167708" y="16669"/>
                </a:cubicBezTo>
                <a:close/>
                <a:moveTo>
                  <a:pt x="92018" y="0"/>
                </a:moveTo>
                <a:cubicBezTo>
                  <a:pt x="94966" y="0"/>
                  <a:pt x="97461" y="1191"/>
                  <a:pt x="99502" y="3572"/>
                </a:cubicBezTo>
                <a:lnTo>
                  <a:pt x="166857" y="3572"/>
                </a:lnTo>
                <a:cubicBezTo>
                  <a:pt x="168672" y="1191"/>
                  <a:pt x="171110" y="0"/>
                  <a:pt x="174171" y="0"/>
                </a:cubicBezTo>
                <a:cubicBezTo>
                  <a:pt x="177233" y="0"/>
                  <a:pt x="179671" y="1191"/>
                  <a:pt x="181485" y="3572"/>
                </a:cubicBezTo>
                <a:lnTo>
                  <a:pt x="249181" y="3572"/>
                </a:lnTo>
                <a:cubicBezTo>
                  <a:pt x="251222" y="1191"/>
                  <a:pt x="253716" y="0"/>
                  <a:pt x="256664" y="0"/>
                </a:cubicBezTo>
                <a:cubicBezTo>
                  <a:pt x="259273" y="0"/>
                  <a:pt x="261540" y="936"/>
                  <a:pt x="263468" y="2807"/>
                </a:cubicBezTo>
                <a:cubicBezTo>
                  <a:pt x="265396" y="4678"/>
                  <a:pt x="266360" y="6974"/>
                  <a:pt x="266360" y="9695"/>
                </a:cubicBezTo>
                <a:cubicBezTo>
                  <a:pt x="266360" y="10376"/>
                  <a:pt x="266133" y="11396"/>
                  <a:pt x="265679" y="12757"/>
                </a:cubicBezTo>
                <a:lnTo>
                  <a:pt x="300888" y="73649"/>
                </a:lnTo>
                <a:cubicBezTo>
                  <a:pt x="303496" y="73762"/>
                  <a:pt x="305707" y="74754"/>
                  <a:pt x="307521" y="76625"/>
                </a:cubicBezTo>
                <a:cubicBezTo>
                  <a:pt x="309335" y="78496"/>
                  <a:pt x="310243" y="80679"/>
                  <a:pt x="310243" y="83174"/>
                </a:cubicBezTo>
                <a:cubicBezTo>
                  <a:pt x="310243" y="84648"/>
                  <a:pt x="309846" y="86179"/>
                  <a:pt x="309052" y="87766"/>
                </a:cubicBezTo>
                <a:lnTo>
                  <a:pt x="340859" y="142875"/>
                </a:lnTo>
                <a:cubicBezTo>
                  <a:pt x="343013" y="143329"/>
                  <a:pt x="344799" y="144434"/>
                  <a:pt x="346216" y="146192"/>
                </a:cubicBezTo>
                <a:cubicBezTo>
                  <a:pt x="347634" y="147949"/>
                  <a:pt x="348343" y="149962"/>
                  <a:pt x="348343" y="152230"/>
                </a:cubicBezTo>
                <a:cubicBezTo>
                  <a:pt x="348343" y="154611"/>
                  <a:pt x="347606" y="156681"/>
                  <a:pt x="346131" y="158438"/>
                </a:cubicBezTo>
                <a:cubicBezTo>
                  <a:pt x="344657" y="160196"/>
                  <a:pt x="342786" y="161301"/>
                  <a:pt x="340518" y="161755"/>
                </a:cubicBezTo>
                <a:lnTo>
                  <a:pt x="305650" y="222307"/>
                </a:lnTo>
                <a:cubicBezTo>
                  <a:pt x="305990" y="223327"/>
                  <a:pt x="306160" y="224348"/>
                  <a:pt x="306160" y="225368"/>
                </a:cubicBezTo>
                <a:cubicBezTo>
                  <a:pt x="306160" y="227636"/>
                  <a:pt x="305452" y="229649"/>
                  <a:pt x="304034" y="231407"/>
                </a:cubicBezTo>
                <a:cubicBezTo>
                  <a:pt x="302617" y="233164"/>
                  <a:pt x="300774" y="234270"/>
                  <a:pt x="298506" y="234723"/>
                </a:cubicBezTo>
                <a:lnTo>
                  <a:pt x="265679" y="292043"/>
                </a:lnTo>
                <a:cubicBezTo>
                  <a:pt x="266019" y="292951"/>
                  <a:pt x="266189" y="293858"/>
                  <a:pt x="266189" y="294765"/>
                </a:cubicBezTo>
                <a:cubicBezTo>
                  <a:pt x="266189" y="297373"/>
                  <a:pt x="265254" y="299641"/>
                  <a:pt x="263383" y="301568"/>
                </a:cubicBezTo>
                <a:cubicBezTo>
                  <a:pt x="261512" y="303496"/>
                  <a:pt x="259216" y="304460"/>
                  <a:pt x="256494" y="304460"/>
                </a:cubicBezTo>
                <a:cubicBezTo>
                  <a:pt x="253660" y="304460"/>
                  <a:pt x="251335" y="303439"/>
                  <a:pt x="249521" y="301398"/>
                </a:cubicBezTo>
                <a:lnTo>
                  <a:pt x="181485" y="301398"/>
                </a:lnTo>
                <a:cubicBezTo>
                  <a:pt x="179557" y="303666"/>
                  <a:pt x="177119" y="304800"/>
                  <a:pt x="174171" y="304800"/>
                </a:cubicBezTo>
                <a:cubicBezTo>
                  <a:pt x="171223" y="304800"/>
                  <a:pt x="168785" y="303666"/>
                  <a:pt x="166857" y="301398"/>
                </a:cubicBezTo>
                <a:lnTo>
                  <a:pt x="98992" y="301398"/>
                </a:lnTo>
                <a:cubicBezTo>
                  <a:pt x="97064" y="303666"/>
                  <a:pt x="94626" y="304800"/>
                  <a:pt x="91678" y="304800"/>
                </a:cubicBezTo>
                <a:cubicBezTo>
                  <a:pt x="89070" y="304800"/>
                  <a:pt x="86802" y="303865"/>
                  <a:pt x="84874" y="301994"/>
                </a:cubicBezTo>
                <a:cubicBezTo>
                  <a:pt x="82947" y="300123"/>
                  <a:pt x="81983" y="297826"/>
                  <a:pt x="81983" y="295105"/>
                </a:cubicBezTo>
                <a:cubicBezTo>
                  <a:pt x="81983" y="294198"/>
                  <a:pt x="82210" y="293064"/>
                  <a:pt x="82663" y="291703"/>
                </a:cubicBezTo>
                <a:lnTo>
                  <a:pt x="49836" y="234723"/>
                </a:lnTo>
                <a:cubicBezTo>
                  <a:pt x="47568" y="234270"/>
                  <a:pt x="45725" y="233164"/>
                  <a:pt x="44308" y="231407"/>
                </a:cubicBezTo>
                <a:cubicBezTo>
                  <a:pt x="42891" y="229649"/>
                  <a:pt x="42182" y="227636"/>
                  <a:pt x="42182" y="225368"/>
                </a:cubicBezTo>
                <a:cubicBezTo>
                  <a:pt x="42182" y="224348"/>
                  <a:pt x="42352" y="223327"/>
                  <a:pt x="42692" y="222307"/>
                </a:cubicBezTo>
                <a:lnTo>
                  <a:pt x="7654" y="161755"/>
                </a:lnTo>
                <a:cubicBezTo>
                  <a:pt x="5386" y="161188"/>
                  <a:pt x="3543" y="160026"/>
                  <a:pt x="2126" y="158268"/>
                </a:cubicBezTo>
                <a:cubicBezTo>
                  <a:pt x="708" y="156511"/>
                  <a:pt x="0" y="154498"/>
                  <a:pt x="0" y="152230"/>
                </a:cubicBezTo>
                <a:cubicBezTo>
                  <a:pt x="0" y="149849"/>
                  <a:pt x="765" y="147779"/>
                  <a:pt x="2296" y="146022"/>
                </a:cubicBezTo>
                <a:cubicBezTo>
                  <a:pt x="3827" y="144264"/>
                  <a:pt x="5726" y="143159"/>
                  <a:pt x="7994" y="142705"/>
                </a:cubicBezTo>
                <a:lnTo>
                  <a:pt x="41842" y="84194"/>
                </a:lnTo>
                <a:cubicBezTo>
                  <a:pt x="41842" y="84081"/>
                  <a:pt x="41813" y="83911"/>
                  <a:pt x="41757" y="83684"/>
                </a:cubicBezTo>
                <a:cubicBezTo>
                  <a:pt x="41700" y="83457"/>
                  <a:pt x="41672" y="83287"/>
                  <a:pt x="41672" y="83174"/>
                </a:cubicBezTo>
                <a:cubicBezTo>
                  <a:pt x="41672" y="79092"/>
                  <a:pt x="43599" y="76200"/>
                  <a:pt x="47455" y="74499"/>
                </a:cubicBezTo>
                <a:lnTo>
                  <a:pt x="83003" y="12757"/>
                </a:lnTo>
                <a:cubicBezTo>
                  <a:pt x="82550" y="11623"/>
                  <a:pt x="82323" y="10602"/>
                  <a:pt x="82323" y="9695"/>
                </a:cubicBezTo>
                <a:cubicBezTo>
                  <a:pt x="82323" y="6974"/>
                  <a:pt x="83287" y="4678"/>
                  <a:pt x="85214" y="2807"/>
                </a:cubicBezTo>
                <a:cubicBezTo>
                  <a:pt x="87142" y="936"/>
                  <a:pt x="89410" y="0"/>
                  <a:pt x="920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1828800"/>
            <a:endParaRPr lang="en-IN" sz="4800" dirty="0">
              <a:solidFill>
                <a:prstClr val="white"/>
              </a:solidFill>
              <a:latin typeface="Raleway" panose="020B0503030101060003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2540540" y="5360334"/>
            <a:ext cx="8605770" cy="369332"/>
            <a:chOff x="2398672" y="4955398"/>
            <a:chExt cx="9203336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55398"/>
              <a:ext cx="884778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Hidden Layer</a:t>
              </a:r>
              <a:endParaRPr lang="ko-KR" altLang="en-US" sz="2400" b="1" dirty="0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7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540539" y="5780510"/>
            <a:ext cx="8605770" cy="369332"/>
            <a:chOff x="2398672" y="4955398"/>
            <a:chExt cx="9203336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55398"/>
              <a:ext cx="884778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Output Layer</a:t>
              </a:r>
              <a:endParaRPr lang="ko-KR" altLang="en-US" sz="2400" b="1" dirty="0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60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10764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1038368" cy="7207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dirty="0"/>
              <a:t>General Architecture - Artificial Neural Networks (Cont.)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7"/>
            <a:ext cx="10025609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950522" y="1358101"/>
            <a:ext cx="10139910" cy="741936"/>
            <a:chOff x="1383666" y="1769853"/>
            <a:chExt cx="10916103" cy="93621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3"/>
              <a:ext cx="1043489" cy="93621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1977547" y="1479883"/>
            <a:ext cx="88463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Each Layer contains one or more </a:t>
            </a:r>
            <a:r>
              <a:rPr lang="en-US" altLang="ko-KR" sz="2800" b="1" dirty="0">
                <a:solidFill>
                  <a:srgbClr val="FF0000"/>
                </a:solidFill>
                <a:cs typeface="Segoe UI" panose="020B0502040204020203" pitchFamily="34" charset="0"/>
              </a:rPr>
              <a:t>Units</a:t>
            </a:r>
            <a:endParaRPr lang="ko-KR" altLang="en-US" sz="2800" b="1" dirty="0">
              <a:solidFill>
                <a:srgbClr val="4C287F"/>
              </a:solidFill>
              <a:cs typeface="Segoe UI" panose="020B0502040204020203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950522" y="3663541"/>
            <a:ext cx="10139910" cy="1001677"/>
            <a:chOff x="1383666" y="1769853"/>
            <a:chExt cx="10916103" cy="93621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3"/>
              <a:ext cx="1043489" cy="936210"/>
            </a:xfrm>
            <a:prstGeom prst="rect">
              <a:avLst/>
            </a:prstGeom>
            <a:solidFill>
              <a:srgbClr val="1F1E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1977547" y="3705963"/>
            <a:ext cx="38866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Hidden Units</a:t>
            </a:r>
            <a:endParaRPr lang="ko-KR" altLang="en-US" sz="2800" b="1" dirty="0">
              <a:solidFill>
                <a:srgbClr val="4C287F"/>
              </a:solidFill>
              <a:cs typeface="Segoe UI" panose="020B0502040204020203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947191" y="2320351"/>
            <a:ext cx="10143241" cy="1113127"/>
            <a:chOff x="1383666" y="1769854"/>
            <a:chExt cx="5841295" cy="93853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455469" y="1769857"/>
              <a:ext cx="5769492" cy="9385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560114" cy="936210"/>
            </a:xfrm>
            <a:prstGeom prst="rect">
              <a:avLst/>
            </a:prstGeom>
            <a:solidFill>
              <a:srgbClr val="7744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1977547" y="2405221"/>
            <a:ext cx="8262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Input Units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2295987" y="2946242"/>
            <a:ext cx="8605770" cy="369332"/>
            <a:chOff x="2398672" y="4955398"/>
            <a:chExt cx="9203336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55398"/>
              <a:ext cx="884778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cs typeface="Segoe UI" panose="020B0502040204020203" pitchFamily="34" charset="0"/>
                </a:rPr>
                <a:t>Units in the Input Layer called Input Units</a:t>
              </a:r>
              <a:endParaRPr lang="ko-KR" altLang="en-US" sz="2400" b="1" dirty="0">
                <a:cs typeface="Segoe UI" panose="020B0502040204020203" pitchFamily="34" charset="0"/>
              </a:endParaRPr>
            </a:p>
          </p:txBody>
        </p:sp>
        <p:sp>
          <p:nvSpPr>
            <p:cNvPr id="45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295987" y="4204105"/>
            <a:ext cx="8605770" cy="369332"/>
            <a:chOff x="2398672" y="4955398"/>
            <a:chExt cx="9203336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55398"/>
              <a:ext cx="884778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cs typeface="Segoe UI" panose="020B0502040204020203" pitchFamily="34" charset="0"/>
                </a:rPr>
                <a:t>Units in the Hidden Layer called Hidden Units</a:t>
              </a:r>
              <a:endParaRPr lang="ko-KR" altLang="en-US" sz="2400" b="1" dirty="0">
                <a:cs typeface="Segoe UI" panose="020B0502040204020203" pitchFamily="34" charset="0"/>
              </a:endParaRPr>
            </a:p>
          </p:txBody>
        </p:sp>
        <p:sp>
          <p:nvSpPr>
            <p:cNvPr id="48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64" name="Freeform 63"/>
          <p:cNvSpPr>
            <a:spLocks/>
          </p:cNvSpPr>
          <p:nvPr/>
        </p:nvSpPr>
        <p:spPr bwMode="auto">
          <a:xfrm>
            <a:off x="1140009" y="1503172"/>
            <a:ext cx="552834" cy="451794"/>
          </a:xfrm>
          <a:custGeom>
            <a:avLst/>
            <a:gdLst>
              <a:gd name="connsiteX0" fmla="*/ 86232 w 455613"/>
              <a:gd name="connsiteY0" fmla="*/ 350838 h 409576"/>
              <a:gd name="connsiteX1" fmla="*/ 87433 w 455613"/>
              <a:gd name="connsiteY1" fmla="*/ 351240 h 409576"/>
              <a:gd name="connsiteX2" fmla="*/ 88233 w 455613"/>
              <a:gd name="connsiteY2" fmla="*/ 352313 h 409576"/>
              <a:gd name="connsiteX3" fmla="*/ 88767 w 455613"/>
              <a:gd name="connsiteY3" fmla="*/ 353788 h 409576"/>
              <a:gd name="connsiteX4" fmla="*/ 88900 w 455613"/>
              <a:gd name="connsiteY4" fmla="*/ 356068 h 409576"/>
              <a:gd name="connsiteX5" fmla="*/ 88900 w 455613"/>
              <a:gd name="connsiteY5" fmla="*/ 409576 h 409576"/>
              <a:gd name="connsiteX6" fmla="*/ 41275 w 455613"/>
              <a:gd name="connsiteY6" fmla="*/ 409576 h 409576"/>
              <a:gd name="connsiteX7" fmla="*/ 41275 w 455613"/>
              <a:gd name="connsiteY7" fmla="*/ 401530 h 409576"/>
              <a:gd name="connsiteX8" fmla="*/ 41542 w 455613"/>
              <a:gd name="connsiteY8" fmla="*/ 399116 h 409576"/>
              <a:gd name="connsiteX9" fmla="*/ 42342 w 455613"/>
              <a:gd name="connsiteY9" fmla="*/ 396568 h 409576"/>
              <a:gd name="connsiteX10" fmla="*/ 43410 w 455613"/>
              <a:gd name="connsiteY10" fmla="*/ 393752 h 409576"/>
              <a:gd name="connsiteX11" fmla="*/ 44744 w 455613"/>
              <a:gd name="connsiteY11" fmla="*/ 391070 h 409576"/>
              <a:gd name="connsiteX12" fmla="*/ 46611 w 455613"/>
              <a:gd name="connsiteY12" fmla="*/ 388388 h 409576"/>
              <a:gd name="connsiteX13" fmla="*/ 48479 w 455613"/>
              <a:gd name="connsiteY13" fmla="*/ 386376 h 409576"/>
              <a:gd name="connsiteX14" fmla="*/ 62219 w 455613"/>
              <a:gd name="connsiteY14" fmla="*/ 372563 h 409576"/>
              <a:gd name="connsiteX15" fmla="*/ 81696 w 455613"/>
              <a:gd name="connsiteY15" fmla="*/ 352984 h 409576"/>
              <a:gd name="connsiteX16" fmla="*/ 83297 w 455613"/>
              <a:gd name="connsiteY16" fmla="*/ 351643 h 409576"/>
              <a:gd name="connsiteX17" fmla="*/ 84898 w 455613"/>
              <a:gd name="connsiteY17" fmla="*/ 350972 h 409576"/>
              <a:gd name="connsiteX18" fmla="*/ 148113 w 455613"/>
              <a:gd name="connsiteY18" fmla="*/ 290513 h 409576"/>
              <a:gd name="connsiteX19" fmla="*/ 149142 w 455613"/>
              <a:gd name="connsiteY19" fmla="*/ 291039 h 409576"/>
              <a:gd name="connsiteX20" fmla="*/ 149913 w 455613"/>
              <a:gd name="connsiteY20" fmla="*/ 291960 h 409576"/>
              <a:gd name="connsiteX21" fmla="*/ 150427 w 455613"/>
              <a:gd name="connsiteY21" fmla="*/ 293671 h 409576"/>
              <a:gd name="connsiteX22" fmla="*/ 150813 w 455613"/>
              <a:gd name="connsiteY22" fmla="*/ 295644 h 409576"/>
              <a:gd name="connsiteX23" fmla="*/ 150813 w 455613"/>
              <a:gd name="connsiteY23" fmla="*/ 409576 h 409576"/>
              <a:gd name="connsiteX24" fmla="*/ 109538 w 455613"/>
              <a:gd name="connsiteY24" fmla="*/ 409576 h 409576"/>
              <a:gd name="connsiteX25" fmla="*/ 109538 w 455613"/>
              <a:gd name="connsiteY25" fmla="*/ 337481 h 409576"/>
              <a:gd name="connsiteX26" fmla="*/ 109667 w 455613"/>
              <a:gd name="connsiteY26" fmla="*/ 334718 h 409576"/>
              <a:gd name="connsiteX27" fmla="*/ 110438 w 455613"/>
              <a:gd name="connsiteY27" fmla="*/ 331560 h 409576"/>
              <a:gd name="connsiteX28" fmla="*/ 111595 w 455613"/>
              <a:gd name="connsiteY28" fmla="*/ 328403 h 409576"/>
              <a:gd name="connsiteX29" fmla="*/ 112881 w 455613"/>
              <a:gd name="connsiteY29" fmla="*/ 325377 h 409576"/>
              <a:gd name="connsiteX30" fmla="*/ 114681 w 455613"/>
              <a:gd name="connsiteY30" fmla="*/ 322614 h 409576"/>
              <a:gd name="connsiteX31" fmla="*/ 116482 w 455613"/>
              <a:gd name="connsiteY31" fmla="*/ 320378 h 409576"/>
              <a:gd name="connsiteX32" fmla="*/ 143741 w 455613"/>
              <a:gd name="connsiteY32" fmla="*/ 292750 h 409576"/>
              <a:gd name="connsiteX33" fmla="*/ 145413 w 455613"/>
              <a:gd name="connsiteY33" fmla="*/ 291434 h 409576"/>
              <a:gd name="connsiteX34" fmla="*/ 146827 w 455613"/>
              <a:gd name="connsiteY34" fmla="*/ 290645 h 409576"/>
              <a:gd name="connsiteX35" fmla="*/ 174022 w 455613"/>
              <a:gd name="connsiteY35" fmla="*/ 287338 h 409576"/>
              <a:gd name="connsiteX36" fmla="*/ 175436 w 455613"/>
              <a:gd name="connsiteY36" fmla="*/ 287471 h 409576"/>
              <a:gd name="connsiteX37" fmla="*/ 176851 w 455613"/>
              <a:gd name="connsiteY37" fmla="*/ 288136 h 409576"/>
              <a:gd name="connsiteX38" fmla="*/ 178522 w 455613"/>
              <a:gd name="connsiteY38" fmla="*/ 289599 h 409576"/>
              <a:gd name="connsiteX39" fmla="*/ 199481 w 455613"/>
              <a:gd name="connsiteY39" fmla="*/ 311147 h 409576"/>
              <a:gd name="connsiteX40" fmla="*/ 206039 w 455613"/>
              <a:gd name="connsiteY40" fmla="*/ 317931 h 409576"/>
              <a:gd name="connsiteX41" fmla="*/ 207839 w 455613"/>
              <a:gd name="connsiteY41" fmla="*/ 320059 h 409576"/>
              <a:gd name="connsiteX42" fmla="*/ 209382 w 455613"/>
              <a:gd name="connsiteY42" fmla="*/ 322719 h 409576"/>
              <a:gd name="connsiteX43" fmla="*/ 210668 w 455613"/>
              <a:gd name="connsiteY43" fmla="*/ 325646 h 409576"/>
              <a:gd name="connsiteX44" fmla="*/ 211696 w 455613"/>
              <a:gd name="connsiteY44" fmla="*/ 328705 h 409576"/>
              <a:gd name="connsiteX45" fmla="*/ 212468 w 455613"/>
              <a:gd name="connsiteY45" fmla="*/ 331897 h 409576"/>
              <a:gd name="connsiteX46" fmla="*/ 212725 w 455613"/>
              <a:gd name="connsiteY46" fmla="*/ 334823 h 409576"/>
              <a:gd name="connsiteX47" fmla="*/ 212725 w 455613"/>
              <a:gd name="connsiteY47" fmla="*/ 409576 h 409576"/>
              <a:gd name="connsiteX48" fmla="*/ 171450 w 455613"/>
              <a:gd name="connsiteY48" fmla="*/ 409576 h 409576"/>
              <a:gd name="connsiteX49" fmla="*/ 171450 w 455613"/>
              <a:gd name="connsiteY49" fmla="*/ 292659 h 409576"/>
              <a:gd name="connsiteX50" fmla="*/ 171579 w 455613"/>
              <a:gd name="connsiteY50" fmla="*/ 290397 h 409576"/>
              <a:gd name="connsiteX51" fmla="*/ 172222 w 455613"/>
              <a:gd name="connsiteY51" fmla="*/ 288934 h 409576"/>
              <a:gd name="connsiteX52" fmla="*/ 172993 w 455613"/>
              <a:gd name="connsiteY52" fmla="*/ 287737 h 409576"/>
              <a:gd name="connsiteX53" fmla="*/ 271938 w 455613"/>
              <a:gd name="connsiteY53" fmla="*/ 282575 h 409576"/>
              <a:gd name="connsiteX54" fmla="*/ 273095 w 455613"/>
              <a:gd name="connsiteY54" fmla="*/ 283105 h 409576"/>
              <a:gd name="connsiteX55" fmla="*/ 273995 w 455613"/>
              <a:gd name="connsiteY55" fmla="*/ 284033 h 409576"/>
              <a:gd name="connsiteX56" fmla="*/ 274510 w 455613"/>
              <a:gd name="connsiteY56" fmla="*/ 285757 h 409576"/>
              <a:gd name="connsiteX57" fmla="*/ 274638 w 455613"/>
              <a:gd name="connsiteY57" fmla="*/ 287745 h 409576"/>
              <a:gd name="connsiteX58" fmla="*/ 274638 w 455613"/>
              <a:gd name="connsiteY58" fmla="*/ 409575 h 409576"/>
              <a:gd name="connsiteX59" fmla="*/ 233363 w 455613"/>
              <a:gd name="connsiteY59" fmla="*/ 409575 h 409576"/>
              <a:gd name="connsiteX60" fmla="*/ 233363 w 455613"/>
              <a:gd name="connsiteY60" fmla="*/ 329902 h 409576"/>
              <a:gd name="connsiteX61" fmla="*/ 233620 w 455613"/>
              <a:gd name="connsiteY61" fmla="*/ 326588 h 409576"/>
              <a:gd name="connsiteX62" fmla="*/ 234263 w 455613"/>
              <a:gd name="connsiteY62" fmla="*/ 323141 h 409576"/>
              <a:gd name="connsiteX63" fmla="*/ 235035 w 455613"/>
              <a:gd name="connsiteY63" fmla="*/ 320224 h 409576"/>
              <a:gd name="connsiteX64" fmla="*/ 236192 w 455613"/>
              <a:gd name="connsiteY64" fmla="*/ 317573 h 409576"/>
              <a:gd name="connsiteX65" fmla="*/ 237478 w 455613"/>
              <a:gd name="connsiteY65" fmla="*/ 315585 h 409576"/>
              <a:gd name="connsiteX66" fmla="*/ 238764 w 455613"/>
              <a:gd name="connsiteY66" fmla="*/ 314391 h 409576"/>
              <a:gd name="connsiteX67" fmla="*/ 239921 w 455613"/>
              <a:gd name="connsiteY67" fmla="*/ 313066 h 409576"/>
              <a:gd name="connsiteX68" fmla="*/ 240821 w 455613"/>
              <a:gd name="connsiteY68" fmla="*/ 312138 h 409576"/>
              <a:gd name="connsiteX69" fmla="*/ 241335 w 455613"/>
              <a:gd name="connsiteY69" fmla="*/ 311607 h 409576"/>
              <a:gd name="connsiteX70" fmla="*/ 241592 w 455613"/>
              <a:gd name="connsiteY70" fmla="*/ 311475 h 409576"/>
              <a:gd name="connsiteX71" fmla="*/ 267566 w 455613"/>
              <a:gd name="connsiteY71" fmla="*/ 284829 h 409576"/>
              <a:gd name="connsiteX72" fmla="*/ 269238 w 455613"/>
              <a:gd name="connsiteY72" fmla="*/ 283503 h 409576"/>
              <a:gd name="connsiteX73" fmla="*/ 270781 w 455613"/>
              <a:gd name="connsiteY73" fmla="*/ 282708 h 409576"/>
              <a:gd name="connsiteX74" fmla="*/ 335459 w 455613"/>
              <a:gd name="connsiteY74" fmla="*/ 220663 h 409576"/>
              <a:gd name="connsiteX75" fmla="*/ 336665 w 455613"/>
              <a:gd name="connsiteY75" fmla="*/ 221061 h 409576"/>
              <a:gd name="connsiteX76" fmla="*/ 337468 w 455613"/>
              <a:gd name="connsiteY76" fmla="*/ 221990 h 409576"/>
              <a:gd name="connsiteX77" fmla="*/ 338004 w 455613"/>
              <a:gd name="connsiteY77" fmla="*/ 223714 h 409576"/>
              <a:gd name="connsiteX78" fmla="*/ 338138 w 455613"/>
              <a:gd name="connsiteY78" fmla="*/ 225704 h 409576"/>
              <a:gd name="connsiteX79" fmla="*/ 338138 w 455613"/>
              <a:gd name="connsiteY79" fmla="*/ 409576 h 409576"/>
              <a:gd name="connsiteX80" fmla="*/ 295275 w 455613"/>
              <a:gd name="connsiteY80" fmla="*/ 409576 h 409576"/>
              <a:gd name="connsiteX81" fmla="*/ 295275 w 455613"/>
              <a:gd name="connsiteY81" fmla="*/ 268157 h 409576"/>
              <a:gd name="connsiteX82" fmla="*/ 295543 w 455613"/>
              <a:gd name="connsiteY82" fmla="*/ 265238 h 409576"/>
              <a:gd name="connsiteX83" fmla="*/ 296213 w 455613"/>
              <a:gd name="connsiteY83" fmla="*/ 262054 h 409576"/>
              <a:gd name="connsiteX84" fmla="*/ 297284 w 455613"/>
              <a:gd name="connsiteY84" fmla="*/ 258870 h 409576"/>
              <a:gd name="connsiteX85" fmla="*/ 298892 w 455613"/>
              <a:gd name="connsiteY85" fmla="*/ 255819 h 409576"/>
              <a:gd name="connsiteX86" fmla="*/ 300499 w 455613"/>
              <a:gd name="connsiteY86" fmla="*/ 253033 h 409576"/>
              <a:gd name="connsiteX87" fmla="*/ 302508 w 455613"/>
              <a:gd name="connsiteY87" fmla="*/ 250910 h 409576"/>
              <a:gd name="connsiteX88" fmla="*/ 330905 w 455613"/>
              <a:gd name="connsiteY88" fmla="*/ 222786 h 409576"/>
              <a:gd name="connsiteX89" fmla="*/ 332512 w 455613"/>
              <a:gd name="connsiteY89" fmla="*/ 221459 h 409576"/>
              <a:gd name="connsiteX90" fmla="*/ 334120 w 455613"/>
              <a:gd name="connsiteY90" fmla="*/ 220796 h 409576"/>
              <a:gd name="connsiteX91" fmla="*/ 394079 w 455613"/>
              <a:gd name="connsiteY91" fmla="*/ 161925 h 409576"/>
              <a:gd name="connsiteX92" fmla="*/ 395278 w 455613"/>
              <a:gd name="connsiteY92" fmla="*/ 162323 h 409576"/>
              <a:gd name="connsiteX93" fmla="*/ 396077 w 455613"/>
              <a:gd name="connsiteY93" fmla="*/ 163383 h 409576"/>
              <a:gd name="connsiteX94" fmla="*/ 396610 w 455613"/>
              <a:gd name="connsiteY94" fmla="*/ 164974 h 409576"/>
              <a:gd name="connsiteX95" fmla="*/ 396876 w 455613"/>
              <a:gd name="connsiteY95" fmla="*/ 167096 h 409576"/>
              <a:gd name="connsiteX96" fmla="*/ 396876 w 455613"/>
              <a:gd name="connsiteY96" fmla="*/ 409575 h 409576"/>
              <a:gd name="connsiteX97" fmla="*/ 357188 w 455613"/>
              <a:gd name="connsiteY97" fmla="*/ 409575 h 409576"/>
              <a:gd name="connsiteX98" fmla="*/ 357188 w 455613"/>
              <a:gd name="connsiteY98" fmla="*/ 206338 h 409576"/>
              <a:gd name="connsiteX99" fmla="*/ 357454 w 455613"/>
              <a:gd name="connsiteY99" fmla="*/ 203421 h 409576"/>
              <a:gd name="connsiteX100" fmla="*/ 358120 w 455613"/>
              <a:gd name="connsiteY100" fmla="*/ 200239 h 409576"/>
              <a:gd name="connsiteX101" fmla="*/ 359319 w 455613"/>
              <a:gd name="connsiteY101" fmla="*/ 197057 h 409576"/>
              <a:gd name="connsiteX102" fmla="*/ 360784 w 455613"/>
              <a:gd name="connsiteY102" fmla="*/ 194008 h 409576"/>
              <a:gd name="connsiteX103" fmla="*/ 362515 w 455613"/>
              <a:gd name="connsiteY103" fmla="*/ 191224 h 409576"/>
              <a:gd name="connsiteX104" fmla="*/ 364380 w 455613"/>
              <a:gd name="connsiteY104" fmla="*/ 189103 h 409576"/>
              <a:gd name="connsiteX105" fmla="*/ 389684 w 455613"/>
              <a:gd name="connsiteY105" fmla="*/ 164046 h 409576"/>
              <a:gd name="connsiteX106" fmla="*/ 391283 w 455613"/>
              <a:gd name="connsiteY106" fmla="*/ 162721 h 409576"/>
              <a:gd name="connsiteX107" fmla="*/ 392881 w 455613"/>
              <a:gd name="connsiteY107" fmla="*/ 162058 h 409576"/>
              <a:gd name="connsiteX108" fmla="*/ 290622 w 455613"/>
              <a:gd name="connsiteY108" fmla="*/ 0 h 409576"/>
              <a:gd name="connsiteX109" fmla="*/ 435205 w 455613"/>
              <a:gd name="connsiteY109" fmla="*/ 0 h 409576"/>
              <a:gd name="connsiteX110" fmla="*/ 439180 w 455613"/>
              <a:gd name="connsiteY110" fmla="*/ 395 h 409576"/>
              <a:gd name="connsiteX111" fmla="*/ 442891 w 455613"/>
              <a:gd name="connsiteY111" fmla="*/ 1581 h 409576"/>
              <a:gd name="connsiteX112" fmla="*/ 446204 w 455613"/>
              <a:gd name="connsiteY112" fmla="*/ 3426 h 409576"/>
              <a:gd name="connsiteX113" fmla="*/ 449252 w 455613"/>
              <a:gd name="connsiteY113" fmla="*/ 5798 h 409576"/>
              <a:gd name="connsiteX114" fmla="*/ 451903 w 455613"/>
              <a:gd name="connsiteY114" fmla="*/ 8697 h 409576"/>
              <a:gd name="connsiteX115" fmla="*/ 453890 w 455613"/>
              <a:gd name="connsiteY115" fmla="*/ 11991 h 409576"/>
              <a:gd name="connsiteX116" fmla="*/ 455216 w 455613"/>
              <a:gd name="connsiteY116" fmla="*/ 15549 h 409576"/>
              <a:gd name="connsiteX117" fmla="*/ 455613 w 455613"/>
              <a:gd name="connsiteY117" fmla="*/ 19239 h 409576"/>
              <a:gd name="connsiteX118" fmla="*/ 455613 w 455613"/>
              <a:gd name="connsiteY118" fmla="*/ 162870 h 409576"/>
              <a:gd name="connsiteX119" fmla="*/ 455348 w 455613"/>
              <a:gd name="connsiteY119" fmla="*/ 164978 h 409576"/>
              <a:gd name="connsiteX120" fmla="*/ 454818 w 455613"/>
              <a:gd name="connsiteY120" fmla="*/ 166559 h 409576"/>
              <a:gd name="connsiteX121" fmla="*/ 454023 w 455613"/>
              <a:gd name="connsiteY121" fmla="*/ 167482 h 409576"/>
              <a:gd name="connsiteX122" fmla="*/ 452830 w 455613"/>
              <a:gd name="connsiteY122" fmla="*/ 168009 h 409576"/>
              <a:gd name="connsiteX123" fmla="*/ 451637 w 455613"/>
              <a:gd name="connsiteY123" fmla="*/ 167877 h 409576"/>
              <a:gd name="connsiteX124" fmla="*/ 450047 w 455613"/>
              <a:gd name="connsiteY124" fmla="*/ 167086 h 409576"/>
              <a:gd name="connsiteX125" fmla="*/ 448457 w 455613"/>
              <a:gd name="connsiteY125" fmla="*/ 165769 h 409576"/>
              <a:gd name="connsiteX126" fmla="*/ 397701 w 455613"/>
              <a:gd name="connsiteY126" fmla="*/ 115695 h 409576"/>
              <a:gd name="connsiteX127" fmla="*/ 228072 w 455613"/>
              <a:gd name="connsiteY127" fmla="*/ 283309 h 409576"/>
              <a:gd name="connsiteX128" fmla="*/ 225951 w 455613"/>
              <a:gd name="connsiteY128" fmla="*/ 284890 h 409576"/>
              <a:gd name="connsiteX129" fmla="*/ 223433 w 455613"/>
              <a:gd name="connsiteY129" fmla="*/ 285944 h 409576"/>
              <a:gd name="connsiteX130" fmla="*/ 220783 w 455613"/>
              <a:gd name="connsiteY130" fmla="*/ 286208 h 409576"/>
              <a:gd name="connsiteX131" fmla="*/ 218265 w 455613"/>
              <a:gd name="connsiteY131" fmla="*/ 285944 h 409576"/>
              <a:gd name="connsiteX132" fmla="*/ 215880 w 455613"/>
              <a:gd name="connsiteY132" fmla="*/ 284890 h 409576"/>
              <a:gd name="connsiteX133" fmla="*/ 213627 w 455613"/>
              <a:gd name="connsiteY133" fmla="*/ 283309 h 409576"/>
              <a:gd name="connsiteX134" fmla="*/ 162208 w 455613"/>
              <a:gd name="connsiteY134" fmla="*/ 232445 h 409576"/>
              <a:gd name="connsiteX135" fmla="*/ 70502 w 455613"/>
              <a:gd name="connsiteY135" fmla="*/ 323235 h 409576"/>
              <a:gd name="connsiteX136" fmla="*/ 66394 w 455613"/>
              <a:gd name="connsiteY136" fmla="*/ 326793 h 409576"/>
              <a:gd name="connsiteX137" fmla="*/ 61756 w 455613"/>
              <a:gd name="connsiteY137" fmla="*/ 329561 h 409576"/>
              <a:gd name="connsiteX138" fmla="*/ 56985 w 455613"/>
              <a:gd name="connsiteY138" fmla="*/ 331932 h 409576"/>
              <a:gd name="connsiteX139" fmla="*/ 52082 w 455613"/>
              <a:gd name="connsiteY139" fmla="*/ 333645 h 409576"/>
              <a:gd name="connsiteX140" fmla="*/ 46913 w 455613"/>
              <a:gd name="connsiteY140" fmla="*/ 334568 h 409576"/>
              <a:gd name="connsiteX141" fmla="*/ 41745 w 455613"/>
              <a:gd name="connsiteY141" fmla="*/ 334963 h 409576"/>
              <a:gd name="connsiteX142" fmla="*/ 36444 w 455613"/>
              <a:gd name="connsiteY142" fmla="*/ 334568 h 409576"/>
              <a:gd name="connsiteX143" fmla="*/ 31408 w 455613"/>
              <a:gd name="connsiteY143" fmla="*/ 333645 h 409576"/>
              <a:gd name="connsiteX144" fmla="*/ 26372 w 455613"/>
              <a:gd name="connsiteY144" fmla="*/ 331932 h 409576"/>
              <a:gd name="connsiteX145" fmla="*/ 21601 w 455613"/>
              <a:gd name="connsiteY145" fmla="*/ 329561 h 409576"/>
              <a:gd name="connsiteX146" fmla="*/ 17096 w 455613"/>
              <a:gd name="connsiteY146" fmla="*/ 326793 h 409576"/>
              <a:gd name="connsiteX147" fmla="*/ 12855 w 455613"/>
              <a:gd name="connsiteY147" fmla="*/ 323235 h 409576"/>
              <a:gd name="connsiteX148" fmla="*/ 11927 w 455613"/>
              <a:gd name="connsiteY148" fmla="*/ 322050 h 409576"/>
              <a:gd name="connsiteX149" fmla="*/ 8349 w 455613"/>
              <a:gd name="connsiteY149" fmla="*/ 317965 h 409576"/>
              <a:gd name="connsiteX150" fmla="*/ 5301 w 455613"/>
              <a:gd name="connsiteY150" fmla="*/ 313616 h 409576"/>
              <a:gd name="connsiteX151" fmla="*/ 3048 w 455613"/>
              <a:gd name="connsiteY151" fmla="*/ 308741 h 409576"/>
              <a:gd name="connsiteX152" fmla="*/ 1325 w 455613"/>
              <a:gd name="connsiteY152" fmla="*/ 303865 h 409576"/>
              <a:gd name="connsiteX153" fmla="*/ 265 w 455613"/>
              <a:gd name="connsiteY153" fmla="*/ 298726 h 409576"/>
              <a:gd name="connsiteX154" fmla="*/ 0 w 455613"/>
              <a:gd name="connsiteY154" fmla="*/ 293719 h 409576"/>
              <a:gd name="connsiteX155" fmla="*/ 265 w 455613"/>
              <a:gd name="connsiteY155" fmla="*/ 288448 h 409576"/>
              <a:gd name="connsiteX156" fmla="*/ 1325 w 455613"/>
              <a:gd name="connsiteY156" fmla="*/ 283572 h 409576"/>
              <a:gd name="connsiteX157" fmla="*/ 3048 w 455613"/>
              <a:gd name="connsiteY157" fmla="*/ 278697 h 409576"/>
              <a:gd name="connsiteX158" fmla="*/ 5301 w 455613"/>
              <a:gd name="connsiteY158" fmla="*/ 273821 h 409576"/>
              <a:gd name="connsiteX159" fmla="*/ 8349 w 455613"/>
              <a:gd name="connsiteY159" fmla="*/ 269473 h 409576"/>
              <a:gd name="connsiteX160" fmla="*/ 11927 w 455613"/>
              <a:gd name="connsiteY160" fmla="*/ 265256 h 409576"/>
              <a:gd name="connsiteX161" fmla="*/ 155052 w 455613"/>
              <a:gd name="connsiteY161" fmla="*/ 123865 h 409576"/>
              <a:gd name="connsiteX162" fmla="*/ 157172 w 455613"/>
              <a:gd name="connsiteY162" fmla="*/ 122284 h 409576"/>
              <a:gd name="connsiteX163" fmla="*/ 159557 w 455613"/>
              <a:gd name="connsiteY163" fmla="*/ 121230 h 409576"/>
              <a:gd name="connsiteX164" fmla="*/ 162208 w 455613"/>
              <a:gd name="connsiteY164" fmla="*/ 120966 h 409576"/>
              <a:gd name="connsiteX165" fmla="*/ 164726 w 455613"/>
              <a:gd name="connsiteY165" fmla="*/ 121230 h 409576"/>
              <a:gd name="connsiteX166" fmla="*/ 167244 w 455613"/>
              <a:gd name="connsiteY166" fmla="*/ 122284 h 409576"/>
              <a:gd name="connsiteX167" fmla="*/ 169497 w 455613"/>
              <a:gd name="connsiteY167" fmla="*/ 123865 h 409576"/>
              <a:gd name="connsiteX168" fmla="*/ 220783 w 455613"/>
              <a:gd name="connsiteY168" fmla="*/ 174597 h 409576"/>
              <a:gd name="connsiteX169" fmla="*/ 318055 w 455613"/>
              <a:gd name="connsiteY169" fmla="*/ 78536 h 409576"/>
              <a:gd name="connsiteX170" fmla="*/ 338993 w 455613"/>
              <a:gd name="connsiteY170" fmla="*/ 57848 h 409576"/>
              <a:gd name="connsiteX171" fmla="*/ 287707 w 455613"/>
              <a:gd name="connsiteY171" fmla="*/ 7116 h 409576"/>
              <a:gd name="connsiteX172" fmla="*/ 286382 w 455613"/>
              <a:gd name="connsiteY172" fmla="*/ 5403 h 409576"/>
              <a:gd name="connsiteX173" fmla="*/ 285587 w 455613"/>
              <a:gd name="connsiteY173" fmla="*/ 3953 h 409576"/>
              <a:gd name="connsiteX174" fmla="*/ 285454 w 455613"/>
              <a:gd name="connsiteY174" fmla="*/ 2636 h 409576"/>
              <a:gd name="connsiteX175" fmla="*/ 285852 w 455613"/>
              <a:gd name="connsiteY175" fmla="*/ 1581 h 409576"/>
              <a:gd name="connsiteX176" fmla="*/ 286912 w 455613"/>
              <a:gd name="connsiteY176" fmla="*/ 791 h 409576"/>
              <a:gd name="connsiteX177" fmla="*/ 288502 w 455613"/>
              <a:gd name="connsiteY177" fmla="*/ 264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455613" h="409576">
                <a:moveTo>
                  <a:pt x="86232" y="350838"/>
                </a:moveTo>
                <a:lnTo>
                  <a:pt x="87433" y="351240"/>
                </a:lnTo>
                <a:lnTo>
                  <a:pt x="88233" y="352313"/>
                </a:lnTo>
                <a:lnTo>
                  <a:pt x="88767" y="353788"/>
                </a:lnTo>
                <a:lnTo>
                  <a:pt x="88900" y="356068"/>
                </a:lnTo>
                <a:lnTo>
                  <a:pt x="88900" y="409576"/>
                </a:lnTo>
                <a:lnTo>
                  <a:pt x="41275" y="409576"/>
                </a:lnTo>
                <a:lnTo>
                  <a:pt x="41275" y="401530"/>
                </a:lnTo>
                <a:lnTo>
                  <a:pt x="41542" y="399116"/>
                </a:lnTo>
                <a:lnTo>
                  <a:pt x="42342" y="396568"/>
                </a:lnTo>
                <a:lnTo>
                  <a:pt x="43410" y="393752"/>
                </a:lnTo>
                <a:lnTo>
                  <a:pt x="44744" y="391070"/>
                </a:lnTo>
                <a:lnTo>
                  <a:pt x="46611" y="388388"/>
                </a:lnTo>
                <a:lnTo>
                  <a:pt x="48479" y="386376"/>
                </a:lnTo>
                <a:lnTo>
                  <a:pt x="62219" y="372563"/>
                </a:lnTo>
                <a:lnTo>
                  <a:pt x="81696" y="352984"/>
                </a:lnTo>
                <a:lnTo>
                  <a:pt x="83297" y="351643"/>
                </a:lnTo>
                <a:lnTo>
                  <a:pt x="84898" y="350972"/>
                </a:lnTo>
                <a:close/>
                <a:moveTo>
                  <a:pt x="148113" y="290513"/>
                </a:moveTo>
                <a:lnTo>
                  <a:pt x="149142" y="291039"/>
                </a:lnTo>
                <a:lnTo>
                  <a:pt x="149913" y="291960"/>
                </a:lnTo>
                <a:lnTo>
                  <a:pt x="150427" y="293671"/>
                </a:lnTo>
                <a:lnTo>
                  <a:pt x="150813" y="295644"/>
                </a:lnTo>
                <a:lnTo>
                  <a:pt x="150813" y="409576"/>
                </a:lnTo>
                <a:lnTo>
                  <a:pt x="109538" y="409576"/>
                </a:lnTo>
                <a:lnTo>
                  <a:pt x="109538" y="337481"/>
                </a:lnTo>
                <a:lnTo>
                  <a:pt x="109667" y="334718"/>
                </a:lnTo>
                <a:lnTo>
                  <a:pt x="110438" y="331560"/>
                </a:lnTo>
                <a:lnTo>
                  <a:pt x="111595" y="328403"/>
                </a:lnTo>
                <a:lnTo>
                  <a:pt x="112881" y="325377"/>
                </a:lnTo>
                <a:lnTo>
                  <a:pt x="114681" y="322614"/>
                </a:lnTo>
                <a:lnTo>
                  <a:pt x="116482" y="320378"/>
                </a:lnTo>
                <a:lnTo>
                  <a:pt x="143741" y="292750"/>
                </a:lnTo>
                <a:lnTo>
                  <a:pt x="145413" y="291434"/>
                </a:lnTo>
                <a:lnTo>
                  <a:pt x="146827" y="290645"/>
                </a:lnTo>
                <a:close/>
                <a:moveTo>
                  <a:pt x="174022" y="287338"/>
                </a:moveTo>
                <a:lnTo>
                  <a:pt x="175436" y="287471"/>
                </a:lnTo>
                <a:lnTo>
                  <a:pt x="176851" y="288136"/>
                </a:lnTo>
                <a:lnTo>
                  <a:pt x="178522" y="289599"/>
                </a:lnTo>
                <a:lnTo>
                  <a:pt x="199481" y="311147"/>
                </a:lnTo>
                <a:lnTo>
                  <a:pt x="206039" y="317931"/>
                </a:lnTo>
                <a:lnTo>
                  <a:pt x="207839" y="320059"/>
                </a:lnTo>
                <a:lnTo>
                  <a:pt x="209382" y="322719"/>
                </a:lnTo>
                <a:lnTo>
                  <a:pt x="210668" y="325646"/>
                </a:lnTo>
                <a:lnTo>
                  <a:pt x="211696" y="328705"/>
                </a:lnTo>
                <a:lnTo>
                  <a:pt x="212468" y="331897"/>
                </a:lnTo>
                <a:lnTo>
                  <a:pt x="212725" y="334823"/>
                </a:lnTo>
                <a:lnTo>
                  <a:pt x="212725" y="409576"/>
                </a:lnTo>
                <a:lnTo>
                  <a:pt x="171450" y="409576"/>
                </a:lnTo>
                <a:lnTo>
                  <a:pt x="171450" y="292659"/>
                </a:lnTo>
                <a:lnTo>
                  <a:pt x="171579" y="290397"/>
                </a:lnTo>
                <a:lnTo>
                  <a:pt x="172222" y="288934"/>
                </a:lnTo>
                <a:lnTo>
                  <a:pt x="172993" y="287737"/>
                </a:lnTo>
                <a:close/>
                <a:moveTo>
                  <a:pt x="271938" y="282575"/>
                </a:moveTo>
                <a:lnTo>
                  <a:pt x="273095" y="283105"/>
                </a:lnTo>
                <a:lnTo>
                  <a:pt x="273995" y="284033"/>
                </a:lnTo>
                <a:lnTo>
                  <a:pt x="274510" y="285757"/>
                </a:lnTo>
                <a:lnTo>
                  <a:pt x="274638" y="287745"/>
                </a:lnTo>
                <a:lnTo>
                  <a:pt x="274638" y="409575"/>
                </a:lnTo>
                <a:lnTo>
                  <a:pt x="233363" y="409575"/>
                </a:lnTo>
                <a:lnTo>
                  <a:pt x="233363" y="329902"/>
                </a:lnTo>
                <a:lnTo>
                  <a:pt x="233620" y="326588"/>
                </a:lnTo>
                <a:lnTo>
                  <a:pt x="234263" y="323141"/>
                </a:lnTo>
                <a:lnTo>
                  <a:pt x="235035" y="320224"/>
                </a:lnTo>
                <a:lnTo>
                  <a:pt x="236192" y="317573"/>
                </a:lnTo>
                <a:lnTo>
                  <a:pt x="237478" y="315585"/>
                </a:lnTo>
                <a:lnTo>
                  <a:pt x="238764" y="314391"/>
                </a:lnTo>
                <a:lnTo>
                  <a:pt x="239921" y="313066"/>
                </a:lnTo>
                <a:lnTo>
                  <a:pt x="240821" y="312138"/>
                </a:lnTo>
                <a:lnTo>
                  <a:pt x="241335" y="311607"/>
                </a:lnTo>
                <a:lnTo>
                  <a:pt x="241592" y="311475"/>
                </a:lnTo>
                <a:lnTo>
                  <a:pt x="267566" y="284829"/>
                </a:lnTo>
                <a:lnTo>
                  <a:pt x="269238" y="283503"/>
                </a:lnTo>
                <a:lnTo>
                  <a:pt x="270781" y="282708"/>
                </a:lnTo>
                <a:close/>
                <a:moveTo>
                  <a:pt x="335459" y="220663"/>
                </a:moveTo>
                <a:lnTo>
                  <a:pt x="336665" y="221061"/>
                </a:lnTo>
                <a:lnTo>
                  <a:pt x="337468" y="221990"/>
                </a:lnTo>
                <a:lnTo>
                  <a:pt x="338004" y="223714"/>
                </a:lnTo>
                <a:lnTo>
                  <a:pt x="338138" y="225704"/>
                </a:lnTo>
                <a:lnTo>
                  <a:pt x="338138" y="409576"/>
                </a:lnTo>
                <a:lnTo>
                  <a:pt x="295275" y="409576"/>
                </a:lnTo>
                <a:lnTo>
                  <a:pt x="295275" y="268157"/>
                </a:lnTo>
                <a:lnTo>
                  <a:pt x="295543" y="265238"/>
                </a:lnTo>
                <a:lnTo>
                  <a:pt x="296213" y="262054"/>
                </a:lnTo>
                <a:lnTo>
                  <a:pt x="297284" y="258870"/>
                </a:lnTo>
                <a:lnTo>
                  <a:pt x="298892" y="255819"/>
                </a:lnTo>
                <a:lnTo>
                  <a:pt x="300499" y="253033"/>
                </a:lnTo>
                <a:lnTo>
                  <a:pt x="302508" y="250910"/>
                </a:lnTo>
                <a:lnTo>
                  <a:pt x="330905" y="222786"/>
                </a:lnTo>
                <a:lnTo>
                  <a:pt x="332512" y="221459"/>
                </a:lnTo>
                <a:lnTo>
                  <a:pt x="334120" y="220796"/>
                </a:lnTo>
                <a:close/>
                <a:moveTo>
                  <a:pt x="394079" y="161925"/>
                </a:moveTo>
                <a:lnTo>
                  <a:pt x="395278" y="162323"/>
                </a:lnTo>
                <a:lnTo>
                  <a:pt x="396077" y="163383"/>
                </a:lnTo>
                <a:lnTo>
                  <a:pt x="396610" y="164974"/>
                </a:lnTo>
                <a:lnTo>
                  <a:pt x="396876" y="167096"/>
                </a:lnTo>
                <a:lnTo>
                  <a:pt x="396876" y="409575"/>
                </a:lnTo>
                <a:lnTo>
                  <a:pt x="357188" y="409575"/>
                </a:lnTo>
                <a:lnTo>
                  <a:pt x="357188" y="206338"/>
                </a:lnTo>
                <a:lnTo>
                  <a:pt x="357454" y="203421"/>
                </a:lnTo>
                <a:lnTo>
                  <a:pt x="358120" y="200239"/>
                </a:lnTo>
                <a:lnTo>
                  <a:pt x="359319" y="197057"/>
                </a:lnTo>
                <a:lnTo>
                  <a:pt x="360784" y="194008"/>
                </a:lnTo>
                <a:lnTo>
                  <a:pt x="362515" y="191224"/>
                </a:lnTo>
                <a:lnTo>
                  <a:pt x="364380" y="189103"/>
                </a:lnTo>
                <a:lnTo>
                  <a:pt x="389684" y="164046"/>
                </a:lnTo>
                <a:lnTo>
                  <a:pt x="391283" y="162721"/>
                </a:lnTo>
                <a:lnTo>
                  <a:pt x="392881" y="162058"/>
                </a:lnTo>
                <a:close/>
                <a:moveTo>
                  <a:pt x="290622" y="0"/>
                </a:moveTo>
                <a:lnTo>
                  <a:pt x="435205" y="0"/>
                </a:lnTo>
                <a:lnTo>
                  <a:pt x="439180" y="395"/>
                </a:lnTo>
                <a:lnTo>
                  <a:pt x="442891" y="1581"/>
                </a:lnTo>
                <a:lnTo>
                  <a:pt x="446204" y="3426"/>
                </a:lnTo>
                <a:lnTo>
                  <a:pt x="449252" y="5798"/>
                </a:lnTo>
                <a:lnTo>
                  <a:pt x="451903" y="8697"/>
                </a:lnTo>
                <a:lnTo>
                  <a:pt x="453890" y="11991"/>
                </a:lnTo>
                <a:lnTo>
                  <a:pt x="455216" y="15549"/>
                </a:lnTo>
                <a:lnTo>
                  <a:pt x="455613" y="19239"/>
                </a:lnTo>
                <a:lnTo>
                  <a:pt x="455613" y="162870"/>
                </a:lnTo>
                <a:lnTo>
                  <a:pt x="455348" y="164978"/>
                </a:lnTo>
                <a:lnTo>
                  <a:pt x="454818" y="166559"/>
                </a:lnTo>
                <a:lnTo>
                  <a:pt x="454023" y="167482"/>
                </a:lnTo>
                <a:lnTo>
                  <a:pt x="452830" y="168009"/>
                </a:lnTo>
                <a:lnTo>
                  <a:pt x="451637" y="167877"/>
                </a:lnTo>
                <a:lnTo>
                  <a:pt x="450047" y="167086"/>
                </a:lnTo>
                <a:lnTo>
                  <a:pt x="448457" y="165769"/>
                </a:lnTo>
                <a:lnTo>
                  <a:pt x="397701" y="115695"/>
                </a:lnTo>
                <a:lnTo>
                  <a:pt x="228072" y="283309"/>
                </a:lnTo>
                <a:lnTo>
                  <a:pt x="225951" y="284890"/>
                </a:lnTo>
                <a:lnTo>
                  <a:pt x="223433" y="285944"/>
                </a:lnTo>
                <a:lnTo>
                  <a:pt x="220783" y="286208"/>
                </a:lnTo>
                <a:lnTo>
                  <a:pt x="218265" y="285944"/>
                </a:lnTo>
                <a:lnTo>
                  <a:pt x="215880" y="284890"/>
                </a:lnTo>
                <a:lnTo>
                  <a:pt x="213627" y="283309"/>
                </a:lnTo>
                <a:lnTo>
                  <a:pt x="162208" y="232445"/>
                </a:lnTo>
                <a:lnTo>
                  <a:pt x="70502" y="323235"/>
                </a:lnTo>
                <a:lnTo>
                  <a:pt x="66394" y="326793"/>
                </a:lnTo>
                <a:lnTo>
                  <a:pt x="61756" y="329561"/>
                </a:lnTo>
                <a:lnTo>
                  <a:pt x="56985" y="331932"/>
                </a:lnTo>
                <a:lnTo>
                  <a:pt x="52082" y="333645"/>
                </a:lnTo>
                <a:lnTo>
                  <a:pt x="46913" y="334568"/>
                </a:lnTo>
                <a:lnTo>
                  <a:pt x="41745" y="334963"/>
                </a:lnTo>
                <a:lnTo>
                  <a:pt x="36444" y="334568"/>
                </a:lnTo>
                <a:lnTo>
                  <a:pt x="31408" y="333645"/>
                </a:lnTo>
                <a:lnTo>
                  <a:pt x="26372" y="331932"/>
                </a:lnTo>
                <a:lnTo>
                  <a:pt x="21601" y="329561"/>
                </a:lnTo>
                <a:lnTo>
                  <a:pt x="17096" y="326793"/>
                </a:lnTo>
                <a:lnTo>
                  <a:pt x="12855" y="323235"/>
                </a:lnTo>
                <a:lnTo>
                  <a:pt x="11927" y="322050"/>
                </a:lnTo>
                <a:lnTo>
                  <a:pt x="8349" y="317965"/>
                </a:lnTo>
                <a:lnTo>
                  <a:pt x="5301" y="313616"/>
                </a:lnTo>
                <a:lnTo>
                  <a:pt x="3048" y="308741"/>
                </a:lnTo>
                <a:lnTo>
                  <a:pt x="1325" y="303865"/>
                </a:lnTo>
                <a:lnTo>
                  <a:pt x="265" y="298726"/>
                </a:lnTo>
                <a:lnTo>
                  <a:pt x="0" y="293719"/>
                </a:lnTo>
                <a:lnTo>
                  <a:pt x="265" y="288448"/>
                </a:lnTo>
                <a:lnTo>
                  <a:pt x="1325" y="283572"/>
                </a:lnTo>
                <a:lnTo>
                  <a:pt x="3048" y="278697"/>
                </a:lnTo>
                <a:lnTo>
                  <a:pt x="5301" y="273821"/>
                </a:lnTo>
                <a:lnTo>
                  <a:pt x="8349" y="269473"/>
                </a:lnTo>
                <a:lnTo>
                  <a:pt x="11927" y="265256"/>
                </a:lnTo>
                <a:lnTo>
                  <a:pt x="155052" y="123865"/>
                </a:lnTo>
                <a:lnTo>
                  <a:pt x="157172" y="122284"/>
                </a:lnTo>
                <a:lnTo>
                  <a:pt x="159557" y="121230"/>
                </a:lnTo>
                <a:lnTo>
                  <a:pt x="162208" y="120966"/>
                </a:lnTo>
                <a:lnTo>
                  <a:pt x="164726" y="121230"/>
                </a:lnTo>
                <a:lnTo>
                  <a:pt x="167244" y="122284"/>
                </a:lnTo>
                <a:lnTo>
                  <a:pt x="169497" y="123865"/>
                </a:lnTo>
                <a:lnTo>
                  <a:pt x="220783" y="174597"/>
                </a:lnTo>
                <a:lnTo>
                  <a:pt x="318055" y="78536"/>
                </a:lnTo>
                <a:lnTo>
                  <a:pt x="338993" y="57848"/>
                </a:lnTo>
                <a:lnTo>
                  <a:pt x="287707" y="7116"/>
                </a:lnTo>
                <a:lnTo>
                  <a:pt x="286382" y="5403"/>
                </a:lnTo>
                <a:lnTo>
                  <a:pt x="285587" y="3953"/>
                </a:lnTo>
                <a:lnTo>
                  <a:pt x="285454" y="2636"/>
                </a:lnTo>
                <a:lnTo>
                  <a:pt x="285852" y="1581"/>
                </a:lnTo>
                <a:lnTo>
                  <a:pt x="286912" y="791"/>
                </a:lnTo>
                <a:lnTo>
                  <a:pt x="288502" y="264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5" name="Left Arrow 1">
            <a:extLst>
              <a:ext uri="{FF2B5EF4-FFF2-40B4-BE49-F238E27FC236}">
                <a16:creationId xmlns:a16="http://schemas.microsoft.com/office/drawing/2014/main" id="{994C937C-DC67-46D5-BC8A-7A3F5C41E5F7}"/>
              </a:ext>
            </a:extLst>
          </p:cNvPr>
          <p:cNvSpPr>
            <a:spLocks noChangeAspect="1"/>
          </p:cNvSpPr>
          <p:nvPr/>
        </p:nvSpPr>
        <p:spPr>
          <a:xfrm>
            <a:off x="1170637" y="2616932"/>
            <a:ext cx="516855" cy="516623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66" name="Oval 7">
            <a:extLst>
              <a:ext uri="{FF2B5EF4-FFF2-40B4-BE49-F238E27FC236}">
                <a16:creationId xmlns:a16="http://schemas.microsoft.com/office/drawing/2014/main" id="{AA668F90-D9E0-467C-BCC9-1B33D421D825}"/>
              </a:ext>
            </a:extLst>
          </p:cNvPr>
          <p:cNvSpPr/>
          <p:nvPr/>
        </p:nvSpPr>
        <p:spPr>
          <a:xfrm>
            <a:off x="1212357" y="3967514"/>
            <a:ext cx="408137" cy="41282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 dirty="0">
              <a:solidFill>
                <a:prstClr val="white"/>
              </a:solidFill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947191" y="4920904"/>
            <a:ext cx="10143241" cy="988960"/>
            <a:chOff x="1383666" y="1769854"/>
            <a:chExt cx="5841295" cy="93853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455469" y="1769857"/>
              <a:ext cx="5769492" cy="9385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560114" cy="9362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70" name="Rectangle 69"/>
          <p:cNvSpPr/>
          <p:nvPr/>
        </p:nvSpPr>
        <p:spPr>
          <a:xfrm>
            <a:off x="1977547" y="4931527"/>
            <a:ext cx="8262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Output Units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2540540" y="5419383"/>
            <a:ext cx="8605770" cy="369332"/>
            <a:chOff x="2398672" y="4955398"/>
            <a:chExt cx="9203336" cy="36933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55398"/>
              <a:ext cx="884778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Units in the Output Layer called Output Units</a:t>
              </a:r>
              <a:endParaRPr lang="ko-KR" altLang="en-US" sz="2400" b="1" dirty="0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73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74" name="Freeform 46">
            <a:extLst>
              <a:ext uri="{FF2B5EF4-FFF2-40B4-BE49-F238E27FC236}">
                <a16:creationId xmlns:a16="http://schemas.microsoft.com/office/drawing/2014/main" id="{DB88BF59-9C05-4D32-AF17-5F928BAEB0D5}"/>
              </a:ext>
            </a:extLst>
          </p:cNvPr>
          <p:cNvSpPr/>
          <p:nvPr/>
        </p:nvSpPr>
        <p:spPr>
          <a:xfrm>
            <a:off x="1132939" y="5184300"/>
            <a:ext cx="571130" cy="480979"/>
          </a:xfrm>
          <a:custGeom>
            <a:avLst/>
            <a:gdLst/>
            <a:ahLst/>
            <a:cxnLst/>
            <a:rect l="l" t="t" r="r" b="b"/>
            <a:pathLst>
              <a:path w="348343" h="304800">
                <a:moveTo>
                  <a:pt x="273333" y="227920"/>
                </a:moveTo>
                <a:lnTo>
                  <a:pt x="265169" y="266530"/>
                </a:lnTo>
                <a:lnTo>
                  <a:pt x="287281" y="227920"/>
                </a:lnTo>
                <a:close/>
                <a:moveTo>
                  <a:pt x="195432" y="227920"/>
                </a:moveTo>
                <a:lnTo>
                  <a:pt x="252072" y="286260"/>
                </a:lnTo>
                <a:cubicBezTo>
                  <a:pt x="252979" y="285807"/>
                  <a:pt x="253716" y="285523"/>
                  <a:pt x="254283" y="285410"/>
                </a:cubicBezTo>
                <a:lnTo>
                  <a:pt x="257005" y="280647"/>
                </a:lnTo>
                <a:lnTo>
                  <a:pt x="268060" y="227920"/>
                </a:lnTo>
                <a:close/>
                <a:moveTo>
                  <a:pt x="164476" y="227920"/>
                </a:moveTo>
                <a:lnTo>
                  <a:pt x="106306" y="288131"/>
                </a:lnTo>
                <a:lnTo>
                  <a:pt x="167538" y="288131"/>
                </a:lnTo>
                <a:cubicBezTo>
                  <a:pt x="169579" y="286317"/>
                  <a:pt x="171790" y="285410"/>
                  <a:pt x="174171" y="285410"/>
                </a:cubicBezTo>
                <a:cubicBezTo>
                  <a:pt x="176552" y="285410"/>
                  <a:pt x="178764" y="286317"/>
                  <a:pt x="180805" y="288131"/>
                </a:cubicBezTo>
                <a:lnTo>
                  <a:pt x="246969" y="288131"/>
                </a:lnTo>
                <a:lnTo>
                  <a:pt x="188799" y="227920"/>
                </a:lnTo>
                <a:close/>
                <a:moveTo>
                  <a:pt x="93889" y="227920"/>
                </a:moveTo>
                <a:lnTo>
                  <a:pt x="93889" y="284900"/>
                </a:lnTo>
                <a:lnTo>
                  <a:pt x="94569" y="285920"/>
                </a:lnTo>
                <a:cubicBezTo>
                  <a:pt x="96157" y="286487"/>
                  <a:pt x="97404" y="287224"/>
                  <a:pt x="98311" y="288131"/>
                </a:cubicBezTo>
                <a:lnTo>
                  <a:pt x="99162" y="288131"/>
                </a:lnTo>
                <a:lnTo>
                  <a:pt x="157332" y="227920"/>
                </a:lnTo>
                <a:close/>
                <a:moveTo>
                  <a:pt x="61062" y="227920"/>
                </a:moveTo>
                <a:lnTo>
                  <a:pt x="88786" y="276055"/>
                </a:lnTo>
                <a:lnTo>
                  <a:pt x="88786" y="227920"/>
                </a:lnTo>
                <a:close/>
                <a:moveTo>
                  <a:pt x="176552" y="215333"/>
                </a:moveTo>
                <a:lnTo>
                  <a:pt x="169409" y="222817"/>
                </a:lnTo>
                <a:lnTo>
                  <a:pt x="183866" y="222817"/>
                </a:lnTo>
                <a:close/>
                <a:moveTo>
                  <a:pt x="277245" y="209380"/>
                </a:moveTo>
                <a:lnTo>
                  <a:pt x="274354" y="222817"/>
                </a:lnTo>
                <a:lnTo>
                  <a:pt x="287281" y="222817"/>
                </a:lnTo>
                <a:cubicBezTo>
                  <a:pt x="287394" y="222137"/>
                  <a:pt x="287677" y="221513"/>
                  <a:pt x="288131" y="220946"/>
                </a:cubicBezTo>
                <a:close/>
                <a:moveTo>
                  <a:pt x="88786" y="190670"/>
                </a:moveTo>
                <a:lnTo>
                  <a:pt x="60211" y="220776"/>
                </a:lnTo>
                <a:cubicBezTo>
                  <a:pt x="60665" y="221683"/>
                  <a:pt x="60948" y="222363"/>
                  <a:pt x="61062" y="222817"/>
                </a:cubicBezTo>
                <a:lnTo>
                  <a:pt x="88786" y="222817"/>
                </a:lnTo>
                <a:close/>
                <a:moveTo>
                  <a:pt x="230131" y="159714"/>
                </a:moveTo>
                <a:lnTo>
                  <a:pt x="179784" y="211931"/>
                </a:lnTo>
                <a:lnTo>
                  <a:pt x="190500" y="222817"/>
                </a:lnTo>
                <a:lnTo>
                  <a:pt x="269251" y="222817"/>
                </a:lnTo>
                <a:lnTo>
                  <a:pt x="272993" y="204958"/>
                </a:lnTo>
                <a:close/>
                <a:moveTo>
                  <a:pt x="120593" y="156993"/>
                </a:moveTo>
                <a:lnTo>
                  <a:pt x="93889" y="185227"/>
                </a:lnTo>
                <a:lnTo>
                  <a:pt x="93889" y="222817"/>
                </a:lnTo>
                <a:lnTo>
                  <a:pt x="162265" y="222817"/>
                </a:lnTo>
                <a:lnTo>
                  <a:pt x="173151" y="211591"/>
                </a:lnTo>
                <a:close/>
                <a:moveTo>
                  <a:pt x="93889" y="129438"/>
                </a:moveTo>
                <a:lnTo>
                  <a:pt x="93889" y="177743"/>
                </a:lnTo>
                <a:lnTo>
                  <a:pt x="117021" y="153421"/>
                </a:lnTo>
                <a:close/>
                <a:moveTo>
                  <a:pt x="174001" y="100353"/>
                </a:moveTo>
                <a:lnTo>
                  <a:pt x="123485" y="153931"/>
                </a:lnTo>
                <a:lnTo>
                  <a:pt x="176382" y="208189"/>
                </a:lnTo>
                <a:lnTo>
                  <a:pt x="226729" y="155972"/>
                </a:lnTo>
                <a:close/>
                <a:moveTo>
                  <a:pt x="300377" y="99162"/>
                </a:moveTo>
                <a:lnTo>
                  <a:pt x="278436" y="203257"/>
                </a:lnTo>
                <a:lnTo>
                  <a:pt x="291533" y="217204"/>
                </a:lnTo>
                <a:cubicBezTo>
                  <a:pt x="292100" y="216864"/>
                  <a:pt x="292950" y="216467"/>
                  <a:pt x="294084" y="216013"/>
                </a:cubicBezTo>
                <a:lnTo>
                  <a:pt x="329293" y="154611"/>
                </a:lnTo>
                <a:cubicBezTo>
                  <a:pt x="329066" y="153477"/>
                  <a:pt x="328952" y="152684"/>
                  <a:pt x="328952" y="152230"/>
                </a:cubicBezTo>
                <a:cubicBezTo>
                  <a:pt x="328952" y="152117"/>
                  <a:pt x="329122" y="151209"/>
                  <a:pt x="329463" y="149509"/>
                </a:cubicBezTo>
                <a:close/>
                <a:moveTo>
                  <a:pt x="295955" y="91678"/>
                </a:moveTo>
                <a:lnTo>
                  <a:pt x="233702" y="156142"/>
                </a:lnTo>
                <a:lnTo>
                  <a:pt x="274184" y="198834"/>
                </a:lnTo>
                <a:lnTo>
                  <a:pt x="296635" y="92699"/>
                </a:lnTo>
                <a:lnTo>
                  <a:pt x="296125" y="91848"/>
                </a:lnTo>
                <a:close/>
                <a:moveTo>
                  <a:pt x="56980" y="91168"/>
                </a:moveTo>
                <a:cubicBezTo>
                  <a:pt x="55506" y="92075"/>
                  <a:pt x="53861" y="92642"/>
                  <a:pt x="52047" y="92869"/>
                </a:cubicBezTo>
                <a:lnTo>
                  <a:pt x="19050" y="150019"/>
                </a:lnTo>
                <a:cubicBezTo>
                  <a:pt x="19163" y="150472"/>
                  <a:pt x="19220" y="151209"/>
                  <a:pt x="19220" y="152230"/>
                </a:cubicBezTo>
                <a:cubicBezTo>
                  <a:pt x="19220" y="153364"/>
                  <a:pt x="19106" y="154214"/>
                  <a:pt x="18880" y="154781"/>
                </a:cubicBezTo>
                <a:lnTo>
                  <a:pt x="54258" y="216013"/>
                </a:lnTo>
                <a:cubicBezTo>
                  <a:pt x="54485" y="216013"/>
                  <a:pt x="54740" y="216070"/>
                  <a:pt x="55024" y="216184"/>
                </a:cubicBezTo>
                <a:cubicBezTo>
                  <a:pt x="55307" y="216297"/>
                  <a:pt x="55619" y="216439"/>
                  <a:pt x="55959" y="216609"/>
                </a:cubicBezTo>
                <a:cubicBezTo>
                  <a:pt x="56299" y="216779"/>
                  <a:pt x="56583" y="216921"/>
                  <a:pt x="56810" y="217034"/>
                </a:cubicBezTo>
                <a:lnTo>
                  <a:pt x="88786" y="183186"/>
                </a:lnTo>
                <a:lnTo>
                  <a:pt x="88786" y="124165"/>
                </a:lnTo>
                <a:close/>
                <a:moveTo>
                  <a:pt x="88786" y="72458"/>
                </a:moveTo>
                <a:lnTo>
                  <a:pt x="60892" y="82493"/>
                </a:lnTo>
                <a:cubicBezTo>
                  <a:pt x="60892" y="82607"/>
                  <a:pt x="60920" y="82720"/>
                  <a:pt x="60977" y="82834"/>
                </a:cubicBezTo>
                <a:cubicBezTo>
                  <a:pt x="61033" y="82947"/>
                  <a:pt x="61062" y="83060"/>
                  <a:pt x="61062" y="83174"/>
                </a:cubicBezTo>
                <a:cubicBezTo>
                  <a:pt x="61062" y="84988"/>
                  <a:pt x="60608" y="86632"/>
                  <a:pt x="59701" y="88106"/>
                </a:cubicBezTo>
                <a:lnTo>
                  <a:pt x="88786" y="118212"/>
                </a:lnTo>
                <a:close/>
                <a:moveTo>
                  <a:pt x="132499" y="56640"/>
                </a:moveTo>
                <a:lnTo>
                  <a:pt x="93889" y="70587"/>
                </a:lnTo>
                <a:lnTo>
                  <a:pt x="93889" y="123485"/>
                </a:lnTo>
                <a:lnTo>
                  <a:pt x="119913" y="150189"/>
                </a:lnTo>
                <a:lnTo>
                  <a:pt x="170429" y="96781"/>
                </a:lnTo>
                <a:close/>
                <a:moveTo>
                  <a:pt x="88786" y="29085"/>
                </a:moveTo>
                <a:lnTo>
                  <a:pt x="61062" y="77051"/>
                </a:lnTo>
                <a:lnTo>
                  <a:pt x="88786" y="67015"/>
                </a:lnTo>
                <a:close/>
                <a:moveTo>
                  <a:pt x="96270" y="18370"/>
                </a:moveTo>
                <a:cubicBezTo>
                  <a:pt x="95590" y="18597"/>
                  <a:pt x="95023" y="18767"/>
                  <a:pt x="94569" y="18880"/>
                </a:cubicBezTo>
                <a:lnTo>
                  <a:pt x="93889" y="20241"/>
                </a:lnTo>
                <a:lnTo>
                  <a:pt x="93889" y="65144"/>
                </a:lnTo>
                <a:lnTo>
                  <a:pt x="128757" y="52558"/>
                </a:lnTo>
                <a:close/>
                <a:moveTo>
                  <a:pt x="251902" y="18030"/>
                </a:moveTo>
                <a:lnTo>
                  <a:pt x="177573" y="96781"/>
                </a:lnTo>
                <a:lnTo>
                  <a:pt x="230301" y="152400"/>
                </a:lnTo>
                <a:lnTo>
                  <a:pt x="292213" y="88106"/>
                </a:lnTo>
                <a:cubicBezTo>
                  <a:pt x="291306" y="86632"/>
                  <a:pt x="290852" y="84988"/>
                  <a:pt x="290852" y="83174"/>
                </a:cubicBezTo>
                <a:lnTo>
                  <a:pt x="290852" y="82834"/>
                </a:lnTo>
                <a:lnTo>
                  <a:pt x="254113" y="18880"/>
                </a:lnTo>
                <a:cubicBezTo>
                  <a:pt x="253546" y="18767"/>
                  <a:pt x="252809" y="18483"/>
                  <a:pt x="251902" y="18030"/>
                </a:cubicBezTo>
                <a:close/>
                <a:moveTo>
                  <a:pt x="243397" y="16669"/>
                </a:moveTo>
                <a:lnTo>
                  <a:pt x="137772" y="54769"/>
                </a:lnTo>
                <a:lnTo>
                  <a:pt x="174001" y="93039"/>
                </a:lnTo>
                <a:lnTo>
                  <a:pt x="246119" y="16669"/>
                </a:lnTo>
                <a:close/>
                <a:moveTo>
                  <a:pt x="101713" y="16669"/>
                </a:moveTo>
                <a:lnTo>
                  <a:pt x="134030" y="50687"/>
                </a:lnTo>
                <a:lnTo>
                  <a:pt x="228260" y="16669"/>
                </a:lnTo>
                <a:lnTo>
                  <a:pt x="180635" y="16669"/>
                </a:lnTo>
                <a:cubicBezTo>
                  <a:pt x="178820" y="18483"/>
                  <a:pt x="176666" y="19390"/>
                  <a:pt x="174171" y="19390"/>
                </a:cubicBezTo>
                <a:cubicBezTo>
                  <a:pt x="171677" y="19390"/>
                  <a:pt x="169522" y="18483"/>
                  <a:pt x="167708" y="16669"/>
                </a:cubicBezTo>
                <a:close/>
                <a:moveTo>
                  <a:pt x="92018" y="0"/>
                </a:moveTo>
                <a:cubicBezTo>
                  <a:pt x="94966" y="0"/>
                  <a:pt x="97461" y="1191"/>
                  <a:pt x="99502" y="3572"/>
                </a:cubicBezTo>
                <a:lnTo>
                  <a:pt x="166857" y="3572"/>
                </a:lnTo>
                <a:cubicBezTo>
                  <a:pt x="168672" y="1191"/>
                  <a:pt x="171110" y="0"/>
                  <a:pt x="174171" y="0"/>
                </a:cubicBezTo>
                <a:cubicBezTo>
                  <a:pt x="177233" y="0"/>
                  <a:pt x="179671" y="1191"/>
                  <a:pt x="181485" y="3572"/>
                </a:cubicBezTo>
                <a:lnTo>
                  <a:pt x="249181" y="3572"/>
                </a:lnTo>
                <a:cubicBezTo>
                  <a:pt x="251222" y="1191"/>
                  <a:pt x="253716" y="0"/>
                  <a:pt x="256664" y="0"/>
                </a:cubicBezTo>
                <a:cubicBezTo>
                  <a:pt x="259273" y="0"/>
                  <a:pt x="261540" y="936"/>
                  <a:pt x="263468" y="2807"/>
                </a:cubicBezTo>
                <a:cubicBezTo>
                  <a:pt x="265396" y="4678"/>
                  <a:pt x="266360" y="6974"/>
                  <a:pt x="266360" y="9695"/>
                </a:cubicBezTo>
                <a:cubicBezTo>
                  <a:pt x="266360" y="10376"/>
                  <a:pt x="266133" y="11396"/>
                  <a:pt x="265679" y="12757"/>
                </a:cubicBezTo>
                <a:lnTo>
                  <a:pt x="300888" y="73649"/>
                </a:lnTo>
                <a:cubicBezTo>
                  <a:pt x="303496" y="73762"/>
                  <a:pt x="305707" y="74754"/>
                  <a:pt x="307521" y="76625"/>
                </a:cubicBezTo>
                <a:cubicBezTo>
                  <a:pt x="309335" y="78496"/>
                  <a:pt x="310243" y="80679"/>
                  <a:pt x="310243" y="83174"/>
                </a:cubicBezTo>
                <a:cubicBezTo>
                  <a:pt x="310243" y="84648"/>
                  <a:pt x="309846" y="86179"/>
                  <a:pt x="309052" y="87766"/>
                </a:cubicBezTo>
                <a:lnTo>
                  <a:pt x="340859" y="142875"/>
                </a:lnTo>
                <a:cubicBezTo>
                  <a:pt x="343013" y="143329"/>
                  <a:pt x="344799" y="144434"/>
                  <a:pt x="346216" y="146192"/>
                </a:cubicBezTo>
                <a:cubicBezTo>
                  <a:pt x="347634" y="147949"/>
                  <a:pt x="348343" y="149962"/>
                  <a:pt x="348343" y="152230"/>
                </a:cubicBezTo>
                <a:cubicBezTo>
                  <a:pt x="348343" y="154611"/>
                  <a:pt x="347606" y="156681"/>
                  <a:pt x="346131" y="158438"/>
                </a:cubicBezTo>
                <a:cubicBezTo>
                  <a:pt x="344657" y="160196"/>
                  <a:pt x="342786" y="161301"/>
                  <a:pt x="340518" y="161755"/>
                </a:cubicBezTo>
                <a:lnTo>
                  <a:pt x="305650" y="222307"/>
                </a:lnTo>
                <a:cubicBezTo>
                  <a:pt x="305990" y="223327"/>
                  <a:pt x="306160" y="224348"/>
                  <a:pt x="306160" y="225368"/>
                </a:cubicBezTo>
                <a:cubicBezTo>
                  <a:pt x="306160" y="227636"/>
                  <a:pt x="305452" y="229649"/>
                  <a:pt x="304034" y="231407"/>
                </a:cubicBezTo>
                <a:cubicBezTo>
                  <a:pt x="302617" y="233164"/>
                  <a:pt x="300774" y="234270"/>
                  <a:pt x="298506" y="234723"/>
                </a:cubicBezTo>
                <a:lnTo>
                  <a:pt x="265679" y="292043"/>
                </a:lnTo>
                <a:cubicBezTo>
                  <a:pt x="266019" y="292951"/>
                  <a:pt x="266189" y="293858"/>
                  <a:pt x="266189" y="294765"/>
                </a:cubicBezTo>
                <a:cubicBezTo>
                  <a:pt x="266189" y="297373"/>
                  <a:pt x="265254" y="299641"/>
                  <a:pt x="263383" y="301568"/>
                </a:cubicBezTo>
                <a:cubicBezTo>
                  <a:pt x="261512" y="303496"/>
                  <a:pt x="259216" y="304460"/>
                  <a:pt x="256494" y="304460"/>
                </a:cubicBezTo>
                <a:cubicBezTo>
                  <a:pt x="253660" y="304460"/>
                  <a:pt x="251335" y="303439"/>
                  <a:pt x="249521" y="301398"/>
                </a:cubicBezTo>
                <a:lnTo>
                  <a:pt x="181485" y="301398"/>
                </a:lnTo>
                <a:cubicBezTo>
                  <a:pt x="179557" y="303666"/>
                  <a:pt x="177119" y="304800"/>
                  <a:pt x="174171" y="304800"/>
                </a:cubicBezTo>
                <a:cubicBezTo>
                  <a:pt x="171223" y="304800"/>
                  <a:pt x="168785" y="303666"/>
                  <a:pt x="166857" y="301398"/>
                </a:cubicBezTo>
                <a:lnTo>
                  <a:pt x="98992" y="301398"/>
                </a:lnTo>
                <a:cubicBezTo>
                  <a:pt x="97064" y="303666"/>
                  <a:pt x="94626" y="304800"/>
                  <a:pt x="91678" y="304800"/>
                </a:cubicBezTo>
                <a:cubicBezTo>
                  <a:pt x="89070" y="304800"/>
                  <a:pt x="86802" y="303865"/>
                  <a:pt x="84874" y="301994"/>
                </a:cubicBezTo>
                <a:cubicBezTo>
                  <a:pt x="82947" y="300123"/>
                  <a:pt x="81983" y="297826"/>
                  <a:pt x="81983" y="295105"/>
                </a:cubicBezTo>
                <a:cubicBezTo>
                  <a:pt x="81983" y="294198"/>
                  <a:pt x="82210" y="293064"/>
                  <a:pt x="82663" y="291703"/>
                </a:cubicBezTo>
                <a:lnTo>
                  <a:pt x="49836" y="234723"/>
                </a:lnTo>
                <a:cubicBezTo>
                  <a:pt x="47568" y="234270"/>
                  <a:pt x="45725" y="233164"/>
                  <a:pt x="44308" y="231407"/>
                </a:cubicBezTo>
                <a:cubicBezTo>
                  <a:pt x="42891" y="229649"/>
                  <a:pt x="42182" y="227636"/>
                  <a:pt x="42182" y="225368"/>
                </a:cubicBezTo>
                <a:cubicBezTo>
                  <a:pt x="42182" y="224348"/>
                  <a:pt x="42352" y="223327"/>
                  <a:pt x="42692" y="222307"/>
                </a:cubicBezTo>
                <a:lnTo>
                  <a:pt x="7654" y="161755"/>
                </a:lnTo>
                <a:cubicBezTo>
                  <a:pt x="5386" y="161188"/>
                  <a:pt x="3543" y="160026"/>
                  <a:pt x="2126" y="158268"/>
                </a:cubicBezTo>
                <a:cubicBezTo>
                  <a:pt x="708" y="156511"/>
                  <a:pt x="0" y="154498"/>
                  <a:pt x="0" y="152230"/>
                </a:cubicBezTo>
                <a:cubicBezTo>
                  <a:pt x="0" y="149849"/>
                  <a:pt x="765" y="147779"/>
                  <a:pt x="2296" y="146022"/>
                </a:cubicBezTo>
                <a:cubicBezTo>
                  <a:pt x="3827" y="144264"/>
                  <a:pt x="5726" y="143159"/>
                  <a:pt x="7994" y="142705"/>
                </a:cubicBezTo>
                <a:lnTo>
                  <a:pt x="41842" y="84194"/>
                </a:lnTo>
                <a:cubicBezTo>
                  <a:pt x="41842" y="84081"/>
                  <a:pt x="41813" y="83911"/>
                  <a:pt x="41757" y="83684"/>
                </a:cubicBezTo>
                <a:cubicBezTo>
                  <a:pt x="41700" y="83457"/>
                  <a:pt x="41672" y="83287"/>
                  <a:pt x="41672" y="83174"/>
                </a:cubicBezTo>
                <a:cubicBezTo>
                  <a:pt x="41672" y="79092"/>
                  <a:pt x="43599" y="76200"/>
                  <a:pt x="47455" y="74499"/>
                </a:cubicBezTo>
                <a:lnTo>
                  <a:pt x="83003" y="12757"/>
                </a:lnTo>
                <a:cubicBezTo>
                  <a:pt x="82550" y="11623"/>
                  <a:pt x="82323" y="10602"/>
                  <a:pt x="82323" y="9695"/>
                </a:cubicBezTo>
                <a:cubicBezTo>
                  <a:pt x="82323" y="6974"/>
                  <a:pt x="83287" y="4678"/>
                  <a:pt x="85214" y="2807"/>
                </a:cubicBezTo>
                <a:cubicBezTo>
                  <a:pt x="87142" y="936"/>
                  <a:pt x="89410" y="0"/>
                  <a:pt x="920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1828800"/>
            <a:endParaRPr lang="en-IN" sz="4800" dirty="0">
              <a:solidFill>
                <a:prstClr val="white"/>
              </a:solidFill>
              <a:latin typeface="Raleway" panose="020B0503030101060003"/>
            </a:endParaRPr>
          </a:p>
        </p:txBody>
      </p:sp>
    </p:spTree>
    <p:extLst>
      <p:ext uri="{BB962C8B-B14F-4D97-AF65-F5344CB8AC3E}">
        <p14:creationId xmlns:p14="http://schemas.microsoft.com/office/powerpoint/2010/main" val="3266818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3" grpId="0"/>
      <p:bldP spid="32" grpId="0"/>
      <p:bldP spid="42" grpId="0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198" y="365126"/>
            <a:ext cx="8343901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Number of Units at each Layer (Cont.)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6"/>
            <a:ext cx="8063459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947191" y="1385043"/>
            <a:ext cx="10368509" cy="1187511"/>
            <a:chOff x="1000145" y="3964496"/>
            <a:chExt cx="9694544" cy="1954293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186D63A-EB08-47AC-8EFC-8BEC55359447}"/>
                </a:ext>
              </a:extLst>
            </p:cNvPr>
            <p:cNvSpPr/>
            <p:nvPr/>
          </p:nvSpPr>
          <p:spPr>
            <a:xfrm>
              <a:off x="2477995" y="4418627"/>
              <a:ext cx="8216694" cy="150016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kern="0" dirty="0">
                <a:solidFill>
                  <a:srgbClr val="FFFFFF"/>
                </a:solidFill>
              </a:endParaRPr>
            </a:p>
          </p:txBody>
        </p:sp>
        <p:sp>
          <p:nvSpPr>
            <p:cNvPr id="38" name="Diagonal Stripe 38">
              <a:extLst>
                <a:ext uri="{FF2B5EF4-FFF2-40B4-BE49-F238E27FC236}">
                  <a16:creationId xmlns:a16="http://schemas.microsoft.com/office/drawing/2014/main" id="{D71B33F0-6AE0-4F8D-9320-30E04DA32349}"/>
                </a:ext>
              </a:extLst>
            </p:cNvPr>
            <p:cNvSpPr/>
            <p:nvPr/>
          </p:nvSpPr>
          <p:spPr>
            <a:xfrm>
              <a:off x="2467691" y="4755921"/>
              <a:ext cx="432026" cy="713492"/>
            </a:xfrm>
            <a:custGeom>
              <a:avLst/>
              <a:gdLst>
                <a:gd name="connsiteX0" fmla="*/ 357 h 591"/>
                <a:gd name="connsiteY0" fmla="*/ 548199 h 1096397"/>
                <a:gd name="connsiteX1" fmla="*/ 475709 w 951418"/>
                <a:gd name="connsiteY1" fmla="*/ 0 h 1096397"/>
                <a:gd name="connsiteX2" fmla="*/ 951418 w 951418"/>
                <a:gd name="connsiteY2" fmla="*/ 0 h 1096397"/>
                <a:gd name="connsiteX3" fmla="*/ 357 h 591"/>
                <a:gd name="connsiteY3" fmla="*/ 1096397 h 1096397"/>
                <a:gd name="connsiteX4" fmla="*/ 357 h 591"/>
                <a:gd name="connsiteY4" fmla="*/ 548199 h 1096397"/>
                <a:gd name="connsiteX0" fmla="*/ 0 w 475709"/>
                <a:gd name="connsiteY0" fmla="*/ 548199 h 1096397"/>
                <a:gd name="connsiteX1" fmla="*/ 475709 w 475709"/>
                <a:gd name="connsiteY1" fmla="*/ 0 h 1096397"/>
                <a:gd name="connsiteX2" fmla="*/ 465643 w 475709"/>
                <a:gd name="connsiteY2" fmla="*/ 371475 h 1096397"/>
                <a:gd name="connsiteX3" fmla="*/ 0 w 475709"/>
                <a:gd name="connsiteY3" fmla="*/ 1096397 h 1096397"/>
                <a:gd name="connsiteX4" fmla="*/ 0 w 475709"/>
                <a:gd name="connsiteY4" fmla="*/ 548199 h 1096397"/>
                <a:gd name="connsiteX0" fmla="*/ 0 w 608518"/>
                <a:gd name="connsiteY0" fmla="*/ 548199 h 1096397"/>
                <a:gd name="connsiteX1" fmla="*/ 475709 w 608518"/>
                <a:gd name="connsiteY1" fmla="*/ 0 h 1096397"/>
                <a:gd name="connsiteX2" fmla="*/ 608518 w 608518"/>
                <a:gd name="connsiteY2" fmla="*/ 371475 h 1096397"/>
                <a:gd name="connsiteX3" fmla="*/ 0 w 608518"/>
                <a:gd name="connsiteY3" fmla="*/ 1096397 h 1096397"/>
                <a:gd name="connsiteX4" fmla="*/ 0 w 608518"/>
                <a:gd name="connsiteY4" fmla="*/ 548199 h 109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18" h="1096397">
                  <a:moveTo>
                    <a:pt x="0" y="548199"/>
                  </a:moveTo>
                  <a:lnTo>
                    <a:pt x="475709" y="0"/>
                  </a:lnTo>
                  <a:lnTo>
                    <a:pt x="608518" y="371475"/>
                  </a:lnTo>
                  <a:lnTo>
                    <a:pt x="0" y="1096397"/>
                  </a:lnTo>
                  <a:lnTo>
                    <a:pt x="0" y="54819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kern="0">
                <a:solidFill>
                  <a:srgbClr val="262626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BE7187-34D5-4D31-B548-970B0259E86B}"/>
                </a:ext>
              </a:extLst>
            </p:cNvPr>
            <p:cNvSpPr/>
            <p:nvPr/>
          </p:nvSpPr>
          <p:spPr>
            <a:xfrm>
              <a:off x="1000145" y="3964496"/>
              <a:ext cx="1899572" cy="1207365"/>
            </a:xfrm>
            <a:prstGeom prst="rect">
              <a:avLst/>
            </a:prstGeom>
            <a:solidFill>
              <a:srgbClr val="00808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sz="2800" b="1" kern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0C7EF375-277C-4F70-9135-F1E7C23F0B3A}"/>
              </a:ext>
            </a:extLst>
          </p:cNvPr>
          <p:cNvSpPr/>
          <p:nvPr/>
        </p:nvSpPr>
        <p:spPr>
          <a:xfrm>
            <a:off x="871617" y="1450973"/>
            <a:ext cx="218277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263">
              <a:defRPr/>
            </a:pPr>
            <a:r>
              <a:rPr lang="en-US" sz="3000" b="1" kern="0" dirty="0">
                <a:solidFill>
                  <a:srgbClr val="FFFFFF"/>
                </a:solidFill>
                <a:cs typeface="Segoe UI" panose="020B0502040204020203" pitchFamily="34" charset="0"/>
              </a:rPr>
              <a:t>Question 03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947191" y="3030919"/>
            <a:ext cx="10368509" cy="2645981"/>
            <a:chOff x="1000145" y="3620567"/>
            <a:chExt cx="9694544" cy="3782948"/>
          </a:xfrm>
          <a:solidFill>
            <a:schemeClr val="accent1">
              <a:lumMod val="50000"/>
            </a:schemeClr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186D63A-EB08-47AC-8EFC-8BEC55359447}"/>
                </a:ext>
              </a:extLst>
            </p:cNvPr>
            <p:cNvSpPr/>
            <p:nvPr/>
          </p:nvSpPr>
          <p:spPr>
            <a:xfrm>
              <a:off x="2477995" y="4046542"/>
              <a:ext cx="8216694" cy="33569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kern="0" dirty="0">
                <a:solidFill>
                  <a:srgbClr val="FFFFFF"/>
                </a:solidFill>
              </a:endParaRPr>
            </a:p>
          </p:txBody>
        </p:sp>
        <p:sp>
          <p:nvSpPr>
            <p:cNvPr id="54" name="Diagonal Stripe 38">
              <a:extLst>
                <a:ext uri="{FF2B5EF4-FFF2-40B4-BE49-F238E27FC236}">
                  <a16:creationId xmlns:a16="http://schemas.microsoft.com/office/drawing/2014/main" id="{D71B33F0-6AE0-4F8D-9320-30E04DA32349}"/>
                </a:ext>
              </a:extLst>
            </p:cNvPr>
            <p:cNvSpPr/>
            <p:nvPr/>
          </p:nvSpPr>
          <p:spPr>
            <a:xfrm>
              <a:off x="2467691" y="4353987"/>
              <a:ext cx="432026" cy="713492"/>
            </a:xfrm>
            <a:custGeom>
              <a:avLst/>
              <a:gdLst>
                <a:gd name="connsiteX0" fmla="*/ 357 h 591"/>
                <a:gd name="connsiteY0" fmla="*/ 548199 h 1096397"/>
                <a:gd name="connsiteX1" fmla="*/ 475709 w 951418"/>
                <a:gd name="connsiteY1" fmla="*/ 0 h 1096397"/>
                <a:gd name="connsiteX2" fmla="*/ 951418 w 951418"/>
                <a:gd name="connsiteY2" fmla="*/ 0 h 1096397"/>
                <a:gd name="connsiteX3" fmla="*/ 357 h 591"/>
                <a:gd name="connsiteY3" fmla="*/ 1096397 h 1096397"/>
                <a:gd name="connsiteX4" fmla="*/ 357 h 591"/>
                <a:gd name="connsiteY4" fmla="*/ 548199 h 1096397"/>
                <a:gd name="connsiteX0" fmla="*/ 0 w 475709"/>
                <a:gd name="connsiteY0" fmla="*/ 548199 h 1096397"/>
                <a:gd name="connsiteX1" fmla="*/ 475709 w 475709"/>
                <a:gd name="connsiteY1" fmla="*/ 0 h 1096397"/>
                <a:gd name="connsiteX2" fmla="*/ 465643 w 475709"/>
                <a:gd name="connsiteY2" fmla="*/ 371475 h 1096397"/>
                <a:gd name="connsiteX3" fmla="*/ 0 w 475709"/>
                <a:gd name="connsiteY3" fmla="*/ 1096397 h 1096397"/>
                <a:gd name="connsiteX4" fmla="*/ 0 w 475709"/>
                <a:gd name="connsiteY4" fmla="*/ 548199 h 1096397"/>
                <a:gd name="connsiteX0" fmla="*/ 0 w 608518"/>
                <a:gd name="connsiteY0" fmla="*/ 548199 h 1096397"/>
                <a:gd name="connsiteX1" fmla="*/ 475709 w 608518"/>
                <a:gd name="connsiteY1" fmla="*/ 0 h 1096397"/>
                <a:gd name="connsiteX2" fmla="*/ 608518 w 608518"/>
                <a:gd name="connsiteY2" fmla="*/ 371475 h 1096397"/>
                <a:gd name="connsiteX3" fmla="*/ 0 w 608518"/>
                <a:gd name="connsiteY3" fmla="*/ 1096397 h 1096397"/>
                <a:gd name="connsiteX4" fmla="*/ 0 w 608518"/>
                <a:gd name="connsiteY4" fmla="*/ 548199 h 109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18" h="1096397">
                  <a:moveTo>
                    <a:pt x="0" y="548199"/>
                  </a:moveTo>
                  <a:lnTo>
                    <a:pt x="475709" y="0"/>
                  </a:lnTo>
                  <a:lnTo>
                    <a:pt x="608518" y="371475"/>
                  </a:lnTo>
                  <a:lnTo>
                    <a:pt x="0" y="1096397"/>
                  </a:lnTo>
                  <a:lnTo>
                    <a:pt x="0" y="54819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kern="0">
                <a:solidFill>
                  <a:srgbClr val="262626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CBE7187-34D5-4D31-B548-970B0259E86B}"/>
                </a:ext>
              </a:extLst>
            </p:cNvPr>
            <p:cNvSpPr/>
            <p:nvPr/>
          </p:nvSpPr>
          <p:spPr>
            <a:xfrm>
              <a:off x="1000145" y="3620567"/>
              <a:ext cx="1899572" cy="1073473"/>
            </a:xfrm>
            <a:prstGeom prst="rect">
              <a:avLst/>
            </a:prstGeom>
            <a:solidFill>
              <a:srgbClr val="B73538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sz="2800" b="1" kern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0C7EF375-277C-4F70-9135-F1E7C23F0B3A}"/>
              </a:ext>
            </a:extLst>
          </p:cNvPr>
          <p:cNvSpPr/>
          <p:nvPr/>
        </p:nvSpPr>
        <p:spPr>
          <a:xfrm>
            <a:off x="947191" y="3118887"/>
            <a:ext cx="18452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263">
              <a:defRPr/>
            </a:pPr>
            <a:r>
              <a:rPr lang="en-US" sz="3000" b="1" kern="0" dirty="0">
                <a:solidFill>
                  <a:srgbClr val="FFFFFF"/>
                </a:solidFill>
                <a:cs typeface="Segoe UI" panose="020B0502040204020203" pitchFamily="34" charset="0"/>
              </a:rPr>
              <a:t>Answer 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3129968" y="3462217"/>
            <a:ext cx="7947607" cy="523220"/>
            <a:chOff x="2863608" y="2923552"/>
            <a:chExt cx="7947607" cy="52322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39CCFEC-CD92-4BA1-A347-9B9110E40290}"/>
                </a:ext>
              </a:extLst>
            </p:cNvPr>
            <p:cNvSpPr/>
            <p:nvPr/>
          </p:nvSpPr>
          <p:spPr>
            <a:xfrm>
              <a:off x="3151775" y="2923552"/>
              <a:ext cx="76594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defTabSz="914263">
                <a:defRPr/>
              </a:pPr>
              <a:r>
                <a:rPr lang="en-US" sz="2800" b="1" dirty="0">
                  <a:solidFill>
                    <a:prstClr val="black"/>
                  </a:solidFill>
                </a:rPr>
                <a:t>There is </a:t>
              </a:r>
              <a:r>
                <a:rPr lang="en-US" sz="2800" b="1" dirty="0">
                  <a:solidFill>
                    <a:srgbClr val="FF0000"/>
                  </a:solidFill>
                </a:rPr>
                <a:t>no definite answer</a:t>
              </a:r>
              <a:r>
                <a:rPr lang="en-US" sz="2800" b="1" dirty="0">
                  <a:solidFill>
                    <a:prstClr val="black"/>
                  </a:solidFill>
                </a:rPr>
                <a:t> to this question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  <p:sp>
          <p:nvSpPr>
            <p:cNvPr id="60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863608" y="3117346"/>
              <a:ext cx="216593" cy="195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3544281" y="4547851"/>
            <a:ext cx="7771419" cy="387798"/>
            <a:chOff x="2868406" y="1887706"/>
            <a:chExt cx="7771419" cy="387798"/>
          </a:xfrm>
        </p:grpSpPr>
        <p:sp>
          <p:nvSpPr>
            <p:cNvPr id="62" name="Rectangle 61"/>
            <p:cNvSpPr/>
            <p:nvPr/>
          </p:nvSpPr>
          <p:spPr>
            <a:xfrm>
              <a:off x="2868406" y="1976658"/>
              <a:ext cx="106153" cy="209895"/>
            </a:xfrm>
            <a:prstGeom prst="rect">
              <a:avLst/>
            </a:prstGeom>
            <a:noFill/>
            <a:ln w="38100">
              <a:solidFill>
                <a:srgbClr val="4C2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4C28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Inhaltsplatzhalter 4"/>
            <p:cNvSpPr txBox="1">
              <a:spLocks/>
            </p:cNvSpPr>
            <p:nvPr/>
          </p:nvSpPr>
          <p:spPr>
            <a:xfrm>
              <a:off x="3251187" y="1887706"/>
              <a:ext cx="7388638" cy="387798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n-US" sz="2800" b="1" dirty="0">
                  <a:solidFill>
                    <a:schemeClr val="tx1"/>
                  </a:solidFill>
                  <a:latin typeface="+mn-lt"/>
                  <a:ea typeface="Lato Heavy" panose="020B0604020202020204" charset="0"/>
                  <a:cs typeface="Segoe UI" panose="020B0502040204020203" pitchFamily="34" charset="0"/>
                </a:rPr>
                <a:t>Number of Hidden Layers and 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129968" y="4008489"/>
            <a:ext cx="7947607" cy="523220"/>
            <a:chOff x="2863608" y="2942607"/>
            <a:chExt cx="7947607" cy="52322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39CCFEC-CD92-4BA1-A347-9B9110E40290}"/>
                </a:ext>
              </a:extLst>
            </p:cNvPr>
            <p:cNvSpPr/>
            <p:nvPr/>
          </p:nvSpPr>
          <p:spPr>
            <a:xfrm>
              <a:off x="3151774" y="2942607"/>
              <a:ext cx="765944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defTabSz="914263">
                <a:defRPr/>
              </a:pPr>
              <a:r>
                <a:rPr lang="en-US" sz="2800" b="1" dirty="0">
                  <a:solidFill>
                    <a:prstClr val="black"/>
                  </a:solidFill>
                </a:rPr>
                <a:t>Normally, people </a:t>
              </a:r>
              <a:r>
                <a:rPr lang="en-US" sz="2800" b="1" dirty="0">
                  <a:solidFill>
                    <a:srgbClr val="FF0000"/>
                  </a:solidFill>
                </a:rPr>
                <a:t>randomly</a:t>
              </a:r>
              <a:r>
                <a:rPr lang="en-US" sz="2800" b="1" dirty="0">
                  <a:solidFill>
                    <a:prstClr val="black"/>
                  </a:solidFill>
                </a:rPr>
                <a:t> select 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  <p:sp>
          <p:nvSpPr>
            <p:cNvPr id="69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863608" y="3117346"/>
              <a:ext cx="216593" cy="195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3129967" y="1841559"/>
            <a:ext cx="7947608" cy="523220"/>
            <a:chOff x="2863608" y="2942607"/>
            <a:chExt cx="7947608" cy="52322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39CCFEC-CD92-4BA1-A347-9B9110E40290}"/>
                </a:ext>
              </a:extLst>
            </p:cNvPr>
            <p:cNvSpPr/>
            <p:nvPr/>
          </p:nvSpPr>
          <p:spPr>
            <a:xfrm>
              <a:off x="3151774" y="2942607"/>
              <a:ext cx="76594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defTabSz="914263">
                <a:defRPr/>
              </a:pPr>
              <a:r>
                <a:rPr lang="en-US" sz="2800" b="1" dirty="0">
                  <a:solidFill>
                    <a:prstClr val="black"/>
                  </a:solidFill>
                </a:rPr>
                <a:t>How many </a:t>
              </a:r>
              <a:r>
                <a:rPr lang="en-US" sz="2800" b="1" dirty="0">
                  <a:solidFill>
                    <a:srgbClr val="FF0000"/>
                  </a:solidFill>
                </a:rPr>
                <a:t>Units</a:t>
              </a:r>
              <a:r>
                <a:rPr lang="en-US" sz="2800" b="1" dirty="0">
                  <a:solidFill>
                    <a:prstClr val="black"/>
                  </a:solidFill>
                </a:rPr>
                <a:t> should be there at Hidden Layer?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  <p:sp>
          <p:nvSpPr>
            <p:cNvPr id="72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863608" y="3117346"/>
              <a:ext cx="216593" cy="195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544281" y="5017432"/>
            <a:ext cx="7771419" cy="387798"/>
            <a:chOff x="2868406" y="1887706"/>
            <a:chExt cx="7771419" cy="387798"/>
          </a:xfrm>
        </p:grpSpPr>
        <p:sp>
          <p:nvSpPr>
            <p:cNvPr id="32" name="Rectangle 31"/>
            <p:cNvSpPr/>
            <p:nvPr/>
          </p:nvSpPr>
          <p:spPr>
            <a:xfrm>
              <a:off x="2868406" y="1976658"/>
              <a:ext cx="106153" cy="209895"/>
            </a:xfrm>
            <a:prstGeom prst="rect">
              <a:avLst/>
            </a:prstGeom>
            <a:noFill/>
            <a:ln w="38100">
              <a:solidFill>
                <a:srgbClr val="4C2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4C28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Inhaltsplatzhalter 4"/>
            <p:cNvSpPr txBox="1">
              <a:spLocks/>
            </p:cNvSpPr>
            <p:nvPr/>
          </p:nvSpPr>
          <p:spPr>
            <a:xfrm>
              <a:off x="3251187" y="1887706"/>
              <a:ext cx="7388638" cy="387798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n-US" sz="2800" b="1" dirty="0">
                  <a:solidFill>
                    <a:schemeClr val="tx1"/>
                  </a:solidFill>
                  <a:latin typeface="+mn-lt"/>
                  <a:ea typeface="Lato Heavy" panose="020B0604020202020204" charset="0"/>
                  <a:cs typeface="Segoe UI" panose="020B0502040204020203" pitchFamily="34" charset="0"/>
                </a:rPr>
                <a:t>Number of Hidden Units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3840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838198" y="365126"/>
            <a:ext cx="8343901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SoftMax Layer - ANN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6"/>
            <a:ext cx="4539209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/>
          <p:nvPr/>
        </p:nvGrpSpPr>
        <p:grpSpPr>
          <a:xfrm>
            <a:off x="950522" y="1322771"/>
            <a:ext cx="10139910" cy="1194896"/>
            <a:chOff x="1383666" y="1769853"/>
            <a:chExt cx="10916103" cy="93621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3"/>
              <a:ext cx="1043489" cy="93621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947191" y="4749518"/>
            <a:ext cx="10139910" cy="1161498"/>
            <a:chOff x="1383666" y="1769853"/>
            <a:chExt cx="10916103" cy="936211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3"/>
              <a:ext cx="1043489" cy="936210"/>
            </a:xfrm>
            <a:prstGeom prst="rect">
              <a:avLst/>
            </a:prstGeom>
            <a:solidFill>
              <a:srgbClr val="1F1E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76" name="Rectangle 75"/>
          <p:cNvSpPr/>
          <p:nvPr/>
        </p:nvSpPr>
        <p:spPr>
          <a:xfrm>
            <a:off x="1974216" y="4826057"/>
            <a:ext cx="38866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A Possible Solution</a:t>
            </a:r>
            <a:endParaRPr lang="ko-KR" altLang="en-US" sz="2800" b="1" dirty="0">
              <a:solidFill>
                <a:srgbClr val="4C287F"/>
              </a:solidFill>
              <a:cs typeface="Segoe UI" panose="020B0502040204020203" pitchFamily="34" charset="0"/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947191" y="2817456"/>
            <a:ext cx="10143241" cy="1636334"/>
            <a:chOff x="1383666" y="1769854"/>
            <a:chExt cx="5841295" cy="938539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455469" y="1769857"/>
              <a:ext cx="5769492" cy="9385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560114" cy="936210"/>
            </a:xfrm>
            <a:prstGeom prst="rect">
              <a:avLst/>
            </a:prstGeom>
            <a:solidFill>
              <a:srgbClr val="7744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80" name="Rectangle 79"/>
          <p:cNvSpPr/>
          <p:nvPr/>
        </p:nvSpPr>
        <p:spPr>
          <a:xfrm>
            <a:off x="1977547" y="2961574"/>
            <a:ext cx="8262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Problem 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2295987" y="3456858"/>
            <a:ext cx="8602439" cy="861774"/>
            <a:chOff x="2398672" y="4909661"/>
            <a:chExt cx="9199774" cy="861774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0666" y="4909661"/>
              <a:ext cx="8847780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cs typeface="Segoe UI" panose="020B0502040204020203" pitchFamily="34" charset="0"/>
                </a:rPr>
                <a:t>How can we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interpret</a:t>
              </a:r>
              <a:r>
                <a:rPr lang="en-US" altLang="ko-KR" sz="2800" b="1" dirty="0">
                  <a:cs typeface="Segoe UI" panose="020B0502040204020203" pitchFamily="34" charset="0"/>
                </a:rPr>
                <a:t> the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vectors at Output Units</a:t>
              </a:r>
              <a:r>
                <a:rPr lang="en-US" altLang="ko-KR" sz="2800" b="1" dirty="0">
                  <a:cs typeface="Segoe UI" panose="020B0502040204020203" pitchFamily="34" charset="0"/>
                </a:rPr>
                <a:t> to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categorize Image</a:t>
              </a:r>
              <a:r>
                <a:rPr lang="en-US" altLang="ko-KR" sz="2800" b="1" dirty="0">
                  <a:cs typeface="Segoe UI" panose="020B0502040204020203" pitchFamily="34" charset="0"/>
                </a:rPr>
                <a:t> as Car / Bus / Tank?</a:t>
              </a:r>
              <a:endParaRPr lang="ko-KR" altLang="en-US" sz="2800" b="1" dirty="0">
                <a:cs typeface="Segoe UI" panose="020B0502040204020203" pitchFamily="34" charset="0"/>
              </a:endParaRPr>
            </a:p>
          </p:txBody>
        </p:sp>
        <p:sp>
          <p:nvSpPr>
            <p:cNvPr id="83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2292656" y="5312471"/>
            <a:ext cx="8605770" cy="430887"/>
            <a:chOff x="2398672" y="4924620"/>
            <a:chExt cx="9203336" cy="430887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24620"/>
              <a:ext cx="8847780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cs typeface="Segoe UI" panose="020B0502040204020203" pitchFamily="34" charset="0"/>
                </a:rPr>
                <a:t>Use a Softmax Function</a:t>
              </a:r>
              <a:endParaRPr lang="ko-KR" altLang="en-US" sz="2800" b="1" dirty="0">
                <a:cs typeface="Segoe UI" panose="020B0502040204020203" pitchFamily="34" charset="0"/>
              </a:endParaRPr>
            </a:p>
          </p:txBody>
        </p:sp>
        <p:sp>
          <p:nvSpPr>
            <p:cNvPr id="86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87" name="Freeform 86"/>
          <p:cNvSpPr>
            <a:spLocks/>
          </p:cNvSpPr>
          <p:nvPr/>
        </p:nvSpPr>
        <p:spPr bwMode="auto">
          <a:xfrm>
            <a:off x="1140009" y="1694322"/>
            <a:ext cx="552834" cy="451794"/>
          </a:xfrm>
          <a:custGeom>
            <a:avLst/>
            <a:gdLst>
              <a:gd name="connsiteX0" fmla="*/ 86232 w 455613"/>
              <a:gd name="connsiteY0" fmla="*/ 350838 h 409576"/>
              <a:gd name="connsiteX1" fmla="*/ 87433 w 455613"/>
              <a:gd name="connsiteY1" fmla="*/ 351240 h 409576"/>
              <a:gd name="connsiteX2" fmla="*/ 88233 w 455613"/>
              <a:gd name="connsiteY2" fmla="*/ 352313 h 409576"/>
              <a:gd name="connsiteX3" fmla="*/ 88767 w 455613"/>
              <a:gd name="connsiteY3" fmla="*/ 353788 h 409576"/>
              <a:gd name="connsiteX4" fmla="*/ 88900 w 455613"/>
              <a:gd name="connsiteY4" fmla="*/ 356068 h 409576"/>
              <a:gd name="connsiteX5" fmla="*/ 88900 w 455613"/>
              <a:gd name="connsiteY5" fmla="*/ 409576 h 409576"/>
              <a:gd name="connsiteX6" fmla="*/ 41275 w 455613"/>
              <a:gd name="connsiteY6" fmla="*/ 409576 h 409576"/>
              <a:gd name="connsiteX7" fmla="*/ 41275 w 455613"/>
              <a:gd name="connsiteY7" fmla="*/ 401530 h 409576"/>
              <a:gd name="connsiteX8" fmla="*/ 41542 w 455613"/>
              <a:gd name="connsiteY8" fmla="*/ 399116 h 409576"/>
              <a:gd name="connsiteX9" fmla="*/ 42342 w 455613"/>
              <a:gd name="connsiteY9" fmla="*/ 396568 h 409576"/>
              <a:gd name="connsiteX10" fmla="*/ 43410 w 455613"/>
              <a:gd name="connsiteY10" fmla="*/ 393752 h 409576"/>
              <a:gd name="connsiteX11" fmla="*/ 44744 w 455613"/>
              <a:gd name="connsiteY11" fmla="*/ 391070 h 409576"/>
              <a:gd name="connsiteX12" fmla="*/ 46611 w 455613"/>
              <a:gd name="connsiteY12" fmla="*/ 388388 h 409576"/>
              <a:gd name="connsiteX13" fmla="*/ 48479 w 455613"/>
              <a:gd name="connsiteY13" fmla="*/ 386376 h 409576"/>
              <a:gd name="connsiteX14" fmla="*/ 62219 w 455613"/>
              <a:gd name="connsiteY14" fmla="*/ 372563 h 409576"/>
              <a:gd name="connsiteX15" fmla="*/ 81696 w 455613"/>
              <a:gd name="connsiteY15" fmla="*/ 352984 h 409576"/>
              <a:gd name="connsiteX16" fmla="*/ 83297 w 455613"/>
              <a:gd name="connsiteY16" fmla="*/ 351643 h 409576"/>
              <a:gd name="connsiteX17" fmla="*/ 84898 w 455613"/>
              <a:gd name="connsiteY17" fmla="*/ 350972 h 409576"/>
              <a:gd name="connsiteX18" fmla="*/ 148113 w 455613"/>
              <a:gd name="connsiteY18" fmla="*/ 290513 h 409576"/>
              <a:gd name="connsiteX19" fmla="*/ 149142 w 455613"/>
              <a:gd name="connsiteY19" fmla="*/ 291039 h 409576"/>
              <a:gd name="connsiteX20" fmla="*/ 149913 w 455613"/>
              <a:gd name="connsiteY20" fmla="*/ 291960 h 409576"/>
              <a:gd name="connsiteX21" fmla="*/ 150427 w 455613"/>
              <a:gd name="connsiteY21" fmla="*/ 293671 h 409576"/>
              <a:gd name="connsiteX22" fmla="*/ 150813 w 455613"/>
              <a:gd name="connsiteY22" fmla="*/ 295644 h 409576"/>
              <a:gd name="connsiteX23" fmla="*/ 150813 w 455613"/>
              <a:gd name="connsiteY23" fmla="*/ 409576 h 409576"/>
              <a:gd name="connsiteX24" fmla="*/ 109538 w 455613"/>
              <a:gd name="connsiteY24" fmla="*/ 409576 h 409576"/>
              <a:gd name="connsiteX25" fmla="*/ 109538 w 455613"/>
              <a:gd name="connsiteY25" fmla="*/ 337481 h 409576"/>
              <a:gd name="connsiteX26" fmla="*/ 109667 w 455613"/>
              <a:gd name="connsiteY26" fmla="*/ 334718 h 409576"/>
              <a:gd name="connsiteX27" fmla="*/ 110438 w 455613"/>
              <a:gd name="connsiteY27" fmla="*/ 331560 h 409576"/>
              <a:gd name="connsiteX28" fmla="*/ 111595 w 455613"/>
              <a:gd name="connsiteY28" fmla="*/ 328403 h 409576"/>
              <a:gd name="connsiteX29" fmla="*/ 112881 w 455613"/>
              <a:gd name="connsiteY29" fmla="*/ 325377 h 409576"/>
              <a:gd name="connsiteX30" fmla="*/ 114681 w 455613"/>
              <a:gd name="connsiteY30" fmla="*/ 322614 h 409576"/>
              <a:gd name="connsiteX31" fmla="*/ 116482 w 455613"/>
              <a:gd name="connsiteY31" fmla="*/ 320378 h 409576"/>
              <a:gd name="connsiteX32" fmla="*/ 143741 w 455613"/>
              <a:gd name="connsiteY32" fmla="*/ 292750 h 409576"/>
              <a:gd name="connsiteX33" fmla="*/ 145413 w 455613"/>
              <a:gd name="connsiteY33" fmla="*/ 291434 h 409576"/>
              <a:gd name="connsiteX34" fmla="*/ 146827 w 455613"/>
              <a:gd name="connsiteY34" fmla="*/ 290645 h 409576"/>
              <a:gd name="connsiteX35" fmla="*/ 174022 w 455613"/>
              <a:gd name="connsiteY35" fmla="*/ 287338 h 409576"/>
              <a:gd name="connsiteX36" fmla="*/ 175436 w 455613"/>
              <a:gd name="connsiteY36" fmla="*/ 287471 h 409576"/>
              <a:gd name="connsiteX37" fmla="*/ 176851 w 455613"/>
              <a:gd name="connsiteY37" fmla="*/ 288136 h 409576"/>
              <a:gd name="connsiteX38" fmla="*/ 178522 w 455613"/>
              <a:gd name="connsiteY38" fmla="*/ 289599 h 409576"/>
              <a:gd name="connsiteX39" fmla="*/ 199481 w 455613"/>
              <a:gd name="connsiteY39" fmla="*/ 311147 h 409576"/>
              <a:gd name="connsiteX40" fmla="*/ 206039 w 455613"/>
              <a:gd name="connsiteY40" fmla="*/ 317931 h 409576"/>
              <a:gd name="connsiteX41" fmla="*/ 207839 w 455613"/>
              <a:gd name="connsiteY41" fmla="*/ 320059 h 409576"/>
              <a:gd name="connsiteX42" fmla="*/ 209382 w 455613"/>
              <a:gd name="connsiteY42" fmla="*/ 322719 h 409576"/>
              <a:gd name="connsiteX43" fmla="*/ 210668 w 455613"/>
              <a:gd name="connsiteY43" fmla="*/ 325646 h 409576"/>
              <a:gd name="connsiteX44" fmla="*/ 211696 w 455613"/>
              <a:gd name="connsiteY44" fmla="*/ 328705 h 409576"/>
              <a:gd name="connsiteX45" fmla="*/ 212468 w 455613"/>
              <a:gd name="connsiteY45" fmla="*/ 331897 h 409576"/>
              <a:gd name="connsiteX46" fmla="*/ 212725 w 455613"/>
              <a:gd name="connsiteY46" fmla="*/ 334823 h 409576"/>
              <a:gd name="connsiteX47" fmla="*/ 212725 w 455613"/>
              <a:gd name="connsiteY47" fmla="*/ 409576 h 409576"/>
              <a:gd name="connsiteX48" fmla="*/ 171450 w 455613"/>
              <a:gd name="connsiteY48" fmla="*/ 409576 h 409576"/>
              <a:gd name="connsiteX49" fmla="*/ 171450 w 455613"/>
              <a:gd name="connsiteY49" fmla="*/ 292659 h 409576"/>
              <a:gd name="connsiteX50" fmla="*/ 171579 w 455613"/>
              <a:gd name="connsiteY50" fmla="*/ 290397 h 409576"/>
              <a:gd name="connsiteX51" fmla="*/ 172222 w 455613"/>
              <a:gd name="connsiteY51" fmla="*/ 288934 h 409576"/>
              <a:gd name="connsiteX52" fmla="*/ 172993 w 455613"/>
              <a:gd name="connsiteY52" fmla="*/ 287737 h 409576"/>
              <a:gd name="connsiteX53" fmla="*/ 271938 w 455613"/>
              <a:gd name="connsiteY53" fmla="*/ 282575 h 409576"/>
              <a:gd name="connsiteX54" fmla="*/ 273095 w 455613"/>
              <a:gd name="connsiteY54" fmla="*/ 283105 h 409576"/>
              <a:gd name="connsiteX55" fmla="*/ 273995 w 455613"/>
              <a:gd name="connsiteY55" fmla="*/ 284033 h 409576"/>
              <a:gd name="connsiteX56" fmla="*/ 274510 w 455613"/>
              <a:gd name="connsiteY56" fmla="*/ 285757 h 409576"/>
              <a:gd name="connsiteX57" fmla="*/ 274638 w 455613"/>
              <a:gd name="connsiteY57" fmla="*/ 287745 h 409576"/>
              <a:gd name="connsiteX58" fmla="*/ 274638 w 455613"/>
              <a:gd name="connsiteY58" fmla="*/ 409575 h 409576"/>
              <a:gd name="connsiteX59" fmla="*/ 233363 w 455613"/>
              <a:gd name="connsiteY59" fmla="*/ 409575 h 409576"/>
              <a:gd name="connsiteX60" fmla="*/ 233363 w 455613"/>
              <a:gd name="connsiteY60" fmla="*/ 329902 h 409576"/>
              <a:gd name="connsiteX61" fmla="*/ 233620 w 455613"/>
              <a:gd name="connsiteY61" fmla="*/ 326588 h 409576"/>
              <a:gd name="connsiteX62" fmla="*/ 234263 w 455613"/>
              <a:gd name="connsiteY62" fmla="*/ 323141 h 409576"/>
              <a:gd name="connsiteX63" fmla="*/ 235035 w 455613"/>
              <a:gd name="connsiteY63" fmla="*/ 320224 h 409576"/>
              <a:gd name="connsiteX64" fmla="*/ 236192 w 455613"/>
              <a:gd name="connsiteY64" fmla="*/ 317573 h 409576"/>
              <a:gd name="connsiteX65" fmla="*/ 237478 w 455613"/>
              <a:gd name="connsiteY65" fmla="*/ 315585 h 409576"/>
              <a:gd name="connsiteX66" fmla="*/ 238764 w 455613"/>
              <a:gd name="connsiteY66" fmla="*/ 314391 h 409576"/>
              <a:gd name="connsiteX67" fmla="*/ 239921 w 455613"/>
              <a:gd name="connsiteY67" fmla="*/ 313066 h 409576"/>
              <a:gd name="connsiteX68" fmla="*/ 240821 w 455613"/>
              <a:gd name="connsiteY68" fmla="*/ 312138 h 409576"/>
              <a:gd name="connsiteX69" fmla="*/ 241335 w 455613"/>
              <a:gd name="connsiteY69" fmla="*/ 311607 h 409576"/>
              <a:gd name="connsiteX70" fmla="*/ 241592 w 455613"/>
              <a:gd name="connsiteY70" fmla="*/ 311475 h 409576"/>
              <a:gd name="connsiteX71" fmla="*/ 267566 w 455613"/>
              <a:gd name="connsiteY71" fmla="*/ 284829 h 409576"/>
              <a:gd name="connsiteX72" fmla="*/ 269238 w 455613"/>
              <a:gd name="connsiteY72" fmla="*/ 283503 h 409576"/>
              <a:gd name="connsiteX73" fmla="*/ 270781 w 455613"/>
              <a:gd name="connsiteY73" fmla="*/ 282708 h 409576"/>
              <a:gd name="connsiteX74" fmla="*/ 335459 w 455613"/>
              <a:gd name="connsiteY74" fmla="*/ 220663 h 409576"/>
              <a:gd name="connsiteX75" fmla="*/ 336665 w 455613"/>
              <a:gd name="connsiteY75" fmla="*/ 221061 h 409576"/>
              <a:gd name="connsiteX76" fmla="*/ 337468 w 455613"/>
              <a:gd name="connsiteY76" fmla="*/ 221990 h 409576"/>
              <a:gd name="connsiteX77" fmla="*/ 338004 w 455613"/>
              <a:gd name="connsiteY77" fmla="*/ 223714 h 409576"/>
              <a:gd name="connsiteX78" fmla="*/ 338138 w 455613"/>
              <a:gd name="connsiteY78" fmla="*/ 225704 h 409576"/>
              <a:gd name="connsiteX79" fmla="*/ 338138 w 455613"/>
              <a:gd name="connsiteY79" fmla="*/ 409576 h 409576"/>
              <a:gd name="connsiteX80" fmla="*/ 295275 w 455613"/>
              <a:gd name="connsiteY80" fmla="*/ 409576 h 409576"/>
              <a:gd name="connsiteX81" fmla="*/ 295275 w 455613"/>
              <a:gd name="connsiteY81" fmla="*/ 268157 h 409576"/>
              <a:gd name="connsiteX82" fmla="*/ 295543 w 455613"/>
              <a:gd name="connsiteY82" fmla="*/ 265238 h 409576"/>
              <a:gd name="connsiteX83" fmla="*/ 296213 w 455613"/>
              <a:gd name="connsiteY83" fmla="*/ 262054 h 409576"/>
              <a:gd name="connsiteX84" fmla="*/ 297284 w 455613"/>
              <a:gd name="connsiteY84" fmla="*/ 258870 h 409576"/>
              <a:gd name="connsiteX85" fmla="*/ 298892 w 455613"/>
              <a:gd name="connsiteY85" fmla="*/ 255819 h 409576"/>
              <a:gd name="connsiteX86" fmla="*/ 300499 w 455613"/>
              <a:gd name="connsiteY86" fmla="*/ 253033 h 409576"/>
              <a:gd name="connsiteX87" fmla="*/ 302508 w 455613"/>
              <a:gd name="connsiteY87" fmla="*/ 250910 h 409576"/>
              <a:gd name="connsiteX88" fmla="*/ 330905 w 455613"/>
              <a:gd name="connsiteY88" fmla="*/ 222786 h 409576"/>
              <a:gd name="connsiteX89" fmla="*/ 332512 w 455613"/>
              <a:gd name="connsiteY89" fmla="*/ 221459 h 409576"/>
              <a:gd name="connsiteX90" fmla="*/ 334120 w 455613"/>
              <a:gd name="connsiteY90" fmla="*/ 220796 h 409576"/>
              <a:gd name="connsiteX91" fmla="*/ 394079 w 455613"/>
              <a:gd name="connsiteY91" fmla="*/ 161925 h 409576"/>
              <a:gd name="connsiteX92" fmla="*/ 395278 w 455613"/>
              <a:gd name="connsiteY92" fmla="*/ 162323 h 409576"/>
              <a:gd name="connsiteX93" fmla="*/ 396077 w 455613"/>
              <a:gd name="connsiteY93" fmla="*/ 163383 h 409576"/>
              <a:gd name="connsiteX94" fmla="*/ 396610 w 455613"/>
              <a:gd name="connsiteY94" fmla="*/ 164974 h 409576"/>
              <a:gd name="connsiteX95" fmla="*/ 396876 w 455613"/>
              <a:gd name="connsiteY95" fmla="*/ 167096 h 409576"/>
              <a:gd name="connsiteX96" fmla="*/ 396876 w 455613"/>
              <a:gd name="connsiteY96" fmla="*/ 409575 h 409576"/>
              <a:gd name="connsiteX97" fmla="*/ 357188 w 455613"/>
              <a:gd name="connsiteY97" fmla="*/ 409575 h 409576"/>
              <a:gd name="connsiteX98" fmla="*/ 357188 w 455613"/>
              <a:gd name="connsiteY98" fmla="*/ 206338 h 409576"/>
              <a:gd name="connsiteX99" fmla="*/ 357454 w 455613"/>
              <a:gd name="connsiteY99" fmla="*/ 203421 h 409576"/>
              <a:gd name="connsiteX100" fmla="*/ 358120 w 455613"/>
              <a:gd name="connsiteY100" fmla="*/ 200239 h 409576"/>
              <a:gd name="connsiteX101" fmla="*/ 359319 w 455613"/>
              <a:gd name="connsiteY101" fmla="*/ 197057 h 409576"/>
              <a:gd name="connsiteX102" fmla="*/ 360784 w 455613"/>
              <a:gd name="connsiteY102" fmla="*/ 194008 h 409576"/>
              <a:gd name="connsiteX103" fmla="*/ 362515 w 455613"/>
              <a:gd name="connsiteY103" fmla="*/ 191224 h 409576"/>
              <a:gd name="connsiteX104" fmla="*/ 364380 w 455613"/>
              <a:gd name="connsiteY104" fmla="*/ 189103 h 409576"/>
              <a:gd name="connsiteX105" fmla="*/ 389684 w 455613"/>
              <a:gd name="connsiteY105" fmla="*/ 164046 h 409576"/>
              <a:gd name="connsiteX106" fmla="*/ 391283 w 455613"/>
              <a:gd name="connsiteY106" fmla="*/ 162721 h 409576"/>
              <a:gd name="connsiteX107" fmla="*/ 392881 w 455613"/>
              <a:gd name="connsiteY107" fmla="*/ 162058 h 409576"/>
              <a:gd name="connsiteX108" fmla="*/ 290622 w 455613"/>
              <a:gd name="connsiteY108" fmla="*/ 0 h 409576"/>
              <a:gd name="connsiteX109" fmla="*/ 435205 w 455613"/>
              <a:gd name="connsiteY109" fmla="*/ 0 h 409576"/>
              <a:gd name="connsiteX110" fmla="*/ 439180 w 455613"/>
              <a:gd name="connsiteY110" fmla="*/ 395 h 409576"/>
              <a:gd name="connsiteX111" fmla="*/ 442891 w 455613"/>
              <a:gd name="connsiteY111" fmla="*/ 1581 h 409576"/>
              <a:gd name="connsiteX112" fmla="*/ 446204 w 455613"/>
              <a:gd name="connsiteY112" fmla="*/ 3426 h 409576"/>
              <a:gd name="connsiteX113" fmla="*/ 449252 w 455613"/>
              <a:gd name="connsiteY113" fmla="*/ 5798 h 409576"/>
              <a:gd name="connsiteX114" fmla="*/ 451903 w 455613"/>
              <a:gd name="connsiteY114" fmla="*/ 8697 h 409576"/>
              <a:gd name="connsiteX115" fmla="*/ 453890 w 455613"/>
              <a:gd name="connsiteY115" fmla="*/ 11991 h 409576"/>
              <a:gd name="connsiteX116" fmla="*/ 455216 w 455613"/>
              <a:gd name="connsiteY116" fmla="*/ 15549 h 409576"/>
              <a:gd name="connsiteX117" fmla="*/ 455613 w 455613"/>
              <a:gd name="connsiteY117" fmla="*/ 19239 h 409576"/>
              <a:gd name="connsiteX118" fmla="*/ 455613 w 455613"/>
              <a:gd name="connsiteY118" fmla="*/ 162870 h 409576"/>
              <a:gd name="connsiteX119" fmla="*/ 455348 w 455613"/>
              <a:gd name="connsiteY119" fmla="*/ 164978 h 409576"/>
              <a:gd name="connsiteX120" fmla="*/ 454818 w 455613"/>
              <a:gd name="connsiteY120" fmla="*/ 166559 h 409576"/>
              <a:gd name="connsiteX121" fmla="*/ 454023 w 455613"/>
              <a:gd name="connsiteY121" fmla="*/ 167482 h 409576"/>
              <a:gd name="connsiteX122" fmla="*/ 452830 w 455613"/>
              <a:gd name="connsiteY122" fmla="*/ 168009 h 409576"/>
              <a:gd name="connsiteX123" fmla="*/ 451637 w 455613"/>
              <a:gd name="connsiteY123" fmla="*/ 167877 h 409576"/>
              <a:gd name="connsiteX124" fmla="*/ 450047 w 455613"/>
              <a:gd name="connsiteY124" fmla="*/ 167086 h 409576"/>
              <a:gd name="connsiteX125" fmla="*/ 448457 w 455613"/>
              <a:gd name="connsiteY125" fmla="*/ 165769 h 409576"/>
              <a:gd name="connsiteX126" fmla="*/ 397701 w 455613"/>
              <a:gd name="connsiteY126" fmla="*/ 115695 h 409576"/>
              <a:gd name="connsiteX127" fmla="*/ 228072 w 455613"/>
              <a:gd name="connsiteY127" fmla="*/ 283309 h 409576"/>
              <a:gd name="connsiteX128" fmla="*/ 225951 w 455613"/>
              <a:gd name="connsiteY128" fmla="*/ 284890 h 409576"/>
              <a:gd name="connsiteX129" fmla="*/ 223433 w 455613"/>
              <a:gd name="connsiteY129" fmla="*/ 285944 h 409576"/>
              <a:gd name="connsiteX130" fmla="*/ 220783 w 455613"/>
              <a:gd name="connsiteY130" fmla="*/ 286208 h 409576"/>
              <a:gd name="connsiteX131" fmla="*/ 218265 w 455613"/>
              <a:gd name="connsiteY131" fmla="*/ 285944 h 409576"/>
              <a:gd name="connsiteX132" fmla="*/ 215880 w 455613"/>
              <a:gd name="connsiteY132" fmla="*/ 284890 h 409576"/>
              <a:gd name="connsiteX133" fmla="*/ 213627 w 455613"/>
              <a:gd name="connsiteY133" fmla="*/ 283309 h 409576"/>
              <a:gd name="connsiteX134" fmla="*/ 162208 w 455613"/>
              <a:gd name="connsiteY134" fmla="*/ 232445 h 409576"/>
              <a:gd name="connsiteX135" fmla="*/ 70502 w 455613"/>
              <a:gd name="connsiteY135" fmla="*/ 323235 h 409576"/>
              <a:gd name="connsiteX136" fmla="*/ 66394 w 455613"/>
              <a:gd name="connsiteY136" fmla="*/ 326793 h 409576"/>
              <a:gd name="connsiteX137" fmla="*/ 61756 w 455613"/>
              <a:gd name="connsiteY137" fmla="*/ 329561 h 409576"/>
              <a:gd name="connsiteX138" fmla="*/ 56985 w 455613"/>
              <a:gd name="connsiteY138" fmla="*/ 331932 h 409576"/>
              <a:gd name="connsiteX139" fmla="*/ 52082 w 455613"/>
              <a:gd name="connsiteY139" fmla="*/ 333645 h 409576"/>
              <a:gd name="connsiteX140" fmla="*/ 46913 w 455613"/>
              <a:gd name="connsiteY140" fmla="*/ 334568 h 409576"/>
              <a:gd name="connsiteX141" fmla="*/ 41745 w 455613"/>
              <a:gd name="connsiteY141" fmla="*/ 334963 h 409576"/>
              <a:gd name="connsiteX142" fmla="*/ 36444 w 455613"/>
              <a:gd name="connsiteY142" fmla="*/ 334568 h 409576"/>
              <a:gd name="connsiteX143" fmla="*/ 31408 w 455613"/>
              <a:gd name="connsiteY143" fmla="*/ 333645 h 409576"/>
              <a:gd name="connsiteX144" fmla="*/ 26372 w 455613"/>
              <a:gd name="connsiteY144" fmla="*/ 331932 h 409576"/>
              <a:gd name="connsiteX145" fmla="*/ 21601 w 455613"/>
              <a:gd name="connsiteY145" fmla="*/ 329561 h 409576"/>
              <a:gd name="connsiteX146" fmla="*/ 17096 w 455613"/>
              <a:gd name="connsiteY146" fmla="*/ 326793 h 409576"/>
              <a:gd name="connsiteX147" fmla="*/ 12855 w 455613"/>
              <a:gd name="connsiteY147" fmla="*/ 323235 h 409576"/>
              <a:gd name="connsiteX148" fmla="*/ 11927 w 455613"/>
              <a:gd name="connsiteY148" fmla="*/ 322050 h 409576"/>
              <a:gd name="connsiteX149" fmla="*/ 8349 w 455613"/>
              <a:gd name="connsiteY149" fmla="*/ 317965 h 409576"/>
              <a:gd name="connsiteX150" fmla="*/ 5301 w 455613"/>
              <a:gd name="connsiteY150" fmla="*/ 313616 h 409576"/>
              <a:gd name="connsiteX151" fmla="*/ 3048 w 455613"/>
              <a:gd name="connsiteY151" fmla="*/ 308741 h 409576"/>
              <a:gd name="connsiteX152" fmla="*/ 1325 w 455613"/>
              <a:gd name="connsiteY152" fmla="*/ 303865 h 409576"/>
              <a:gd name="connsiteX153" fmla="*/ 265 w 455613"/>
              <a:gd name="connsiteY153" fmla="*/ 298726 h 409576"/>
              <a:gd name="connsiteX154" fmla="*/ 0 w 455613"/>
              <a:gd name="connsiteY154" fmla="*/ 293719 h 409576"/>
              <a:gd name="connsiteX155" fmla="*/ 265 w 455613"/>
              <a:gd name="connsiteY155" fmla="*/ 288448 h 409576"/>
              <a:gd name="connsiteX156" fmla="*/ 1325 w 455613"/>
              <a:gd name="connsiteY156" fmla="*/ 283572 h 409576"/>
              <a:gd name="connsiteX157" fmla="*/ 3048 w 455613"/>
              <a:gd name="connsiteY157" fmla="*/ 278697 h 409576"/>
              <a:gd name="connsiteX158" fmla="*/ 5301 w 455613"/>
              <a:gd name="connsiteY158" fmla="*/ 273821 h 409576"/>
              <a:gd name="connsiteX159" fmla="*/ 8349 w 455613"/>
              <a:gd name="connsiteY159" fmla="*/ 269473 h 409576"/>
              <a:gd name="connsiteX160" fmla="*/ 11927 w 455613"/>
              <a:gd name="connsiteY160" fmla="*/ 265256 h 409576"/>
              <a:gd name="connsiteX161" fmla="*/ 155052 w 455613"/>
              <a:gd name="connsiteY161" fmla="*/ 123865 h 409576"/>
              <a:gd name="connsiteX162" fmla="*/ 157172 w 455613"/>
              <a:gd name="connsiteY162" fmla="*/ 122284 h 409576"/>
              <a:gd name="connsiteX163" fmla="*/ 159557 w 455613"/>
              <a:gd name="connsiteY163" fmla="*/ 121230 h 409576"/>
              <a:gd name="connsiteX164" fmla="*/ 162208 w 455613"/>
              <a:gd name="connsiteY164" fmla="*/ 120966 h 409576"/>
              <a:gd name="connsiteX165" fmla="*/ 164726 w 455613"/>
              <a:gd name="connsiteY165" fmla="*/ 121230 h 409576"/>
              <a:gd name="connsiteX166" fmla="*/ 167244 w 455613"/>
              <a:gd name="connsiteY166" fmla="*/ 122284 h 409576"/>
              <a:gd name="connsiteX167" fmla="*/ 169497 w 455613"/>
              <a:gd name="connsiteY167" fmla="*/ 123865 h 409576"/>
              <a:gd name="connsiteX168" fmla="*/ 220783 w 455613"/>
              <a:gd name="connsiteY168" fmla="*/ 174597 h 409576"/>
              <a:gd name="connsiteX169" fmla="*/ 318055 w 455613"/>
              <a:gd name="connsiteY169" fmla="*/ 78536 h 409576"/>
              <a:gd name="connsiteX170" fmla="*/ 338993 w 455613"/>
              <a:gd name="connsiteY170" fmla="*/ 57848 h 409576"/>
              <a:gd name="connsiteX171" fmla="*/ 287707 w 455613"/>
              <a:gd name="connsiteY171" fmla="*/ 7116 h 409576"/>
              <a:gd name="connsiteX172" fmla="*/ 286382 w 455613"/>
              <a:gd name="connsiteY172" fmla="*/ 5403 h 409576"/>
              <a:gd name="connsiteX173" fmla="*/ 285587 w 455613"/>
              <a:gd name="connsiteY173" fmla="*/ 3953 h 409576"/>
              <a:gd name="connsiteX174" fmla="*/ 285454 w 455613"/>
              <a:gd name="connsiteY174" fmla="*/ 2636 h 409576"/>
              <a:gd name="connsiteX175" fmla="*/ 285852 w 455613"/>
              <a:gd name="connsiteY175" fmla="*/ 1581 h 409576"/>
              <a:gd name="connsiteX176" fmla="*/ 286912 w 455613"/>
              <a:gd name="connsiteY176" fmla="*/ 791 h 409576"/>
              <a:gd name="connsiteX177" fmla="*/ 288502 w 455613"/>
              <a:gd name="connsiteY177" fmla="*/ 264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455613" h="409576">
                <a:moveTo>
                  <a:pt x="86232" y="350838"/>
                </a:moveTo>
                <a:lnTo>
                  <a:pt x="87433" y="351240"/>
                </a:lnTo>
                <a:lnTo>
                  <a:pt x="88233" y="352313"/>
                </a:lnTo>
                <a:lnTo>
                  <a:pt x="88767" y="353788"/>
                </a:lnTo>
                <a:lnTo>
                  <a:pt x="88900" y="356068"/>
                </a:lnTo>
                <a:lnTo>
                  <a:pt x="88900" y="409576"/>
                </a:lnTo>
                <a:lnTo>
                  <a:pt x="41275" y="409576"/>
                </a:lnTo>
                <a:lnTo>
                  <a:pt x="41275" y="401530"/>
                </a:lnTo>
                <a:lnTo>
                  <a:pt x="41542" y="399116"/>
                </a:lnTo>
                <a:lnTo>
                  <a:pt x="42342" y="396568"/>
                </a:lnTo>
                <a:lnTo>
                  <a:pt x="43410" y="393752"/>
                </a:lnTo>
                <a:lnTo>
                  <a:pt x="44744" y="391070"/>
                </a:lnTo>
                <a:lnTo>
                  <a:pt x="46611" y="388388"/>
                </a:lnTo>
                <a:lnTo>
                  <a:pt x="48479" y="386376"/>
                </a:lnTo>
                <a:lnTo>
                  <a:pt x="62219" y="372563"/>
                </a:lnTo>
                <a:lnTo>
                  <a:pt x="81696" y="352984"/>
                </a:lnTo>
                <a:lnTo>
                  <a:pt x="83297" y="351643"/>
                </a:lnTo>
                <a:lnTo>
                  <a:pt x="84898" y="350972"/>
                </a:lnTo>
                <a:close/>
                <a:moveTo>
                  <a:pt x="148113" y="290513"/>
                </a:moveTo>
                <a:lnTo>
                  <a:pt x="149142" y="291039"/>
                </a:lnTo>
                <a:lnTo>
                  <a:pt x="149913" y="291960"/>
                </a:lnTo>
                <a:lnTo>
                  <a:pt x="150427" y="293671"/>
                </a:lnTo>
                <a:lnTo>
                  <a:pt x="150813" y="295644"/>
                </a:lnTo>
                <a:lnTo>
                  <a:pt x="150813" y="409576"/>
                </a:lnTo>
                <a:lnTo>
                  <a:pt x="109538" y="409576"/>
                </a:lnTo>
                <a:lnTo>
                  <a:pt x="109538" y="337481"/>
                </a:lnTo>
                <a:lnTo>
                  <a:pt x="109667" y="334718"/>
                </a:lnTo>
                <a:lnTo>
                  <a:pt x="110438" y="331560"/>
                </a:lnTo>
                <a:lnTo>
                  <a:pt x="111595" y="328403"/>
                </a:lnTo>
                <a:lnTo>
                  <a:pt x="112881" y="325377"/>
                </a:lnTo>
                <a:lnTo>
                  <a:pt x="114681" y="322614"/>
                </a:lnTo>
                <a:lnTo>
                  <a:pt x="116482" y="320378"/>
                </a:lnTo>
                <a:lnTo>
                  <a:pt x="143741" y="292750"/>
                </a:lnTo>
                <a:lnTo>
                  <a:pt x="145413" y="291434"/>
                </a:lnTo>
                <a:lnTo>
                  <a:pt x="146827" y="290645"/>
                </a:lnTo>
                <a:close/>
                <a:moveTo>
                  <a:pt x="174022" y="287338"/>
                </a:moveTo>
                <a:lnTo>
                  <a:pt x="175436" y="287471"/>
                </a:lnTo>
                <a:lnTo>
                  <a:pt x="176851" y="288136"/>
                </a:lnTo>
                <a:lnTo>
                  <a:pt x="178522" y="289599"/>
                </a:lnTo>
                <a:lnTo>
                  <a:pt x="199481" y="311147"/>
                </a:lnTo>
                <a:lnTo>
                  <a:pt x="206039" y="317931"/>
                </a:lnTo>
                <a:lnTo>
                  <a:pt x="207839" y="320059"/>
                </a:lnTo>
                <a:lnTo>
                  <a:pt x="209382" y="322719"/>
                </a:lnTo>
                <a:lnTo>
                  <a:pt x="210668" y="325646"/>
                </a:lnTo>
                <a:lnTo>
                  <a:pt x="211696" y="328705"/>
                </a:lnTo>
                <a:lnTo>
                  <a:pt x="212468" y="331897"/>
                </a:lnTo>
                <a:lnTo>
                  <a:pt x="212725" y="334823"/>
                </a:lnTo>
                <a:lnTo>
                  <a:pt x="212725" y="409576"/>
                </a:lnTo>
                <a:lnTo>
                  <a:pt x="171450" y="409576"/>
                </a:lnTo>
                <a:lnTo>
                  <a:pt x="171450" y="292659"/>
                </a:lnTo>
                <a:lnTo>
                  <a:pt x="171579" y="290397"/>
                </a:lnTo>
                <a:lnTo>
                  <a:pt x="172222" y="288934"/>
                </a:lnTo>
                <a:lnTo>
                  <a:pt x="172993" y="287737"/>
                </a:lnTo>
                <a:close/>
                <a:moveTo>
                  <a:pt x="271938" y="282575"/>
                </a:moveTo>
                <a:lnTo>
                  <a:pt x="273095" y="283105"/>
                </a:lnTo>
                <a:lnTo>
                  <a:pt x="273995" y="284033"/>
                </a:lnTo>
                <a:lnTo>
                  <a:pt x="274510" y="285757"/>
                </a:lnTo>
                <a:lnTo>
                  <a:pt x="274638" y="287745"/>
                </a:lnTo>
                <a:lnTo>
                  <a:pt x="274638" y="409575"/>
                </a:lnTo>
                <a:lnTo>
                  <a:pt x="233363" y="409575"/>
                </a:lnTo>
                <a:lnTo>
                  <a:pt x="233363" y="329902"/>
                </a:lnTo>
                <a:lnTo>
                  <a:pt x="233620" y="326588"/>
                </a:lnTo>
                <a:lnTo>
                  <a:pt x="234263" y="323141"/>
                </a:lnTo>
                <a:lnTo>
                  <a:pt x="235035" y="320224"/>
                </a:lnTo>
                <a:lnTo>
                  <a:pt x="236192" y="317573"/>
                </a:lnTo>
                <a:lnTo>
                  <a:pt x="237478" y="315585"/>
                </a:lnTo>
                <a:lnTo>
                  <a:pt x="238764" y="314391"/>
                </a:lnTo>
                <a:lnTo>
                  <a:pt x="239921" y="313066"/>
                </a:lnTo>
                <a:lnTo>
                  <a:pt x="240821" y="312138"/>
                </a:lnTo>
                <a:lnTo>
                  <a:pt x="241335" y="311607"/>
                </a:lnTo>
                <a:lnTo>
                  <a:pt x="241592" y="311475"/>
                </a:lnTo>
                <a:lnTo>
                  <a:pt x="267566" y="284829"/>
                </a:lnTo>
                <a:lnTo>
                  <a:pt x="269238" y="283503"/>
                </a:lnTo>
                <a:lnTo>
                  <a:pt x="270781" y="282708"/>
                </a:lnTo>
                <a:close/>
                <a:moveTo>
                  <a:pt x="335459" y="220663"/>
                </a:moveTo>
                <a:lnTo>
                  <a:pt x="336665" y="221061"/>
                </a:lnTo>
                <a:lnTo>
                  <a:pt x="337468" y="221990"/>
                </a:lnTo>
                <a:lnTo>
                  <a:pt x="338004" y="223714"/>
                </a:lnTo>
                <a:lnTo>
                  <a:pt x="338138" y="225704"/>
                </a:lnTo>
                <a:lnTo>
                  <a:pt x="338138" y="409576"/>
                </a:lnTo>
                <a:lnTo>
                  <a:pt x="295275" y="409576"/>
                </a:lnTo>
                <a:lnTo>
                  <a:pt x="295275" y="268157"/>
                </a:lnTo>
                <a:lnTo>
                  <a:pt x="295543" y="265238"/>
                </a:lnTo>
                <a:lnTo>
                  <a:pt x="296213" y="262054"/>
                </a:lnTo>
                <a:lnTo>
                  <a:pt x="297284" y="258870"/>
                </a:lnTo>
                <a:lnTo>
                  <a:pt x="298892" y="255819"/>
                </a:lnTo>
                <a:lnTo>
                  <a:pt x="300499" y="253033"/>
                </a:lnTo>
                <a:lnTo>
                  <a:pt x="302508" y="250910"/>
                </a:lnTo>
                <a:lnTo>
                  <a:pt x="330905" y="222786"/>
                </a:lnTo>
                <a:lnTo>
                  <a:pt x="332512" y="221459"/>
                </a:lnTo>
                <a:lnTo>
                  <a:pt x="334120" y="220796"/>
                </a:lnTo>
                <a:close/>
                <a:moveTo>
                  <a:pt x="394079" y="161925"/>
                </a:moveTo>
                <a:lnTo>
                  <a:pt x="395278" y="162323"/>
                </a:lnTo>
                <a:lnTo>
                  <a:pt x="396077" y="163383"/>
                </a:lnTo>
                <a:lnTo>
                  <a:pt x="396610" y="164974"/>
                </a:lnTo>
                <a:lnTo>
                  <a:pt x="396876" y="167096"/>
                </a:lnTo>
                <a:lnTo>
                  <a:pt x="396876" y="409575"/>
                </a:lnTo>
                <a:lnTo>
                  <a:pt x="357188" y="409575"/>
                </a:lnTo>
                <a:lnTo>
                  <a:pt x="357188" y="206338"/>
                </a:lnTo>
                <a:lnTo>
                  <a:pt x="357454" y="203421"/>
                </a:lnTo>
                <a:lnTo>
                  <a:pt x="358120" y="200239"/>
                </a:lnTo>
                <a:lnTo>
                  <a:pt x="359319" y="197057"/>
                </a:lnTo>
                <a:lnTo>
                  <a:pt x="360784" y="194008"/>
                </a:lnTo>
                <a:lnTo>
                  <a:pt x="362515" y="191224"/>
                </a:lnTo>
                <a:lnTo>
                  <a:pt x="364380" y="189103"/>
                </a:lnTo>
                <a:lnTo>
                  <a:pt x="389684" y="164046"/>
                </a:lnTo>
                <a:lnTo>
                  <a:pt x="391283" y="162721"/>
                </a:lnTo>
                <a:lnTo>
                  <a:pt x="392881" y="162058"/>
                </a:lnTo>
                <a:close/>
                <a:moveTo>
                  <a:pt x="290622" y="0"/>
                </a:moveTo>
                <a:lnTo>
                  <a:pt x="435205" y="0"/>
                </a:lnTo>
                <a:lnTo>
                  <a:pt x="439180" y="395"/>
                </a:lnTo>
                <a:lnTo>
                  <a:pt x="442891" y="1581"/>
                </a:lnTo>
                <a:lnTo>
                  <a:pt x="446204" y="3426"/>
                </a:lnTo>
                <a:lnTo>
                  <a:pt x="449252" y="5798"/>
                </a:lnTo>
                <a:lnTo>
                  <a:pt x="451903" y="8697"/>
                </a:lnTo>
                <a:lnTo>
                  <a:pt x="453890" y="11991"/>
                </a:lnTo>
                <a:lnTo>
                  <a:pt x="455216" y="15549"/>
                </a:lnTo>
                <a:lnTo>
                  <a:pt x="455613" y="19239"/>
                </a:lnTo>
                <a:lnTo>
                  <a:pt x="455613" y="162870"/>
                </a:lnTo>
                <a:lnTo>
                  <a:pt x="455348" y="164978"/>
                </a:lnTo>
                <a:lnTo>
                  <a:pt x="454818" y="166559"/>
                </a:lnTo>
                <a:lnTo>
                  <a:pt x="454023" y="167482"/>
                </a:lnTo>
                <a:lnTo>
                  <a:pt x="452830" y="168009"/>
                </a:lnTo>
                <a:lnTo>
                  <a:pt x="451637" y="167877"/>
                </a:lnTo>
                <a:lnTo>
                  <a:pt x="450047" y="167086"/>
                </a:lnTo>
                <a:lnTo>
                  <a:pt x="448457" y="165769"/>
                </a:lnTo>
                <a:lnTo>
                  <a:pt x="397701" y="115695"/>
                </a:lnTo>
                <a:lnTo>
                  <a:pt x="228072" y="283309"/>
                </a:lnTo>
                <a:lnTo>
                  <a:pt x="225951" y="284890"/>
                </a:lnTo>
                <a:lnTo>
                  <a:pt x="223433" y="285944"/>
                </a:lnTo>
                <a:lnTo>
                  <a:pt x="220783" y="286208"/>
                </a:lnTo>
                <a:lnTo>
                  <a:pt x="218265" y="285944"/>
                </a:lnTo>
                <a:lnTo>
                  <a:pt x="215880" y="284890"/>
                </a:lnTo>
                <a:lnTo>
                  <a:pt x="213627" y="283309"/>
                </a:lnTo>
                <a:lnTo>
                  <a:pt x="162208" y="232445"/>
                </a:lnTo>
                <a:lnTo>
                  <a:pt x="70502" y="323235"/>
                </a:lnTo>
                <a:lnTo>
                  <a:pt x="66394" y="326793"/>
                </a:lnTo>
                <a:lnTo>
                  <a:pt x="61756" y="329561"/>
                </a:lnTo>
                <a:lnTo>
                  <a:pt x="56985" y="331932"/>
                </a:lnTo>
                <a:lnTo>
                  <a:pt x="52082" y="333645"/>
                </a:lnTo>
                <a:lnTo>
                  <a:pt x="46913" y="334568"/>
                </a:lnTo>
                <a:lnTo>
                  <a:pt x="41745" y="334963"/>
                </a:lnTo>
                <a:lnTo>
                  <a:pt x="36444" y="334568"/>
                </a:lnTo>
                <a:lnTo>
                  <a:pt x="31408" y="333645"/>
                </a:lnTo>
                <a:lnTo>
                  <a:pt x="26372" y="331932"/>
                </a:lnTo>
                <a:lnTo>
                  <a:pt x="21601" y="329561"/>
                </a:lnTo>
                <a:lnTo>
                  <a:pt x="17096" y="326793"/>
                </a:lnTo>
                <a:lnTo>
                  <a:pt x="12855" y="323235"/>
                </a:lnTo>
                <a:lnTo>
                  <a:pt x="11927" y="322050"/>
                </a:lnTo>
                <a:lnTo>
                  <a:pt x="8349" y="317965"/>
                </a:lnTo>
                <a:lnTo>
                  <a:pt x="5301" y="313616"/>
                </a:lnTo>
                <a:lnTo>
                  <a:pt x="3048" y="308741"/>
                </a:lnTo>
                <a:lnTo>
                  <a:pt x="1325" y="303865"/>
                </a:lnTo>
                <a:lnTo>
                  <a:pt x="265" y="298726"/>
                </a:lnTo>
                <a:lnTo>
                  <a:pt x="0" y="293719"/>
                </a:lnTo>
                <a:lnTo>
                  <a:pt x="265" y="288448"/>
                </a:lnTo>
                <a:lnTo>
                  <a:pt x="1325" y="283572"/>
                </a:lnTo>
                <a:lnTo>
                  <a:pt x="3048" y="278697"/>
                </a:lnTo>
                <a:lnTo>
                  <a:pt x="5301" y="273821"/>
                </a:lnTo>
                <a:lnTo>
                  <a:pt x="8349" y="269473"/>
                </a:lnTo>
                <a:lnTo>
                  <a:pt x="11927" y="265256"/>
                </a:lnTo>
                <a:lnTo>
                  <a:pt x="155052" y="123865"/>
                </a:lnTo>
                <a:lnTo>
                  <a:pt x="157172" y="122284"/>
                </a:lnTo>
                <a:lnTo>
                  <a:pt x="159557" y="121230"/>
                </a:lnTo>
                <a:lnTo>
                  <a:pt x="162208" y="120966"/>
                </a:lnTo>
                <a:lnTo>
                  <a:pt x="164726" y="121230"/>
                </a:lnTo>
                <a:lnTo>
                  <a:pt x="167244" y="122284"/>
                </a:lnTo>
                <a:lnTo>
                  <a:pt x="169497" y="123865"/>
                </a:lnTo>
                <a:lnTo>
                  <a:pt x="220783" y="174597"/>
                </a:lnTo>
                <a:lnTo>
                  <a:pt x="318055" y="78536"/>
                </a:lnTo>
                <a:lnTo>
                  <a:pt x="338993" y="57848"/>
                </a:lnTo>
                <a:lnTo>
                  <a:pt x="287707" y="7116"/>
                </a:lnTo>
                <a:lnTo>
                  <a:pt x="286382" y="5403"/>
                </a:lnTo>
                <a:lnTo>
                  <a:pt x="285587" y="3953"/>
                </a:lnTo>
                <a:lnTo>
                  <a:pt x="285454" y="2636"/>
                </a:lnTo>
                <a:lnTo>
                  <a:pt x="285852" y="1581"/>
                </a:lnTo>
                <a:lnTo>
                  <a:pt x="286912" y="791"/>
                </a:lnTo>
                <a:lnTo>
                  <a:pt x="288502" y="264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88" name="Left Arrow 1">
            <a:extLst>
              <a:ext uri="{FF2B5EF4-FFF2-40B4-BE49-F238E27FC236}">
                <a16:creationId xmlns:a16="http://schemas.microsoft.com/office/drawing/2014/main" id="{994C937C-DC67-46D5-BC8A-7A3F5C41E5F7}"/>
              </a:ext>
            </a:extLst>
          </p:cNvPr>
          <p:cNvSpPr>
            <a:spLocks noChangeAspect="1"/>
          </p:cNvSpPr>
          <p:nvPr/>
        </p:nvSpPr>
        <p:spPr>
          <a:xfrm>
            <a:off x="1173398" y="3375786"/>
            <a:ext cx="516855" cy="516623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89" name="Oval 7">
            <a:extLst>
              <a:ext uri="{FF2B5EF4-FFF2-40B4-BE49-F238E27FC236}">
                <a16:creationId xmlns:a16="http://schemas.microsoft.com/office/drawing/2014/main" id="{AA668F90-D9E0-467C-BCC9-1B33D421D825}"/>
              </a:ext>
            </a:extLst>
          </p:cNvPr>
          <p:cNvSpPr/>
          <p:nvPr/>
        </p:nvSpPr>
        <p:spPr>
          <a:xfrm>
            <a:off x="1209024" y="5123853"/>
            <a:ext cx="408137" cy="41282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036904" y="1410912"/>
            <a:ext cx="8262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Considering Vehicle Categorization Problem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2355344" y="1920218"/>
            <a:ext cx="8606984" cy="430887"/>
            <a:chOff x="2398672" y="4923683"/>
            <a:chExt cx="9204634" cy="43088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5526" y="4923683"/>
              <a:ext cx="8847780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Output Units</a:t>
              </a:r>
              <a:r>
                <a:rPr lang="en-US" altLang="ko-KR" sz="2800" b="1" dirty="0">
                  <a:cs typeface="Segoe UI" panose="020B0502040204020203" pitchFamily="34" charset="0"/>
                </a:rPr>
                <a:t> contain the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Output generated by ANN</a:t>
              </a:r>
              <a:endParaRPr lang="ko-KR" altLang="en-US" sz="2800" b="1" dirty="0">
                <a:cs typeface="Segoe UI" panose="020B0502040204020203" pitchFamily="34" charset="0"/>
              </a:endParaRPr>
            </a:p>
          </p:txBody>
        </p:sp>
        <p:sp>
          <p:nvSpPr>
            <p:cNvPr id="47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6693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76" grpId="0"/>
      <p:bldP spid="80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838198" y="365126"/>
            <a:ext cx="8343901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SoftMax Layer – ANN (Cont.) 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7"/>
            <a:ext cx="6167984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/>
          <p:cNvGrpSpPr/>
          <p:nvPr/>
        </p:nvGrpSpPr>
        <p:grpSpPr>
          <a:xfrm>
            <a:off x="947191" y="1340128"/>
            <a:ext cx="10143241" cy="3412847"/>
            <a:chOff x="1383666" y="1769854"/>
            <a:chExt cx="5841295" cy="938539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455469" y="1769857"/>
              <a:ext cx="5769492" cy="9385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560114" cy="9362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93" name="Rectangle 92"/>
          <p:cNvSpPr/>
          <p:nvPr/>
        </p:nvSpPr>
        <p:spPr>
          <a:xfrm>
            <a:off x="1977547" y="1454593"/>
            <a:ext cx="8262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Softmax Function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2540540" y="1896830"/>
            <a:ext cx="8339282" cy="1292662"/>
            <a:chOff x="2398672" y="4909779"/>
            <a:chExt cx="9203336" cy="129266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09779"/>
              <a:ext cx="8847780" cy="129266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Softmax Function takes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vectors</a:t>
              </a:r>
              <a:r>
                <a:rPr lang="en-US" altLang="ko-KR" sz="28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 as input and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converts</a:t>
              </a:r>
              <a:r>
                <a:rPr lang="en-US" altLang="ko-KR" sz="28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 them into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probabilities</a:t>
              </a:r>
              <a:r>
                <a:rPr lang="en-US" altLang="ko-KR" sz="28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 such that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sum of probabilities of all Output Units is 1</a:t>
              </a:r>
              <a:endParaRPr lang="ko-KR" altLang="en-US" sz="2800" b="1" dirty="0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96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97" name="Freeform 46">
            <a:extLst>
              <a:ext uri="{FF2B5EF4-FFF2-40B4-BE49-F238E27FC236}">
                <a16:creationId xmlns:a16="http://schemas.microsoft.com/office/drawing/2014/main" id="{DB88BF59-9C05-4D32-AF17-5F928BAEB0D5}"/>
              </a:ext>
            </a:extLst>
          </p:cNvPr>
          <p:cNvSpPr/>
          <p:nvPr/>
        </p:nvSpPr>
        <p:spPr>
          <a:xfrm>
            <a:off x="1147937" y="2801827"/>
            <a:ext cx="571130" cy="480979"/>
          </a:xfrm>
          <a:custGeom>
            <a:avLst/>
            <a:gdLst/>
            <a:ahLst/>
            <a:cxnLst/>
            <a:rect l="l" t="t" r="r" b="b"/>
            <a:pathLst>
              <a:path w="348343" h="304800">
                <a:moveTo>
                  <a:pt x="273333" y="227920"/>
                </a:moveTo>
                <a:lnTo>
                  <a:pt x="265169" y="266530"/>
                </a:lnTo>
                <a:lnTo>
                  <a:pt x="287281" y="227920"/>
                </a:lnTo>
                <a:close/>
                <a:moveTo>
                  <a:pt x="195432" y="227920"/>
                </a:moveTo>
                <a:lnTo>
                  <a:pt x="252072" y="286260"/>
                </a:lnTo>
                <a:cubicBezTo>
                  <a:pt x="252979" y="285807"/>
                  <a:pt x="253716" y="285523"/>
                  <a:pt x="254283" y="285410"/>
                </a:cubicBezTo>
                <a:lnTo>
                  <a:pt x="257005" y="280647"/>
                </a:lnTo>
                <a:lnTo>
                  <a:pt x="268060" y="227920"/>
                </a:lnTo>
                <a:close/>
                <a:moveTo>
                  <a:pt x="164476" y="227920"/>
                </a:moveTo>
                <a:lnTo>
                  <a:pt x="106306" y="288131"/>
                </a:lnTo>
                <a:lnTo>
                  <a:pt x="167538" y="288131"/>
                </a:lnTo>
                <a:cubicBezTo>
                  <a:pt x="169579" y="286317"/>
                  <a:pt x="171790" y="285410"/>
                  <a:pt x="174171" y="285410"/>
                </a:cubicBezTo>
                <a:cubicBezTo>
                  <a:pt x="176552" y="285410"/>
                  <a:pt x="178764" y="286317"/>
                  <a:pt x="180805" y="288131"/>
                </a:cubicBezTo>
                <a:lnTo>
                  <a:pt x="246969" y="288131"/>
                </a:lnTo>
                <a:lnTo>
                  <a:pt x="188799" y="227920"/>
                </a:lnTo>
                <a:close/>
                <a:moveTo>
                  <a:pt x="93889" y="227920"/>
                </a:moveTo>
                <a:lnTo>
                  <a:pt x="93889" y="284900"/>
                </a:lnTo>
                <a:lnTo>
                  <a:pt x="94569" y="285920"/>
                </a:lnTo>
                <a:cubicBezTo>
                  <a:pt x="96157" y="286487"/>
                  <a:pt x="97404" y="287224"/>
                  <a:pt x="98311" y="288131"/>
                </a:cubicBezTo>
                <a:lnTo>
                  <a:pt x="99162" y="288131"/>
                </a:lnTo>
                <a:lnTo>
                  <a:pt x="157332" y="227920"/>
                </a:lnTo>
                <a:close/>
                <a:moveTo>
                  <a:pt x="61062" y="227920"/>
                </a:moveTo>
                <a:lnTo>
                  <a:pt x="88786" y="276055"/>
                </a:lnTo>
                <a:lnTo>
                  <a:pt x="88786" y="227920"/>
                </a:lnTo>
                <a:close/>
                <a:moveTo>
                  <a:pt x="176552" y="215333"/>
                </a:moveTo>
                <a:lnTo>
                  <a:pt x="169409" y="222817"/>
                </a:lnTo>
                <a:lnTo>
                  <a:pt x="183866" y="222817"/>
                </a:lnTo>
                <a:close/>
                <a:moveTo>
                  <a:pt x="277245" y="209380"/>
                </a:moveTo>
                <a:lnTo>
                  <a:pt x="274354" y="222817"/>
                </a:lnTo>
                <a:lnTo>
                  <a:pt x="287281" y="222817"/>
                </a:lnTo>
                <a:cubicBezTo>
                  <a:pt x="287394" y="222137"/>
                  <a:pt x="287677" y="221513"/>
                  <a:pt x="288131" y="220946"/>
                </a:cubicBezTo>
                <a:close/>
                <a:moveTo>
                  <a:pt x="88786" y="190670"/>
                </a:moveTo>
                <a:lnTo>
                  <a:pt x="60211" y="220776"/>
                </a:lnTo>
                <a:cubicBezTo>
                  <a:pt x="60665" y="221683"/>
                  <a:pt x="60948" y="222363"/>
                  <a:pt x="61062" y="222817"/>
                </a:cubicBezTo>
                <a:lnTo>
                  <a:pt x="88786" y="222817"/>
                </a:lnTo>
                <a:close/>
                <a:moveTo>
                  <a:pt x="230131" y="159714"/>
                </a:moveTo>
                <a:lnTo>
                  <a:pt x="179784" y="211931"/>
                </a:lnTo>
                <a:lnTo>
                  <a:pt x="190500" y="222817"/>
                </a:lnTo>
                <a:lnTo>
                  <a:pt x="269251" y="222817"/>
                </a:lnTo>
                <a:lnTo>
                  <a:pt x="272993" y="204958"/>
                </a:lnTo>
                <a:close/>
                <a:moveTo>
                  <a:pt x="120593" y="156993"/>
                </a:moveTo>
                <a:lnTo>
                  <a:pt x="93889" y="185227"/>
                </a:lnTo>
                <a:lnTo>
                  <a:pt x="93889" y="222817"/>
                </a:lnTo>
                <a:lnTo>
                  <a:pt x="162265" y="222817"/>
                </a:lnTo>
                <a:lnTo>
                  <a:pt x="173151" y="211591"/>
                </a:lnTo>
                <a:close/>
                <a:moveTo>
                  <a:pt x="93889" y="129438"/>
                </a:moveTo>
                <a:lnTo>
                  <a:pt x="93889" y="177743"/>
                </a:lnTo>
                <a:lnTo>
                  <a:pt x="117021" y="153421"/>
                </a:lnTo>
                <a:close/>
                <a:moveTo>
                  <a:pt x="174001" y="100353"/>
                </a:moveTo>
                <a:lnTo>
                  <a:pt x="123485" y="153931"/>
                </a:lnTo>
                <a:lnTo>
                  <a:pt x="176382" y="208189"/>
                </a:lnTo>
                <a:lnTo>
                  <a:pt x="226729" y="155972"/>
                </a:lnTo>
                <a:close/>
                <a:moveTo>
                  <a:pt x="300377" y="99162"/>
                </a:moveTo>
                <a:lnTo>
                  <a:pt x="278436" y="203257"/>
                </a:lnTo>
                <a:lnTo>
                  <a:pt x="291533" y="217204"/>
                </a:lnTo>
                <a:cubicBezTo>
                  <a:pt x="292100" y="216864"/>
                  <a:pt x="292950" y="216467"/>
                  <a:pt x="294084" y="216013"/>
                </a:cubicBezTo>
                <a:lnTo>
                  <a:pt x="329293" y="154611"/>
                </a:lnTo>
                <a:cubicBezTo>
                  <a:pt x="329066" y="153477"/>
                  <a:pt x="328952" y="152684"/>
                  <a:pt x="328952" y="152230"/>
                </a:cubicBezTo>
                <a:cubicBezTo>
                  <a:pt x="328952" y="152117"/>
                  <a:pt x="329122" y="151209"/>
                  <a:pt x="329463" y="149509"/>
                </a:cubicBezTo>
                <a:close/>
                <a:moveTo>
                  <a:pt x="295955" y="91678"/>
                </a:moveTo>
                <a:lnTo>
                  <a:pt x="233702" y="156142"/>
                </a:lnTo>
                <a:lnTo>
                  <a:pt x="274184" y="198834"/>
                </a:lnTo>
                <a:lnTo>
                  <a:pt x="296635" y="92699"/>
                </a:lnTo>
                <a:lnTo>
                  <a:pt x="296125" y="91848"/>
                </a:lnTo>
                <a:close/>
                <a:moveTo>
                  <a:pt x="56980" y="91168"/>
                </a:moveTo>
                <a:cubicBezTo>
                  <a:pt x="55506" y="92075"/>
                  <a:pt x="53861" y="92642"/>
                  <a:pt x="52047" y="92869"/>
                </a:cubicBezTo>
                <a:lnTo>
                  <a:pt x="19050" y="150019"/>
                </a:lnTo>
                <a:cubicBezTo>
                  <a:pt x="19163" y="150472"/>
                  <a:pt x="19220" y="151209"/>
                  <a:pt x="19220" y="152230"/>
                </a:cubicBezTo>
                <a:cubicBezTo>
                  <a:pt x="19220" y="153364"/>
                  <a:pt x="19106" y="154214"/>
                  <a:pt x="18880" y="154781"/>
                </a:cubicBezTo>
                <a:lnTo>
                  <a:pt x="54258" y="216013"/>
                </a:lnTo>
                <a:cubicBezTo>
                  <a:pt x="54485" y="216013"/>
                  <a:pt x="54740" y="216070"/>
                  <a:pt x="55024" y="216184"/>
                </a:cubicBezTo>
                <a:cubicBezTo>
                  <a:pt x="55307" y="216297"/>
                  <a:pt x="55619" y="216439"/>
                  <a:pt x="55959" y="216609"/>
                </a:cubicBezTo>
                <a:cubicBezTo>
                  <a:pt x="56299" y="216779"/>
                  <a:pt x="56583" y="216921"/>
                  <a:pt x="56810" y="217034"/>
                </a:cubicBezTo>
                <a:lnTo>
                  <a:pt x="88786" y="183186"/>
                </a:lnTo>
                <a:lnTo>
                  <a:pt x="88786" y="124165"/>
                </a:lnTo>
                <a:close/>
                <a:moveTo>
                  <a:pt x="88786" y="72458"/>
                </a:moveTo>
                <a:lnTo>
                  <a:pt x="60892" y="82493"/>
                </a:lnTo>
                <a:cubicBezTo>
                  <a:pt x="60892" y="82607"/>
                  <a:pt x="60920" y="82720"/>
                  <a:pt x="60977" y="82834"/>
                </a:cubicBezTo>
                <a:cubicBezTo>
                  <a:pt x="61033" y="82947"/>
                  <a:pt x="61062" y="83060"/>
                  <a:pt x="61062" y="83174"/>
                </a:cubicBezTo>
                <a:cubicBezTo>
                  <a:pt x="61062" y="84988"/>
                  <a:pt x="60608" y="86632"/>
                  <a:pt x="59701" y="88106"/>
                </a:cubicBezTo>
                <a:lnTo>
                  <a:pt x="88786" y="118212"/>
                </a:lnTo>
                <a:close/>
                <a:moveTo>
                  <a:pt x="132499" y="56640"/>
                </a:moveTo>
                <a:lnTo>
                  <a:pt x="93889" y="70587"/>
                </a:lnTo>
                <a:lnTo>
                  <a:pt x="93889" y="123485"/>
                </a:lnTo>
                <a:lnTo>
                  <a:pt x="119913" y="150189"/>
                </a:lnTo>
                <a:lnTo>
                  <a:pt x="170429" y="96781"/>
                </a:lnTo>
                <a:close/>
                <a:moveTo>
                  <a:pt x="88786" y="29085"/>
                </a:moveTo>
                <a:lnTo>
                  <a:pt x="61062" y="77051"/>
                </a:lnTo>
                <a:lnTo>
                  <a:pt x="88786" y="67015"/>
                </a:lnTo>
                <a:close/>
                <a:moveTo>
                  <a:pt x="96270" y="18370"/>
                </a:moveTo>
                <a:cubicBezTo>
                  <a:pt x="95590" y="18597"/>
                  <a:pt x="95023" y="18767"/>
                  <a:pt x="94569" y="18880"/>
                </a:cubicBezTo>
                <a:lnTo>
                  <a:pt x="93889" y="20241"/>
                </a:lnTo>
                <a:lnTo>
                  <a:pt x="93889" y="65144"/>
                </a:lnTo>
                <a:lnTo>
                  <a:pt x="128757" y="52558"/>
                </a:lnTo>
                <a:close/>
                <a:moveTo>
                  <a:pt x="251902" y="18030"/>
                </a:moveTo>
                <a:lnTo>
                  <a:pt x="177573" y="96781"/>
                </a:lnTo>
                <a:lnTo>
                  <a:pt x="230301" y="152400"/>
                </a:lnTo>
                <a:lnTo>
                  <a:pt x="292213" y="88106"/>
                </a:lnTo>
                <a:cubicBezTo>
                  <a:pt x="291306" y="86632"/>
                  <a:pt x="290852" y="84988"/>
                  <a:pt x="290852" y="83174"/>
                </a:cubicBezTo>
                <a:lnTo>
                  <a:pt x="290852" y="82834"/>
                </a:lnTo>
                <a:lnTo>
                  <a:pt x="254113" y="18880"/>
                </a:lnTo>
                <a:cubicBezTo>
                  <a:pt x="253546" y="18767"/>
                  <a:pt x="252809" y="18483"/>
                  <a:pt x="251902" y="18030"/>
                </a:cubicBezTo>
                <a:close/>
                <a:moveTo>
                  <a:pt x="243397" y="16669"/>
                </a:moveTo>
                <a:lnTo>
                  <a:pt x="137772" y="54769"/>
                </a:lnTo>
                <a:lnTo>
                  <a:pt x="174001" y="93039"/>
                </a:lnTo>
                <a:lnTo>
                  <a:pt x="246119" y="16669"/>
                </a:lnTo>
                <a:close/>
                <a:moveTo>
                  <a:pt x="101713" y="16669"/>
                </a:moveTo>
                <a:lnTo>
                  <a:pt x="134030" y="50687"/>
                </a:lnTo>
                <a:lnTo>
                  <a:pt x="228260" y="16669"/>
                </a:lnTo>
                <a:lnTo>
                  <a:pt x="180635" y="16669"/>
                </a:lnTo>
                <a:cubicBezTo>
                  <a:pt x="178820" y="18483"/>
                  <a:pt x="176666" y="19390"/>
                  <a:pt x="174171" y="19390"/>
                </a:cubicBezTo>
                <a:cubicBezTo>
                  <a:pt x="171677" y="19390"/>
                  <a:pt x="169522" y="18483"/>
                  <a:pt x="167708" y="16669"/>
                </a:cubicBezTo>
                <a:close/>
                <a:moveTo>
                  <a:pt x="92018" y="0"/>
                </a:moveTo>
                <a:cubicBezTo>
                  <a:pt x="94966" y="0"/>
                  <a:pt x="97461" y="1191"/>
                  <a:pt x="99502" y="3572"/>
                </a:cubicBezTo>
                <a:lnTo>
                  <a:pt x="166857" y="3572"/>
                </a:lnTo>
                <a:cubicBezTo>
                  <a:pt x="168672" y="1191"/>
                  <a:pt x="171110" y="0"/>
                  <a:pt x="174171" y="0"/>
                </a:cubicBezTo>
                <a:cubicBezTo>
                  <a:pt x="177233" y="0"/>
                  <a:pt x="179671" y="1191"/>
                  <a:pt x="181485" y="3572"/>
                </a:cubicBezTo>
                <a:lnTo>
                  <a:pt x="249181" y="3572"/>
                </a:lnTo>
                <a:cubicBezTo>
                  <a:pt x="251222" y="1191"/>
                  <a:pt x="253716" y="0"/>
                  <a:pt x="256664" y="0"/>
                </a:cubicBezTo>
                <a:cubicBezTo>
                  <a:pt x="259273" y="0"/>
                  <a:pt x="261540" y="936"/>
                  <a:pt x="263468" y="2807"/>
                </a:cubicBezTo>
                <a:cubicBezTo>
                  <a:pt x="265396" y="4678"/>
                  <a:pt x="266360" y="6974"/>
                  <a:pt x="266360" y="9695"/>
                </a:cubicBezTo>
                <a:cubicBezTo>
                  <a:pt x="266360" y="10376"/>
                  <a:pt x="266133" y="11396"/>
                  <a:pt x="265679" y="12757"/>
                </a:cubicBezTo>
                <a:lnTo>
                  <a:pt x="300888" y="73649"/>
                </a:lnTo>
                <a:cubicBezTo>
                  <a:pt x="303496" y="73762"/>
                  <a:pt x="305707" y="74754"/>
                  <a:pt x="307521" y="76625"/>
                </a:cubicBezTo>
                <a:cubicBezTo>
                  <a:pt x="309335" y="78496"/>
                  <a:pt x="310243" y="80679"/>
                  <a:pt x="310243" y="83174"/>
                </a:cubicBezTo>
                <a:cubicBezTo>
                  <a:pt x="310243" y="84648"/>
                  <a:pt x="309846" y="86179"/>
                  <a:pt x="309052" y="87766"/>
                </a:cubicBezTo>
                <a:lnTo>
                  <a:pt x="340859" y="142875"/>
                </a:lnTo>
                <a:cubicBezTo>
                  <a:pt x="343013" y="143329"/>
                  <a:pt x="344799" y="144434"/>
                  <a:pt x="346216" y="146192"/>
                </a:cubicBezTo>
                <a:cubicBezTo>
                  <a:pt x="347634" y="147949"/>
                  <a:pt x="348343" y="149962"/>
                  <a:pt x="348343" y="152230"/>
                </a:cubicBezTo>
                <a:cubicBezTo>
                  <a:pt x="348343" y="154611"/>
                  <a:pt x="347606" y="156681"/>
                  <a:pt x="346131" y="158438"/>
                </a:cubicBezTo>
                <a:cubicBezTo>
                  <a:pt x="344657" y="160196"/>
                  <a:pt x="342786" y="161301"/>
                  <a:pt x="340518" y="161755"/>
                </a:cubicBezTo>
                <a:lnTo>
                  <a:pt x="305650" y="222307"/>
                </a:lnTo>
                <a:cubicBezTo>
                  <a:pt x="305990" y="223327"/>
                  <a:pt x="306160" y="224348"/>
                  <a:pt x="306160" y="225368"/>
                </a:cubicBezTo>
                <a:cubicBezTo>
                  <a:pt x="306160" y="227636"/>
                  <a:pt x="305452" y="229649"/>
                  <a:pt x="304034" y="231407"/>
                </a:cubicBezTo>
                <a:cubicBezTo>
                  <a:pt x="302617" y="233164"/>
                  <a:pt x="300774" y="234270"/>
                  <a:pt x="298506" y="234723"/>
                </a:cubicBezTo>
                <a:lnTo>
                  <a:pt x="265679" y="292043"/>
                </a:lnTo>
                <a:cubicBezTo>
                  <a:pt x="266019" y="292951"/>
                  <a:pt x="266189" y="293858"/>
                  <a:pt x="266189" y="294765"/>
                </a:cubicBezTo>
                <a:cubicBezTo>
                  <a:pt x="266189" y="297373"/>
                  <a:pt x="265254" y="299641"/>
                  <a:pt x="263383" y="301568"/>
                </a:cubicBezTo>
                <a:cubicBezTo>
                  <a:pt x="261512" y="303496"/>
                  <a:pt x="259216" y="304460"/>
                  <a:pt x="256494" y="304460"/>
                </a:cubicBezTo>
                <a:cubicBezTo>
                  <a:pt x="253660" y="304460"/>
                  <a:pt x="251335" y="303439"/>
                  <a:pt x="249521" y="301398"/>
                </a:cubicBezTo>
                <a:lnTo>
                  <a:pt x="181485" y="301398"/>
                </a:lnTo>
                <a:cubicBezTo>
                  <a:pt x="179557" y="303666"/>
                  <a:pt x="177119" y="304800"/>
                  <a:pt x="174171" y="304800"/>
                </a:cubicBezTo>
                <a:cubicBezTo>
                  <a:pt x="171223" y="304800"/>
                  <a:pt x="168785" y="303666"/>
                  <a:pt x="166857" y="301398"/>
                </a:cubicBezTo>
                <a:lnTo>
                  <a:pt x="98992" y="301398"/>
                </a:lnTo>
                <a:cubicBezTo>
                  <a:pt x="97064" y="303666"/>
                  <a:pt x="94626" y="304800"/>
                  <a:pt x="91678" y="304800"/>
                </a:cubicBezTo>
                <a:cubicBezTo>
                  <a:pt x="89070" y="304800"/>
                  <a:pt x="86802" y="303865"/>
                  <a:pt x="84874" y="301994"/>
                </a:cubicBezTo>
                <a:cubicBezTo>
                  <a:pt x="82947" y="300123"/>
                  <a:pt x="81983" y="297826"/>
                  <a:pt x="81983" y="295105"/>
                </a:cubicBezTo>
                <a:cubicBezTo>
                  <a:pt x="81983" y="294198"/>
                  <a:pt x="82210" y="293064"/>
                  <a:pt x="82663" y="291703"/>
                </a:cubicBezTo>
                <a:lnTo>
                  <a:pt x="49836" y="234723"/>
                </a:lnTo>
                <a:cubicBezTo>
                  <a:pt x="47568" y="234270"/>
                  <a:pt x="45725" y="233164"/>
                  <a:pt x="44308" y="231407"/>
                </a:cubicBezTo>
                <a:cubicBezTo>
                  <a:pt x="42891" y="229649"/>
                  <a:pt x="42182" y="227636"/>
                  <a:pt x="42182" y="225368"/>
                </a:cubicBezTo>
                <a:cubicBezTo>
                  <a:pt x="42182" y="224348"/>
                  <a:pt x="42352" y="223327"/>
                  <a:pt x="42692" y="222307"/>
                </a:cubicBezTo>
                <a:lnTo>
                  <a:pt x="7654" y="161755"/>
                </a:lnTo>
                <a:cubicBezTo>
                  <a:pt x="5386" y="161188"/>
                  <a:pt x="3543" y="160026"/>
                  <a:pt x="2126" y="158268"/>
                </a:cubicBezTo>
                <a:cubicBezTo>
                  <a:pt x="708" y="156511"/>
                  <a:pt x="0" y="154498"/>
                  <a:pt x="0" y="152230"/>
                </a:cubicBezTo>
                <a:cubicBezTo>
                  <a:pt x="0" y="149849"/>
                  <a:pt x="765" y="147779"/>
                  <a:pt x="2296" y="146022"/>
                </a:cubicBezTo>
                <a:cubicBezTo>
                  <a:pt x="3827" y="144264"/>
                  <a:pt x="5726" y="143159"/>
                  <a:pt x="7994" y="142705"/>
                </a:cubicBezTo>
                <a:lnTo>
                  <a:pt x="41842" y="84194"/>
                </a:lnTo>
                <a:cubicBezTo>
                  <a:pt x="41842" y="84081"/>
                  <a:pt x="41813" y="83911"/>
                  <a:pt x="41757" y="83684"/>
                </a:cubicBezTo>
                <a:cubicBezTo>
                  <a:pt x="41700" y="83457"/>
                  <a:pt x="41672" y="83287"/>
                  <a:pt x="41672" y="83174"/>
                </a:cubicBezTo>
                <a:cubicBezTo>
                  <a:pt x="41672" y="79092"/>
                  <a:pt x="43599" y="76200"/>
                  <a:pt x="47455" y="74499"/>
                </a:cubicBezTo>
                <a:lnTo>
                  <a:pt x="83003" y="12757"/>
                </a:lnTo>
                <a:cubicBezTo>
                  <a:pt x="82550" y="11623"/>
                  <a:pt x="82323" y="10602"/>
                  <a:pt x="82323" y="9695"/>
                </a:cubicBezTo>
                <a:cubicBezTo>
                  <a:pt x="82323" y="6974"/>
                  <a:pt x="83287" y="4678"/>
                  <a:pt x="85214" y="2807"/>
                </a:cubicBezTo>
                <a:cubicBezTo>
                  <a:pt x="87142" y="936"/>
                  <a:pt x="89410" y="0"/>
                  <a:pt x="920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1828800"/>
            <a:endParaRPr lang="en-IN" sz="4800" dirty="0">
              <a:solidFill>
                <a:prstClr val="white"/>
              </a:solidFill>
              <a:latin typeface="Raleway" panose="020B0503030101060003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950522" y="5071532"/>
            <a:ext cx="10139910" cy="816129"/>
            <a:chOff x="1383666" y="1769854"/>
            <a:chExt cx="10916103" cy="93621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1043489" cy="936210"/>
            </a:xfrm>
            <a:prstGeom prst="rect">
              <a:avLst/>
            </a:prstGeom>
            <a:solidFill>
              <a:srgbClr val="3C7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1977547" y="5230411"/>
            <a:ext cx="88463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Softmax Layer is the </a:t>
            </a:r>
            <a:r>
              <a:rPr lang="en-US" altLang="ko-KR" sz="2800" b="1" dirty="0">
                <a:solidFill>
                  <a:srgbClr val="FF0000"/>
                </a:solidFill>
                <a:cs typeface="Segoe UI" panose="020B0502040204020203" pitchFamily="34" charset="0"/>
              </a:rPr>
              <a:t>last</a:t>
            </a:r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 Layer of ANN</a:t>
            </a:r>
            <a:endParaRPr lang="ko-KR" altLang="en-US" sz="2800" b="1" dirty="0">
              <a:solidFill>
                <a:srgbClr val="4C287F"/>
              </a:solidFill>
              <a:cs typeface="Segoe UI" panose="020B0502040204020203" pitchFamily="34" charset="0"/>
            </a:endParaRPr>
          </a:p>
        </p:txBody>
      </p:sp>
      <p:sp>
        <p:nvSpPr>
          <p:cNvPr id="43" name="Rectangle 30">
            <a:extLst>
              <a:ext uri="{FF2B5EF4-FFF2-40B4-BE49-F238E27FC236}">
                <a16:creationId xmlns:a16="http://schemas.microsoft.com/office/drawing/2014/main" id="{F27A16BA-84A3-4FAC-B237-80E8979D627D}"/>
              </a:ext>
            </a:extLst>
          </p:cNvPr>
          <p:cNvSpPr/>
          <p:nvPr/>
        </p:nvSpPr>
        <p:spPr>
          <a:xfrm>
            <a:off x="1237880" y="5283778"/>
            <a:ext cx="357088" cy="391636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srgbClr val="FFFFFF"/>
              </a:solidFill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2540539" y="3351777"/>
            <a:ext cx="8339282" cy="1292662"/>
            <a:chOff x="2398672" y="4909779"/>
            <a:chExt cx="9203336" cy="129266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09779"/>
              <a:ext cx="8847780" cy="129266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The Output Unit with the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highest probability</a:t>
              </a:r>
              <a:r>
                <a:rPr lang="en-US" altLang="ko-KR" sz="28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 will be the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predicted Class / Category</a:t>
              </a:r>
              <a:r>
                <a:rPr lang="en-US" altLang="ko-KR" sz="28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 of an instance / example</a:t>
              </a:r>
              <a:endParaRPr lang="ko-KR" altLang="en-US" sz="2800" b="1" dirty="0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0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1049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93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838198" y="365126"/>
            <a:ext cx="8343901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Mathematical Functions – ANNs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7"/>
            <a:ext cx="6834734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947191" y="4681267"/>
            <a:ext cx="10139910" cy="1161498"/>
            <a:chOff x="1383666" y="1769853"/>
            <a:chExt cx="10916103" cy="936211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3"/>
              <a:ext cx="1043489" cy="936210"/>
            </a:xfrm>
            <a:prstGeom prst="rect">
              <a:avLst/>
            </a:prstGeom>
            <a:solidFill>
              <a:srgbClr val="1F1E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76" name="Rectangle 75"/>
          <p:cNvSpPr/>
          <p:nvPr/>
        </p:nvSpPr>
        <p:spPr>
          <a:xfrm>
            <a:off x="1974216" y="4757806"/>
            <a:ext cx="59410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Input to a Mathematical Function</a:t>
            </a:r>
            <a:endParaRPr lang="ko-KR" altLang="en-US" sz="2800" b="1" dirty="0">
              <a:solidFill>
                <a:srgbClr val="4C287F"/>
              </a:solidFill>
              <a:cs typeface="Segoe UI" panose="020B0502040204020203" pitchFamily="34" charset="0"/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947191" y="2891835"/>
            <a:ext cx="10143241" cy="1487576"/>
            <a:chOff x="1383666" y="1769854"/>
            <a:chExt cx="5841295" cy="938539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455469" y="1769857"/>
              <a:ext cx="5769492" cy="9385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560114" cy="936210"/>
            </a:xfrm>
            <a:prstGeom prst="rect">
              <a:avLst/>
            </a:prstGeom>
            <a:solidFill>
              <a:srgbClr val="7744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80" name="Rectangle 79"/>
          <p:cNvSpPr/>
          <p:nvPr/>
        </p:nvSpPr>
        <p:spPr>
          <a:xfrm>
            <a:off x="1977547" y="2961574"/>
            <a:ext cx="89208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  <a:cs typeface="Segoe UI" panose="020B0502040204020203" pitchFamily="34" charset="0"/>
              </a:rPr>
              <a:t>All</a:t>
            </a:r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 the Hidden Units and Output Units in an ANN, have the 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2295987" y="3616859"/>
            <a:ext cx="8602439" cy="430887"/>
            <a:chOff x="2398672" y="4914325"/>
            <a:chExt cx="9199774" cy="430887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0666" y="4914325"/>
              <a:ext cx="8847780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Same</a:t>
              </a:r>
              <a:r>
                <a:rPr lang="en-US" altLang="ko-KR" sz="2800" b="1" dirty="0">
                  <a:cs typeface="Segoe UI" panose="020B0502040204020203" pitchFamily="34" charset="0"/>
                </a:rPr>
                <a:t> Mathematical Function</a:t>
              </a:r>
              <a:endParaRPr lang="ko-KR" altLang="en-US" sz="2800" b="1" dirty="0">
                <a:cs typeface="Segoe UI" panose="020B0502040204020203" pitchFamily="34" charset="0"/>
              </a:endParaRPr>
            </a:p>
          </p:txBody>
        </p:sp>
        <p:sp>
          <p:nvSpPr>
            <p:cNvPr id="83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2292656" y="5244220"/>
            <a:ext cx="8605770" cy="430887"/>
            <a:chOff x="2398672" y="4924620"/>
            <a:chExt cx="9203336" cy="430887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24620"/>
              <a:ext cx="8847780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cs typeface="Segoe UI" panose="020B0502040204020203" pitchFamily="34" charset="0"/>
                </a:rPr>
                <a:t>Weighted Sum of Inputs (S) </a:t>
              </a:r>
              <a:endParaRPr lang="ko-KR" altLang="en-US" sz="2800" b="1" dirty="0">
                <a:cs typeface="Segoe UI" panose="020B0502040204020203" pitchFamily="34" charset="0"/>
              </a:endParaRPr>
            </a:p>
          </p:txBody>
        </p:sp>
        <p:sp>
          <p:nvSpPr>
            <p:cNvPr id="86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88" name="Left Arrow 1">
            <a:extLst>
              <a:ext uri="{FF2B5EF4-FFF2-40B4-BE49-F238E27FC236}">
                <a16:creationId xmlns:a16="http://schemas.microsoft.com/office/drawing/2014/main" id="{994C937C-DC67-46D5-BC8A-7A3F5C41E5F7}"/>
              </a:ext>
            </a:extLst>
          </p:cNvPr>
          <p:cNvSpPr>
            <a:spLocks noChangeAspect="1"/>
          </p:cNvSpPr>
          <p:nvPr/>
        </p:nvSpPr>
        <p:spPr>
          <a:xfrm>
            <a:off x="1173398" y="3375786"/>
            <a:ext cx="516855" cy="516623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89" name="Oval 7">
            <a:extLst>
              <a:ext uri="{FF2B5EF4-FFF2-40B4-BE49-F238E27FC236}">
                <a16:creationId xmlns:a16="http://schemas.microsoft.com/office/drawing/2014/main" id="{AA668F90-D9E0-467C-BCC9-1B33D421D825}"/>
              </a:ext>
            </a:extLst>
          </p:cNvPr>
          <p:cNvSpPr/>
          <p:nvPr/>
        </p:nvSpPr>
        <p:spPr>
          <a:xfrm>
            <a:off x="1209024" y="5055602"/>
            <a:ext cx="408137" cy="41282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 dirty="0">
              <a:solidFill>
                <a:prstClr val="white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947191" y="1391393"/>
            <a:ext cx="10139910" cy="1194895"/>
            <a:chOff x="1383666" y="1769854"/>
            <a:chExt cx="10916103" cy="93621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1043489" cy="936210"/>
            </a:xfrm>
            <a:prstGeom prst="rect">
              <a:avLst/>
            </a:prstGeom>
            <a:solidFill>
              <a:srgbClr val="3C7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1976735" y="1517273"/>
            <a:ext cx="88463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ANNs </a:t>
            </a:r>
            <a:r>
              <a:rPr lang="en-US" altLang="ko-KR" sz="2800" b="1" dirty="0">
                <a:solidFill>
                  <a:srgbClr val="FF0000"/>
                </a:solidFill>
                <a:cs typeface="Segoe UI" panose="020B0502040204020203" pitchFamily="34" charset="0"/>
              </a:rPr>
              <a:t>embed</a:t>
            </a:r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 giant Mathematical Functions (e.g. </a:t>
            </a:r>
            <a:r>
              <a:rPr lang="en-US" altLang="ko-KR" sz="2800" b="1" dirty="0" err="1">
                <a:solidFill>
                  <a:srgbClr val="4C287F"/>
                </a:solidFill>
                <a:cs typeface="Segoe UI" panose="020B0502040204020203" pitchFamily="34" charset="0"/>
              </a:rPr>
              <a:t>relu</a:t>
            </a:r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, sigmoid etc.)</a:t>
            </a:r>
            <a:endParaRPr lang="ko-KR" altLang="en-US" sz="2800" b="1" dirty="0">
              <a:solidFill>
                <a:srgbClr val="4C287F"/>
              </a:solidFill>
              <a:cs typeface="Segoe UI" panose="020B0502040204020203" pitchFamily="34" charset="0"/>
            </a:endParaRP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F27A16BA-84A3-4FAC-B237-80E8979D627D}"/>
              </a:ext>
            </a:extLst>
          </p:cNvPr>
          <p:cNvSpPr/>
          <p:nvPr/>
        </p:nvSpPr>
        <p:spPr>
          <a:xfrm>
            <a:off x="1197055" y="1751900"/>
            <a:ext cx="432077" cy="473880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2134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76" grpId="0"/>
      <p:bldP spid="80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838198" y="136526"/>
            <a:ext cx="10252234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Fully Connected ANN vs Partially Connected ANN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818496"/>
            <a:ext cx="9444584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950522" y="2308620"/>
            <a:ext cx="10139910" cy="1212030"/>
            <a:chOff x="1383666" y="1769853"/>
            <a:chExt cx="10916103" cy="936211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3"/>
              <a:ext cx="1043489" cy="936210"/>
            </a:xfrm>
            <a:prstGeom prst="rect">
              <a:avLst/>
            </a:prstGeom>
            <a:solidFill>
              <a:srgbClr val="1F1E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76" name="Rectangle 75"/>
          <p:cNvSpPr/>
          <p:nvPr/>
        </p:nvSpPr>
        <p:spPr>
          <a:xfrm>
            <a:off x="1977547" y="2275244"/>
            <a:ext cx="38866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Fully Connected Layer</a:t>
            </a:r>
            <a:endParaRPr lang="ko-KR" altLang="en-US" sz="2800" b="1" dirty="0">
              <a:solidFill>
                <a:srgbClr val="4C287F"/>
              </a:solidFill>
              <a:cs typeface="Segoe UI" panose="020B0502040204020203" pitchFamily="34" charset="0"/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947191" y="945709"/>
            <a:ext cx="10143241" cy="1237283"/>
            <a:chOff x="1383666" y="1769854"/>
            <a:chExt cx="5841295" cy="938539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455469" y="1769857"/>
              <a:ext cx="5769492" cy="9385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560114" cy="936210"/>
            </a:xfrm>
            <a:prstGeom prst="rect">
              <a:avLst/>
            </a:prstGeom>
            <a:solidFill>
              <a:srgbClr val="7744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80" name="Rectangle 79"/>
          <p:cNvSpPr/>
          <p:nvPr/>
        </p:nvSpPr>
        <p:spPr>
          <a:xfrm>
            <a:off x="1977547" y="911566"/>
            <a:ext cx="8262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Fully Connected ANN 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2295987" y="1428718"/>
            <a:ext cx="8605770" cy="738664"/>
            <a:chOff x="2398672" y="4931529"/>
            <a:chExt cx="9203336" cy="738664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31529"/>
              <a:ext cx="8847780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cs typeface="Segoe UI" panose="020B0502040204020203" pitchFamily="34" charset="0"/>
                </a:rPr>
                <a:t>A Fully Connected Neural Network consists of a </a:t>
              </a:r>
              <a:r>
                <a:rPr lang="en-US" altLang="ko-KR" sz="24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series</a:t>
              </a:r>
              <a:r>
                <a:rPr lang="en-US" altLang="ko-KR" sz="2400" b="1" dirty="0">
                  <a:cs typeface="Segoe UI" panose="020B0502040204020203" pitchFamily="34" charset="0"/>
                </a:rPr>
                <a:t> of Fully Connected Layers</a:t>
              </a:r>
              <a:endParaRPr lang="ko-KR" altLang="en-US" sz="2400" b="1" dirty="0">
                <a:cs typeface="Segoe UI" panose="020B0502040204020203" pitchFamily="34" charset="0"/>
              </a:endParaRPr>
            </a:p>
          </p:txBody>
        </p:sp>
        <p:sp>
          <p:nvSpPr>
            <p:cNvPr id="83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2295987" y="2750158"/>
            <a:ext cx="8605770" cy="738664"/>
            <a:chOff x="2398672" y="4932170"/>
            <a:chExt cx="9203336" cy="73866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32170"/>
              <a:ext cx="8847780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cs typeface="Segoe UI" panose="020B0502040204020203" pitchFamily="34" charset="0"/>
                </a:rPr>
                <a:t>In a Fully Connected Layer, </a:t>
              </a:r>
              <a:r>
                <a:rPr lang="en-US" altLang="ko-KR" sz="24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each Unit</a:t>
              </a:r>
              <a:r>
                <a:rPr lang="en-US" altLang="ko-KR" sz="2400" b="1" dirty="0">
                  <a:cs typeface="Segoe UI" panose="020B0502040204020203" pitchFamily="34" charset="0"/>
                </a:rPr>
                <a:t> receives input from </a:t>
              </a:r>
              <a:r>
                <a:rPr lang="en-US" altLang="ko-KR" sz="24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every Unit</a:t>
              </a:r>
              <a:r>
                <a:rPr lang="en-US" altLang="ko-KR" sz="2400" b="1" dirty="0">
                  <a:cs typeface="Segoe UI" panose="020B0502040204020203" pitchFamily="34" charset="0"/>
                </a:rPr>
                <a:t> of the previous layer</a:t>
              </a:r>
              <a:endParaRPr lang="ko-KR" altLang="en-US" sz="2400" b="1" dirty="0">
                <a:cs typeface="Segoe UI" panose="020B0502040204020203" pitchFamily="34" charset="0"/>
              </a:endParaRPr>
            </a:p>
          </p:txBody>
        </p:sp>
        <p:sp>
          <p:nvSpPr>
            <p:cNvPr id="86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88" name="Left Arrow 1">
            <a:extLst>
              <a:ext uri="{FF2B5EF4-FFF2-40B4-BE49-F238E27FC236}">
                <a16:creationId xmlns:a16="http://schemas.microsoft.com/office/drawing/2014/main" id="{994C937C-DC67-46D5-BC8A-7A3F5C41E5F7}"/>
              </a:ext>
            </a:extLst>
          </p:cNvPr>
          <p:cNvSpPr>
            <a:spLocks noChangeAspect="1"/>
          </p:cNvSpPr>
          <p:nvPr/>
        </p:nvSpPr>
        <p:spPr>
          <a:xfrm>
            <a:off x="1169741" y="1309367"/>
            <a:ext cx="516855" cy="516623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89" name="Oval 7">
            <a:extLst>
              <a:ext uri="{FF2B5EF4-FFF2-40B4-BE49-F238E27FC236}">
                <a16:creationId xmlns:a16="http://schemas.microsoft.com/office/drawing/2014/main" id="{AA668F90-D9E0-467C-BCC9-1B33D421D825}"/>
              </a:ext>
            </a:extLst>
          </p:cNvPr>
          <p:cNvSpPr/>
          <p:nvPr/>
        </p:nvSpPr>
        <p:spPr>
          <a:xfrm>
            <a:off x="1212357" y="2717770"/>
            <a:ext cx="408137" cy="41282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 dirty="0">
              <a:solidFill>
                <a:prstClr val="white"/>
              </a:solidFill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947191" y="3671614"/>
            <a:ext cx="10143241" cy="1196642"/>
            <a:chOff x="1383666" y="1769854"/>
            <a:chExt cx="5841295" cy="938539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455469" y="1769857"/>
              <a:ext cx="5769492" cy="9385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560114" cy="9362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93" name="Rectangle 92"/>
          <p:cNvSpPr/>
          <p:nvPr/>
        </p:nvSpPr>
        <p:spPr>
          <a:xfrm>
            <a:off x="1977547" y="3614628"/>
            <a:ext cx="8262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Partially Connected ANN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2295987" y="4097258"/>
            <a:ext cx="8605770" cy="738664"/>
            <a:chOff x="2398672" y="4944766"/>
            <a:chExt cx="9203336" cy="738664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44766"/>
              <a:ext cx="8847780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A Partially Connected Neural Network consists of a </a:t>
              </a:r>
              <a:r>
                <a:rPr lang="en-US" altLang="ko-KR" sz="24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series</a:t>
              </a:r>
              <a:r>
                <a:rPr lang="en-US" altLang="ko-KR" sz="24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 of Partially Connected Layers</a:t>
              </a:r>
              <a:endParaRPr lang="ko-KR" altLang="en-US" sz="2400" b="1" dirty="0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96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97" name="Freeform 46">
            <a:extLst>
              <a:ext uri="{FF2B5EF4-FFF2-40B4-BE49-F238E27FC236}">
                <a16:creationId xmlns:a16="http://schemas.microsoft.com/office/drawing/2014/main" id="{DB88BF59-9C05-4D32-AF17-5F928BAEB0D5}"/>
              </a:ext>
            </a:extLst>
          </p:cNvPr>
          <p:cNvSpPr/>
          <p:nvPr/>
        </p:nvSpPr>
        <p:spPr>
          <a:xfrm>
            <a:off x="1132939" y="4038851"/>
            <a:ext cx="571130" cy="480979"/>
          </a:xfrm>
          <a:custGeom>
            <a:avLst/>
            <a:gdLst/>
            <a:ahLst/>
            <a:cxnLst/>
            <a:rect l="l" t="t" r="r" b="b"/>
            <a:pathLst>
              <a:path w="348343" h="304800">
                <a:moveTo>
                  <a:pt x="273333" y="227920"/>
                </a:moveTo>
                <a:lnTo>
                  <a:pt x="265169" y="266530"/>
                </a:lnTo>
                <a:lnTo>
                  <a:pt x="287281" y="227920"/>
                </a:lnTo>
                <a:close/>
                <a:moveTo>
                  <a:pt x="195432" y="227920"/>
                </a:moveTo>
                <a:lnTo>
                  <a:pt x="252072" y="286260"/>
                </a:lnTo>
                <a:cubicBezTo>
                  <a:pt x="252979" y="285807"/>
                  <a:pt x="253716" y="285523"/>
                  <a:pt x="254283" y="285410"/>
                </a:cubicBezTo>
                <a:lnTo>
                  <a:pt x="257005" y="280647"/>
                </a:lnTo>
                <a:lnTo>
                  <a:pt x="268060" y="227920"/>
                </a:lnTo>
                <a:close/>
                <a:moveTo>
                  <a:pt x="164476" y="227920"/>
                </a:moveTo>
                <a:lnTo>
                  <a:pt x="106306" y="288131"/>
                </a:lnTo>
                <a:lnTo>
                  <a:pt x="167538" y="288131"/>
                </a:lnTo>
                <a:cubicBezTo>
                  <a:pt x="169579" y="286317"/>
                  <a:pt x="171790" y="285410"/>
                  <a:pt x="174171" y="285410"/>
                </a:cubicBezTo>
                <a:cubicBezTo>
                  <a:pt x="176552" y="285410"/>
                  <a:pt x="178764" y="286317"/>
                  <a:pt x="180805" y="288131"/>
                </a:cubicBezTo>
                <a:lnTo>
                  <a:pt x="246969" y="288131"/>
                </a:lnTo>
                <a:lnTo>
                  <a:pt x="188799" y="227920"/>
                </a:lnTo>
                <a:close/>
                <a:moveTo>
                  <a:pt x="93889" y="227920"/>
                </a:moveTo>
                <a:lnTo>
                  <a:pt x="93889" y="284900"/>
                </a:lnTo>
                <a:lnTo>
                  <a:pt x="94569" y="285920"/>
                </a:lnTo>
                <a:cubicBezTo>
                  <a:pt x="96157" y="286487"/>
                  <a:pt x="97404" y="287224"/>
                  <a:pt x="98311" y="288131"/>
                </a:cubicBezTo>
                <a:lnTo>
                  <a:pt x="99162" y="288131"/>
                </a:lnTo>
                <a:lnTo>
                  <a:pt x="157332" y="227920"/>
                </a:lnTo>
                <a:close/>
                <a:moveTo>
                  <a:pt x="61062" y="227920"/>
                </a:moveTo>
                <a:lnTo>
                  <a:pt x="88786" y="276055"/>
                </a:lnTo>
                <a:lnTo>
                  <a:pt x="88786" y="227920"/>
                </a:lnTo>
                <a:close/>
                <a:moveTo>
                  <a:pt x="176552" y="215333"/>
                </a:moveTo>
                <a:lnTo>
                  <a:pt x="169409" y="222817"/>
                </a:lnTo>
                <a:lnTo>
                  <a:pt x="183866" y="222817"/>
                </a:lnTo>
                <a:close/>
                <a:moveTo>
                  <a:pt x="277245" y="209380"/>
                </a:moveTo>
                <a:lnTo>
                  <a:pt x="274354" y="222817"/>
                </a:lnTo>
                <a:lnTo>
                  <a:pt x="287281" y="222817"/>
                </a:lnTo>
                <a:cubicBezTo>
                  <a:pt x="287394" y="222137"/>
                  <a:pt x="287677" y="221513"/>
                  <a:pt x="288131" y="220946"/>
                </a:cubicBezTo>
                <a:close/>
                <a:moveTo>
                  <a:pt x="88786" y="190670"/>
                </a:moveTo>
                <a:lnTo>
                  <a:pt x="60211" y="220776"/>
                </a:lnTo>
                <a:cubicBezTo>
                  <a:pt x="60665" y="221683"/>
                  <a:pt x="60948" y="222363"/>
                  <a:pt x="61062" y="222817"/>
                </a:cubicBezTo>
                <a:lnTo>
                  <a:pt x="88786" y="222817"/>
                </a:lnTo>
                <a:close/>
                <a:moveTo>
                  <a:pt x="230131" y="159714"/>
                </a:moveTo>
                <a:lnTo>
                  <a:pt x="179784" y="211931"/>
                </a:lnTo>
                <a:lnTo>
                  <a:pt x="190500" y="222817"/>
                </a:lnTo>
                <a:lnTo>
                  <a:pt x="269251" y="222817"/>
                </a:lnTo>
                <a:lnTo>
                  <a:pt x="272993" y="204958"/>
                </a:lnTo>
                <a:close/>
                <a:moveTo>
                  <a:pt x="120593" y="156993"/>
                </a:moveTo>
                <a:lnTo>
                  <a:pt x="93889" y="185227"/>
                </a:lnTo>
                <a:lnTo>
                  <a:pt x="93889" y="222817"/>
                </a:lnTo>
                <a:lnTo>
                  <a:pt x="162265" y="222817"/>
                </a:lnTo>
                <a:lnTo>
                  <a:pt x="173151" y="211591"/>
                </a:lnTo>
                <a:close/>
                <a:moveTo>
                  <a:pt x="93889" y="129438"/>
                </a:moveTo>
                <a:lnTo>
                  <a:pt x="93889" y="177743"/>
                </a:lnTo>
                <a:lnTo>
                  <a:pt x="117021" y="153421"/>
                </a:lnTo>
                <a:close/>
                <a:moveTo>
                  <a:pt x="174001" y="100353"/>
                </a:moveTo>
                <a:lnTo>
                  <a:pt x="123485" y="153931"/>
                </a:lnTo>
                <a:lnTo>
                  <a:pt x="176382" y="208189"/>
                </a:lnTo>
                <a:lnTo>
                  <a:pt x="226729" y="155972"/>
                </a:lnTo>
                <a:close/>
                <a:moveTo>
                  <a:pt x="300377" y="99162"/>
                </a:moveTo>
                <a:lnTo>
                  <a:pt x="278436" y="203257"/>
                </a:lnTo>
                <a:lnTo>
                  <a:pt x="291533" y="217204"/>
                </a:lnTo>
                <a:cubicBezTo>
                  <a:pt x="292100" y="216864"/>
                  <a:pt x="292950" y="216467"/>
                  <a:pt x="294084" y="216013"/>
                </a:cubicBezTo>
                <a:lnTo>
                  <a:pt x="329293" y="154611"/>
                </a:lnTo>
                <a:cubicBezTo>
                  <a:pt x="329066" y="153477"/>
                  <a:pt x="328952" y="152684"/>
                  <a:pt x="328952" y="152230"/>
                </a:cubicBezTo>
                <a:cubicBezTo>
                  <a:pt x="328952" y="152117"/>
                  <a:pt x="329122" y="151209"/>
                  <a:pt x="329463" y="149509"/>
                </a:cubicBezTo>
                <a:close/>
                <a:moveTo>
                  <a:pt x="295955" y="91678"/>
                </a:moveTo>
                <a:lnTo>
                  <a:pt x="233702" y="156142"/>
                </a:lnTo>
                <a:lnTo>
                  <a:pt x="274184" y="198834"/>
                </a:lnTo>
                <a:lnTo>
                  <a:pt x="296635" y="92699"/>
                </a:lnTo>
                <a:lnTo>
                  <a:pt x="296125" y="91848"/>
                </a:lnTo>
                <a:close/>
                <a:moveTo>
                  <a:pt x="56980" y="91168"/>
                </a:moveTo>
                <a:cubicBezTo>
                  <a:pt x="55506" y="92075"/>
                  <a:pt x="53861" y="92642"/>
                  <a:pt x="52047" y="92869"/>
                </a:cubicBezTo>
                <a:lnTo>
                  <a:pt x="19050" y="150019"/>
                </a:lnTo>
                <a:cubicBezTo>
                  <a:pt x="19163" y="150472"/>
                  <a:pt x="19220" y="151209"/>
                  <a:pt x="19220" y="152230"/>
                </a:cubicBezTo>
                <a:cubicBezTo>
                  <a:pt x="19220" y="153364"/>
                  <a:pt x="19106" y="154214"/>
                  <a:pt x="18880" y="154781"/>
                </a:cubicBezTo>
                <a:lnTo>
                  <a:pt x="54258" y="216013"/>
                </a:lnTo>
                <a:cubicBezTo>
                  <a:pt x="54485" y="216013"/>
                  <a:pt x="54740" y="216070"/>
                  <a:pt x="55024" y="216184"/>
                </a:cubicBezTo>
                <a:cubicBezTo>
                  <a:pt x="55307" y="216297"/>
                  <a:pt x="55619" y="216439"/>
                  <a:pt x="55959" y="216609"/>
                </a:cubicBezTo>
                <a:cubicBezTo>
                  <a:pt x="56299" y="216779"/>
                  <a:pt x="56583" y="216921"/>
                  <a:pt x="56810" y="217034"/>
                </a:cubicBezTo>
                <a:lnTo>
                  <a:pt x="88786" y="183186"/>
                </a:lnTo>
                <a:lnTo>
                  <a:pt x="88786" y="124165"/>
                </a:lnTo>
                <a:close/>
                <a:moveTo>
                  <a:pt x="88786" y="72458"/>
                </a:moveTo>
                <a:lnTo>
                  <a:pt x="60892" y="82493"/>
                </a:lnTo>
                <a:cubicBezTo>
                  <a:pt x="60892" y="82607"/>
                  <a:pt x="60920" y="82720"/>
                  <a:pt x="60977" y="82834"/>
                </a:cubicBezTo>
                <a:cubicBezTo>
                  <a:pt x="61033" y="82947"/>
                  <a:pt x="61062" y="83060"/>
                  <a:pt x="61062" y="83174"/>
                </a:cubicBezTo>
                <a:cubicBezTo>
                  <a:pt x="61062" y="84988"/>
                  <a:pt x="60608" y="86632"/>
                  <a:pt x="59701" y="88106"/>
                </a:cubicBezTo>
                <a:lnTo>
                  <a:pt x="88786" y="118212"/>
                </a:lnTo>
                <a:close/>
                <a:moveTo>
                  <a:pt x="132499" y="56640"/>
                </a:moveTo>
                <a:lnTo>
                  <a:pt x="93889" y="70587"/>
                </a:lnTo>
                <a:lnTo>
                  <a:pt x="93889" y="123485"/>
                </a:lnTo>
                <a:lnTo>
                  <a:pt x="119913" y="150189"/>
                </a:lnTo>
                <a:lnTo>
                  <a:pt x="170429" y="96781"/>
                </a:lnTo>
                <a:close/>
                <a:moveTo>
                  <a:pt x="88786" y="29085"/>
                </a:moveTo>
                <a:lnTo>
                  <a:pt x="61062" y="77051"/>
                </a:lnTo>
                <a:lnTo>
                  <a:pt x="88786" y="67015"/>
                </a:lnTo>
                <a:close/>
                <a:moveTo>
                  <a:pt x="96270" y="18370"/>
                </a:moveTo>
                <a:cubicBezTo>
                  <a:pt x="95590" y="18597"/>
                  <a:pt x="95023" y="18767"/>
                  <a:pt x="94569" y="18880"/>
                </a:cubicBezTo>
                <a:lnTo>
                  <a:pt x="93889" y="20241"/>
                </a:lnTo>
                <a:lnTo>
                  <a:pt x="93889" y="65144"/>
                </a:lnTo>
                <a:lnTo>
                  <a:pt x="128757" y="52558"/>
                </a:lnTo>
                <a:close/>
                <a:moveTo>
                  <a:pt x="251902" y="18030"/>
                </a:moveTo>
                <a:lnTo>
                  <a:pt x="177573" y="96781"/>
                </a:lnTo>
                <a:lnTo>
                  <a:pt x="230301" y="152400"/>
                </a:lnTo>
                <a:lnTo>
                  <a:pt x="292213" y="88106"/>
                </a:lnTo>
                <a:cubicBezTo>
                  <a:pt x="291306" y="86632"/>
                  <a:pt x="290852" y="84988"/>
                  <a:pt x="290852" y="83174"/>
                </a:cubicBezTo>
                <a:lnTo>
                  <a:pt x="290852" y="82834"/>
                </a:lnTo>
                <a:lnTo>
                  <a:pt x="254113" y="18880"/>
                </a:lnTo>
                <a:cubicBezTo>
                  <a:pt x="253546" y="18767"/>
                  <a:pt x="252809" y="18483"/>
                  <a:pt x="251902" y="18030"/>
                </a:cubicBezTo>
                <a:close/>
                <a:moveTo>
                  <a:pt x="243397" y="16669"/>
                </a:moveTo>
                <a:lnTo>
                  <a:pt x="137772" y="54769"/>
                </a:lnTo>
                <a:lnTo>
                  <a:pt x="174001" y="93039"/>
                </a:lnTo>
                <a:lnTo>
                  <a:pt x="246119" y="16669"/>
                </a:lnTo>
                <a:close/>
                <a:moveTo>
                  <a:pt x="101713" y="16669"/>
                </a:moveTo>
                <a:lnTo>
                  <a:pt x="134030" y="50687"/>
                </a:lnTo>
                <a:lnTo>
                  <a:pt x="228260" y="16669"/>
                </a:lnTo>
                <a:lnTo>
                  <a:pt x="180635" y="16669"/>
                </a:lnTo>
                <a:cubicBezTo>
                  <a:pt x="178820" y="18483"/>
                  <a:pt x="176666" y="19390"/>
                  <a:pt x="174171" y="19390"/>
                </a:cubicBezTo>
                <a:cubicBezTo>
                  <a:pt x="171677" y="19390"/>
                  <a:pt x="169522" y="18483"/>
                  <a:pt x="167708" y="16669"/>
                </a:cubicBezTo>
                <a:close/>
                <a:moveTo>
                  <a:pt x="92018" y="0"/>
                </a:moveTo>
                <a:cubicBezTo>
                  <a:pt x="94966" y="0"/>
                  <a:pt x="97461" y="1191"/>
                  <a:pt x="99502" y="3572"/>
                </a:cubicBezTo>
                <a:lnTo>
                  <a:pt x="166857" y="3572"/>
                </a:lnTo>
                <a:cubicBezTo>
                  <a:pt x="168672" y="1191"/>
                  <a:pt x="171110" y="0"/>
                  <a:pt x="174171" y="0"/>
                </a:cubicBezTo>
                <a:cubicBezTo>
                  <a:pt x="177233" y="0"/>
                  <a:pt x="179671" y="1191"/>
                  <a:pt x="181485" y="3572"/>
                </a:cubicBezTo>
                <a:lnTo>
                  <a:pt x="249181" y="3572"/>
                </a:lnTo>
                <a:cubicBezTo>
                  <a:pt x="251222" y="1191"/>
                  <a:pt x="253716" y="0"/>
                  <a:pt x="256664" y="0"/>
                </a:cubicBezTo>
                <a:cubicBezTo>
                  <a:pt x="259273" y="0"/>
                  <a:pt x="261540" y="936"/>
                  <a:pt x="263468" y="2807"/>
                </a:cubicBezTo>
                <a:cubicBezTo>
                  <a:pt x="265396" y="4678"/>
                  <a:pt x="266360" y="6974"/>
                  <a:pt x="266360" y="9695"/>
                </a:cubicBezTo>
                <a:cubicBezTo>
                  <a:pt x="266360" y="10376"/>
                  <a:pt x="266133" y="11396"/>
                  <a:pt x="265679" y="12757"/>
                </a:cubicBezTo>
                <a:lnTo>
                  <a:pt x="300888" y="73649"/>
                </a:lnTo>
                <a:cubicBezTo>
                  <a:pt x="303496" y="73762"/>
                  <a:pt x="305707" y="74754"/>
                  <a:pt x="307521" y="76625"/>
                </a:cubicBezTo>
                <a:cubicBezTo>
                  <a:pt x="309335" y="78496"/>
                  <a:pt x="310243" y="80679"/>
                  <a:pt x="310243" y="83174"/>
                </a:cubicBezTo>
                <a:cubicBezTo>
                  <a:pt x="310243" y="84648"/>
                  <a:pt x="309846" y="86179"/>
                  <a:pt x="309052" y="87766"/>
                </a:cubicBezTo>
                <a:lnTo>
                  <a:pt x="340859" y="142875"/>
                </a:lnTo>
                <a:cubicBezTo>
                  <a:pt x="343013" y="143329"/>
                  <a:pt x="344799" y="144434"/>
                  <a:pt x="346216" y="146192"/>
                </a:cubicBezTo>
                <a:cubicBezTo>
                  <a:pt x="347634" y="147949"/>
                  <a:pt x="348343" y="149962"/>
                  <a:pt x="348343" y="152230"/>
                </a:cubicBezTo>
                <a:cubicBezTo>
                  <a:pt x="348343" y="154611"/>
                  <a:pt x="347606" y="156681"/>
                  <a:pt x="346131" y="158438"/>
                </a:cubicBezTo>
                <a:cubicBezTo>
                  <a:pt x="344657" y="160196"/>
                  <a:pt x="342786" y="161301"/>
                  <a:pt x="340518" y="161755"/>
                </a:cubicBezTo>
                <a:lnTo>
                  <a:pt x="305650" y="222307"/>
                </a:lnTo>
                <a:cubicBezTo>
                  <a:pt x="305990" y="223327"/>
                  <a:pt x="306160" y="224348"/>
                  <a:pt x="306160" y="225368"/>
                </a:cubicBezTo>
                <a:cubicBezTo>
                  <a:pt x="306160" y="227636"/>
                  <a:pt x="305452" y="229649"/>
                  <a:pt x="304034" y="231407"/>
                </a:cubicBezTo>
                <a:cubicBezTo>
                  <a:pt x="302617" y="233164"/>
                  <a:pt x="300774" y="234270"/>
                  <a:pt x="298506" y="234723"/>
                </a:cubicBezTo>
                <a:lnTo>
                  <a:pt x="265679" y="292043"/>
                </a:lnTo>
                <a:cubicBezTo>
                  <a:pt x="266019" y="292951"/>
                  <a:pt x="266189" y="293858"/>
                  <a:pt x="266189" y="294765"/>
                </a:cubicBezTo>
                <a:cubicBezTo>
                  <a:pt x="266189" y="297373"/>
                  <a:pt x="265254" y="299641"/>
                  <a:pt x="263383" y="301568"/>
                </a:cubicBezTo>
                <a:cubicBezTo>
                  <a:pt x="261512" y="303496"/>
                  <a:pt x="259216" y="304460"/>
                  <a:pt x="256494" y="304460"/>
                </a:cubicBezTo>
                <a:cubicBezTo>
                  <a:pt x="253660" y="304460"/>
                  <a:pt x="251335" y="303439"/>
                  <a:pt x="249521" y="301398"/>
                </a:cubicBezTo>
                <a:lnTo>
                  <a:pt x="181485" y="301398"/>
                </a:lnTo>
                <a:cubicBezTo>
                  <a:pt x="179557" y="303666"/>
                  <a:pt x="177119" y="304800"/>
                  <a:pt x="174171" y="304800"/>
                </a:cubicBezTo>
                <a:cubicBezTo>
                  <a:pt x="171223" y="304800"/>
                  <a:pt x="168785" y="303666"/>
                  <a:pt x="166857" y="301398"/>
                </a:cubicBezTo>
                <a:lnTo>
                  <a:pt x="98992" y="301398"/>
                </a:lnTo>
                <a:cubicBezTo>
                  <a:pt x="97064" y="303666"/>
                  <a:pt x="94626" y="304800"/>
                  <a:pt x="91678" y="304800"/>
                </a:cubicBezTo>
                <a:cubicBezTo>
                  <a:pt x="89070" y="304800"/>
                  <a:pt x="86802" y="303865"/>
                  <a:pt x="84874" y="301994"/>
                </a:cubicBezTo>
                <a:cubicBezTo>
                  <a:pt x="82947" y="300123"/>
                  <a:pt x="81983" y="297826"/>
                  <a:pt x="81983" y="295105"/>
                </a:cubicBezTo>
                <a:cubicBezTo>
                  <a:pt x="81983" y="294198"/>
                  <a:pt x="82210" y="293064"/>
                  <a:pt x="82663" y="291703"/>
                </a:cubicBezTo>
                <a:lnTo>
                  <a:pt x="49836" y="234723"/>
                </a:lnTo>
                <a:cubicBezTo>
                  <a:pt x="47568" y="234270"/>
                  <a:pt x="45725" y="233164"/>
                  <a:pt x="44308" y="231407"/>
                </a:cubicBezTo>
                <a:cubicBezTo>
                  <a:pt x="42891" y="229649"/>
                  <a:pt x="42182" y="227636"/>
                  <a:pt x="42182" y="225368"/>
                </a:cubicBezTo>
                <a:cubicBezTo>
                  <a:pt x="42182" y="224348"/>
                  <a:pt x="42352" y="223327"/>
                  <a:pt x="42692" y="222307"/>
                </a:cubicBezTo>
                <a:lnTo>
                  <a:pt x="7654" y="161755"/>
                </a:lnTo>
                <a:cubicBezTo>
                  <a:pt x="5386" y="161188"/>
                  <a:pt x="3543" y="160026"/>
                  <a:pt x="2126" y="158268"/>
                </a:cubicBezTo>
                <a:cubicBezTo>
                  <a:pt x="708" y="156511"/>
                  <a:pt x="0" y="154498"/>
                  <a:pt x="0" y="152230"/>
                </a:cubicBezTo>
                <a:cubicBezTo>
                  <a:pt x="0" y="149849"/>
                  <a:pt x="765" y="147779"/>
                  <a:pt x="2296" y="146022"/>
                </a:cubicBezTo>
                <a:cubicBezTo>
                  <a:pt x="3827" y="144264"/>
                  <a:pt x="5726" y="143159"/>
                  <a:pt x="7994" y="142705"/>
                </a:cubicBezTo>
                <a:lnTo>
                  <a:pt x="41842" y="84194"/>
                </a:lnTo>
                <a:cubicBezTo>
                  <a:pt x="41842" y="84081"/>
                  <a:pt x="41813" y="83911"/>
                  <a:pt x="41757" y="83684"/>
                </a:cubicBezTo>
                <a:cubicBezTo>
                  <a:pt x="41700" y="83457"/>
                  <a:pt x="41672" y="83287"/>
                  <a:pt x="41672" y="83174"/>
                </a:cubicBezTo>
                <a:cubicBezTo>
                  <a:pt x="41672" y="79092"/>
                  <a:pt x="43599" y="76200"/>
                  <a:pt x="47455" y="74499"/>
                </a:cubicBezTo>
                <a:lnTo>
                  <a:pt x="83003" y="12757"/>
                </a:lnTo>
                <a:cubicBezTo>
                  <a:pt x="82550" y="11623"/>
                  <a:pt x="82323" y="10602"/>
                  <a:pt x="82323" y="9695"/>
                </a:cubicBezTo>
                <a:cubicBezTo>
                  <a:pt x="82323" y="6974"/>
                  <a:pt x="83287" y="4678"/>
                  <a:pt x="85214" y="2807"/>
                </a:cubicBezTo>
                <a:cubicBezTo>
                  <a:pt x="87142" y="936"/>
                  <a:pt x="89410" y="0"/>
                  <a:pt x="920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1828800"/>
            <a:endParaRPr lang="en-IN" sz="4800" dirty="0">
              <a:solidFill>
                <a:prstClr val="white"/>
              </a:solidFill>
              <a:latin typeface="Raleway" panose="020B0503030101060003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950522" y="5012342"/>
            <a:ext cx="10139910" cy="1194896"/>
            <a:chOff x="1383666" y="1769853"/>
            <a:chExt cx="10916103" cy="936211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3"/>
              <a:ext cx="1043489" cy="936210"/>
            </a:xfrm>
            <a:prstGeom prst="rect">
              <a:avLst/>
            </a:prstGeom>
            <a:solidFill>
              <a:srgbClr val="3C7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101" name="Rectangle 100"/>
          <p:cNvSpPr/>
          <p:nvPr/>
        </p:nvSpPr>
        <p:spPr>
          <a:xfrm>
            <a:off x="1977547" y="4951029"/>
            <a:ext cx="88463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>
                <a:solidFill>
                  <a:srgbClr val="4C287F"/>
                </a:solidFill>
                <a:cs typeface="Segoe UI" panose="020B0502040204020203" pitchFamily="34" charset="0"/>
              </a:rPr>
              <a:t> Partially </a:t>
            </a:r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Connected Layer</a:t>
            </a:r>
            <a:endParaRPr lang="ko-KR" altLang="en-US" sz="2800" b="1" dirty="0">
              <a:solidFill>
                <a:srgbClr val="4C287F"/>
              </a:solidFill>
              <a:cs typeface="Segoe UI" panose="020B0502040204020203" pitchFamily="34" charset="0"/>
            </a:endParaRPr>
          </a:p>
        </p:txBody>
      </p:sp>
      <p:sp>
        <p:nvSpPr>
          <p:cNvPr id="103" name="Rectangle 30">
            <a:extLst>
              <a:ext uri="{FF2B5EF4-FFF2-40B4-BE49-F238E27FC236}">
                <a16:creationId xmlns:a16="http://schemas.microsoft.com/office/drawing/2014/main" id="{F27A16BA-84A3-4FAC-B237-80E8979D627D}"/>
              </a:ext>
            </a:extLst>
          </p:cNvPr>
          <p:cNvSpPr/>
          <p:nvPr/>
        </p:nvSpPr>
        <p:spPr>
          <a:xfrm>
            <a:off x="1200386" y="5372849"/>
            <a:ext cx="432077" cy="473880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srgbClr val="FFFFFF"/>
              </a:solidFill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295987" y="5428207"/>
            <a:ext cx="8605770" cy="738664"/>
            <a:chOff x="2398672" y="4944766"/>
            <a:chExt cx="9203336" cy="73866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44766"/>
              <a:ext cx="8847780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In a Partially Connected Layer, each Unit </a:t>
              </a:r>
              <a:r>
                <a:rPr lang="en-US" altLang="ko-KR" sz="24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does not</a:t>
              </a:r>
              <a:r>
                <a:rPr lang="en-US" altLang="ko-KR" sz="24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 receive input from </a:t>
              </a:r>
              <a:r>
                <a:rPr lang="en-US" altLang="ko-KR" sz="24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every Unit</a:t>
              </a:r>
              <a:r>
                <a:rPr lang="en-US" altLang="ko-KR" sz="2400" b="1" dirty="0">
                  <a:solidFill>
                    <a:prstClr val="black"/>
                  </a:solidFill>
                  <a:cs typeface="Segoe UI" panose="020B0502040204020203" pitchFamily="34" charset="0"/>
                </a:rPr>
                <a:t> of the previous layer</a:t>
              </a:r>
              <a:endParaRPr lang="ko-KR" altLang="en-US" sz="2400" b="1" dirty="0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41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07704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76" grpId="0"/>
      <p:bldP spid="80" grpId="0"/>
      <p:bldP spid="93" grpId="0"/>
      <p:bldP spid="10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838198" y="365126"/>
            <a:ext cx="8343901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Example – Fully Connected ANN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8"/>
            <a:ext cx="6853784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328" y="1334384"/>
            <a:ext cx="7822736" cy="45364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48027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838198" y="365126"/>
            <a:ext cx="8343901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Example – Partially Connected ANN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9"/>
            <a:ext cx="7596734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800" y="1258824"/>
            <a:ext cx="7739609" cy="46328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92374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198" y="365126"/>
            <a:ext cx="8343901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Feed Forward Network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7"/>
            <a:ext cx="4901159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947191" y="1385043"/>
            <a:ext cx="10368509" cy="1187511"/>
            <a:chOff x="1000145" y="3964496"/>
            <a:chExt cx="9694544" cy="1954293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186D63A-EB08-47AC-8EFC-8BEC55359447}"/>
                </a:ext>
              </a:extLst>
            </p:cNvPr>
            <p:cNvSpPr/>
            <p:nvPr/>
          </p:nvSpPr>
          <p:spPr>
            <a:xfrm>
              <a:off x="2477995" y="4418627"/>
              <a:ext cx="8216694" cy="150016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kern="0" dirty="0">
                <a:solidFill>
                  <a:srgbClr val="FFFFFF"/>
                </a:solidFill>
              </a:endParaRPr>
            </a:p>
          </p:txBody>
        </p:sp>
        <p:sp>
          <p:nvSpPr>
            <p:cNvPr id="38" name="Diagonal Stripe 38">
              <a:extLst>
                <a:ext uri="{FF2B5EF4-FFF2-40B4-BE49-F238E27FC236}">
                  <a16:creationId xmlns:a16="http://schemas.microsoft.com/office/drawing/2014/main" id="{D71B33F0-6AE0-4F8D-9320-30E04DA32349}"/>
                </a:ext>
              </a:extLst>
            </p:cNvPr>
            <p:cNvSpPr/>
            <p:nvPr/>
          </p:nvSpPr>
          <p:spPr>
            <a:xfrm>
              <a:off x="2467691" y="4755921"/>
              <a:ext cx="432026" cy="713492"/>
            </a:xfrm>
            <a:custGeom>
              <a:avLst/>
              <a:gdLst>
                <a:gd name="connsiteX0" fmla="*/ 357 h 591"/>
                <a:gd name="connsiteY0" fmla="*/ 548199 h 1096397"/>
                <a:gd name="connsiteX1" fmla="*/ 475709 w 951418"/>
                <a:gd name="connsiteY1" fmla="*/ 0 h 1096397"/>
                <a:gd name="connsiteX2" fmla="*/ 951418 w 951418"/>
                <a:gd name="connsiteY2" fmla="*/ 0 h 1096397"/>
                <a:gd name="connsiteX3" fmla="*/ 357 h 591"/>
                <a:gd name="connsiteY3" fmla="*/ 1096397 h 1096397"/>
                <a:gd name="connsiteX4" fmla="*/ 357 h 591"/>
                <a:gd name="connsiteY4" fmla="*/ 548199 h 1096397"/>
                <a:gd name="connsiteX0" fmla="*/ 0 w 475709"/>
                <a:gd name="connsiteY0" fmla="*/ 548199 h 1096397"/>
                <a:gd name="connsiteX1" fmla="*/ 475709 w 475709"/>
                <a:gd name="connsiteY1" fmla="*/ 0 h 1096397"/>
                <a:gd name="connsiteX2" fmla="*/ 465643 w 475709"/>
                <a:gd name="connsiteY2" fmla="*/ 371475 h 1096397"/>
                <a:gd name="connsiteX3" fmla="*/ 0 w 475709"/>
                <a:gd name="connsiteY3" fmla="*/ 1096397 h 1096397"/>
                <a:gd name="connsiteX4" fmla="*/ 0 w 475709"/>
                <a:gd name="connsiteY4" fmla="*/ 548199 h 1096397"/>
                <a:gd name="connsiteX0" fmla="*/ 0 w 608518"/>
                <a:gd name="connsiteY0" fmla="*/ 548199 h 1096397"/>
                <a:gd name="connsiteX1" fmla="*/ 475709 w 608518"/>
                <a:gd name="connsiteY1" fmla="*/ 0 h 1096397"/>
                <a:gd name="connsiteX2" fmla="*/ 608518 w 608518"/>
                <a:gd name="connsiteY2" fmla="*/ 371475 h 1096397"/>
                <a:gd name="connsiteX3" fmla="*/ 0 w 608518"/>
                <a:gd name="connsiteY3" fmla="*/ 1096397 h 1096397"/>
                <a:gd name="connsiteX4" fmla="*/ 0 w 608518"/>
                <a:gd name="connsiteY4" fmla="*/ 548199 h 109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18" h="1096397">
                  <a:moveTo>
                    <a:pt x="0" y="548199"/>
                  </a:moveTo>
                  <a:lnTo>
                    <a:pt x="475709" y="0"/>
                  </a:lnTo>
                  <a:lnTo>
                    <a:pt x="608518" y="371475"/>
                  </a:lnTo>
                  <a:lnTo>
                    <a:pt x="0" y="1096397"/>
                  </a:lnTo>
                  <a:lnTo>
                    <a:pt x="0" y="54819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kern="0">
                <a:solidFill>
                  <a:srgbClr val="262626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BE7187-34D5-4D31-B548-970B0259E86B}"/>
                </a:ext>
              </a:extLst>
            </p:cNvPr>
            <p:cNvSpPr/>
            <p:nvPr/>
          </p:nvSpPr>
          <p:spPr>
            <a:xfrm>
              <a:off x="1000145" y="3964496"/>
              <a:ext cx="1899572" cy="1207365"/>
            </a:xfrm>
            <a:prstGeom prst="rect">
              <a:avLst/>
            </a:prstGeom>
            <a:solidFill>
              <a:srgbClr val="00808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sz="2800" b="1" kern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0C7EF375-277C-4F70-9135-F1E7C23F0B3A}"/>
              </a:ext>
            </a:extLst>
          </p:cNvPr>
          <p:cNvSpPr/>
          <p:nvPr/>
        </p:nvSpPr>
        <p:spPr>
          <a:xfrm>
            <a:off x="871617" y="1450973"/>
            <a:ext cx="218277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263">
              <a:defRPr/>
            </a:pPr>
            <a:r>
              <a:rPr lang="en-US" sz="3000" b="1" kern="0" dirty="0">
                <a:solidFill>
                  <a:srgbClr val="FFFFFF"/>
                </a:solidFill>
                <a:cs typeface="Segoe UI" panose="020B0502040204020203" pitchFamily="34" charset="0"/>
              </a:rPr>
              <a:t>Question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947191" y="3030919"/>
            <a:ext cx="10368509" cy="3141281"/>
            <a:chOff x="1000145" y="3620567"/>
            <a:chExt cx="9694544" cy="4491076"/>
          </a:xfrm>
          <a:solidFill>
            <a:schemeClr val="accent1">
              <a:lumMod val="50000"/>
            </a:schemeClr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186D63A-EB08-47AC-8EFC-8BEC55359447}"/>
                </a:ext>
              </a:extLst>
            </p:cNvPr>
            <p:cNvSpPr/>
            <p:nvPr/>
          </p:nvSpPr>
          <p:spPr>
            <a:xfrm>
              <a:off x="2477995" y="4046542"/>
              <a:ext cx="8216694" cy="406510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kern="0" dirty="0">
                <a:solidFill>
                  <a:srgbClr val="FFFFFF"/>
                </a:solidFill>
              </a:endParaRPr>
            </a:p>
          </p:txBody>
        </p:sp>
        <p:sp>
          <p:nvSpPr>
            <p:cNvPr id="54" name="Diagonal Stripe 38">
              <a:extLst>
                <a:ext uri="{FF2B5EF4-FFF2-40B4-BE49-F238E27FC236}">
                  <a16:creationId xmlns:a16="http://schemas.microsoft.com/office/drawing/2014/main" id="{D71B33F0-6AE0-4F8D-9320-30E04DA32349}"/>
                </a:ext>
              </a:extLst>
            </p:cNvPr>
            <p:cNvSpPr/>
            <p:nvPr/>
          </p:nvSpPr>
          <p:spPr>
            <a:xfrm>
              <a:off x="2467691" y="4353987"/>
              <a:ext cx="432026" cy="713492"/>
            </a:xfrm>
            <a:custGeom>
              <a:avLst/>
              <a:gdLst>
                <a:gd name="connsiteX0" fmla="*/ 357 h 591"/>
                <a:gd name="connsiteY0" fmla="*/ 548199 h 1096397"/>
                <a:gd name="connsiteX1" fmla="*/ 475709 w 951418"/>
                <a:gd name="connsiteY1" fmla="*/ 0 h 1096397"/>
                <a:gd name="connsiteX2" fmla="*/ 951418 w 951418"/>
                <a:gd name="connsiteY2" fmla="*/ 0 h 1096397"/>
                <a:gd name="connsiteX3" fmla="*/ 357 h 591"/>
                <a:gd name="connsiteY3" fmla="*/ 1096397 h 1096397"/>
                <a:gd name="connsiteX4" fmla="*/ 357 h 591"/>
                <a:gd name="connsiteY4" fmla="*/ 548199 h 1096397"/>
                <a:gd name="connsiteX0" fmla="*/ 0 w 475709"/>
                <a:gd name="connsiteY0" fmla="*/ 548199 h 1096397"/>
                <a:gd name="connsiteX1" fmla="*/ 475709 w 475709"/>
                <a:gd name="connsiteY1" fmla="*/ 0 h 1096397"/>
                <a:gd name="connsiteX2" fmla="*/ 465643 w 475709"/>
                <a:gd name="connsiteY2" fmla="*/ 371475 h 1096397"/>
                <a:gd name="connsiteX3" fmla="*/ 0 w 475709"/>
                <a:gd name="connsiteY3" fmla="*/ 1096397 h 1096397"/>
                <a:gd name="connsiteX4" fmla="*/ 0 w 475709"/>
                <a:gd name="connsiteY4" fmla="*/ 548199 h 1096397"/>
                <a:gd name="connsiteX0" fmla="*/ 0 w 608518"/>
                <a:gd name="connsiteY0" fmla="*/ 548199 h 1096397"/>
                <a:gd name="connsiteX1" fmla="*/ 475709 w 608518"/>
                <a:gd name="connsiteY1" fmla="*/ 0 h 1096397"/>
                <a:gd name="connsiteX2" fmla="*/ 608518 w 608518"/>
                <a:gd name="connsiteY2" fmla="*/ 371475 h 1096397"/>
                <a:gd name="connsiteX3" fmla="*/ 0 w 608518"/>
                <a:gd name="connsiteY3" fmla="*/ 1096397 h 1096397"/>
                <a:gd name="connsiteX4" fmla="*/ 0 w 608518"/>
                <a:gd name="connsiteY4" fmla="*/ 548199 h 109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18" h="1096397">
                  <a:moveTo>
                    <a:pt x="0" y="548199"/>
                  </a:moveTo>
                  <a:lnTo>
                    <a:pt x="475709" y="0"/>
                  </a:lnTo>
                  <a:lnTo>
                    <a:pt x="608518" y="371475"/>
                  </a:lnTo>
                  <a:lnTo>
                    <a:pt x="0" y="1096397"/>
                  </a:lnTo>
                  <a:lnTo>
                    <a:pt x="0" y="54819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kern="0">
                <a:solidFill>
                  <a:srgbClr val="262626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CBE7187-34D5-4D31-B548-970B0259E86B}"/>
                </a:ext>
              </a:extLst>
            </p:cNvPr>
            <p:cNvSpPr/>
            <p:nvPr/>
          </p:nvSpPr>
          <p:spPr>
            <a:xfrm>
              <a:off x="1000145" y="3620567"/>
              <a:ext cx="1899572" cy="1073473"/>
            </a:xfrm>
            <a:prstGeom prst="rect">
              <a:avLst/>
            </a:prstGeom>
            <a:solidFill>
              <a:srgbClr val="B73538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914263">
                <a:defRPr/>
              </a:pPr>
              <a:endParaRPr lang="en-US" sz="2800" b="1" kern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0C7EF375-277C-4F70-9135-F1E7C23F0B3A}"/>
              </a:ext>
            </a:extLst>
          </p:cNvPr>
          <p:cNvSpPr/>
          <p:nvPr/>
        </p:nvSpPr>
        <p:spPr>
          <a:xfrm>
            <a:off x="947191" y="3118887"/>
            <a:ext cx="18452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263">
              <a:defRPr/>
            </a:pPr>
            <a:r>
              <a:rPr lang="en-US" sz="3000" b="1" kern="0" dirty="0">
                <a:solidFill>
                  <a:srgbClr val="FFFFFF"/>
                </a:solidFill>
                <a:cs typeface="Segoe UI" panose="020B0502040204020203" pitchFamily="34" charset="0"/>
              </a:rPr>
              <a:t>Answer 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3129968" y="5184174"/>
            <a:ext cx="7947607" cy="954107"/>
            <a:chOff x="2863608" y="2923552"/>
            <a:chExt cx="7947607" cy="95410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39CCFEC-CD92-4BA1-A347-9B9110E40290}"/>
                </a:ext>
              </a:extLst>
            </p:cNvPr>
            <p:cNvSpPr/>
            <p:nvPr/>
          </p:nvSpPr>
          <p:spPr>
            <a:xfrm>
              <a:off x="3151775" y="2923552"/>
              <a:ext cx="765944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defTabSz="914263">
                <a:defRPr/>
              </a:pPr>
              <a:r>
                <a:rPr lang="en-US" sz="2800" b="1" dirty="0">
                  <a:solidFill>
                    <a:prstClr val="black"/>
                  </a:solidFill>
                </a:rPr>
                <a:t>Note that </a:t>
              </a:r>
              <a:r>
                <a:rPr lang="en-US" sz="2800" b="1" dirty="0">
                  <a:solidFill>
                    <a:srgbClr val="FF0000"/>
                  </a:solidFill>
                </a:rPr>
                <a:t>calculations</a:t>
              </a:r>
              <a:r>
                <a:rPr lang="en-US" sz="2800" b="1" dirty="0">
                  <a:solidFill>
                    <a:prstClr val="black"/>
                  </a:solidFill>
                </a:rPr>
                <a:t> are performed at </a:t>
              </a:r>
              <a:r>
                <a:rPr lang="en-US" sz="2800" b="1" dirty="0">
                  <a:solidFill>
                    <a:srgbClr val="FF0000"/>
                  </a:solidFill>
                </a:rPr>
                <a:t>each</a:t>
              </a:r>
              <a:r>
                <a:rPr lang="en-US" sz="2800" b="1" dirty="0">
                  <a:solidFill>
                    <a:prstClr val="black"/>
                  </a:solidFill>
                </a:rPr>
                <a:t> Hidden and Output Unit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  <p:sp>
          <p:nvSpPr>
            <p:cNvPr id="60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863608" y="3117346"/>
              <a:ext cx="216593" cy="195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3544281" y="4813675"/>
            <a:ext cx="8444659" cy="332399"/>
            <a:chOff x="2868406" y="1915405"/>
            <a:chExt cx="8444659" cy="332399"/>
          </a:xfrm>
        </p:grpSpPr>
        <p:sp>
          <p:nvSpPr>
            <p:cNvPr id="62" name="Rectangle 61"/>
            <p:cNvSpPr/>
            <p:nvPr/>
          </p:nvSpPr>
          <p:spPr>
            <a:xfrm>
              <a:off x="2868406" y="1976658"/>
              <a:ext cx="106153" cy="209895"/>
            </a:xfrm>
            <a:prstGeom prst="rect">
              <a:avLst/>
            </a:prstGeom>
            <a:noFill/>
            <a:ln w="38100">
              <a:solidFill>
                <a:srgbClr val="4C2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4C28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Inhaltsplatzhalter 4"/>
            <p:cNvSpPr txBox="1">
              <a:spLocks/>
            </p:cNvSpPr>
            <p:nvPr/>
          </p:nvSpPr>
          <p:spPr>
            <a:xfrm>
              <a:off x="3251187" y="1915405"/>
              <a:ext cx="8061878" cy="33239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n-US" sz="2400" b="1" dirty="0">
                  <a:solidFill>
                    <a:schemeClr val="tx1"/>
                  </a:solidFill>
                  <a:latin typeface="+mn-lt"/>
                  <a:ea typeface="Lato Heavy" panose="020B0604020202020204" charset="0"/>
                  <a:cs typeface="Segoe UI" panose="020B0502040204020203" pitchFamily="34" charset="0"/>
                </a:rPr>
                <a:t>i.e. Input Layer == &gt; Hidden Layer(s) == &gt; Output Layer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140474" y="3407437"/>
            <a:ext cx="7947607" cy="1384995"/>
            <a:chOff x="2863608" y="2942607"/>
            <a:chExt cx="7947607" cy="1384995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39CCFEC-CD92-4BA1-A347-9B9110E40290}"/>
                </a:ext>
              </a:extLst>
            </p:cNvPr>
            <p:cNvSpPr/>
            <p:nvPr/>
          </p:nvSpPr>
          <p:spPr>
            <a:xfrm>
              <a:off x="3151774" y="2942607"/>
              <a:ext cx="7659441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defTabSz="914263">
                <a:defRPr/>
              </a:pPr>
              <a:r>
                <a:rPr lang="en-GB" sz="2800" b="1" dirty="0"/>
                <a:t>A Simple ANN is also called Feed Forward Network because </a:t>
              </a:r>
              <a:r>
                <a:rPr lang="en-GB" sz="2800" b="1" dirty="0">
                  <a:solidFill>
                    <a:srgbClr val="FF0000"/>
                  </a:solidFill>
                </a:rPr>
                <a:t>numbers</a:t>
              </a:r>
              <a:r>
                <a:rPr lang="en-GB" sz="2800" b="1" dirty="0"/>
                <a:t> in the ANN, move in a </a:t>
              </a:r>
              <a:r>
                <a:rPr lang="en-GB" sz="2800" b="1" dirty="0">
                  <a:solidFill>
                    <a:srgbClr val="FF0000"/>
                  </a:solidFill>
                </a:rPr>
                <a:t>forward</a:t>
              </a:r>
              <a:r>
                <a:rPr lang="en-GB" sz="2800" b="1" dirty="0"/>
                <a:t> direction </a:t>
              </a:r>
              <a:endParaRPr lang="en-US" sz="2800" dirty="0"/>
            </a:p>
          </p:txBody>
        </p:sp>
        <p:sp>
          <p:nvSpPr>
            <p:cNvPr id="69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863608" y="3117346"/>
              <a:ext cx="216593" cy="195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3129967" y="1841559"/>
            <a:ext cx="7947608" cy="523220"/>
            <a:chOff x="2863608" y="2942607"/>
            <a:chExt cx="7947608" cy="52322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39CCFEC-CD92-4BA1-A347-9B9110E40290}"/>
                </a:ext>
              </a:extLst>
            </p:cNvPr>
            <p:cNvSpPr/>
            <p:nvPr/>
          </p:nvSpPr>
          <p:spPr>
            <a:xfrm>
              <a:off x="3151774" y="2942607"/>
              <a:ext cx="76594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defTabSz="914263">
                <a:defRPr/>
              </a:pPr>
              <a:r>
                <a:rPr lang="en-GB" sz="2800" b="1" dirty="0"/>
                <a:t>Why ANN is called a Feed Forward Network?</a:t>
              </a:r>
              <a:endParaRPr lang="en-US" sz="2800" dirty="0"/>
            </a:p>
          </p:txBody>
        </p:sp>
        <p:sp>
          <p:nvSpPr>
            <p:cNvPr id="72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863608" y="3117346"/>
              <a:ext cx="216593" cy="195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2625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838198" y="365126"/>
            <a:ext cx="8343901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Weights – ANN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7"/>
            <a:ext cx="3215234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/>
          <p:nvPr/>
        </p:nvGrpSpPr>
        <p:grpSpPr>
          <a:xfrm>
            <a:off x="947191" y="1196964"/>
            <a:ext cx="10139910" cy="1314386"/>
            <a:chOff x="1383666" y="1769853"/>
            <a:chExt cx="10916103" cy="93621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3"/>
              <a:ext cx="1043489" cy="93621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947191" y="4369915"/>
            <a:ext cx="10139910" cy="1870604"/>
            <a:chOff x="1383666" y="1769853"/>
            <a:chExt cx="10916103" cy="936211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509719" y="1769854"/>
              <a:ext cx="10790050" cy="936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3"/>
              <a:ext cx="1043489" cy="936210"/>
            </a:xfrm>
            <a:prstGeom prst="rect">
              <a:avLst/>
            </a:prstGeom>
            <a:solidFill>
              <a:srgbClr val="1F1E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76" name="Rectangle 75"/>
          <p:cNvSpPr/>
          <p:nvPr/>
        </p:nvSpPr>
        <p:spPr>
          <a:xfrm>
            <a:off x="1974216" y="4368087"/>
            <a:ext cx="38866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To </a:t>
            </a:r>
            <a:r>
              <a:rPr lang="en-US" altLang="ko-KR" sz="2800" b="1" dirty="0">
                <a:solidFill>
                  <a:srgbClr val="FF0000"/>
                </a:solidFill>
                <a:cs typeface="Segoe UI" panose="020B0502040204020203" pitchFamily="34" charset="0"/>
              </a:rPr>
              <a:t>Train</a:t>
            </a:r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 ANN</a:t>
            </a:r>
            <a:endParaRPr lang="ko-KR" altLang="en-US" sz="2800" b="1" dirty="0">
              <a:solidFill>
                <a:srgbClr val="4C287F"/>
              </a:solidFill>
              <a:cs typeface="Segoe UI" panose="020B0502040204020203" pitchFamily="34" charset="0"/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947191" y="2622463"/>
            <a:ext cx="10143241" cy="1636334"/>
            <a:chOff x="1383666" y="1769854"/>
            <a:chExt cx="5841295" cy="938539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4B994D9-DC68-44DB-A575-5EDFE827B6E0}"/>
                </a:ext>
              </a:extLst>
            </p:cNvPr>
            <p:cNvSpPr/>
            <p:nvPr/>
          </p:nvSpPr>
          <p:spPr>
            <a:xfrm>
              <a:off x="1455469" y="1769857"/>
              <a:ext cx="5769492" cy="9385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buSzPct val="100000"/>
              </a:pPr>
              <a:endParaRPr lang="en-US" sz="2400" b="1" dirty="0">
                <a:solidFill>
                  <a:prstClr val="black"/>
                </a:solidFill>
                <a:latin typeface="Segoe UI" panose="020B0502040204020203" pitchFamily="34" charset="0"/>
                <a:ea typeface="Lato Heavy" panose="020B0604020202020204" charset="0"/>
                <a:cs typeface="Segoe UI" panose="020B0502040204020203" pitchFamily="3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5D8F195-67B7-4C3C-A6D3-3F12F893E710}"/>
                </a:ext>
              </a:extLst>
            </p:cNvPr>
            <p:cNvSpPr/>
            <p:nvPr/>
          </p:nvSpPr>
          <p:spPr>
            <a:xfrm rot="10800000">
              <a:off x="1383666" y="1769854"/>
              <a:ext cx="560114" cy="936210"/>
            </a:xfrm>
            <a:prstGeom prst="rect">
              <a:avLst/>
            </a:prstGeom>
            <a:solidFill>
              <a:srgbClr val="7744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</a:endParaRPr>
            </a:p>
          </p:txBody>
        </p:sp>
      </p:grpSp>
      <p:sp>
        <p:nvSpPr>
          <p:cNvPr id="80" name="Rectangle 79"/>
          <p:cNvSpPr/>
          <p:nvPr/>
        </p:nvSpPr>
        <p:spPr>
          <a:xfrm>
            <a:off x="1974216" y="2657573"/>
            <a:ext cx="8262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Recall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2295985" y="3167159"/>
            <a:ext cx="8602439" cy="430887"/>
            <a:chOff x="2398672" y="4901484"/>
            <a:chExt cx="9199774" cy="430887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0666" y="4901484"/>
              <a:ext cx="8847780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cs typeface="Segoe UI" panose="020B0502040204020203" pitchFamily="34" charset="0"/>
                </a:rPr>
                <a:t>Hypothesis (h) Representation in ANNs</a:t>
              </a:r>
              <a:endParaRPr lang="ko-KR" altLang="en-US" sz="2800" b="1" dirty="0">
                <a:cs typeface="Segoe UI" panose="020B0502040204020203" pitchFamily="34" charset="0"/>
              </a:endParaRPr>
            </a:p>
          </p:txBody>
        </p:sp>
        <p:sp>
          <p:nvSpPr>
            <p:cNvPr id="83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2292654" y="4848846"/>
            <a:ext cx="8605770" cy="430887"/>
            <a:chOff x="2398672" y="4924620"/>
            <a:chExt cx="9203336" cy="430887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4228" y="4924620"/>
              <a:ext cx="8847780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cs typeface="Segoe UI" panose="020B0502040204020203" pitchFamily="34" charset="0"/>
                </a:rPr>
                <a:t>Initially, Weights are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randomly</a:t>
              </a:r>
              <a:r>
                <a:rPr lang="en-US" altLang="ko-KR" sz="2800" b="1" dirty="0">
                  <a:cs typeface="Segoe UI" panose="020B0502040204020203" pitchFamily="34" charset="0"/>
                </a:rPr>
                <a:t> assigned</a:t>
              </a:r>
              <a:endParaRPr lang="ko-KR" altLang="en-US" sz="2800" b="1" dirty="0">
                <a:cs typeface="Segoe UI" panose="020B0502040204020203" pitchFamily="34" charset="0"/>
              </a:endParaRPr>
            </a:p>
          </p:txBody>
        </p:sp>
        <p:sp>
          <p:nvSpPr>
            <p:cNvPr id="86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87" name="Freeform 86"/>
          <p:cNvSpPr>
            <a:spLocks/>
          </p:cNvSpPr>
          <p:nvPr/>
        </p:nvSpPr>
        <p:spPr bwMode="auto">
          <a:xfrm>
            <a:off x="1136678" y="1628260"/>
            <a:ext cx="552834" cy="451794"/>
          </a:xfrm>
          <a:custGeom>
            <a:avLst/>
            <a:gdLst>
              <a:gd name="connsiteX0" fmla="*/ 86232 w 455613"/>
              <a:gd name="connsiteY0" fmla="*/ 350838 h 409576"/>
              <a:gd name="connsiteX1" fmla="*/ 87433 w 455613"/>
              <a:gd name="connsiteY1" fmla="*/ 351240 h 409576"/>
              <a:gd name="connsiteX2" fmla="*/ 88233 w 455613"/>
              <a:gd name="connsiteY2" fmla="*/ 352313 h 409576"/>
              <a:gd name="connsiteX3" fmla="*/ 88767 w 455613"/>
              <a:gd name="connsiteY3" fmla="*/ 353788 h 409576"/>
              <a:gd name="connsiteX4" fmla="*/ 88900 w 455613"/>
              <a:gd name="connsiteY4" fmla="*/ 356068 h 409576"/>
              <a:gd name="connsiteX5" fmla="*/ 88900 w 455613"/>
              <a:gd name="connsiteY5" fmla="*/ 409576 h 409576"/>
              <a:gd name="connsiteX6" fmla="*/ 41275 w 455613"/>
              <a:gd name="connsiteY6" fmla="*/ 409576 h 409576"/>
              <a:gd name="connsiteX7" fmla="*/ 41275 w 455613"/>
              <a:gd name="connsiteY7" fmla="*/ 401530 h 409576"/>
              <a:gd name="connsiteX8" fmla="*/ 41542 w 455613"/>
              <a:gd name="connsiteY8" fmla="*/ 399116 h 409576"/>
              <a:gd name="connsiteX9" fmla="*/ 42342 w 455613"/>
              <a:gd name="connsiteY9" fmla="*/ 396568 h 409576"/>
              <a:gd name="connsiteX10" fmla="*/ 43410 w 455613"/>
              <a:gd name="connsiteY10" fmla="*/ 393752 h 409576"/>
              <a:gd name="connsiteX11" fmla="*/ 44744 w 455613"/>
              <a:gd name="connsiteY11" fmla="*/ 391070 h 409576"/>
              <a:gd name="connsiteX12" fmla="*/ 46611 w 455613"/>
              <a:gd name="connsiteY12" fmla="*/ 388388 h 409576"/>
              <a:gd name="connsiteX13" fmla="*/ 48479 w 455613"/>
              <a:gd name="connsiteY13" fmla="*/ 386376 h 409576"/>
              <a:gd name="connsiteX14" fmla="*/ 62219 w 455613"/>
              <a:gd name="connsiteY14" fmla="*/ 372563 h 409576"/>
              <a:gd name="connsiteX15" fmla="*/ 81696 w 455613"/>
              <a:gd name="connsiteY15" fmla="*/ 352984 h 409576"/>
              <a:gd name="connsiteX16" fmla="*/ 83297 w 455613"/>
              <a:gd name="connsiteY16" fmla="*/ 351643 h 409576"/>
              <a:gd name="connsiteX17" fmla="*/ 84898 w 455613"/>
              <a:gd name="connsiteY17" fmla="*/ 350972 h 409576"/>
              <a:gd name="connsiteX18" fmla="*/ 148113 w 455613"/>
              <a:gd name="connsiteY18" fmla="*/ 290513 h 409576"/>
              <a:gd name="connsiteX19" fmla="*/ 149142 w 455613"/>
              <a:gd name="connsiteY19" fmla="*/ 291039 h 409576"/>
              <a:gd name="connsiteX20" fmla="*/ 149913 w 455613"/>
              <a:gd name="connsiteY20" fmla="*/ 291960 h 409576"/>
              <a:gd name="connsiteX21" fmla="*/ 150427 w 455613"/>
              <a:gd name="connsiteY21" fmla="*/ 293671 h 409576"/>
              <a:gd name="connsiteX22" fmla="*/ 150813 w 455613"/>
              <a:gd name="connsiteY22" fmla="*/ 295644 h 409576"/>
              <a:gd name="connsiteX23" fmla="*/ 150813 w 455613"/>
              <a:gd name="connsiteY23" fmla="*/ 409576 h 409576"/>
              <a:gd name="connsiteX24" fmla="*/ 109538 w 455613"/>
              <a:gd name="connsiteY24" fmla="*/ 409576 h 409576"/>
              <a:gd name="connsiteX25" fmla="*/ 109538 w 455613"/>
              <a:gd name="connsiteY25" fmla="*/ 337481 h 409576"/>
              <a:gd name="connsiteX26" fmla="*/ 109667 w 455613"/>
              <a:gd name="connsiteY26" fmla="*/ 334718 h 409576"/>
              <a:gd name="connsiteX27" fmla="*/ 110438 w 455613"/>
              <a:gd name="connsiteY27" fmla="*/ 331560 h 409576"/>
              <a:gd name="connsiteX28" fmla="*/ 111595 w 455613"/>
              <a:gd name="connsiteY28" fmla="*/ 328403 h 409576"/>
              <a:gd name="connsiteX29" fmla="*/ 112881 w 455613"/>
              <a:gd name="connsiteY29" fmla="*/ 325377 h 409576"/>
              <a:gd name="connsiteX30" fmla="*/ 114681 w 455613"/>
              <a:gd name="connsiteY30" fmla="*/ 322614 h 409576"/>
              <a:gd name="connsiteX31" fmla="*/ 116482 w 455613"/>
              <a:gd name="connsiteY31" fmla="*/ 320378 h 409576"/>
              <a:gd name="connsiteX32" fmla="*/ 143741 w 455613"/>
              <a:gd name="connsiteY32" fmla="*/ 292750 h 409576"/>
              <a:gd name="connsiteX33" fmla="*/ 145413 w 455613"/>
              <a:gd name="connsiteY33" fmla="*/ 291434 h 409576"/>
              <a:gd name="connsiteX34" fmla="*/ 146827 w 455613"/>
              <a:gd name="connsiteY34" fmla="*/ 290645 h 409576"/>
              <a:gd name="connsiteX35" fmla="*/ 174022 w 455613"/>
              <a:gd name="connsiteY35" fmla="*/ 287338 h 409576"/>
              <a:gd name="connsiteX36" fmla="*/ 175436 w 455613"/>
              <a:gd name="connsiteY36" fmla="*/ 287471 h 409576"/>
              <a:gd name="connsiteX37" fmla="*/ 176851 w 455613"/>
              <a:gd name="connsiteY37" fmla="*/ 288136 h 409576"/>
              <a:gd name="connsiteX38" fmla="*/ 178522 w 455613"/>
              <a:gd name="connsiteY38" fmla="*/ 289599 h 409576"/>
              <a:gd name="connsiteX39" fmla="*/ 199481 w 455613"/>
              <a:gd name="connsiteY39" fmla="*/ 311147 h 409576"/>
              <a:gd name="connsiteX40" fmla="*/ 206039 w 455613"/>
              <a:gd name="connsiteY40" fmla="*/ 317931 h 409576"/>
              <a:gd name="connsiteX41" fmla="*/ 207839 w 455613"/>
              <a:gd name="connsiteY41" fmla="*/ 320059 h 409576"/>
              <a:gd name="connsiteX42" fmla="*/ 209382 w 455613"/>
              <a:gd name="connsiteY42" fmla="*/ 322719 h 409576"/>
              <a:gd name="connsiteX43" fmla="*/ 210668 w 455613"/>
              <a:gd name="connsiteY43" fmla="*/ 325646 h 409576"/>
              <a:gd name="connsiteX44" fmla="*/ 211696 w 455613"/>
              <a:gd name="connsiteY44" fmla="*/ 328705 h 409576"/>
              <a:gd name="connsiteX45" fmla="*/ 212468 w 455613"/>
              <a:gd name="connsiteY45" fmla="*/ 331897 h 409576"/>
              <a:gd name="connsiteX46" fmla="*/ 212725 w 455613"/>
              <a:gd name="connsiteY46" fmla="*/ 334823 h 409576"/>
              <a:gd name="connsiteX47" fmla="*/ 212725 w 455613"/>
              <a:gd name="connsiteY47" fmla="*/ 409576 h 409576"/>
              <a:gd name="connsiteX48" fmla="*/ 171450 w 455613"/>
              <a:gd name="connsiteY48" fmla="*/ 409576 h 409576"/>
              <a:gd name="connsiteX49" fmla="*/ 171450 w 455613"/>
              <a:gd name="connsiteY49" fmla="*/ 292659 h 409576"/>
              <a:gd name="connsiteX50" fmla="*/ 171579 w 455613"/>
              <a:gd name="connsiteY50" fmla="*/ 290397 h 409576"/>
              <a:gd name="connsiteX51" fmla="*/ 172222 w 455613"/>
              <a:gd name="connsiteY51" fmla="*/ 288934 h 409576"/>
              <a:gd name="connsiteX52" fmla="*/ 172993 w 455613"/>
              <a:gd name="connsiteY52" fmla="*/ 287737 h 409576"/>
              <a:gd name="connsiteX53" fmla="*/ 271938 w 455613"/>
              <a:gd name="connsiteY53" fmla="*/ 282575 h 409576"/>
              <a:gd name="connsiteX54" fmla="*/ 273095 w 455613"/>
              <a:gd name="connsiteY54" fmla="*/ 283105 h 409576"/>
              <a:gd name="connsiteX55" fmla="*/ 273995 w 455613"/>
              <a:gd name="connsiteY55" fmla="*/ 284033 h 409576"/>
              <a:gd name="connsiteX56" fmla="*/ 274510 w 455613"/>
              <a:gd name="connsiteY56" fmla="*/ 285757 h 409576"/>
              <a:gd name="connsiteX57" fmla="*/ 274638 w 455613"/>
              <a:gd name="connsiteY57" fmla="*/ 287745 h 409576"/>
              <a:gd name="connsiteX58" fmla="*/ 274638 w 455613"/>
              <a:gd name="connsiteY58" fmla="*/ 409575 h 409576"/>
              <a:gd name="connsiteX59" fmla="*/ 233363 w 455613"/>
              <a:gd name="connsiteY59" fmla="*/ 409575 h 409576"/>
              <a:gd name="connsiteX60" fmla="*/ 233363 w 455613"/>
              <a:gd name="connsiteY60" fmla="*/ 329902 h 409576"/>
              <a:gd name="connsiteX61" fmla="*/ 233620 w 455613"/>
              <a:gd name="connsiteY61" fmla="*/ 326588 h 409576"/>
              <a:gd name="connsiteX62" fmla="*/ 234263 w 455613"/>
              <a:gd name="connsiteY62" fmla="*/ 323141 h 409576"/>
              <a:gd name="connsiteX63" fmla="*/ 235035 w 455613"/>
              <a:gd name="connsiteY63" fmla="*/ 320224 h 409576"/>
              <a:gd name="connsiteX64" fmla="*/ 236192 w 455613"/>
              <a:gd name="connsiteY64" fmla="*/ 317573 h 409576"/>
              <a:gd name="connsiteX65" fmla="*/ 237478 w 455613"/>
              <a:gd name="connsiteY65" fmla="*/ 315585 h 409576"/>
              <a:gd name="connsiteX66" fmla="*/ 238764 w 455613"/>
              <a:gd name="connsiteY66" fmla="*/ 314391 h 409576"/>
              <a:gd name="connsiteX67" fmla="*/ 239921 w 455613"/>
              <a:gd name="connsiteY67" fmla="*/ 313066 h 409576"/>
              <a:gd name="connsiteX68" fmla="*/ 240821 w 455613"/>
              <a:gd name="connsiteY68" fmla="*/ 312138 h 409576"/>
              <a:gd name="connsiteX69" fmla="*/ 241335 w 455613"/>
              <a:gd name="connsiteY69" fmla="*/ 311607 h 409576"/>
              <a:gd name="connsiteX70" fmla="*/ 241592 w 455613"/>
              <a:gd name="connsiteY70" fmla="*/ 311475 h 409576"/>
              <a:gd name="connsiteX71" fmla="*/ 267566 w 455613"/>
              <a:gd name="connsiteY71" fmla="*/ 284829 h 409576"/>
              <a:gd name="connsiteX72" fmla="*/ 269238 w 455613"/>
              <a:gd name="connsiteY72" fmla="*/ 283503 h 409576"/>
              <a:gd name="connsiteX73" fmla="*/ 270781 w 455613"/>
              <a:gd name="connsiteY73" fmla="*/ 282708 h 409576"/>
              <a:gd name="connsiteX74" fmla="*/ 335459 w 455613"/>
              <a:gd name="connsiteY74" fmla="*/ 220663 h 409576"/>
              <a:gd name="connsiteX75" fmla="*/ 336665 w 455613"/>
              <a:gd name="connsiteY75" fmla="*/ 221061 h 409576"/>
              <a:gd name="connsiteX76" fmla="*/ 337468 w 455613"/>
              <a:gd name="connsiteY76" fmla="*/ 221990 h 409576"/>
              <a:gd name="connsiteX77" fmla="*/ 338004 w 455613"/>
              <a:gd name="connsiteY77" fmla="*/ 223714 h 409576"/>
              <a:gd name="connsiteX78" fmla="*/ 338138 w 455613"/>
              <a:gd name="connsiteY78" fmla="*/ 225704 h 409576"/>
              <a:gd name="connsiteX79" fmla="*/ 338138 w 455613"/>
              <a:gd name="connsiteY79" fmla="*/ 409576 h 409576"/>
              <a:gd name="connsiteX80" fmla="*/ 295275 w 455613"/>
              <a:gd name="connsiteY80" fmla="*/ 409576 h 409576"/>
              <a:gd name="connsiteX81" fmla="*/ 295275 w 455613"/>
              <a:gd name="connsiteY81" fmla="*/ 268157 h 409576"/>
              <a:gd name="connsiteX82" fmla="*/ 295543 w 455613"/>
              <a:gd name="connsiteY82" fmla="*/ 265238 h 409576"/>
              <a:gd name="connsiteX83" fmla="*/ 296213 w 455613"/>
              <a:gd name="connsiteY83" fmla="*/ 262054 h 409576"/>
              <a:gd name="connsiteX84" fmla="*/ 297284 w 455613"/>
              <a:gd name="connsiteY84" fmla="*/ 258870 h 409576"/>
              <a:gd name="connsiteX85" fmla="*/ 298892 w 455613"/>
              <a:gd name="connsiteY85" fmla="*/ 255819 h 409576"/>
              <a:gd name="connsiteX86" fmla="*/ 300499 w 455613"/>
              <a:gd name="connsiteY86" fmla="*/ 253033 h 409576"/>
              <a:gd name="connsiteX87" fmla="*/ 302508 w 455613"/>
              <a:gd name="connsiteY87" fmla="*/ 250910 h 409576"/>
              <a:gd name="connsiteX88" fmla="*/ 330905 w 455613"/>
              <a:gd name="connsiteY88" fmla="*/ 222786 h 409576"/>
              <a:gd name="connsiteX89" fmla="*/ 332512 w 455613"/>
              <a:gd name="connsiteY89" fmla="*/ 221459 h 409576"/>
              <a:gd name="connsiteX90" fmla="*/ 334120 w 455613"/>
              <a:gd name="connsiteY90" fmla="*/ 220796 h 409576"/>
              <a:gd name="connsiteX91" fmla="*/ 394079 w 455613"/>
              <a:gd name="connsiteY91" fmla="*/ 161925 h 409576"/>
              <a:gd name="connsiteX92" fmla="*/ 395278 w 455613"/>
              <a:gd name="connsiteY92" fmla="*/ 162323 h 409576"/>
              <a:gd name="connsiteX93" fmla="*/ 396077 w 455613"/>
              <a:gd name="connsiteY93" fmla="*/ 163383 h 409576"/>
              <a:gd name="connsiteX94" fmla="*/ 396610 w 455613"/>
              <a:gd name="connsiteY94" fmla="*/ 164974 h 409576"/>
              <a:gd name="connsiteX95" fmla="*/ 396876 w 455613"/>
              <a:gd name="connsiteY95" fmla="*/ 167096 h 409576"/>
              <a:gd name="connsiteX96" fmla="*/ 396876 w 455613"/>
              <a:gd name="connsiteY96" fmla="*/ 409575 h 409576"/>
              <a:gd name="connsiteX97" fmla="*/ 357188 w 455613"/>
              <a:gd name="connsiteY97" fmla="*/ 409575 h 409576"/>
              <a:gd name="connsiteX98" fmla="*/ 357188 w 455613"/>
              <a:gd name="connsiteY98" fmla="*/ 206338 h 409576"/>
              <a:gd name="connsiteX99" fmla="*/ 357454 w 455613"/>
              <a:gd name="connsiteY99" fmla="*/ 203421 h 409576"/>
              <a:gd name="connsiteX100" fmla="*/ 358120 w 455613"/>
              <a:gd name="connsiteY100" fmla="*/ 200239 h 409576"/>
              <a:gd name="connsiteX101" fmla="*/ 359319 w 455613"/>
              <a:gd name="connsiteY101" fmla="*/ 197057 h 409576"/>
              <a:gd name="connsiteX102" fmla="*/ 360784 w 455613"/>
              <a:gd name="connsiteY102" fmla="*/ 194008 h 409576"/>
              <a:gd name="connsiteX103" fmla="*/ 362515 w 455613"/>
              <a:gd name="connsiteY103" fmla="*/ 191224 h 409576"/>
              <a:gd name="connsiteX104" fmla="*/ 364380 w 455613"/>
              <a:gd name="connsiteY104" fmla="*/ 189103 h 409576"/>
              <a:gd name="connsiteX105" fmla="*/ 389684 w 455613"/>
              <a:gd name="connsiteY105" fmla="*/ 164046 h 409576"/>
              <a:gd name="connsiteX106" fmla="*/ 391283 w 455613"/>
              <a:gd name="connsiteY106" fmla="*/ 162721 h 409576"/>
              <a:gd name="connsiteX107" fmla="*/ 392881 w 455613"/>
              <a:gd name="connsiteY107" fmla="*/ 162058 h 409576"/>
              <a:gd name="connsiteX108" fmla="*/ 290622 w 455613"/>
              <a:gd name="connsiteY108" fmla="*/ 0 h 409576"/>
              <a:gd name="connsiteX109" fmla="*/ 435205 w 455613"/>
              <a:gd name="connsiteY109" fmla="*/ 0 h 409576"/>
              <a:gd name="connsiteX110" fmla="*/ 439180 w 455613"/>
              <a:gd name="connsiteY110" fmla="*/ 395 h 409576"/>
              <a:gd name="connsiteX111" fmla="*/ 442891 w 455613"/>
              <a:gd name="connsiteY111" fmla="*/ 1581 h 409576"/>
              <a:gd name="connsiteX112" fmla="*/ 446204 w 455613"/>
              <a:gd name="connsiteY112" fmla="*/ 3426 h 409576"/>
              <a:gd name="connsiteX113" fmla="*/ 449252 w 455613"/>
              <a:gd name="connsiteY113" fmla="*/ 5798 h 409576"/>
              <a:gd name="connsiteX114" fmla="*/ 451903 w 455613"/>
              <a:gd name="connsiteY114" fmla="*/ 8697 h 409576"/>
              <a:gd name="connsiteX115" fmla="*/ 453890 w 455613"/>
              <a:gd name="connsiteY115" fmla="*/ 11991 h 409576"/>
              <a:gd name="connsiteX116" fmla="*/ 455216 w 455613"/>
              <a:gd name="connsiteY116" fmla="*/ 15549 h 409576"/>
              <a:gd name="connsiteX117" fmla="*/ 455613 w 455613"/>
              <a:gd name="connsiteY117" fmla="*/ 19239 h 409576"/>
              <a:gd name="connsiteX118" fmla="*/ 455613 w 455613"/>
              <a:gd name="connsiteY118" fmla="*/ 162870 h 409576"/>
              <a:gd name="connsiteX119" fmla="*/ 455348 w 455613"/>
              <a:gd name="connsiteY119" fmla="*/ 164978 h 409576"/>
              <a:gd name="connsiteX120" fmla="*/ 454818 w 455613"/>
              <a:gd name="connsiteY120" fmla="*/ 166559 h 409576"/>
              <a:gd name="connsiteX121" fmla="*/ 454023 w 455613"/>
              <a:gd name="connsiteY121" fmla="*/ 167482 h 409576"/>
              <a:gd name="connsiteX122" fmla="*/ 452830 w 455613"/>
              <a:gd name="connsiteY122" fmla="*/ 168009 h 409576"/>
              <a:gd name="connsiteX123" fmla="*/ 451637 w 455613"/>
              <a:gd name="connsiteY123" fmla="*/ 167877 h 409576"/>
              <a:gd name="connsiteX124" fmla="*/ 450047 w 455613"/>
              <a:gd name="connsiteY124" fmla="*/ 167086 h 409576"/>
              <a:gd name="connsiteX125" fmla="*/ 448457 w 455613"/>
              <a:gd name="connsiteY125" fmla="*/ 165769 h 409576"/>
              <a:gd name="connsiteX126" fmla="*/ 397701 w 455613"/>
              <a:gd name="connsiteY126" fmla="*/ 115695 h 409576"/>
              <a:gd name="connsiteX127" fmla="*/ 228072 w 455613"/>
              <a:gd name="connsiteY127" fmla="*/ 283309 h 409576"/>
              <a:gd name="connsiteX128" fmla="*/ 225951 w 455613"/>
              <a:gd name="connsiteY128" fmla="*/ 284890 h 409576"/>
              <a:gd name="connsiteX129" fmla="*/ 223433 w 455613"/>
              <a:gd name="connsiteY129" fmla="*/ 285944 h 409576"/>
              <a:gd name="connsiteX130" fmla="*/ 220783 w 455613"/>
              <a:gd name="connsiteY130" fmla="*/ 286208 h 409576"/>
              <a:gd name="connsiteX131" fmla="*/ 218265 w 455613"/>
              <a:gd name="connsiteY131" fmla="*/ 285944 h 409576"/>
              <a:gd name="connsiteX132" fmla="*/ 215880 w 455613"/>
              <a:gd name="connsiteY132" fmla="*/ 284890 h 409576"/>
              <a:gd name="connsiteX133" fmla="*/ 213627 w 455613"/>
              <a:gd name="connsiteY133" fmla="*/ 283309 h 409576"/>
              <a:gd name="connsiteX134" fmla="*/ 162208 w 455613"/>
              <a:gd name="connsiteY134" fmla="*/ 232445 h 409576"/>
              <a:gd name="connsiteX135" fmla="*/ 70502 w 455613"/>
              <a:gd name="connsiteY135" fmla="*/ 323235 h 409576"/>
              <a:gd name="connsiteX136" fmla="*/ 66394 w 455613"/>
              <a:gd name="connsiteY136" fmla="*/ 326793 h 409576"/>
              <a:gd name="connsiteX137" fmla="*/ 61756 w 455613"/>
              <a:gd name="connsiteY137" fmla="*/ 329561 h 409576"/>
              <a:gd name="connsiteX138" fmla="*/ 56985 w 455613"/>
              <a:gd name="connsiteY138" fmla="*/ 331932 h 409576"/>
              <a:gd name="connsiteX139" fmla="*/ 52082 w 455613"/>
              <a:gd name="connsiteY139" fmla="*/ 333645 h 409576"/>
              <a:gd name="connsiteX140" fmla="*/ 46913 w 455613"/>
              <a:gd name="connsiteY140" fmla="*/ 334568 h 409576"/>
              <a:gd name="connsiteX141" fmla="*/ 41745 w 455613"/>
              <a:gd name="connsiteY141" fmla="*/ 334963 h 409576"/>
              <a:gd name="connsiteX142" fmla="*/ 36444 w 455613"/>
              <a:gd name="connsiteY142" fmla="*/ 334568 h 409576"/>
              <a:gd name="connsiteX143" fmla="*/ 31408 w 455613"/>
              <a:gd name="connsiteY143" fmla="*/ 333645 h 409576"/>
              <a:gd name="connsiteX144" fmla="*/ 26372 w 455613"/>
              <a:gd name="connsiteY144" fmla="*/ 331932 h 409576"/>
              <a:gd name="connsiteX145" fmla="*/ 21601 w 455613"/>
              <a:gd name="connsiteY145" fmla="*/ 329561 h 409576"/>
              <a:gd name="connsiteX146" fmla="*/ 17096 w 455613"/>
              <a:gd name="connsiteY146" fmla="*/ 326793 h 409576"/>
              <a:gd name="connsiteX147" fmla="*/ 12855 w 455613"/>
              <a:gd name="connsiteY147" fmla="*/ 323235 h 409576"/>
              <a:gd name="connsiteX148" fmla="*/ 11927 w 455613"/>
              <a:gd name="connsiteY148" fmla="*/ 322050 h 409576"/>
              <a:gd name="connsiteX149" fmla="*/ 8349 w 455613"/>
              <a:gd name="connsiteY149" fmla="*/ 317965 h 409576"/>
              <a:gd name="connsiteX150" fmla="*/ 5301 w 455613"/>
              <a:gd name="connsiteY150" fmla="*/ 313616 h 409576"/>
              <a:gd name="connsiteX151" fmla="*/ 3048 w 455613"/>
              <a:gd name="connsiteY151" fmla="*/ 308741 h 409576"/>
              <a:gd name="connsiteX152" fmla="*/ 1325 w 455613"/>
              <a:gd name="connsiteY152" fmla="*/ 303865 h 409576"/>
              <a:gd name="connsiteX153" fmla="*/ 265 w 455613"/>
              <a:gd name="connsiteY153" fmla="*/ 298726 h 409576"/>
              <a:gd name="connsiteX154" fmla="*/ 0 w 455613"/>
              <a:gd name="connsiteY154" fmla="*/ 293719 h 409576"/>
              <a:gd name="connsiteX155" fmla="*/ 265 w 455613"/>
              <a:gd name="connsiteY155" fmla="*/ 288448 h 409576"/>
              <a:gd name="connsiteX156" fmla="*/ 1325 w 455613"/>
              <a:gd name="connsiteY156" fmla="*/ 283572 h 409576"/>
              <a:gd name="connsiteX157" fmla="*/ 3048 w 455613"/>
              <a:gd name="connsiteY157" fmla="*/ 278697 h 409576"/>
              <a:gd name="connsiteX158" fmla="*/ 5301 w 455613"/>
              <a:gd name="connsiteY158" fmla="*/ 273821 h 409576"/>
              <a:gd name="connsiteX159" fmla="*/ 8349 w 455613"/>
              <a:gd name="connsiteY159" fmla="*/ 269473 h 409576"/>
              <a:gd name="connsiteX160" fmla="*/ 11927 w 455613"/>
              <a:gd name="connsiteY160" fmla="*/ 265256 h 409576"/>
              <a:gd name="connsiteX161" fmla="*/ 155052 w 455613"/>
              <a:gd name="connsiteY161" fmla="*/ 123865 h 409576"/>
              <a:gd name="connsiteX162" fmla="*/ 157172 w 455613"/>
              <a:gd name="connsiteY162" fmla="*/ 122284 h 409576"/>
              <a:gd name="connsiteX163" fmla="*/ 159557 w 455613"/>
              <a:gd name="connsiteY163" fmla="*/ 121230 h 409576"/>
              <a:gd name="connsiteX164" fmla="*/ 162208 w 455613"/>
              <a:gd name="connsiteY164" fmla="*/ 120966 h 409576"/>
              <a:gd name="connsiteX165" fmla="*/ 164726 w 455613"/>
              <a:gd name="connsiteY165" fmla="*/ 121230 h 409576"/>
              <a:gd name="connsiteX166" fmla="*/ 167244 w 455613"/>
              <a:gd name="connsiteY166" fmla="*/ 122284 h 409576"/>
              <a:gd name="connsiteX167" fmla="*/ 169497 w 455613"/>
              <a:gd name="connsiteY167" fmla="*/ 123865 h 409576"/>
              <a:gd name="connsiteX168" fmla="*/ 220783 w 455613"/>
              <a:gd name="connsiteY168" fmla="*/ 174597 h 409576"/>
              <a:gd name="connsiteX169" fmla="*/ 318055 w 455613"/>
              <a:gd name="connsiteY169" fmla="*/ 78536 h 409576"/>
              <a:gd name="connsiteX170" fmla="*/ 338993 w 455613"/>
              <a:gd name="connsiteY170" fmla="*/ 57848 h 409576"/>
              <a:gd name="connsiteX171" fmla="*/ 287707 w 455613"/>
              <a:gd name="connsiteY171" fmla="*/ 7116 h 409576"/>
              <a:gd name="connsiteX172" fmla="*/ 286382 w 455613"/>
              <a:gd name="connsiteY172" fmla="*/ 5403 h 409576"/>
              <a:gd name="connsiteX173" fmla="*/ 285587 w 455613"/>
              <a:gd name="connsiteY173" fmla="*/ 3953 h 409576"/>
              <a:gd name="connsiteX174" fmla="*/ 285454 w 455613"/>
              <a:gd name="connsiteY174" fmla="*/ 2636 h 409576"/>
              <a:gd name="connsiteX175" fmla="*/ 285852 w 455613"/>
              <a:gd name="connsiteY175" fmla="*/ 1581 h 409576"/>
              <a:gd name="connsiteX176" fmla="*/ 286912 w 455613"/>
              <a:gd name="connsiteY176" fmla="*/ 791 h 409576"/>
              <a:gd name="connsiteX177" fmla="*/ 288502 w 455613"/>
              <a:gd name="connsiteY177" fmla="*/ 264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455613" h="409576">
                <a:moveTo>
                  <a:pt x="86232" y="350838"/>
                </a:moveTo>
                <a:lnTo>
                  <a:pt x="87433" y="351240"/>
                </a:lnTo>
                <a:lnTo>
                  <a:pt x="88233" y="352313"/>
                </a:lnTo>
                <a:lnTo>
                  <a:pt x="88767" y="353788"/>
                </a:lnTo>
                <a:lnTo>
                  <a:pt x="88900" y="356068"/>
                </a:lnTo>
                <a:lnTo>
                  <a:pt x="88900" y="409576"/>
                </a:lnTo>
                <a:lnTo>
                  <a:pt x="41275" y="409576"/>
                </a:lnTo>
                <a:lnTo>
                  <a:pt x="41275" y="401530"/>
                </a:lnTo>
                <a:lnTo>
                  <a:pt x="41542" y="399116"/>
                </a:lnTo>
                <a:lnTo>
                  <a:pt x="42342" y="396568"/>
                </a:lnTo>
                <a:lnTo>
                  <a:pt x="43410" y="393752"/>
                </a:lnTo>
                <a:lnTo>
                  <a:pt x="44744" y="391070"/>
                </a:lnTo>
                <a:lnTo>
                  <a:pt x="46611" y="388388"/>
                </a:lnTo>
                <a:lnTo>
                  <a:pt x="48479" y="386376"/>
                </a:lnTo>
                <a:lnTo>
                  <a:pt x="62219" y="372563"/>
                </a:lnTo>
                <a:lnTo>
                  <a:pt x="81696" y="352984"/>
                </a:lnTo>
                <a:lnTo>
                  <a:pt x="83297" y="351643"/>
                </a:lnTo>
                <a:lnTo>
                  <a:pt x="84898" y="350972"/>
                </a:lnTo>
                <a:close/>
                <a:moveTo>
                  <a:pt x="148113" y="290513"/>
                </a:moveTo>
                <a:lnTo>
                  <a:pt x="149142" y="291039"/>
                </a:lnTo>
                <a:lnTo>
                  <a:pt x="149913" y="291960"/>
                </a:lnTo>
                <a:lnTo>
                  <a:pt x="150427" y="293671"/>
                </a:lnTo>
                <a:lnTo>
                  <a:pt x="150813" y="295644"/>
                </a:lnTo>
                <a:lnTo>
                  <a:pt x="150813" y="409576"/>
                </a:lnTo>
                <a:lnTo>
                  <a:pt x="109538" y="409576"/>
                </a:lnTo>
                <a:lnTo>
                  <a:pt x="109538" y="337481"/>
                </a:lnTo>
                <a:lnTo>
                  <a:pt x="109667" y="334718"/>
                </a:lnTo>
                <a:lnTo>
                  <a:pt x="110438" y="331560"/>
                </a:lnTo>
                <a:lnTo>
                  <a:pt x="111595" y="328403"/>
                </a:lnTo>
                <a:lnTo>
                  <a:pt x="112881" y="325377"/>
                </a:lnTo>
                <a:lnTo>
                  <a:pt x="114681" y="322614"/>
                </a:lnTo>
                <a:lnTo>
                  <a:pt x="116482" y="320378"/>
                </a:lnTo>
                <a:lnTo>
                  <a:pt x="143741" y="292750"/>
                </a:lnTo>
                <a:lnTo>
                  <a:pt x="145413" y="291434"/>
                </a:lnTo>
                <a:lnTo>
                  <a:pt x="146827" y="290645"/>
                </a:lnTo>
                <a:close/>
                <a:moveTo>
                  <a:pt x="174022" y="287338"/>
                </a:moveTo>
                <a:lnTo>
                  <a:pt x="175436" y="287471"/>
                </a:lnTo>
                <a:lnTo>
                  <a:pt x="176851" y="288136"/>
                </a:lnTo>
                <a:lnTo>
                  <a:pt x="178522" y="289599"/>
                </a:lnTo>
                <a:lnTo>
                  <a:pt x="199481" y="311147"/>
                </a:lnTo>
                <a:lnTo>
                  <a:pt x="206039" y="317931"/>
                </a:lnTo>
                <a:lnTo>
                  <a:pt x="207839" y="320059"/>
                </a:lnTo>
                <a:lnTo>
                  <a:pt x="209382" y="322719"/>
                </a:lnTo>
                <a:lnTo>
                  <a:pt x="210668" y="325646"/>
                </a:lnTo>
                <a:lnTo>
                  <a:pt x="211696" y="328705"/>
                </a:lnTo>
                <a:lnTo>
                  <a:pt x="212468" y="331897"/>
                </a:lnTo>
                <a:lnTo>
                  <a:pt x="212725" y="334823"/>
                </a:lnTo>
                <a:lnTo>
                  <a:pt x="212725" y="409576"/>
                </a:lnTo>
                <a:lnTo>
                  <a:pt x="171450" y="409576"/>
                </a:lnTo>
                <a:lnTo>
                  <a:pt x="171450" y="292659"/>
                </a:lnTo>
                <a:lnTo>
                  <a:pt x="171579" y="290397"/>
                </a:lnTo>
                <a:lnTo>
                  <a:pt x="172222" y="288934"/>
                </a:lnTo>
                <a:lnTo>
                  <a:pt x="172993" y="287737"/>
                </a:lnTo>
                <a:close/>
                <a:moveTo>
                  <a:pt x="271938" y="282575"/>
                </a:moveTo>
                <a:lnTo>
                  <a:pt x="273095" y="283105"/>
                </a:lnTo>
                <a:lnTo>
                  <a:pt x="273995" y="284033"/>
                </a:lnTo>
                <a:lnTo>
                  <a:pt x="274510" y="285757"/>
                </a:lnTo>
                <a:lnTo>
                  <a:pt x="274638" y="287745"/>
                </a:lnTo>
                <a:lnTo>
                  <a:pt x="274638" y="409575"/>
                </a:lnTo>
                <a:lnTo>
                  <a:pt x="233363" y="409575"/>
                </a:lnTo>
                <a:lnTo>
                  <a:pt x="233363" y="329902"/>
                </a:lnTo>
                <a:lnTo>
                  <a:pt x="233620" y="326588"/>
                </a:lnTo>
                <a:lnTo>
                  <a:pt x="234263" y="323141"/>
                </a:lnTo>
                <a:lnTo>
                  <a:pt x="235035" y="320224"/>
                </a:lnTo>
                <a:lnTo>
                  <a:pt x="236192" y="317573"/>
                </a:lnTo>
                <a:lnTo>
                  <a:pt x="237478" y="315585"/>
                </a:lnTo>
                <a:lnTo>
                  <a:pt x="238764" y="314391"/>
                </a:lnTo>
                <a:lnTo>
                  <a:pt x="239921" y="313066"/>
                </a:lnTo>
                <a:lnTo>
                  <a:pt x="240821" y="312138"/>
                </a:lnTo>
                <a:lnTo>
                  <a:pt x="241335" y="311607"/>
                </a:lnTo>
                <a:lnTo>
                  <a:pt x="241592" y="311475"/>
                </a:lnTo>
                <a:lnTo>
                  <a:pt x="267566" y="284829"/>
                </a:lnTo>
                <a:lnTo>
                  <a:pt x="269238" y="283503"/>
                </a:lnTo>
                <a:lnTo>
                  <a:pt x="270781" y="282708"/>
                </a:lnTo>
                <a:close/>
                <a:moveTo>
                  <a:pt x="335459" y="220663"/>
                </a:moveTo>
                <a:lnTo>
                  <a:pt x="336665" y="221061"/>
                </a:lnTo>
                <a:lnTo>
                  <a:pt x="337468" y="221990"/>
                </a:lnTo>
                <a:lnTo>
                  <a:pt x="338004" y="223714"/>
                </a:lnTo>
                <a:lnTo>
                  <a:pt x="338138" y="225704"/>
                </a:lnTo>
                <a:lnTo>
                  <a:pt x="338138" y="409576"/>
                </a:lnTo>
                <a:lnTo>
                  <a:pt x="295275" y="409576"/>
                </a:lnTo>
                <a:lnTo>
                  <a:pt x="295275" y="268157"/>
                </a:lnTo>
                <a:lnTo>
                  <a:pt x="295543" y="265238"/>
                </a:lnTo>
                <a:lnTo>
                  <a:pt x="296213" y="262054"/>
                </a:lnTo>
                <a:lnTo>
                  <a:pt x="297284" y="258870"/>
                </a:lnTo>
                <a:lnTo>
                  <a:pt x="298892" y="255819"/>
                </a:lnTo>
                <a:lnTo>
                  <a:pt x="300499" y="253033"/>
                </a:lnTo>
                <a:lnTo>
                  <a:pt x="302508" y="250910"/>
                </a:lnTo>
                <a:lnTo>
                  <a:pt x="330905" y="222786"/>
                </a:lnTo>
                <a:lnTo>
                  <a:pt x="332512" y="221459"/>
                </a:lnTo>
                <a:lnTo>
                  <a:pt x="334120" y="220796"/>
                </a:lnTo>
                <a:close/>
                <a:moveTo>
                  <a:pt x="394079" y="161925"/>
                </a:moveTo>
                <a:lnTo>
                  <a:pt x="395278" y="162323"/>
                </a:lnTo>
                <a:lnTo>
                  <a:pt x="396077" y="163383"/>
                </a:lnTo>
                <a:lnTo>
                  <a:pt x="396610" y="164974"/>
                </a:lnTo>
                <a:lnTo>
                  <a:pt x="396876" y="167096"/>
                </a:lnTo>
                <a:lnTo>
                  <a:pt x="396876" y="409575"/>
                </a:lnTo>
                <a:lnTo>
                  <a:pt x="357188" y="409575"/>
                </a:lnTo>
                <a:lnTo>
                  <a:pt x="357188" y="206338"/>
                </a:lnTo>
                <a:lnTo>
                  <a:pt x="357454" y="203421"/>
                </a:lnTo>
                <a:lnTo>
                  <a:pt x="358120" y="200239"/>
                </a:lnTo>
                <a:lnTo>
                  <a:pt x="359319" y="197057"/>
                </a:lnTo>
                <a:lnTo>
                  <a:pt x="360784" y="194008"/>
                </a:lnTo>
                <a:lnTo>
                  <a:pt x="362515" y="191224"/>
                </a:lnTo>
                <a:lnTo>
                  <a:pt x="364380" y="189103"/>
                </a:lnTo>
                <a:lnTo>
                  <a:pt x="389684" y="164046"/>
                </a:lnTo>
                <a:lnTo>
                  <a:pt x="391283" y="162721"/>
                </a:lnTo>
                <a:lnTo>
                  <a:pt x="392881" y="162058"/>
                </a:lnTo>
                <a:close/>
                <a:moveTo>
                  <a:pt x="290622" y="0"/>
                </a:moveTo>
                <a:lnTo>
                  <a:pt x="435205" y="0"/>
                </a:lnTo>
                <a:lnTo>
                  <a:pt x="439180" y="395"/>
                </a:lnTo>
                <a:lnTo>
                  <a:pt x="442891" y="1581"/>
                </a:lnTo>
                <a:lnTo>
                  <a:pt x="446204" y="3426"/>
                </a:lnTo>
                <a:lnTo>
                  <a:pt x="449252" y="5798"/>
                </a:lnTo>
                <a:lnTo>
                  <a:pt x="451903" y="8697"/>
                </a:lnTo>
                <a:lnTo>
                  <a:pt x="453890" y="11991"/>
                </a:lnTo>
                <a:lnTo>
                  <a:pt x="455216" y="15549"/>
                </a:lnTo>
                <a:lnTo>
                  <a:pt x="455613" y="19239"/>
                </a:lnTo>
                <a:lnTo>
                  <a:pt x="455613" y="162870"/>
                </a:lnTo>
                <a:lnTo>
                  <a:pt x="455348" y="164978"/>
                </a:lnTo>
                <a:lnTo>
                  <a:pt x="454818" y="166559"/>
                </a:lnTo>
                <a:lnTo>
                  <a:pt x="454023" y="167482"/>
                </a:lnTo>
                <a:lnTo>
                  <a:pt x="452830" y="168009"/>
                </a:lnTo>
                <a:lnTo>
                  <a:pt x="451637" y="167877"/>
                </a:lnTo>
                <a:lnTo>
                  <a:pt x="450047" y="167086"/>
                </a:lnTo>
                <a:lnTo>
                  <a:pt x="448457" y="165769"/>
                </a:lnTo>
                <a:lnTo>
                  <a:pt x="397701" y="115695"/>
                </a:lnTo>
                <a:lnTo>
                  <a:pt x="228072" y="283309"/>
                </a:lnTo>
                <a:lnTo>
                  <a:pt x="225951" y="284890"/>
                </a:lnTo>
                <a:lnTo>
                  <a:pt x="223433" y="285944"/>
                </a:lnTo>
                <a:lnTo>
                  <a:pt x="220783" y="286208"/>
                </a:lnTo>
                <a:lnTo>
                  <a:pt x="218265" y="285944"/>
                </a:lnTo>
                <a:lnTo>
                  <a:pt x="215880" y="284890"/>
                </a:lnTo>
                <a:lnTo>
                  <a:pt x="213627" y="283309"/>
                </a:lnTo>
                <a:lnTo>
                  <a:pt x="162208" y="232445"/>
                </a:lnTo>
                <a:lnTo>
                  <a:pt x="70502" y="323235"/>
                </a:lnTo>
                <a:lnTo>
                  <a:pt x="66394" y="326793"/>
                </a:lnTo>
                <a:lnTo>
                  <a:pt x="61756" y="329561"/>
                </a:lnTo>
                <a:lnTo>
                  <a:pt x="56985" y="331932"/>
                </a:lnTo>
                <a:lnTo>
                  <a:pt x="52082" y="333645"/>
                </a:lnTo>
                <a:lnTo>
                  <a:pt x="46913" y="334568"/>
                </a:lnTo>
                <a:lnTo>
                  <a:pt x="41745" y="334963"/>
                </a:lnTo>
                <a:lnTo>
                  <a:pt x="36444" y="334568"/>
                </a:lnTo>
                <a:lnTo>
                  <a:pt x="31408" y="333645"/>
                </a:lnTo>
                <a:lnTo>
                  <a:pt x="26372" y="331932"/>
                </a:lnTo>
                <a:lnTo>
                  <a:pt x="21601" y="329561"/>
                </a:lnTo>
                <a:lnTo>
                  <a:pt x="17096" y="326793"/>
                </a:lnTo>
                <a:lnTo>
                  <a:pt x="12855" y="323235"/>
                </a:lnTo>
                <a:lnTo>
                  <a:pt x="11927" y="322050"/>
                </a:lnTo>
                <a:lnTo>
                  <a:pt x="8349" y="317965"/>
                </a:lnTo>
                <a:lnTo>
                  <a:pt x="5301" y="313616"/>
                </a:lnTo>
                <a:lnTo>
                  <a:pt x="3048" y="308741"/>
                </a:lnTo>
                <a:lnTo>
                  <a:pt x="1325" y="303865"/>
                </a:lnTo>
                <a:lnTo>
                  <a:pt x="265" y="298726"/>
                </a:lnTo>
                <a:lnTo>
                  <a:pt x="0" y="293719"/>
                </a:lnTo>
                <a:lnTo>
                  <a:pt x="265" y="288448"/>
                </a:lnTo>
                <a:lnTo>
                  <a:pt x="1325" y="283572"/>
                </a:lnTo>
                <a:lnTo>
                  <a:pt x="3048" y="278697"/>
                </a:lnTo>
                <a:lnTo>
                  <a:pt x="5301" y="273821"/>
                </a:lnTo>
                <a:lnTo>
                  <a:pt x="8349" y="269473"/>
                </a:lnTo>
                <a:lnTo>
                  <a:pt x="11927" y="265256"/>
                </a:lnTo>
                <a:lnTo>
                  <a:pt x="155052" y="123865"/>
                </a:lnTo>
                <a:lnTo>
                  <a:pt x="157172" y="122284"/>
                </a:lnTo>
                <a:lnTo>
                  <a:pt x="159557" y="121230"/>
                </a:lnTo>
                <a:lnTo>
                  <a:pt x="162208" y="120966"/>
                </a:lnTo>
                <a:lnTo>
                  <a:pt x="164726" y="121230"/>
                </a:lnTo>
                <a:lnTo>
                  <a:pt x="167244" y="122284"/>
                </a:lnTo>
                <a:lnTo>
                  <a:pt x="169497" y="123865"/>
                </a:lnTo>
                <a:lnTo>
                  <a:pt x="220783" y="174597"/>
                </a:lnTo>
                <a:lnTo>
                  <a:pt x="318055" y="78536"/>
                </a:lnTo>
                <a:lnTo>
                  <a:pt x="338993" y="57848"/>
                </a:lnTo>
                <a:lnTo>
                  <a:pt x="287707" y="7116"/>
                </a:lnTo>
                <a:lnTo>
                  <a:pt x="286382" y="5403"/>
                </a:lnTo>
                <a:lnTo>
                  <a:pt x="285587" y="3953"/>
                </a:lnTo>
                <a:lnTo>
                  <a:pt x="285454" y="2636"/>
                </a:lnTo>
                <a:lnTo>
                  <a:pt x="285852" y="1581"/>
                </a:lnTo>
                <a:lnTo>
                  <a:pt x="286912" y="791"/>
                </a:lnTo>
                <a:lnTo>
                  <a:pt x="288502" y="264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88" name="Left Arrow 1">
            <a:extLst>
              <a:ext uri="{FF2B5EF4-FFF2-40B4-BE49-F238E27FC236}">
                <a16:creationId xmlns:a16="http://schemas.microsoft.com/office/drawing/2014/main" id="{994C937C-DC67-46D5-BC8A-7A3F5C41E5F7}"/>
              </a:ext>
            </a:extLst>
          </p:cNvPr>
          <p:cNvSpPr>
            <a:spLocks noChangeAspect="1"/>
          </p:cNvSpPr>
          <p:nvPr/>
        </p:nvSpPr>
        <p:spPr>
          <a:xfrm>
            <a:off x="1173398" y="3180793"/>
            <a:ext cx="516855" cy="516623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89" name="Oval 7">
            <a:extLst>
              <a:ext uri="{FF2B5EF4-FFF2-40B4-BE49-F238E27FC236}">
                <a16:creationId xmlns:a16="http://schemas.microsoft.com/office/drawing/2014/main" id="{AA668F90-D9E0-467C-BCC9-1B33D421D825}"/>
              </a:ext>
            </a:extLst>
          </p:cNvPr>
          <p:cNvSpPr/>
          <p:nvPr/>
        </p:nvSpPr>
        <p:spPr>
          <a:xfrm>
            <a:off x="1209024" y="5098803"/>
            <a:ext cx="408137" cy="41282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033573" y="1143076"/>
            <a:ext cx="88615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The </a:t>
            </a:r>
            <a:r>
              <a:rPr lang="en-US" altLang="ko-KR" sz="2800" b="1" dirty="0">
                <a:solidFill>
                  <a:srgbClr val="FF0000"/>
                </a:solidFill>
                <a:cs typeface="Segoe UI" panose="020B0502040204020203" pitchFamily="34" charset="0"/>
              </a:rPr>
              <a:t>edges</a:t>
            </a:r>
            <a:r>
              <a:rPr lang="en-US" altLang="ko-KR" sz="2800" b="1" dirty="0">
                <a:solidFill>
                  <a:srgbClr val="4C287F"/>
                </a:solidFill>
                <a:cs typeface="Segoe UI" panose="020B0502040204020203" pitchFamily="34" charset="0"/>
              </a:rPr>
              <a:t> between Input-Hidden Units, Hidden-Hidden Unit and Hidden-Output Unit contain the</a:t>
            </a:r>
            <a:endParaRPr lang="ko-KR" altLang="en-US" sz="2800" b="1" dirty="0">
              <a:solidFill>
                <a:srgbClr val="C00000"/>
              </a:solidFill>
              <a:cs typeface="Segoe UI" panose="020B0502040204020203" pitchFamily="34" charset="0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2288110" y="2047797"/>
            <a:ext cx="8606984" cy="430887"/>
            <a:chOff x="2398672" y="4923683"/>
            <a:chExt cx="9204634" cy="43088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5526" y="4923683"/>
              <a:ext cx="8847780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cs typeface="Segoe UI" panose="020B0502040204020203" pitchFamily="34" charset="0"/>
                </a:rPr>
                <a:t>Weights</a:t>
              </a:r>
              <a:endParaRPr lang="ko-KR" altLang="en-US" sz="2800" b="1" dirty="0">
                <a:cs typeface="Segoe UI" panose="020B0502040204020203" pitchFamily="34" charset="0"/>
              </a:endParaRPr>
            </a:p>
          </p:txBody>
        </p:sp>
        <p:sp>
          <p:nvSpPr>
            <p:cNvPr id="47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291441" y="5300695"/>
            <a:ext cx="8606983" cy="861774"/>
            <a:chOff x="2398672" y="4924621"/>
            <a:chExt cx="9204633" cy="86177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5525" y="4924621"/>
              <a:ext cx="8847780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800" b="1" dirty="0">
                  <a:cs typeface="Segoe UI" panose="020B0502040204020203" pitchFamily="34" charset="0"/>
                </a:rPr>
                <a:t>Normally, </a:t>
              </a:r>
              <a:r>
                <a:rPr lang="en-US" altLang="ko-KR" sz="2800" b="1" dirty="0">
                  <a:solidFill>
                    <a:srgbClr val="FF0000"/>
                  </a:solidFill>
                  <a:cs typeface="Segoe UI" panose="020B0502040204020203" pitchFamily="34" charset="0"/>
                </a:rPr>
                <a:t>small</a:t>
              </a:r>
              <a:r>
                <a:rPr lang="en-US" altLang="ko-KR" sz="2800" b="1" dirty="0">
                  <a:cs typeface="Segoe UI" panose="020B0502040204020203" pitchFamily="34" charset="0"/>
                </a:rPr>
                <a:t> Weights are assigned in a range of [-0.5 to +0.5]</a:t>
              </a:r>
              <a:endParaRPr lang="ko-KR" altLang="en-US" sz="2800" b="1" dirty="0">
                <a:cs typeface="Segoe UI" panose="020B0502040204020203" pitchFamily="34" charset="0"/>
              </a:endParaRPr>
            </a:p>
          </p:txBody>
        </p:sp>
        <p:sp>
          <p:nvSpPr>
            <p:cNvPr id="31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09745"/>
              <a:ext cx="231633" cy="260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696556" y="3703421"/>
            <a:ext cx="7771419" cy="387798"/>
            <a:chOff x="2868406" y="1887706"/>
            <a:chExt cx="7771419" cy="387798"/>
          </a:xfrm>
        </p:grpSpPr>
        <p:sp>
          <p:nvSpPr>
            <p:cNvPr id="33" name="Rectangle 32"/>
            <p:cNvSpPr/>
            <p:nvPr/>
          </p:nvSpPr>
          <p:spPr>
            <a:xfrm>
              <a:off x="2868406" y="1976658"/>
              <a:ext cx="106153" cy="209895"/>
            </a:xfrm>
            <a:prstGeom prst="rect">
              <a:avLst/>
            </a:prstGeom>
            <a:noFill/>
            <a:ln w="38100">
              <a:solidFill>
                <a:srgbClr val="4C28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4C28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Inhaltsplatzhalter 4"/>
            <p:cNvSpPr txBox="1">
              <a:spLocks/>
            </p:cNvSpPr>
            <p:nvPr/>
          </p:nvSpPr>
          <p:spPr>
            <a:xfrm>
              <a:off x="3251187" y="1887706"/>
              <a:ext cx="7388638" cy="387798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n-US" sz="2800" b="1" dirty="0">
                  <a:solidFill>
                    <a:schemeClr val="tx1"/>
                  </a:solidFill>
                  <a:latin typeface="+mn-lt"/>
                  <a:ea typeface="Lato Heavy" panose="020B0604020202020204" charset="0"/>
                  <a:cs typeface="Segoe UI" panose="020B0502040204020203" pitchFamily="34" charset="0"/>
                </a:rPr>
                <a:t>Combination of Weights between Units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85483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76" grpId="0"/>
      <p:bldP spid="80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E8F2569D-D5B4-4424-9A5E-FACEE43A83E8}"/>
              </a:ext>
            </a:extLst>
          </p:cNvPr>
          <p:cNvSpPr/>
          <p:nvPr/>
        </p:nvSpPr>
        <p:spPr>
          <a:xfrm>
            <a:off x="958040" y="3412920"/>
            <a:ext cx="9909781" cy="21306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04" tIns="60952" rIns="121904" bIns="609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799"/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0E9E1DC3-8FE1-45D6-96FC-401DE063C7A8}"/>
              </a:ext>
            </a:extLst>
          </p:cNvPr>
          <p:cNvSpPr/>
          <p:nvPr/>
        </p:nvSpPr>
        <p:spPr>
          <a:xfrm rot="5400000">
            <a:off x="571401" y="3799559"/>
            <a:ext cx="2130632" cy="1357353"/>
          </a:xfrm>
          <a:prstGeom prst="rtTriangle">
            <a:avLst/>
          </a:prstGeom>
          <a:solidFill>
            <a:srgbClr val="3D7372"/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121904" tIns="60952" rIns="121904" bIns="609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7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F8C7E60-A62D-4594-9CD4-A917F7289439}"/>
              </a:ext>
            </a:extLst>
          </p:cNvPr>
          <p:cNvSpPr/>
          <p:nvPr/>
        </p:nvSpPr>
        <p:spPr>
          <a:xfrm>
            <a:off x="947191" y="1559071"/>
            <a:ext cx="9920630" cy="1243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04" tIns="60952" rIns="121904" bIns="609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799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E54DE8CF-FAA2-44E6-B918-007BE562ED0A}"/>
              </a:ext>
            </a:extLst>
          </p:cNvPr>
          <p:cNvSpPr/>
          <p:nvPr/>
        </p:nvSpPr>
        <p:spPr>
          <a:xfrm rot="5400000">
            <a:off x="1004687" y="1501575"/>
            <a:ext cx="1243848" cy="1358839"/>
          </a:xfrm>
          <a:prstGeom prst="rtTriangle">
            <a:avLst/>
          </a:prstGeom>
          <a:solidFill>
            <a:srgbClr val="9F5B72"/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121904" tIns="60952" rIns="121904" bIns="609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7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5D7A89A-EA70-4AB4-ABA7-F63157E4C7D5}"/>
              </a:ext>
            </a:extLst>
          </p:cNvPr>
          <p:cNvSpPr txBox="1"/>
          <p:nvPr/>
        </p:nvSpPr>
        <p:spPr>
          <a:xfrm>
            <a:off x="2315394" y="3456266"/>
            <a:ext cx="83343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800" b="1" dirty="0">
                <a:cs typeface="Segoe UI" panose="020B0502040204020203" pitchFamily="34" charset="0"/>
              </a:rPr>
              <a:t>ANNs are said to have Black Box Representation because </a:t>
            </a:r>
            <a:endParaRPr lang="ko-KR" altLang="en-US" sz="2800" b="1" dirty="0">
              <a:cs typeface="Segoe UI" panose="020B0502040204020203" pitchFamily="34" charset="0"/>
            </a:endParaRPr>
          </a:p>
        </p:txBody>
      </p:sp>
      <p:pic>
        <p:nvPicPr>
          <p:cNvPr id="20" name="Content Placeholder 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91" y="1519324"/>
            <a:ext cx="674714" cy="701544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1073658" y="3640811"/>
            <a:ext cx="652049" cy="585016"/>
            <a:chOff x="593565" y="1098718"/>
            <a:chExt cx="1050132" cy="94217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8AF27F6-2499-4C4E-810A-691A8169C48E}"/>
                </a:ext>
              </a:extLst>
            </p:cNvPr>
            <p:cNvSpPr/>
            <p:nvPr/>
          </p:nvSpPr>
          <p:spPr>
            <a:xfrm>
              <a:off x="593565" y="1098718"/>
              <a:ext cx="1050132" cy="942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989"/>
              <a:endParaRPr lang="en-US">
                <a:solidFill>
                  <a:prstClr val="white"/>
                </a:solidFill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23C73C4-A55F-4C19-9F10-3BDDFF6FE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80" y="1263832"/>
              <a:ext cx="667666" cy="667666"/>
            </a:xfrm>
            <a:prstGeom prst="rect">
              <a:avLst/>
            </a:prstGeom>
          </p:spPr>
        </p:pic>
      </p:grpSp>
      <p:grpSp>
        <p:nvGrpSpPr>
          <p:cNvPr id="26" name="Group 25"/>
          <p:cNvGrpSpPr/>
          <p:nvPr/>
        </p:nvGrpSpPr>
        <p:grpSpPr>
          <a:xfrm>
            <a:off x="3178957" y="4433059"/>
            <a:ext cx="7470824" cy="861774"/>
            <a:chOff x="2398672" y="4935462"/>
            <a:chExt cx="7989580" cy="86177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815420" y="4935462"/>
              <a:ext cx="7572832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Useful knowledge</a:t>
              </a:r>
              <a:r>
                <a:rPr lang="en-US" sz="2800" b="1" dirty="0"/>
                <a:t> about learned concept (or Model / h) is </a:t>
              </a:r>
              <a:r>
                <a:rPr lang="en-US" sz="2800" b="1" dirty="0">
                  <a:solidFill>
                    <a:srgbClr val="FF0000"/>
                  </a:solidFill>
                </a:rPr>
                <a:t>difficult</a:t>
              </a:r>
              <a:r>
                <a:rPr lang="en-US" sz="2800" b="1" dirty="0"/>
                <a:t> to </a:t>
              </a:r>
              <a:r>
                <a:rPr lang="en-US" sz="2800" b="1" dirty="0">
                  <a:solidFill>
                    <a:srgbClr val="FF0000"/>
                  </a:solidFill>
                </a:rPr>
                <a:t>extract</a:t>
              </a:r>
              <a:endParaRPr lang="en-US" dirty="0"/>
            </a:p>
          </p:txBody>
        </p:sp>
        <p:sp>
          <p:nvSpPr>
            <p:cNvPr id="28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72975"/>
              <a:ext cx="231633" cy="195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  <p:sp>
        <p:nvSpPr>
          <p:cNvPr id="21" name="Title 1"/>
          <p:cNvSpPr txBox="1">
            <a:spLocks/>
          </p:cNvSpPr>
          <p:nvPr/>
        </p:nvSpPr>
        <p:spPr>
          <a:xfrm>
            <a:off x="838198" y="365126"/>
            <a:ext cx="8343901" cy="72072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/>
              <a:t>ANNs have Black Box Representation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6"/>
            <a:ext cx="8000320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5D7A89A-EA70-4AB4-ABA7-F63157E4C7D5}"/>
              </a:ext>
            </a:extLst>
          </p:cNvPr>
          <p:cNvSpPr txBox="1"/>
          <p:nvPr/>
        </p:nvSpPr>
        <p:spPr>
          <a:xfrm>
            <a:off x="2306031" y="1647412"/>
            <a:ext cx="7196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cs typeface="Segoe UI" panose="020B0502040204020203" pitchFamily="34" charset="0"/>
              </a:rPr>
              <a:t>Model / h returned by Learner</a:t>
            </a:r>
            <a:endParaRPr lang="ko-KR" altLang="en-US" sz="2800" b="1" dirty="0">
              <a:cs typeface="Segoe UI" panose="020B0502040204020203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3178121" y="2205435"/>
            <a:ext cx="7470827" cy="430887"/>
            <a:chOff x="2398672" y="4896662"/>
            <a:chExt cx="7989583" cy="43088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815421" y="4896662"/>
              <a:ext cx="7572834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Best</a:t>
              </a:r>
              <a:r>
                <a:rPr lang="en-US" sz="2800" b="1" dirty="0"/>
                <a:t> Combination of Weights between Units</a:t>
              </a:r>
              <a:endParaRPr lang="en-US" dirty="0"/>
            </a:p>
          </p:txBody>
        </p:sp>
        <p:sp>
          <p:nvSpPr>
            <p:cNvPr id="33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72975"/>
              <a:ext cx="231633" cy="195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068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38" grpId="0" animBg="1"/>
      <p:bldP spid="119" grpId="0" animBg="1"/>
      <p:bldP spid="37" grpId="0" animBg="1"/>
      <p:bldP spid="133" grpId="0"/>
      <p:bldP spid="21" grpId="0"/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838198" y="365126"/>
            <a:ext cx="8343901" cy="72072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/>
              <a:t>Importance – ANN Architecture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1047097"/>
            <a:ext cx="6777584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850207" y="1198292"/>
            <a:ext cx="10160694" cy="530777"/>
            <a:chOff x="951017" y="1355661"/>
            <a:chExt cx="10160694" cy="583855"/>
          </a:xfrm>
        </p:grpSpPr>
        <p:sp>
          <p:nvSpPr>
            <p:cNvPr id="71" name="Rounded Rectangle 12">
              <a:extLst>
                <a:ext uri="{FF2B5EF4-FFF2-40B4-BE49-F238E27FC236}">
                  <a16:creationId xmlns:a16="http://schemas.microsoft.com/office/drawing/2014/main" id="{3A297DED-94E6-4E46-8752-0A11C2E4F36F}"/>
                </a:ext>
              </a:extLst>
            </p:cNvPr>
            <p:cNvSpPr/>
            <p:nvPr/>
          </p:nvSpPr>
          <p:spPr>
            <a:xfrm>
              <a:off x="1234254" y="1419879"/>
              <a:ext cx="9877457" cy="519637"/>
            </a:xfrm>
            <a:prstGeom prst="roundRect">
              <a:avLst/>
            </a:prstGeom>
            <a:solidFill>
              <a:srgbClr val="1F1E2E"/>
            </a:solidFill>
            <a:ln w="12700" cap="flat" cmpd="sng" algn="ctr">
              <a:solidFill>
                <a:srgbClr val="494B69">
                  <a:shade val="50000"/>
                </a:srgbClr>
              </a:solidFill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457200" lvl="2"/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6184EDF-E0E8-49DA-B912-1B9C45F2C96E}"/>
                </a:ext>
              </a:extLst>
            </p:cNvPr>
            <p:cNvGrpSpPr/>
            <p:nvPr/>
          </p:nvGrpSpPr>
          <p:grpSpPr>
            <a:xfrm>
              <a:off x="951017" y="1355661"/>
              <a:ext cx="660880" cy="583854"/>
              <a:chOff x="1905412" y="2945963"/>
              <a:chExt cx="1321933" cy="1167860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FFDECAC-E53D-4FD1-84F7-0A483D121DC0}"/>
                  </a:ext>
                </a:extLst>
              </p:cNvPr>
              <p:cNvSpPr/>
              <p:nvPr/>
            </p:nvSpPr>
            <p:spPr>
              <a:xfrm>
                <a:off x="1905412" y="2945963"/>
                <a:ext cx="1321933" cy="1167860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 panose="020B0604020202020204" charset="0"/>
                  <a:ea typeface="+mn-ea"/>
                  <a:cs typeface="Raleway" panose="020B0604020202020204" charset="0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45141F98-90B8-488A-A992-EEA6B51C1493}"/>
                  </a:ext>
                </a:extLst>
              </p:cNvPr>
              <p:cNvGrpSpPr/>
              <p:nvPr/>
            </p:nvGrpSpPr>
            <p:grpSpPr>
              <a:xfrm>
                <a:off x="2146555" y="3080926"/>
                <a:ext cx="890803" cy="896502"/>
                <a:chOff x="5926604" y="9997494"/>
                <a:chExt cx="1343455" cy="1343455"/>
              </a:xfrm>
            </p:grpSpPr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618753ED-908A-4386-8506-4E1508942342}"/>
                    </a:ext>
                  </a:extLst>
                </p:cNvPr>
                <p:cNvSpPr/>
                <p:nvPr/>
              </p:nvSpPr>
              <p:spPr>
                <a:xfrm flipH="1">
                  <a:off x="5926604" y="9997494"/>
                  <a:ext cx="1343455" cy="1343455"/>
                </a:xfrm>
                <a:prstGeom prst="ellipse">
                  <a:avLst/>
                </a:prstGeom>
                <a:solidFill>
                  <a:srgbClr val="1F1E2E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2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9A87E48E-A790-449C-8E35-0E55F1D9ED65}"/>
                    </a:ext>
                  </a:extLst>
                </p:cNvPr>
                <p:cNvGrpSpPr/>
                <p:nvPr/>
              </p:nvGrpSpPr>
              <p:grpSpPr>
                <a:xfrm>
                  <a:off x="6214078" y="10232002"/>
                  <a:ext cx="768506" cy="874434"/>
                  <a:chOff x="7132081" y="5288274"/>
                  <a:chExt cx="672362" cy="780185"/>
                </a:xfrm>
                <a:solidFill>
                  <a:srgbClr val="FFFFFF"/>
                </a:solidFill>
              </p:grpSpPr>
              <p:sp>
                <p:nvSpPr>
                  <p:cNvPr id="77" name="Freeform 6">
                    <a:extLst>
                      <a:ext uri="{FF2B5EF4-FFF2-40B4-BE49-F238E27FC236}">
                        <a16:creationId xmlns:a16="http://schemas.microsoft.com/office/drawing/2014/main" id="{04B3C7BB-E66F-42E2-91E7-E277A19F8B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257534" y="5669554"/>
                    <a:ext cx="164811" cy="227537"/>
                  </a:xfrm>
                  <a:custGeom>
                    <a:avLst/>
                    <a:gdLst>
                      <a:gd name="T0" fmla="*/ 73 w 805"/>
                      <a:gd name="T1" fmla="*/ 5 h 1111"/>
                      <a:gd name="T2" fmla="*/ 100 w 805"/>
                      <a:gd name="T3" fmla="*/ 24 h 1111"/>
                      <a:gd name="T4" fmla="*/ 111 w 805"/>
                      <a:gd name="T5" fmla="*/ 56 h 1111"/>
                      <a:gd name="T6" fmla="*/ 112 w 805"/>
                      <a:gd name="T7" fmla="*/ 71 h 1111"/>
                      <a:gd name="T8" fmla="*/ 120 w 805"/>
                      <a:gd name="T9" fmla="*/ 111 h 1111"/>
                      <a:gd name="T10" fmla="*/ 137 w 805"/>
                      <a:gd name="T11" fmla="*/ 174 h 1111"/>
                      <a:gd name="T12" fmla="*/ 168 w 805"/>
                      <a:gd name="T13" fmla="*/ 254 h 1111"/>
                      <a:gd name="T14" fmla="*/ 220 w 805"/>
                      <a:gd name="T15" fmla="*/ 350 h 1111"/>
                      <a:gd name="T16" fmla="*/ 294 w 805"/>
                      <a:gd name="T17" fmla="*/ 455 h 1111"/>
                      <a:gd name="T18" fmla="*/ 356 w 805"/>
                      <a:gd name="T19" fmla="*/ 532 h 1111"/>
                      <a:gd name="T20" fmla="*/ 389 w 805"/>
                      <a:gd name="T21" fmla="*/ 581 h 1111"/>
                      <a:gd name="T22" fmla="*/ 416 w 805"/>
                      <a:gd name="T23" fmla="*/ 613 h 1111"/>
                      <a:gd name="T24" fmla="*/ 438 w 805"/>
                      <a:gd name="T25" fmla="*/ 623 h 1111"/>
                      <a:gd name="T26" fmla="*/ 471 w 805"/>
                      <a:gd name="T27" fmla="*/ 647 h 1111"/>
                      <a:gd name="T28" fmla="*/ 520 w 805"/>
                      <a:gd name="T29" fmla="*/ 674 h 1111"/>
                      <a:gd name="T30" fmla="*/ 577 w 805"/>
                      <a:gd name="T31" fmla="*/ 696 h 1111"/>
                      <a:gd name="T32" fmla="*/ 633 w 805"/>
                      <a:gd name="T33" fmla="*/ 699 h 1111"/>
                      <a:gd name="T34" fmla="*/ 672 w 805"/>
                      <a:gd name="T35" fmla="*/ 684 h 1111"/>
                      <a:gd name="T36" fmla="*/ 702 w 805"/>
                      <a:gd name="T37" fmla="*/ 650 h 1111"/>
                      <a:gd name="T38" fmla="*/ 729 w 805"/>
                      <a:gd name="T39" fmla="*/ 628 h 1111"/>
                      <a:gd name="T40" fmla="*/ 763 w 805"/>
                      <a:gd name="T41" fmla="*/ 625 h 1111"/>
                      <a:gd name="T42" fmla="*/ 793 w 805"/>
                      <a:gd name="T43" fmla="*/ 644 h 1111"/>
                      <a:gd name="T44" fmla="*/ 805 w 805"/>
                      <a:gd name="T45" fmla="*/ 676 h 1111"/>
                      <a:gd name="T46" fmla="*/ 796 w 805"/>
                      <a:gd name="T47" fmla="*/ 710 h 1111"/>
                      <a:gd name="T48" fmla="*/ 746 w 805"/>
                      <a:gd name="T49" fmla="*/ 767 h 1111"/>
                      <a:gd name="T50" fmla="*/ 684 w 805"/>
                      <a:gd name="T51" fmla="*/ 801 h 1111"/>
                      <a:gd name="T52" fmla="*/ 632 w 805"/>
                      <a:gd name="T53" fmla="*/ 812 h 1111"/>
                      <a:gd name="T54" fmla="*/ 571 w 805"/>
                      <a:gd name="T55" fmla="*/ 808 h 1111"/>
                      <a:gd name="T56" fmla="*/ 489 w 805"/>
                      <a:gd name="T57" fmla="*/ 784 h 1111"/>
                      <a:gd name="T58" fmla="*/ 456 w 805"/>
                      <a:gd name="T59" fmla="*/ 805 h 1111"/>
                      <a:gd name="T60" fmla="*/ 449 w 805"/>
                      <a:gd name="T61" fmla="*/ 882 h 1111"/>
                      <a:gd name="T62" fmla="*/ 418 w 805"/>
                      <a:gd name="T63" fmla="*/ 957 h 1111"/>
                      <a:gd name="T64" fmla="*/ 365 w 805"/>
                      <a:gd name="T65" fmla="*/ 1019 h 1111"/>
                      <a:gd name="T66" fmla="*/ 288 w 805"/>
                      <a:gd name="T67" fmla="*/ 1065 h 1111"/>
                      <a:gd name="T68" fmla="*/ 190 w 805"/>
                      <a:gd name="T69" fmla="*/ 1096 h 1111"/>
                      <a:gd name="T70" fmla="*/ 71 w 805"/>
                      <a:gd name="T71" fmla="*/ 1111 h 1111"/>
                      <a:gd name="T72" fmla="*/ 51 w 805"/>
                      <a:gd name="T73" fmla="*/ 1108 h 1111"/>
                      <a:gd name="T74" fmla="*/ 24 w 805"/>
                      <a:gd name="T75" fmla="*/ 1090 h 1111"/>
                      <a:gd name="T76" fmla="*/ 12 w 805"/>
                      <a:gd name="T77" fmla="*/ 1058 h 1111"/>
                      <a:gd name="T78" fmla="*/ 22 w 805"/>
                      <a:gd name="T79" fmla="*/ 1025 h 1111"/>
                      <a:gd name="T80" fmla="*/ 48 w 805"/>
                      <a:gd name="T81" fmla="*/ 1004 h 1111"/>
                      <a:gd name="T82" fmla="*/ 96 w 805"/>
                      <a:gd name="T83" fmla="*/ 998 h 1111"/>
                      <a:gd name="T84" fmla="*/ 161 w 805"/>
                      <a:gd name="T85" fmla="*/ 988 h 1111"/>
                      <a:gd name="T86" fmla="*/ 224 w 805"/>
                      <a:gd name="T87" fmla="*/ 971 h 1111"/>
                      <a:gd name="T88" fmla="*/ 279 w 805"/>
                      <a:gd name="T89" fmla="*/ 942 h 1111"/>
                      <a:gd name="T90" fmla="*/ 321 w 805"/>
                      <a:gd name="T91" fmla="*/ 903 h 1111"/>
                      <a:gd name="T92" fmla="*/ 344 w 805"/>
                      <a:gd name="T93" fmla="*/ 846 h 1111"/>
                      <a:gd name="T94" fmla="*/ 345 w 805"/>
                      <a:gd name="T95" fmla="*/ 781 h 1111"/>
                      <a:gd name="T96" fmla="*/ 329 w 805"/>
                      <a:gd name="T97" fmla="*/ 715 h 1111"/>
                      <a:gd name="T98" fmla="*/ 303 w 805"/>
                      <a:gd name="T99" fmla="*/ 655 h 1111"/>
                      <a:gd name="T100" fmla="*/ 273 w 805"/>
                      <a:gd name="T101" fmla="*/ 605 h 1111"/>
                      <a:gd name="T102" fmla="*/ 209 w 805"/>
                      <a:gd name="T103" fmla="*/ 527 h 1111"/>
                      <a:gd name="T104" fmla="*/ 128 w 805"/>
                      <a:gd name="T105" fmla="*/ 414 h 1111"/>
                      <a:gd name="T106" fmla="*/ 72 w 805"/>
                      <a:gd name="T107" fmla="*/ 310 h 1111"/>
                      <a:gd name="T108" fmla="*/ 35 w 805"/>
                      <a:gd name="T109" fmla="*/ 221 h 1111"/>
                      <a:gd name="T110" fmla="*/ 14 w 805"/>
                      <a:gd name="T111" fmla="*/ 147 h 1111"/>
                      <a:gd name="T112" fmla="*/ 4 w 805"/>
                      <a:gd name="T113" fmla="*/ 94 h 1111"/>
                      <a:gd name="T114" fmla="*/ 0 w 805"/>
                      <a:gd name="T115" fmla="*/ 64 h 1111"/>
                      <a:gd name="T116" fmla="*/ 3 w 805"/>
                      <a:gd name="T117" fmla="*/ 41 h 1111"/>
                      <a:gd name="T118" fmla="*/ 22 w 805"/>
                      <a:gd name="T119" fmla="*/ 13 h 1111"/>
                      <a:gd name="T120" fmla="*/ 55 w 805"/>
                      <a:gd name="T121" fmla="*/ 0 h 1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805" h="1111">
                        <a:moveTo>
                          <a:pt x="55" y="0"/>
                        </a:moveTo>
                        <a:lnTo>
                          <a:pt x="73" y="5"/>
                        </a:lnTo>
                        <a:lnTo>
                          <a:pt x="88" y="13"/>
                        </a:lnTo>
                        <a:lnTo>
                          <a:pt x="100" y="24"/>
                        </a:lnTo>
                        <a:lnTo>
                          <a:pt x="107" y="39"/>
                        </a:lnTo>
                        <a:lnTo>
                          <a:pt x="111" y="56"/>
                        </a:lnTo>
                        <a:lnTo>
                          <a:pt x="111" y="59"/>
                        </a:lnTo>
                        <a:lnTo>
                          <a:pt x="112" y="71"/>
                        </a:lnTo>
                        <a:lnTo>
                          <a:pt x="115" y="88"/>
                        </a:lnTo>
                        <a:lnTo>
                          <a:pt x="120" y="111"/>
                        </a:lnTo>
                        <a:lnTo>
                          <a:pt x="127" y="139"/>
                        </a:lnTo>
                        <a:lnTo>
                          <a:pt x="137" y="174"/>
                        </a:lnTo>
                        <a:lnTo>
                          <a:pt x="151" y="212"/>
                        </a:lnTo>
                        <a:lnTo>
                          <a:pt x="168" y="254"/>
                        </a:lnTo>
                        <a:lnTo>
                          <a:pt x="192" y="299"/>
                        </a:lnTo>
                        <a:lnTo>
                          <a:pt x="220" y="350"/>
                        </a:lnTo>
                        <a:lnTo>
                          <a:pt x="254" y="401"/>
                        </a:lnTo>
                        <a:lnTo>
                          <a:pt x="294" y="455"/>
                        </a:lnTo>
                        <a:lnTo>
                          <a:pt x="342" y="513"/>
                        </a:lnTo>
                        <a:lnTo>
                          <a:pt x="356" y="532"/>
                        </a:lnTo>
                        <a:lnTo>
                          <a:pt x="372" y="554"/>
                        </a:lnTo>
                        <a:lnTo>
                          <a:pt x="389" y="581"/>
                        </a:lnTo>
                        <a:lnTo>
                          <a:pt x="405" y="612"/>
                        </a:lnTo>
                        <a:lnTo>
                          <a:pt x="416" y="613"/>
                        </a:lnTo>
                        <a:lnTo>
                          <a:pt x="428" y="617"/>
                        </a:lnTo>
                        <a:lnTo>
                          <a:pt x="438" y="623"/>
                        </a:lnTo>
                        <a:lnTo>
                          <a:pt x="452" y="634"/>
                        </a:lnTo>
                        <a:lnTo>
                          <a:pt x="471" y="647"/>
                        </a:lnTo>
                        <a:lnTo>
                          <a:pt x="494" y="661"/>
                        </a:lnTo>
                        <a:lnTo>
                          <a:pt x="520" y="674"/>
                        </a:lnTo>
                        <a:lnTo>
                          <a:pt x="548" y="687"/>
                        </a:lnTo>
                        <a:lnTo>
                          <a:pt x="577" y="696"/>
                        </a:lnTo>
                        <a:lnTo>
                          <a:pt x="605" y="700"/>
                        </a:lnTo>
                        <a:lnTo>
                          <a:pt x="633" y="699"/>
                        </a:lnTo>
                        <a:lnTo>
                          <a:pt x="654" y="694"/>
                        </a:lnTo>
                        <a:lnTo>
                          <a:pt x="672" y="684"/>
                        </a:lnTo>
                        <a:lnTo>
                          <a:pt x="688" y="669"/>
                        </a:lnTo>
                        <a:lnTo>
                          <a:pt x="702" y="650"/>
                        </a:lnTo>
                        <a:lnTo>
                          <a:pt x="715" y="636"/>
                        </a:lnTo>
                        <a:lnTo>
                          <a:pt x="729" y="628"/>
                        </a:lnTo>
                        <a:lnTo>
                          <a:pt x="746" y="624"/>
                        </a:lnTo>
                        <a:lnTo>
                          <a:pt x="763" y="625"/>
                        </a:lnTo>
                        <a:lnTo>
                          <a:pt x="779" y="632"/>
                        </a:lnTo>
                        <a:lnTo>
                          <a:pt x="793" y="644"/>
                        </a:lnTo>
                        <a:lnTo>
                          <a:pt x="801" y="660"/>
                        </a:lnTo>
                        <a:lnTo>
                          <a:pt x="805" y="676"/>
                        </a:lnTo>
                        <a:lnTo>
                          <a:pt x="804" y="693"/>
                        </a:lnTo>
                        <a:lnTo>
                          <a:pt x="796" y="710"/>
                        </a:lnTo>
                        <a:lnTo>
                          <a:pt x="773" y="741"/>
                        </a:lnTo>
                        <a:lnTo>
                          <a:pt x="746" y="767"/>
                        </a:lnTo>
                        <a:lnTo>
                          <a:pt x="717" y="786"/>
                        </a:lnTo>
                        <a:lnTo>
                          <a:pt x="684" y="801"/>
                        </a:lnTo>
                        <a:lnTo>
                          <a:pt x="649" y="810"/>
                        </a:lnTo>
                        <a:lnTo>
                          <a:pt x="632" y="812"/>
                        </a:lnTo>
                        <a:lnTo>
                          <a:pt x="615" y="812"/>
                        </a:lnTo>
                        <a:lnTo>
                          <a:pt x="571" y="808"/>
                        </a:lnTo>
                        <a:lnTo>
                          <a:pt x="528" y="799"/>
                        </a:lnTo>
                        <a:lnTo>
                          <a:pt x="489" y="784"/>
                        </a:lnTo>
                        <a:lnTo>
                          <a:pt x="452" y="767"/>
                        </a:lnTo>
                        <a:lnTo>
                          <a:pt x="456" y="805"/>
                        </a:lnTo>
                        <a:lnTo>
                          <a:pt x="455" y="844"/>
                        </a:lnTo>
                        <a:lnTo>
                          <a:pt x="449" y="882"/>
                        </a:lnTo>
                        <a:lnTo>
                          <a:pt x="437" y="920"/>
                        </a:lnTo>
                        <a:lnTo>
                          <a:pt x="418" y="957"/>
                        </a:lnTo>
                        <a:lnTo>
                          <a:pt x="394" y="989"/>
                        </a:lnTo>
                        <a:lnTo>
                          <a:pt x="365" y="1019"/>
                        </a:lnTo>
                        <a:lnTo>
                          <a:pt x="329" y="1044"/>
                        </a:lnTo>
                        <a:lnTo>
                          <a:pt x="288" y="1065"/>
                        </a:lnTo>
                        <a:lnTo>
                          <a:pt x="242" y="1083"/>
                        </a:lnTo>
                        <a:lnTo>
                          <a:pt x="190" y="1096"/>
                        </a:lnTo>
                        <a:lnTo>
                          <a:pt x="133" y="1106"/>
                        </a:lnTo>
                        <a:lnTo>
                          <a:pt x="71" y="1111"/>
                        </a:lnTo>
                        <a:lnTo>
                          <a:pt x="68" y="1111"/>
                        </a:lnTo>
                        <a:lnTo>
                          <a:pt x="51" y="1108"/>
                        </a:lnTo>
                        <a:lnTo>
                          <a:pt x="37" y="1101"/>
                        </a:lnTo>
                        <a:lnTo>
                          <a:pt x="24" y="1090"/>
                        </a:lnTo>
                        <a:lnTo>
                          <a:pt x="16" y="1075"/>
                        </a:lnTo>
                        <a:lnTo>
                          <a:pt x="12" y="1058"/>
                        </a:lnTo>
                        <a:lnTo>
                          <a:pt x="15" y="1041"/>
                        </a:lnTo>
                        <a:lnTo>
                          <a:pt x="22" y="1025"/>
                        </a:lnTo>
                        <a:lnTo>
                          <a:pt x="33" y="1012"/>
                        </a:lnTo>
                        <a:lnTo>
                          <a:pt x="48" y="1004"/>
                        </a:lnTo>
                        <a:lnTo>
                          <a:pt x="66" y="1000"/>
                        </a:lnTo>
                        <a:lnTo>
                          <a:pt x="96" y="998"/>
                        </a:lnTo>
                        <a:lnTo>
                          <a:pt x="129" y="994"/>
                        </a:lnTo>
                        <a:lnTo>
                          <a:pt x="161" y="988"/>
                        </a:lnTo>
                        <a:lnTo>
                          <a:pt x="194" y="981"/>
                        </a:lnTo>
                        <a:lnTo>
                          <a:pt x="224" y="971"/>
                        </a:lnTo>
                        <a:lnTo>
                          <a:pt x="254" y="958"/>
                        </a:lnTo>
                        <a:lnTo>
                          <a:pt x="279" y="942"/>
                        </a:lnTo>
                        <a:lnTo>
                          <a:pt x="303" y="924"/>
                        </a:lnTo>
                        <a:lnTo>
                          <a:pt x="321" y="903"/>
                        </a:lnTo>
                        <a:lnTo>
                          <a:pt x="334" y="877"/>
                        </a:lnTo>
                        <a:lnTo>
                          <a:pt x="344" y="846"/>
                        </a:lnTo>
                        <a:lnTo>
                          <a:pt x="346" y="814"/>
                        </a:lnTo>
                        <a:lnTo>
                          <a:pt x="345" y="781"/>
                        </a:lnTo>
                        <a:lnTo>
                          <a:pt x="339" y="748"/>
                        </a:lnTo>
                        <a:lnTo>
                          <a:pt x="329" y="715"/>
                        </a:lnTo>
                        <a:lnTo>
                          <a:pt x="317" y="684"/>
                        </a:lnTo>
                        <a:lnTo>
                          <a:pt x="303" y="655"/>
                        </a:lnTo>
                        <a:lnTo>
                          <a:pt x="288" y="628"/>
                        </a:lnTo>
                        <a:lnTo>
                          <a:pt x="273" y="605"/>
                        </a:lnTo>
                        <a:lnTo>
                          <a:pt x="259" y="587"/>
                        </a:lnTo>
                        <a:lnTo>
                          <a:pt x="209" y="527"/>
                        </a:lnTo>
                        <a:lnTo>
                          <a:pt x="165" y="469"/>
                        </a:lnTo>
                        <a:lnTo>
                          <a:pt x="128" y="414"/>
                        </a:lnTo>
                        <a:lnTo>
                          <a:pt x="98" y="360"/>
                        </a:lnTo>
                        <a:lnTo>
                          <a:pt x="72" y="310"/>
                        </a:lnTo>
                        <a:lnTo>
                          <a:pt x="51" y="264"/>
                        </a:lnTo>
                        <a:lnTo>
                          <a:pt x="35" y="221"/>
                        </a:lnTo>
                        <a:lnTo>
                          <a:pt x="23" y="181"/>
                        </a:lnTo>
                        <a:lnTo>
                          <a:pt x="14" y="147"/>
                        </a:lnTo>
                        <a:lnTo>
                          <a:pt x="7" y="117"/>
                        </a:lnTo>
                        <a:lnTo>
                          <a:pt x="4" y="94"/>
                        </a:lnTo>
                        <a:lnTo>
                          <a:pt x="1" y="75"/>
                        </a:lnTo>
                        <a:lnTo>
                          <a:pt x="0" y="64"/>
                        </a:lnTo>
                        <a:lnTo>
                          <a:pt x="0" y="58"/>
                        </a:lnTo>
                        <a:lnTo>
                          <a:pt x="3" y="41"/>
                        </a:lnTo>
                        <a:lnTo>
                          <a:pt x="10" y="25"/>
                        </a:lnTo>
                        <a:lnTo>
                          <a:pt x="22" y="13"/>
                        </a:lnTo>
                        <a:lnTo>
                          <a:pt x="37" y="4"/>
                        </a:lnTo>
                        <a:lnTo>
                          <a:pt x="55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8" name="Freeform 7">
                    <a:extLst>
                      <a:ext uri="{FF2B5EF4-FFF2-40B4-BE49-F238E27FC236}">
                        <a16:creationId xmlns:a16="http://schemas.microsoft.com/office/drawing/2014/main" id="{8DB1FDFF-C4FB-452D-9854-A3112FB5F1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254664" y="5632246"/>
                    <a:ext cx="120533" cy="93884"/>
                  </a:xfrm>
                  <a:custGeom>
                    <a:avLst/>
                    <a:gdLst>
                      <a:gd name="T0" fmla="*/ 96 w 588"/>
                      <a:gd name="T1" fmla="*/ 1 h 459"/>
                      <a:gd name="T2" fmla="*/ 135 w 588"/>
                      <a:gd name="T3" fmla="*/ 11 h 459"/>
                      <a:gd name="T4" fmla="*/ 180 w 588"/>
                      <a:gd name="T5" fmla="*/ 35 h 459"/>
                      <a:gd name="T6" fmla="*/ 228 w 588"/>
                      <a:gd name="T7" fmla="*/ 79 h 459"/>
                      <a:gd name="T8" fmla="*/ 278 w 588"/>
                      <a:gd name="T9" fmla="*/ 147 h 459"/>
                      <a:gd name="T10" fmla="*/ 327 w 588"/>
                      <a:gd name="T11" fmla="*/ 244 h 459"/>
                      <a:gd name="T12" fmla="*/ 342 w 588"/>
                      <a:gd name="T13" fmla="*/ 272 h 459"/>
                      <a:gd name="T14" fmla="*/ 366 w 588"/>
                      <a:gd name="T15" fmla="*/ 306 h 459"/>
                      <a:gd name="T16" fmla="*/ 400 w 588"/>
                      <a:gd name="T17" fmla="*/ 336 h 459"/>
                      <a:gd name="T18" fmla="*/ 438 w 588"/>
                      <a:gd name="T19" fmla="*/ 347 h 459"/>
                      <a:gd name="T20" fmla="*/ 480 w 588"/>
                      <a:gd name="T21" fmla="*/ 337 h 459"/>
                      <a:gd name="T22" fmla="*/ 517 w 588"/>
                      <a:gd name="T23" fmla="*/ 315 h 459"/>
                      <a:gd name="T24" fmla="*/ 552 w 588"/>
                      <a:gd name="T25" fmla="*/ 316 h 459"/>
                      <a:gd name="T26" fmla="*/ 578 w 588"/>
                      <a:gd name="T27" fmla="*/ 337 h 459"/>
                      <a:gd name="T28" fmla="*/ 588 w 588"/>
                      <a:gd name="T29" fmla="*/ 370 h 459"/>
                      <a:gd name="T30" fmla="*/ 577 w 588"/>
                      <a:gd name="T31" fmla="*/ 404 h 459"/>
                      <a:gd name="T32" fmla="*/ 536 w 588"/>
                      <a:gd name="T33" fmla="*/ 433 h 459"/>
                      <a:gd name="T34" fmla="*/ 485 w 588"/>
                      <a:gd name="T35" fmla="*/ 454 h 459"/>
                      <a:gd name="T36" fmla="*/ 438 w 588"/>
                      <a:gd name="T37" fmla="*/ 459 h 459"/>
                      <a:gd name="T38" fmla="*/ 388 w 588"/>
                      <a:gd name="T39" fmla="*/ 453 h 459"/>
                      <a:gd name="T40" fmla="*/ 331 w 588"/>
                      <a:gd name="T41" fmla="*/ 424 h 459"/>
                      <a:gd name="T42" fmla="*/ 286 w 588"/>
                      <a:gd name="T43" fmla="*/ 384 h 459"/>
                      <a:gd name="T44" fmla="*/ 254 w 588"/>
                      <a:gd name="T45" fmla="*/ 342 h 459"/>
                      <a:gd name="T46" fmla="*/ 233 w 588"/>
                      <a:gd name="T47" fmla="*/ 306 h 459"/>
                      <a:gd name="T48" fmla="*/ 225 w 588"/>
                      <a:gd name="T49" fmla="*/ 287 h 459"/>
                      <a:gd name="T50" fmla="*/ 186 w 588"/>
                      <a:gd name="T51" fmla="*/ 209 h 459"/>
                      <a:gd name="T52" fmla="*/ 150 w 588"/>
                      <a:gd name="T53" fmla="*/ 159 h 459"/>
                      <a:gd name="T54" fmla="*/ 119 w 588"/>
                      <a:gd name="T55" fmla="*/ 129 h 459"/>
                      <a:gd name="T56" fmla="*/ 94 w 588"/>
                      <a:gd name="T57" fmla="*/ 116 h 459"/>
                      <a:gd name="T58" fmla="*/ 77 w 588"/>
                      <a:gd name="T59" fmla="*/ 112 h 459"/>
                      <a:gd name="T60" fmla="*/ 71 w 588"/>
                      <a:gd name="T61" fmla="*/ 112 h 459"/>
                      <a:gd name="T62" fmla="*/ 38 w 588"/>
                      <a:gd name="T63" fmla="*/ 112 h 459"/>
                      <a:gd name="T64" fmla="*/ 11 w 588"/>
                      <a:gd name="T65" fmla="*/ 92 h 459"/>
                      <a:gd name="T66" fmla="*/ 0 w 588"/>
                      <a:gd name="T67" fmla="*/ 59 h 459"/>
                      <a:gd name="T68" fmla="*/ 11 w 588"/>
                      <a:gd name="T69" fmla="*/ 26 h 459"/>
                      <a:gd name="T70" fmla="*/ 39 w 588"/>
                      <a:gd name="T71" fmla="*/ 5 h 459"/>
                      <a:gd name="T72" fmla="*/ 53 w 588"/>
                      <a:gd name="T73" fmla="*/ 1 h 459"/>
                      <a:gd name="T74" fmla="*/ 79 w 588"/>
                      <a:gd name="T75" fmla="*/ 0 h 4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588" h="459">
                        <a:moveTo>
                          <a:pt x="79" y="0"/>
                        </a:moveTo>
                        <a:lnTo>
                          <a:pt x="96" y="1"/>
                        </a:lnTo>
                        <a:lnTo>
                          <a:pt x="114" y="5"/>
                        </a:lnTo>
                        <a:lnTo>
                          <a:pt x="135" y="11"/>
                        </a:lnTo>
                        <a:lnTo>
                          <a:pt x="157" y="21"/>
                        </a:lnTo>
                        <a:lnTo>
                          <a:pt x="180" y="35"/>
                        </a:lnTo>
                        <a:lnTo>
                          <a:pt x="204" y="54"/>
                        </a:lnTo>
                        <a:lnTo>
                          <a:pt x="228" y="79"/>
                        </a:lnTo>
                        <a:lnTo>
                          <a:pt x="253" y="110"/>
                        </a:lnTo>
                        <a:lnTo>
                          <a:pt x="278" y="147"/>
                        </a:lnTo>
                        <a:lnTo>
                          <a:pt x="303" y="191"/>
                        </a:lnTo>
                        <a:lnTo>
                          <a:pt x="327" y="244"/>
                        </a:lnTo>
                        <a:lnTo>
                          <a:pt x="333" y="256"/>
                        </a:lnTo>
                        <a:lnTo>
                          <a:pt x="342" y="272"/>
                        </a:lnTo>
                        <a:lnTo>
                          <a:pt x="353" y="289"/>
                        </a:lnTo>
                        <a:lnTo>
                          <a:pt x="366" y="306"/>
                        </a:lnTo>
                        <a:lnTo>
                          <a:pt x="382" y="322"/>
                        </a:lnTo>
                        <a:lnTo>
                          <a:pt x="400" y="336"/>
                        </a:lnTo>
                        <a:lnTo>
                          <a:pt x="420" y="345"/>
                        </a:lnTo>
                        <a:lnTo>
                          <a:pt x="438" y="347"/>
                        </a:lnTo>
                        <a:lnTo>
                          <a:pt x="458" y="345"/>
                        </a:lnTo>
                        <a:lnTo>
                          <a:pt x="480" y="337"/>
                        </a:lnTo>
                        <a:lnTo>
                          <a:pt x="502" y="324"/>
                        </a:lnTo>
                        <a:lnTo>
                          <a:pt x="517" y="315"/>
                        </a:lnTo>
                        <a:lnTo>
                          <a:pt x="535" y="314"/>
                        </a:lnTo>
                        <a:lnTo>
                          <a:pt x="552" y="316"/>
                        </a:lnTo>
                        <a:lnTo>
                          <a:pt x="566" y="325"/>
                        </a:lnTo>
                        <a:lnTo>
                          <a:pt x="578" y="337"/>
                        </a:lnTo>
                        <a:lnTo>
                          <a:pt x="586" y="353"/>
                        </a:lnTo>
                        <a:lnTo>
                          <a:pt x="588" y="370"/>
                        </a:lnTo>
                        <a:lnTo>
                          <a:pt x="586" y="388"/>
                        </a:lnTo>
                        <a:lnTo>
                          <a:pt x="577" y="404"/>
                        </a:lnTo>
                        <a:lnTo>
                          <a:pt x="564" y="416"/>
                        </a:lnTo>
                        <a:lnTo>
                          <a:pt x="536" y="433"/>
                        </a:lnTo>
                        <a:lnTo>
                          <a:pt x="509" y="445"/>
                        </a:lnTo>
                        <a:lnTo>
                          <a:pt x="485" y="454"/>
                        </a:lnTo>
                        <a:lnTo>
                          <a:pt x="460" y="458"/>
                        </a:lnTo>
                        <a:lnTo>
                          <a:pt x="438" y="459"/>
                        </a:lnTo>
                        <a:lnTo>
                          <a:pt x="411" y="458"/>
                        </a:lnTo>
                        <a:lnTo>
                          <a:pt x="388" y="453"/>
                        </a:lnTo>
                        <a:lnTo>
                          <a:pt x="358" y="440"/>
                        </a:lnTo>
                        <a:lnTo>
                          <a:pt x="331" y="424"/>
                        </a:lnTo>
                        <a:lnTo>
                          <a:pt x="307" y="405"/>
                        </a:lnTo>
                        <a:lnTo>
                          <a:pt x="286" y="384"/>
                        </a:lnTo>
                        <a:lnTo>
                          <a:pt x="269" y="363"/>
                        </a:lnTo>
                        <a:lnTo>
                          <a:pt x="254" y="342"/>
                        </a:lnTo>
                        <a:lnTo>
                          <a:pt x="242" y="322"/>
                        </a:lnTo>
                        <a:lnTo>
                          <a:pt x="233" y="306"/>
                        </a:lnTo>
                        <a:lnTo>
                          <a:pt x="227" y="294"/>
                        </a:lnTo>
                        <a:lnTo>
                          <a:pt x="225" y="287"/>
                        </a:lnTo>
                        <a:lnTo>
                          <a:pt x="205" y="245"/>
                        </a:lnTo>
                        <a:lnTo>
                          <a:pt x="186" y="209"/>
                        </a:lnTo>
                        <a:lnTo>
                          <a:pt x="168" y="181"/>
                        </a:lnTo>
                        <a:lnTo>
                          <a:pt x="150" y="159"/>
                        </a:lnTo>
                        <a:lnTo>
                          <a:pt x="133" y="142"/>
                        </a:lnTo>
                        <a:lnTo>
                          <a:pt x="119" y="129"/>
                        </a:lnTo>
                        <a:lnTo>
                          <a:pt x="105" y="121"/>
                        </a:lnTo>
                        <a:lnTo>
                          <a:pt x="94" y="116"/>
                        </a:lnTo>
                        <a:lnTo>
                          <a:pt x="85" y="113"/>
                        </a:lnTo>
                        <a:lnTo>
                          <a:pt x="77" y="112"/>
                        </a:lnTo>
                        <a:lnTo>
                          <a:pt x="74" y="112"/>
                        </a:lnTo>
                        <a:lnTo>
                          <a:pt x="71" y="112"/>
                        </a:lnTo>
                        <a:lnTo>
                          <a:pt x="54" y="116"/>
                        </a:lnTo>
                        <a:lnTo>
                          <a:pt x="38" y="112"/>
                        </a:lnTo>
                        <a:lnTo>
                          <a:pt x="22" y="105"/>
                        </a:lnTo>
                        <a:lnTo>
                          <a:pt x="11" y="92"/>
                        </a:lnTo>
                        <a:lnTo>
                          <a:pt x="3" y="76"/>
                        </a:lnTo>
                        <a:lnTo>
                          <a:pt x="0" y="59"/>
                        </a:lnTo>
                        <a:lnTo>
                          <a:pt x="4" y="42"/>
                        </a:lnTo>
                        <a:lnTo>
                          <a:pt x="11" y="26"/>
                        </a:lnTo>
                        <a:lnTo>
                          <a:pt x="24" y="14"/>
                        </a:lnTo>
                        <a:lnTo>
                          <a:pt x="39" y="5"/>
                        </a:lnTo>
                        <a:lnTo>
                          <a:pt x="44" y="4"/>
                        </a:lnTo>
                        <a:lnTo>
                          <a:pt x="53" y="1"/>
                        </a:lnTo>
                        <a:lnTo>
                          <a:pt x="65" y="0"/>
                        </a:lnTo>
                        <a:lnTo>
                          <a:pt x="79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79" name="Freeform 8">
                    <a:extLst>
                      <a:ext uri="{FF2B5EF4-FFF2-40B4-BE49-F238E27FC236}">
                        <a16:creationId xmlns:a16="http://schemas.microsoft.com/office/drawing/2014/main" id="{A76C32FC-C8C5-43EE-B96B-F5849CF9B7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76017" y="5393230"/>
                    <a:ext cx="37308" cy="211548"/>
                  </a:xfrm>
                  <a:custGeom>
                    <a:avLst/>
                    <a:gdLst>
                      <a:gd name="T0" fmla="*/ 72 w 183"/>
                      <a:gd name="T1" fmla="*/ 0 h 1031"/>
                      <a:gd name="T2" fmla="*/ 89 w 183"/>
                      <a:gd name="T3" fmla="*/ 3 h 1031"/>
                      <a:gd name="T4" fmla="*/ 104 w 183"/>
                      <a:gd name="T5" fmla="*/ 12 h 1031"/>
                      <a:gd name="T6" fmla="*/ 115 w 183"/>
                      <a:gd name="T7" fmla="*/ 26 h 1031"/>
                      <a:gd name="T8" fmla="*/ 122 w 183"/>
                      <a:gd name="T9" fmla="*/ 41 h 1031"/>
                      <a:gd name="T10" fmla="*/ 124 w 183"/>
                      <a:gd name="T11" fmla="*/ 49 h 1031"/>
                      <a:gd name="T12" fmla="*/ 127 w 183"/>
                      <a:gd name="T13" fmla="*/ 64 h 1031"/>
                      <a:gd name="T14" fmla="*/ 132 w 183"/>
                      <a:gd name="T15" fmla="*/ 85 h 1031"/>
                      <a:gd name="T16" fmla="*/ 138 w 183"/>
                      <a:gd name="T17" fmla="*/ 113 h 1031"/>
                      <a:gd name="T18" fmla="*/ 145 w 183"/>
                      <a:gd name="T19" fmla="*/ 146 h 1031"/>
                      <a:gd name="T20" fmla="*/ 151 w 183"/>
                      <a:gd name="T21" fmla="*/ 184 h 1031"/>
                      <a:gd name="T22" fmla="*/ 159 w 183"/>
                      <a:gd name="T23" fmla="*/ 228 h 1031"/>
                      <a:gd name="T24" fmla="*/ 165 w 183"/>
                      <a:gd name="T25" fmla="*/ 276 h 1031"/>
                      <a:gd name="T26" fmla="*/ 171 w 183"/>
                      <a:gd name="T27" fmla="*/ 327 h 1031"/>
                      <a:gd name="T28" fmla="*/ 177 w 183"/>
                      <a:gd name="T29" fmla="*/ 382 h 1031"/>
                      <a:gd name="T30" fmla="*/ 181 w 183"/>
                      <a:gd name="T31" fmla="*/ 440 h 1031"/>
                      <a:gd name="T32" fmla="*/ 183 w 183"/>
                      <a:gd name="T33" fmla="*/ 499 h 1031"/>
                      <a:gd name="T34" fmla="*/ 183 w 183"/>
                      <a:gd name="T35" fmla="*/ 560 h 1031"/>
                      <a:gd name="T36" fmla="*/ 182 w 183"/>
                      <a:gd name="T37" fmla="*/ 623 h 1031"/>
                      <a:gd name="T38" fmla="*/ 177 w 183"/>
                      <a:gd name="T39" fmla="*/ 687 h 1031"/>
                      <a:gd name="T40" fmla="*/ 171 w 183"/>
                      <a:gd name="T41" fmla="*/ 751 h 1031"/>
                      <a:gd name="T42" fmla="*/ 160 w 183"/>
                      <a:gd name="T43" fmla="*/ 814 h 1031"/>
                      <a:gd name="T44" fmla="*/ 146 w 183"/>
                      <a:gd name="T45" fmla="*/ 876 h 1031"/>
                      <a:gd name="T46" fmla="*/ 128 w 183"/>
                      <a:gd name="T47" fmla="*/ 938 h 1031"/>
                      <a:gd name="T48" fmla="*/ 107 w 183"/>
                      <a:gd name="T49" fmla="*/ 997 h 1031"/>
                      <a:gd name="T50" fmla="*/ 98 w 183"/>
                      <a:gd name="T51" fmla="*/ 1012 h 1031"/>
                      <a:gd name="T52" fmla="*/ 85 w 183"/>
                      <a:gd name="T53" fmla="*/ 1023 h 1031"/>
                      <a:gd name="T54" fmla="*/ 71 w 183"/>
                      <a:gd name="T55" fmla="*/ 1029 h 1031"/>
                      <a:gd name="T56" fmla="*/ 55 w 183"/>
                      <a:gd name="T57" fmla="*/ 1031 h 1031"/>
                      <a:gd name="T58" fmla="*/ 34 w 183"/>
                      <a:gd name="T59" fmla="*/ 1028 h 1031"/>
                      <a:gd name="T60" fmla="*/ 20 w 183"/>
                      <a:gd name="T61" fmla="*/ 1018 h 1031"/>
                      <a:gd name="T62" fmla="*/ 9 w 183"/>
                      <a:gd name="T63" fmla="*/ 1006 h 1031"/>
                      <a:gd name="T64" fmla="*/ 1 w 183"/>
                      <a:gd name="T65" fmla="*/ 990 h 1031"/>
                      <a:gd name="T66" fmla="*/ 0 w 183"/>
                      <a:gd name="T67" fmla="*/ 972 h 1031"/>
                      <a:gd name="T68" fmla="*/ 4 w 183"/>
                      <a:gd name="T69" fmla="*/ 955 h 1031"/>
                      <a:gd name="T70" fmla="*/ 23 w 183"/>
                      <a:gd name="T71" fmla="*/ 901 h 1031"/>
                      <a:gd name="T72" fmla="*/ 39 w 183"/>
                      <a:gd name="T73" fmla="*/ 844 h 1031"/>
                      <a:gd name="T74" fmla="*/ 53 w 183"/>
                      <a:gd name="T75" fmla="*/ 787 h 1031"/>
                      <a:gd name="T76" fmla="*/ 61 w 183"/>
                      <a:gd name="T77" fmla="*/ 728 h 1031"/>
                      <a:gd name="T78" fmla="*/ 67 w 183"/>
                      <a:gd name="T79" fmla="*/ 667 h 1031"/>
                      <a:gd name="T80" fmla="*/ 71 w 183"/>
                      <a:gd name="T81" fmla="*/ 608 h 1031"/>
                      <a:gd name="T82" fmla="*/ 72 w 183"/>
                      <a:gd name="T83" fmla="*/ 549 h 1031"/>
                      <a:gd name="T84" fmla="*/ 71 w 183"/>
                      <a:gd name="T85" fmla="*/ 492 h 1031"/>
                      <a:gd name="T86" fmla="*/ 68 w 183"/>
                      <a:gd name="T87" fmla="*/ 435 h 1031"/>
                      <a:gd name="T88" fmla="*/ 65 w 183"/>
                      <a:gd name="T89" fmla="*/ 381 h 1031"/>
                      <a:gd name="T90" fmla="*/ 60 w 183"/>
                      <a:gd name="T91" fmla="*/ 330 h 1031"/>
                      <a:gd name="T92" fmla="*/ 54 w 183"/>
                      <a:gd name="T93" fmla="*/ 281 h 1031"/>
                      <a:gd name="T94" fmla="*/ 48 w 183"/>
                      <a:gd name="T95" fmla="*/ 237 h 1031"/>
                      <a:gd name="T96" fmla="*/ 40 w 183"/>
                      <a:gd name="T97" fmla="*/ 196 h 1031"/>
                      <a:gd name="T98" fmla="*/ 34 w 183"/>
                      <a:gd name="T99" fmla="*/ 161 h 1031"/>
                      <a:gd name="T100" fmla="*/ 28 w 183"/>
                      <a:gd name="T101" fmla="*/ 130 h 1031"/>
                      <a:gd name="T102" fmla="*/ 23 w 183"/>
                      <a:gd name="T103" fmla="*/ 105 h 1031"/>
                      <a:gd name="T104" fmla="*/ 18 w 183"/>
                      <a:gd name="T105" fmla="*/ 87 h 1031"/>
                      <a:gd name="T106" fmla="*/ 16 w 183"/>
                      <a:gd name="T107" fmla="*/ 75 h 1031"/>
                      <a:gd name="T108" fmla="*/ 15 w 183"/>
                      <a:gd name="T109" fmla="*/ 70 h 1031"/>
                      <a:gd name="T110" fmla="*/ 13 w 183"/>
                      <a:gd name="T111" fmla="*/ 53 h 1031"/>
                      <a:gd name="T112" fmla="*/ 17 w 183"/>
                      <a:gd name="T113" fmla="*/ 35 h 1031"/>
                      <a:gd name="T114" fmla="*/ 26 w 183"/>
                      <a:gd name="T115" fmla="*/ 21 h 1031"/>
                      <a:gd name="T116" fmla="*/ 38 w 183"/>
                      <a:gd name="T117" fmla="*/ 8 h 1031"/>
                      <a:gd name="T118" fmla="*/ 55 w 183"/>
                      <a:gd name="T119" fmla="*/ 2 h 1031"/>
                      <a:gd name="T120" fmla="*/ 72 w 183"/>
                      <a:gd name="T121" fmla="*/ 0 h 10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83" h="1031">
                        <a:moveTo>
                          <a:pt x="72" y="0"/>
                        </a:moveTo>
                        <a:lnTo>
                          <a:pt x="89" y="3"/>
                        </a:lnTo>
                        <a:lnTo>
                          <a:pt x="104" y="12"/>
                        </a:lnTo>
                        <a:lnTo>
                          <a:pt x="115" y="26"/>
                        </a:lnTo>
                        <a:lnTo>
                          <a:pt x="122" y="41"/>
                        </a:lnTo>
                        <a:lnTo>
                          <a:pt x="124" y="49"/>
                        </a:lnTo>
                        <a:lnTo>
                          <a:pt x="127" y="64"/>
                        </a:lnTo>
                        <a:lnTo>
                          <a:pt x="132" y="85"/>
                        </a:lnTo>
                        <a:lnTo>
                          <a:pt x="138" y="113"/>
                        </a:lnTo>
                        <a:lnTo>
                          <a:pt x="145" y="146"/>
                        </a:lnTo>
                        <a:lnTo>
                          <a:pt x="151" y="184"/>
                        </a:lnTo>
                        <a:lnTo>
                          <a:pt x="159" y="228"/>
                        </a:lnTo>
                        <a:lnTo>
                          <a:pt x="165" y="276"/>
                        </a:lnTo>
                        <a:lnTo>
                          <a:pt x="171" y="327"/>
                        </a:lnTo>
                        <a:lnTo>
                          <a:pt x="177" y="382"/>
                        </a:lnTo>
                        <a:lnTo>
                          <a:pt x="181" y="440"/>
                        </a:lnTo>
                        <a:lnTo>
                          <a:pt x="183" y="499"/>
                        </a:lnTo>
                        <a:lnTo>
                          <a:pt x="183" y="560"/>
                        </a:lnTo>
                        <a:lnTo>
                          <a:pt x="182" y="623"/>
                        </a:lnTo>
                        <a:lnTo>
                          <a:pt x="177" y="687"/>
                        </a:lnTo>
                        <a:lnTo>
                          <a:pt x="171" y="751"/>
                        </a:lnTo>
                        <a:lnTo>
                          <a:pt x="160" y="814"/>
                        </a:lnTo>
                        <a:lnTo>
                          <a:pt x="146" y="876"/>
                        </a:lnTo>
                        <a:lnTo>
                          <a:pt x="128" y="938"/>
                        </a:lnTo>
                        <a:lnTo>
                          <a:pt x="107" y="997"/>
                        </a:lnTo>
                        <a:lnTo>
                          <a:pt x="98" y="1012"/>
                        </a:lnTo>
                        <a:lnTo>
                          <a:pt x="85" y="1023"/>
                        </a:lnTo>
                        <a:lnTo>
                          <a:pt x="71" y="1029"/>
                        </a:lnTo>
                        <a:lnTo>
                          <a:pt x="55" y="1031"/>
                        </a:lnTo>
                        <a:lnTo>
                          <a:pt x="34" y="1028"/>
                        </a:lnTo>
                        <a:lnTo>
                          <a:pt x="20" y="1018"/>
                        </a:lnTo>
                        <a:lnTo>
                          <a:pt x="9" y="1006"/>
                        </a:lnTo>
                        <a:lnTo>
                          <a:pt x="1" y="990"/>
                        </a:lnTo>
                        <a:lnTo>
                          <a:pt x="0" y="972"/>
                        </a:lnTo>
                        <a:lnTo>
                          <a:pt x="4" y="955"/>
                        </a:lnTo>
                        <a:lnTo>
                          <a:pt x="23" y="901"/>
                        </a:lnTo>
                        <a:lnTo>
                          <a:pt x="39" y="844"/>
                        </a:lnTo>
                        <a:lnTo>
                          <a:pt x="53" y="787"/>
                        </a:lnTo>
                        <a:lnTo>
                          <a:pt x="61" y="728"/>
                        </a:lnTo>
                        <a:lnTo>
                          <a:pt x="67" y="667"/>
                        </a:lnTo>
                        <a:lnTo>
                          <a:pt x="71" y="608"/>
                        </a:lnTo>
                        <a:lnTo>
                          <a:pt x="72" y="549"/>
                        </a:lnTo>
                        <a:lnTo>
                          <a:pt x="71" y="492"/>
                        </a:lnTo>
                        <a:lnTo>
                          <a:pt x="68" y="435"/>
                        </a:lnTo>
                        <a:lnTo>
                          <a:pt x="65" y="381"/>
                        </a:lnTo>
                        <a:lnTo>
                          <a:pt x="60" y="330"/>
                        </a:lnTo>
                        <a:lnTo>
                          <a:pt x="54" y="281"/>
                        </a:lnTo>
                        <a:lnTo>
                          <a:pt x="48" y="237"/>
                        </a:lnTo>
                        <a:lnTo>
                          <a:pt x="40" y="196"/>
                        </a:lnTo>
                        <a:lnTo>
                          <a:pt x="34" y="161"/>
                        </a:lnTo>
                        <a:lnTo>
                          <a:pt x="28" y="130"/>
                        </a:lnTo>
                        <a:lnTo>
                          <a:pt x="23" y="105"/>
                        </a:lnTo>
                        <a:lnTo>
                          <a:pt x="18" y="87"/>
                        </a:lnTo>
                        <a:lnTo>
                          <a:pt x="16" y="75"/>
                        </a:lnTo>
                        <a:lnTo>
                          <a:pt x="15" y="70"/>
                        </a:lnTo>
                        <a:lnTo>
                          <a:pt x="13" y="53"/>
                        </a:lnTo>
                        <a:lnTo>
                          <a:pt x="17" y="35"/>
                        </a:lnTo>
                        <a:lnTo>
                          <a:pt x="26" y="21"/>
                        </a:lnTo>
                        <a:lnTo>
                          <a:pt x="38" y="8"/>
                        </a:lnTo>
                        <a:lnTo>
                          <a:pt x="55" y="2"/>
                        </a:lnTo>
                        <a:lnTo>
                          <a:pt x="72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0" name="Freeform 9">
                    <a:extLst>
                      <a:ext uri="{FF2B5EF4-FFF2-40B4-BE49-F238E27FC236}">
                        <a16:creationId xmlns:a16="http://schemas.microsoft.com/office/drawing/2014/main" id="{A98DAC04-2CC6-460B-9DCE-061C809D61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52648" y="5890531"/>
                    <a:ext cx="85685" cy="81175"/>
                  </a:xfrm>
                  <a:custGeom>
                    <a:avLst/>
                    <a:gdLst>
                      <a:gd name="T0" fmla="*/ 46 w 419"/>
                      <a:gd name="T1" fmla="*/ 0 h 396"/>
                      <a:gd name="T2" fmla="*/ 64 w 419"/>
                      <a:gd name="T3" fmla="*/ 0 h 396"/>
                      <a:gd name="T4" fmla="*/ 69 w 419"/>
                      <a:gd name="T5" fmla="*/ 1 h 396"/>
                      <a:gd name="T6" fmla="*/ 77 w 419"/>
                      <a:gd name="T7" fmla="*/ 2 h 396"/>
                      <a:gd name="T8" fmla="*/ 91 w 419"/>
                      <a:gd name="T9" fmla="*/ 6 h 396"/>
                      <a:gd name="T10" fmla="*/ 109 w 419"/>
                      <a:gd name="T11" fmla="*/ 11 h 396"/>
                      <a:gd name="T12" fmla="*/ 128 w 419"/>
                      <a:gd name="T13" fmla="*/ 17 h 396"/>
                      <a:gd name="T14" fmla="*/ 152 w 419"/>
                      <a:gd name="T15" fmla="*/ 27 h 396"/>
                      <a:gd name="T16" fmla="*/ 177 w 419"/>
                      <a:gd name="T17" fmla="*/ 38 h 396"/>
                      <a:gd name="T18" fmla="*/ 204 w 419"/>
                      <a:gd name="T19" fmla="*/ 51 h 396"/>
                      <a:gd name="T20" fmla="*/ 231 w 419"/>
                      <a:gd name="T21" fmla="*/ 67 h 396"/>
                      <a:gd name="T22" fmla="*/ 259 w 419"/>
                      <a:gd name="T23" fmla="*/ 87 h 396"/>
                      <a:gd name="T24" fmla="*/ 287 w 419"/>
                      <a:gd name="T25" fmla="*/ 109 h 396"/>
                      <a:gd name="T26" fmla="*/ 314 w 419"/>
                      <a:gd name="T27" fmla="*/ 135 h 396"/>
                      <a:gd name="T28" fmla="*/ 339 w 419"/>
                      <a:gd name="T29" fmla="*/ 166 h 396"/>
                      <a:gd name="T30" fmla="*/ 363 w 419"/>
                      <a:gd name="T31" fmla="*/ 199 h 396"/>
                      <a:gd name="T32" fmla="*/ 385 w 419"/>
                      <a:gd name="T33" fmla="*/ 237 h 396"/>
                      <a:gd name="T34" fmla="*/ 403 w 419"/>
                      <a:gd name="T35" fmla="*/ 279 h 396"/>
                      <a:gd name="T36" fmla="*/ 417 w 419"/>
                      <a:gd name="T37" fmla="*/ 326 h 396"/>
                      <a:gd name="T38" fmla="*/ 419 w 419"/>
                      <a:gd name="T39" fmla="*/ 344 h 396"/>
                      <a:gd name="T40" fmla="*/ 415 w 419"/>
                      <a:gd name="T41" fmla="*/ 360 h 396"/>
                      <a:gd name="T42" fmla="*/ 406 w 419"/>
                      <a:gd name="T43" fmla="*/ 375 h 396"/>
                      <a:gd name="T44" fmla="*/ 394 w 419"/>
                      <a:gd name="T45" fmla="*/ 387 h 396"/>
                      <a:gd name="T46" fmla="*/ 377 w 419"/>
                      <a:gd name="T47" fmla="*/ 394 h 396"/>
                      <a:gd name="T48" fmla="*/ 364 w 419"/>
                      <a:gd name="T49" fmla="*/ 396 h 396"/>
                      <a:gd name="T50" fmla="*/ 346 w 419"/>
                      <a:gd name="T51" fmla="*/ 393 h 396"/>
                      <a:gd name="T52" fmla="*/ 330 w 419"/>
                      <a:gd name="T53" fmla="*/ 385 h 396"/>
                      <a:gd name="T54" fmla="*/ 317 w 419"/>
                      <a:gd name="T55" fmla="*/ 371 h 396"/>
                      <a:gd name="T56" fmla="*/ 310 w 419"/>
                      <a:gd name="T57" fmla="*/ 354 h 396"/>
                      <a:gd name="T58" fmla="*/ 297 w 419"/>
                      <a:gd name="T59" fmla="*/ 314 h 396"/>
                      <a:gd name="T60" fmla="*/ 281 w 419"/>
                      <a:gd name="T61" fmla="*/ 280 h 396"/>
                      <a:gd name="T62" fmla="*/ 261 w 419"/>
                      <a:gd name="T63" fmla="*/ 248 h 396"/>
                      <a:gd name="T64" fmla="*/ 241 w 419"/>
                      <a:gd name="T65" fmla="*/ 222 h 396"/>
                      <a:gd name="T66" fmla="*/ 217 w 419"/>
                      <a:gd name="T67" fmla="*/ 198 h 396"/>
                      <a:gd name="T68" fmla="*/ 194 w 419"/>
                      <a:gd name="T69" fmla="*/ 178 h 396"/>
                      <a:gd name="T70" fmla="*/ 170 w 419"/>
                      <a:gd name="T71" fmla="*/ 161 h 396"/>
                      <a:gd name="T72" fmla="*/ 147 w 419"/>
                      <a:gd name="T73" fmla="*/ 147 h 396"/>
                      <a:gd name="T74" fmla="*/ 125 w 419"/>
                      <a:gd name="T75" fmla="*/ 136 h 396"/>
                      <a:gd name="T76" fmla="*/ 104 w 419"/>
                      <a:gd name="T77" fmla="*/ 128 h 396"/>
                      <a:gd name="T78" fmla="*/ 85 w 419"/>
                      <a:gd name="T79" fmla="*/ 120 h 396"/>
                      <a:gd name="T80" fmla="*/ 70 w 419"/>
                      <a:gd name="T81" fmla="*/ 115 h 396"/>
                      <a:gd name="T82" fmla="*/ 58 w 419"/>
                      <a:gd name="T83" fmla="*/ 113 h 396"/>
                      <a:gd name="T84" fmla="*/ 49 w 419"/>
                      <a:gd name="T85" fmla="*/ 110 h 396"/>
                      <a:gd name="T86" fmla="*/ 47 w 419"/>
                      <a:gd name="T87" fmla="*/ 110 h 396"/>
                      <a:gd name="T88" fmla="*/ 30 w 419"/>
                      <a:gd name="T89" fmla="*/ 104 h 396"/>
                      <a:gd name="T90" fmla="*/ 15 w 419"/>
                      <a:gd name="T91" fmla="*/ 94 h 396"/>
                      <a:gd name="T92" fmla="*/ 5 w 419"/>
                      <a:gd name="T93" fmla="*/ 81 h 396"/>
                      <a:gd name="T94" fmla="*/ 0 w 419"/>
                      <a:gd name="T95" fmla="*/ 64 h 396"/>
                      <a:gd name="T96" fmla="*/ 0 w 419"/>
                      <a:gd name="T97" fmla="*/ 46 h 396"/>
                      <a:gd name="T98" fmla="*/ 5 w 419"/>
                      <a:gd name="T99" fmla="*/ 29 h 396"/>
                      <a:gd name="T100" fmla="*/ 16 w 419"/>
                      <a:gd name="T101" fmla="*/ 16 h 396"/>
                      <a:gd name="T102" fmla="*/ 30 w 419"/>
                      <a:gd name="T103" fmla="*/ 5 h 396"/>
                      <a:gd name="T104" fmla="*/ 46 w 419"/>
                      <a:gd name="T105" fmla="*/ 0 h 3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419" h="396">
                        <a:moveTo>
                          <a:pt x="46" y="0"/>
                        </a:moveTo>
                        <a:lnTo>
                          <a:pt x="64" y="0"/>
                        </a:lnTo>
                        <a:lnTo>
                          <a:pt x="69" y="1"/>
                        </a:lnTo>
                        <a:lnTo>
                          <a:pt x="77" y="2"/>
                        </a:lnTo>
                        <a:lnTo>
                          <a:pt x="91" y="6"/>
                        </a:lnTo>
                        <a:lnTo>
                          <a:pt x="109" y="11"/>
                        </a:lnTo>
                        <a:lnTo>
                          <a:pt x="128" y="17"/>
                        </a:lnTo>
                        <a:lnTo>
                          <a:pt x="152" y="27"/>
                        </a:lnTo>
                        <a:lnTo>
                          <a:pt x="177" y="38"/>
                        </a:lnTo>
                        <a:lnTo>
                          <a:pt x="204" y="51"/>
                        </a:lnTo>
                        <a:lnTo>
                          <a:pt x="231" y="67"/>
                        </a:lnTo>
                        <a:lnTo>
                          <a:pt x="259" y="87"/>
                        </a:lnTo>
                        <a:lnTo>
                          <a:pt x="287" y="109"/>
                        </a:lnTo>
                        <a:lnTo>
                          <a:pt x="314" y="135"/>
                        </a:lnTo>
                        <a:lnTo>
                          <a:pt x="339" y="166"/>
                        </a:lnTo>
                        <a:lnTo>
                          <a:pt x="363" y="199"/>
                        </a:lnTo>
                        <a:lnTo>
                          <a:pt x="385" y="237"/>
                        </a:lnTo>
                        <a:lnTo>
                          <a:pt x="403" y="279"/>
                        </a:lnTo>
                        <a:lnTo>
                          <a:pt x="417" y="326"/>
                        </a:lnTo>
                        <a:lnTo>
                          <a:pt x="419" y="344"/>
                        </a:lnTo>
                        <a:lnTo>
                          <a:pt x="415" y="360"/>
                        </a:lnTo>
                        <a:lnTo>
                          <a:pt x="406" y="375"/>
                        </a:lnTo>
                        <a:lnTo>
                          <a:pt x="394" y="387"/>
                        </a:lnTo>
                        <a:lnTo>
                          <a:pt x="377" y="394"/>
                        </a:lnTo>
                        <a:lnTo>
                          <a:pt x="364" y="396"/>
                        </a:lnTo>
                        <a:lnTo>
                          <a:pt x="346" y="393"/>
                        </a:lnTo>
                        <a:lnTo>
                          <a:pt x="330" y="385"/>
                        </a:lnTo>
                        <a:lnTo>
                          <a:pt x="317" y="371"/>
                        </a:lnTo>
                        <a:lnTo>
                          <a:pt x="310" y="354"/>
                        </a:lnTo>
                        <a:lnTo>
                          <a:pt x="297" y="314"/>
                        </a:lnTo>
                        <a:lnTo>
                          <a:pt x="281" y="280"/>
                        </a:lnTo>
                        <a:lnTo>
                          <a:pt x="261" y="248"/>
                        </a:lnTo>
                        <a:lnTo>
                          <a:pt x="241" y="222"/>
                        </a:lnTo>
                        <a:lnTo>
                          <a:pt x="217" y="198"/>
                        </a:lnTo>
                        <a:lnTo>
                          <a:pt x="194" y="178"/>
                        </a:lnTo>
                        <a:lnTo>
                          <a:pt x="170" y="161"/>
                        </a:lnTo>
                        <a:lnTo>
                          <a:pt x="147" y="147"/>
                        </a:lnTo>
                        <a:lnTo>
                          <a:pt x="125" y="136"/>
                        </a:lnTo>
                        <a:lnTo>
                          <a:pt x="104" y="128"/>
                        </a:lnTo>
                        <a:lnTo>
                          <a:pt x="85" y="120"/>
                        </a:lnTo>
                        <a:lnTo>
                          <a:pt x="70" y="115"/>
                        </a:lnTo>
                        <a:lnTo>
                          <a:pt x="58" y="113"/>
                        </a:lnTo>
                        <a:lnTo>
                          <a:pt x="49" y="110"/>
                        </a:lnTo>
                        <a:lnTo>
                          <a:pt x="47" y="110"/>
                        </a:lnTo>
                        <a:lnTo>
                          <a:pt x="30" y="104"/>
                        </a:lnTo>
                        <a:lnTo>
                          <a:pt x="15" y="94"/>
                        </a:lnTo>
                        <a:lnTo>
                          <a:pt x="5" y="81"/>
                        </a:lnTo>
                        <a:lnTo>
                          <a:pt x="0" y="64"/>
                        </a:lnTo>
                        <a:lnTo>
                          <a:pt x="0" y="46"/>
                        </a:lnTo>
                        <a:lnTo>
                          <a:pt x="5" y="29"/>
                        </a:lnTo>
                        <a:lnTo>
                          <a:pt x="16" y="16"/>
                        </a:lnTo>
                        <a:lnTo>
                          <a:pt x="30" y="5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1" name="Freeform 10">
                    <a:extLst>
                      <a:ext uri="{FF2B5EF4-FFF2-40B4-BE49-F238E27FC236}">
                        <a16:creationId xmlns:a16="http://schemas.microsoft.com/office/drawing/2014/main" id="{14BC2B05-812B-4338-A9F6-806822BDA2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268193" y="5901190"/>
                    <a:ext cx="130782" cy="113973"/>
                  </a:xfrm>
                  <a:custGeom>
                    <a:avLst/>
                    <a:gdLst>
                      <a:gd name="T0" fmla="*/ 60 w 638"/>
                      <a:gd name="T1" fmla="*/ 0 h 556"/>
                      <a:gd name="T2" fmla="*/ 77 w 638"/>
                      <a:gd name="T3" fmla="*/ 4 h 556"/>
                      <a:gd name="T4" fmla="*/ 92 w 638"/>
                      <a:gd name="T5" fmla="*/ 13 h 556"/>
                      <a:gd name="T6" fmla="*/ 103 w 638"/>
                      <a:gd name="T7" fmla="*/ 26 h 556"/>
                      <a:gd name="T8" fmla="*/ 125 w 638"/>
                      <a:gd name="T9" fmla="*/ 61 h 556"/>
                      <a:gd name="T10" fmla="*/ 148 w 638"/>
                      <a:gd name="T11" fmla="*/ 96 h 556"/>
                      <a:gd name="T12" fmla="*/ 173 w 638"/>
                      <a:gd name="T13" fmla="*/ 133 h 556"/>
                      <a:gd name="T14" fmla="*/ 202 w 638"/>
                      <a:gd name="T15" fmla="*/ 171 h 556"/>
                      <a:gd name="T16" fmla="*/ 231 w 638"/>
                      <a:gd name="T17" fmla="*/ 208 h 556"/>
                      <a:gd name="T18" fmla="*/ 261 w 638"/>
                      <a:gd name="T19" fmla="*/ 244 h 556"/>
                      <a:gd name="T20" fmla="*/ 292 w 638"/>
                      <a:gd name="T21" fmla="*/ 279 h 556"/>
                      <a:gd name="T22" fmla="*/ 323 w 638"/>
                      <a:gd name="T23" fmla="*/ 313 h 556"/>
                      <a:gd name="T24" fmla="*/ 356 w 638"/>
                      <a:gd name="T25" fmla="*/ 343 h 556"/>
                      <a:gd name="T26" fmla="*/ 389 w 638"/>
                      <a:gd name="T27" fmla="*/ 372 h 556"/>
                      <a:gd name="T28" fmla="*/ 421 w 638"/>
                      <a:gd name="T29" fmla="*/ 395 h 556"/>
                      <a:gd name="T30" fmla="*/ 453 w 638"/>
                      <a:gd name="T31" fmla="*/ 416 h 556"/>
                      <a:gd name="T32" fmla="*/ 484 w 638"/>
                      <a:gd name="T33" fmla="*/ 431 h 556"/>
                      <a:gd name="T34" fmla="*/ 515 w 638"/>
                      <a:gd name="T35" fmla="*/ 441 h 556"/>
                      <a:gd name="T36" fmla="*/ 543 w 638"/>
                      <a:gd name="T37" fmla="*/ 444 h 556"/>
                      <a:gd name="T38" fmla="*/ 571 w 638"/>
                      <a:gd name="T39" fmla="*/ 442 h 556"/>
                      <a:gd name="T40" fmla="*/ 588 w 638"/>
                      <a:gd name="T41" fmla="*/ 441 h 556"/>
                      <a:gd name="T42" fmla="*/ 605 w 638"/>
                      <a:gd name="T43" fmla="*/ 445 h 556"/>
                      <a:gd name="T44" fmla="*/ 619 w 638"/>
                      <a:gd name="T45" fmla="*/ 454 h 556"/>
                      <a:gd name="T46" fmla="*/ 629 w 638"/>
                      <a:gd name="T47" fmla="*/ 468 h 556"/>
                      <a:gd name="T48" fmla="*/ 637 w 638"/>
                      <a:gd name="T49" fmla="*/ 485 h 556"/>
                      <a:gd name="T50" fmla="*/ 638 w 638"/>
                      <a:gd name="T51" fmla="*/ 502 h 556"/>
                      <a:gd name="T52" fmla="*/ 633 w 638"/>
                      <a:gd name="T53" fmla="*/ 519 h 556"/>
                      <a:gd name="T54" fmla="*/ 623 w 638"/>
                      <a:gd name="T55" fmla="*/ 533 h 556"/>
                      <a:gd name="T56" fmla="*/ 611 w 638"/>
                      <a:gd name="T57" fmla="*/ 544 h 556"/>
                      <a:gd name="T58" fmla="*/ 594 w 638"/>
                      <a:gd name="T59" fmla="*/ 551 h 556"/>
                      <a:gd name="T60" fmla="*/ 571 w 638"/>
                      <a:gd name="T61" fmla="*/ 555 h 556"/>
                      <a:gd name="T62" fmla="*/ 548 w 638"/>
                      <a:gd name="T63" fmla="*/ 556 h 556"/>
                      <a:gd name="T64" fmla="*/ 510 w 638"/>
                      <a:gd name="T65" fmla="*/ 552 h 556"/>
                      <a:gd name="T66" fmla="*/ 473 w 638"/>
                      <a:gd name="T67" fmla="*/ 544 h 556"/>
                      <a:gd name="T68" fmla="*/ 436 w 638"/>
                      <a:gd name="T69" fmla="*/ 530 h 556"/>
                      <a:gd name="T70" fmla="*/ 399 w 638"/>
                      <a:gd name="T71" fmla="*/ 512 h 556"/>
                      <a:gd name="T72" fmla="*/ 362 w 638"/>
                      <a:gd name="T73" fmla="*/ 490 h 556"/>
                      <a:gd name="T74" fmla="*/ 327 w 638"/>
                      <a:gd name="T75" fmla="*/ 464 h 556"/>
                      <a:gd name="T76" fmla="*/ 292 w 638"/>
                      <a:gd name="T77" fmla="*/ 436 h 556"/>
                      <a:gd name="T78" fmla="*/ 259 w 638"/>
                      <a:gd name="T79" fmla="*/ 405 h 556"/>
                      <a:gd name="T80" fmla="*/ 227 w 638"/>
                      <a:gd name="T81" fmla="*/ 373 h 556"/>
                      <a:gd name="T82" fmla="*/ 195 w 638"/>
                      <a:gd name="T83" fmla="*/ 340 h 556"/>
                      <a:gd name="T84" fmla="*/ 166 w 638"/>
                      <a:gd name="T85" fmla="*/ 306 h 556"/>
                      <a:gd name="T86" fmla="*/ 139 w 638"/>
                      <a:gd name="T87" fmla="*/ 272 h 556"/>
                      <a:gd name="T88" fmla="*/ 114 w 638"/>
                      <a:gd name="T89" fmla="*/ 240 h 556"/>
                      <a:gd name="T90" fmla="*/ 91 w 638"/>
                      <a:gd name="T91" fmla="*/ 209 h 556"/>
                      <a:gd name="T92" fmla="*/ 70 w 638"/>
                      <a:gd name="T93" fmla="*/ 180 h 556"/>
                      <a:gd name="T94" fmla="*/ 52 w 638"/>
                      <a:gd name="T95" fmla="*/ 153 h 556"/>
                      <a:gd name="T96" fmla="*/ 37 w 638"/>
                      <a:gd name="T97" fmla="*/ 129 h 556"/>
                      <a:gd name="T98" fmla="*/ 23 w 638"/>
                      <a:gd name="T99" fmla="*/ 111 h 556"/>
                      <a:gd name="T100" fmla="*/ 14 w 638"/>
                      <a:gd name="T101" fmla="*/ 95 h 556"/>
                      <a:gd name="T102" fmla="*/ 8 w 638"/>
                      <a:gd name="T103" fmla="*/ 85 h 556"/>
                      <a:gd name="T104" fmla="*/ 2 w 638"/>
                      <a:gd name="T105" fmla="*/ 68 h 556"/>
                      <a:gd name="T106" fmla="*/ 0 w 638"/>
                      <a:gd name="T107" fmla="*/ 51 h 556"/>
                      <a:gd name="T108" fmla="*/ 4 w 638"/>
                      <a:gd name="T109" fmla="*/ 33 h 556"/>
                      <a:gd name="T110" fmla="*/ 14 w 638"/>
                      <a:gd name="T111" fmla="*/ 19 h 556"/>
                      <a:gd name="T112" fmla="*/ 27 w 638"/>
                      <a:gd name="T113" fmla="*/ 8 h 556"/>
                      <a:gd name="T114" fmla="*/ 43 w 638"/>
                      <a:gd name="T115" fmla="*/ 2 h 556"/>
                      <a:gd name="T116" fmla="*/ 60 w 638"/>
                      <a:gd name="T117" fmla="*/ 0 h 5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638" h="556">
                        <a:moveTo>
                          <a:pt x="60" y="0"/>
                        </a:moveTo>
                        <a:lnTo>
                          <a:pt x="77" y="4"/>
                        </a:lnTo>
                        <a:lnTo>
                          <a:pt x="92" y="13"/>
                        </a:lnTo>
                        <a:lnTo>
                          <a:pt x="103" y="26"/>
                        </a:lnTo>
                        <a:lnTo>
                          <a:pt x="125" y="61"/>
                        </a:lnTo>
                        <a:lnTo>
                          <a:pt x="148" y="96"/>
                        </a:lnTo>
                        <a:lnTo>
                          <a:pt x="173" y="133"/>
                        </a:lnTo>
                        <a:lnTo>
                          <a:pt x="202" y="171"/>
                        </a:lnTo>
                        <a:lnTo>
                          <a:pt x="231" y="208"/>
                        </a:lnTo>
                        <a:lnTo>
                          <a:pt x="261" y="244"/>
                        </a:lnTo>
                        <a:lnTo>
                          <a:pt x="292" y="279"/>
                        </a:lnTo>
                        <a:lnTo>
                          <a:pt x="323" y="313"/>
                        </a:lnTo>
                        <a:lnTo>
                          <a:pt x="356" y="343"/>
                        </a:lnTo>
                        <a:lnTo>
                          <a:pt x="389" y="372"/>
                        </a:lnTo>
                        <a:lnTo>
                          <a:pt x="421" y="395"/>
                        </a:lnTo>
                        <a:lnTo>
                          <a:pt x="453" y="416"/>
                        </a:lnTo>
                        <a:lnTo>
                          <a:pt x="484" y="431"/>
                        </a:lnTo>
                        <a:lnTo>
                          <a:pt x="515" y="441"/>
                        </a:lnTo>
                        <a:lnTo>
                          <a:pt x="543" y="444"/>
                        </a:lnTo>
                        <a:lnTo>
                          <a:pt x="571" y="442"/>
                        </a:lnTo>
                        <a:lnTo>
                          <a:pt x="588" y="441"/>
                        </a:lnTo>
                        <a:lnTo>
                          <a:pt x="605" y="445"/>
                        </a:lnTo>
                        <a:lnTo>
                          <a:pt x="619" y="454"/>
                        </a:lnTo>
                        <a:lnTo>
                          <a:pt x="629" y="468"/>
                        </a:lnTo>
                        <a:lnTo>
                          <a:pt x="637" y="485"/>
                        </a:lnTo>
                        <a:lnTo>
                          <a:pt x="638" y="502"/>
                        </a:lnTo>
                        <a:lnTo>
                          <a:pt x="633" y="519"/>
                        </a:lnTo>
                        <a:lnTo>
                          <a:pt x="623" y="533"/>
                        </a:lnTo>
                        <a:lnTo>
                          <a:pt x="611" y="544"/>
                        </a:lnTo>
                        <a:lnTo>
                          <a:pt x="594" y="551"/>
                        </a:lnTo>
                        <a:lnTo>
                          <a:pt x="571" y="555"/>
                        </a:lnTo>
                        <a:lnTo>
                          <a:pt x="548" y="556"/>
                        </a:lnTo>
                        <a:lnTo>
                          <a:pt x="510" y="552"/>
                        </a:lnTo>
                        <a:lnTo>
                          <a:pt x="473" y="544"/>
                        </a:lnTo>
                        <a:lnTo>
                          <a:pt x="436" y="530"/>
                        </a:lnTo>
                        <a:lnTo>
                          <a:pt x="399" y="512"/>
                        </a:lnTo>
                        <a:lnTo>
                          <a:pt x="362" y="490"/>
                        </a:lnTo>
                        <a:lnTo>
                          <a:pt x="327" y="464"/>
                        </a:lnTo>
                        <a:lnTo>
                          <a:pt x="292" y="436"/>
                        </a:lnTo>
                        <a:lnTo>
                          <a:pt x="259" y="405"/>
                        </a:lnTo>
                        <a:lnTo>
                          <a:pt x="227" y="373"/>
                        </a:lnTo>
                        <a:lnTo>
                          <a:pt x="195" y="340"/>
                        </a:lnTo>
                        <a:lnTo>
                          <a:pt x="166" y="306"/>
                        </a:lnTo>
                        <a:lnTo>
                          <a:pt x="139" y="272"/>
                        </a:lnTo>
                        <a:lnTo>
                          <a:pt x="114" y="240"/>
                        </a:lnTo>
                        <a:lnTo>
                          <a:pt x="91" y="209"/>
                        </a:lnTo>
                        <a:lnTo>
                          <a:pt x="70" y="180"/>
                        </a:lnTo>
                        <a:lnTo>
                          <a:pt x="52" y="153"/>
                        </a:lnTo>
                        <a:lnTo>
                          <a:pt x="37" y="129"/>
                        </a:lnTo>
                        <a:lnTo>
                          <a:pt x="23" y="111"/>
                        </a:lnTo>
                        <a:lnTo>
                          <a:pt x="14" y="95"/>
                        </a:lnTo>
                        <a:lnTo>
                          <a:pt x="8" y="85"/>
                        </a:lnTo>
                        <a:lnTo>
                          <a:pt x="2" y="68"/>
                        </a:lnTo>
                        <a:lnTo>
                          <a:pt x="0" y="51"/>
                        </a:lnTo>
                        <a:lnTo>
                          <a:pt x="4" y="33"/>
                        </a:lnTo>
                        <a:lnTo>
                          <a:pt x="14" y="19"/>
                        </a:lnTo>
                        <a:lnTo>
                          <a:pt x="27" y="8"/>
                        </a:lnTo>
                        <a:lnTo>
                          <a:pt x="43" y="2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2" name="Freeform 11">
                    <a:extLst>
                      <a:ext uri="{FF2B5EF4-FFF2-40B4-BE49-F238E27FC236}">
                        <a16:creationId xmlns:a16="http://schemas.microsoft.com/office/drawing/2014/main" id="{D557E277-9F8F-4F5A-B392-181CDDD7B59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183738" y="5643315"/>
                    <a:ext cx="93885" cy="203348"/>
                  </a:xfrm>
                  <a:custGeom>
                    <a:avLst/>
                    <a:gdLst>
                      <a:gd name="T0" fmla="*/ 64 w 458"/>
                      <a:gd name="T1" fmla="*/ 0 h 992"/>
                      <a:gd name="T2" fmla="*/ 94 w 458"/>
                      <a:gd name="T3" fmla="*/ 14 h 992"/>
                      <a:gd name="T4" fmla="*/ 103 w 458"/>
                      <a:gd name="T5" fmla="*/ 24 h 992"/>
                      <a:gd name="T6" fmla="*/ 119 w 458"/>
                      <a:gd name="T7" fmla="*/ 48 h 992"/>
                      <a:gd name="T8" fmla="*/ 142 w 458"/>
                      <a:gd name="T9" fmla="*/ 86 h 992"/>
                      <a:gd name="T10" fmla="*/ 166 w 458"/>
                      <a:gd name="T11" fmla="*/ 141 h 992"/>
                      <a:gd name="T12" fmla="*/ 189 w 458"/>
                      <a:gd name="T13" fmla="*/ 215 h 992"/>
                      <a:gd name="T14" fmla="*/ 206 w 458"/>
                      <a:gd name="T15" fmla="*/ 308 h 992"/>
                      <a:gd name="T16" fmla="*/ 216 w 458"/>
                      <a:gd name="T17" fmla="*/ 423 h 992"/>
                      <a:gd name="T18" fmla="*/ 214 w 458"/>
                      <a:gd name="T19" fmla="*/ 558 h 992"/>
                      <a:gd name="T20" fmla="*/ 224 w 458"/>
                      <a:gd name="T21" fmla="*/ 607 h 992"/>
                      <a:gd name="T22" fmla="*/ 241 w 458"/>
                      <a:gd name="T23" fmla="*/ 667 h 992"/>
                      <a:gd name="T24" fmla="*/ 265 w 458"/>
                      <a:gd name="T25" fmla="*/ 731 h 992"/>
                      <a:gd name="T26" fmla="*/ 297 w 458"/>
                      <a:gd name="T27" fmla="*/ 791 h 992"/>
                      <a:gd name="T28" fmla="*/ 336 w 458"/>
                      <a:gd name="T29" fmla="*/ 841 h 992"/>
                      <a:gd name="T30" fmla="*/ 383 w 458"/>
                      <a:gd name="T31" fmla="*/ 873 h 992"/>
                      <a:gd name="T32" fmla="*/ 427 w 458"/>
                      <a:gd name="T33" fmla="*/ 885 h 992"/>
                      <a:gd name="T34" fmla="*/ 452 w 458"/>
                      <a:gd name="T35" fmla="*/ 908 h 992"/>
                      <a:gd name="T36" fmla="*/ 458 w 458"/>
                      <a:gd name="T37" fmla="*/ 943 h 992"/>
                      <a:gd name="T38" fmla="*/ 444 w 458"/>
                      <a:gd name="T39" fmla="*/ 972 h 992"/>
                      <a:gd name="T40" fmla="*/ 419 w 458"/>
                      <a:gd name="T41" fmla="*/ 989 h 992"/>
                      <a:gd name="T42" fmla="*/ 395 w 458"/>
                      <a:gd name="T43" fmla="*/ 991 h 992"/>
                      <a:gd name="T44" fmla="*/ 325 w 458"/>
                      <a:gd name="T45" fmla="*/ 969 h 992"/>
                      <a:gd name="T46" fmla="*/ 265 w 458"/>
                      <a:gd name="T47" fmla="*/ 927 h 992"/>
                      <a:gd name="T48" fmla="*/ 217 w 458"/>
                      <a:gd name="T49" fmla="*/ 871 h 992"/>
                      <a:gd name="T50" fmla="*/ 178 w 458"/>
                      <a:gd name="T51" fmla="*/ 807 h 992"/>
                      <a:gd name="T52" fmla="*/ 149 w 458"/>
                      <a:gd name="T53" fmla="*/ 741 h 992"/>
                      <a:gd name="T54" fmla="*/ 128 w 458"/>
                      <a:gd name="T55" fmla="*/ 678 h 992"/>
                      <a:gd name="T56" fmla="*/ 115 w 458"/>
                      <a:gd name="T57" fmla="*/ 624 h 992"/>
                      <a:gd name="T58" fmla="*/ 106 w 458"/>
                      <a:gd name="T59" fmla="*/ 586 h 992"/>
                      <a:gd name="T60" fmla="*/ 103 w 458"/>
                      <a:gd name="T61" fmla="*/ 568 h 992"/>
                      <a:gd name="T62" fmla="*/ 105 w 458"/>
                      <a:gd name="T63" fmla="*/ 491 h 992"/>
                      <a:gd name="T64" fmla="*/ 103 w 458"/>
                      <a:gd name="T65" fmla="*/ 377 h 992"/>
                      <a:gd name="T66" fmla="*/ 91 w 458"/>
                      <a:gd name="T67" fmla="*/ 285 h 992"/>
                      <a:gd name="T68" fmla="*/ 72 w 458"/>
                      <a:gd name="T69" fmla="*/ 214 h 992"/>
                      <a:gd name="T70" fmla="*/ 53 w 458"/>
                      <a:gd name="T71" fmla="*/ 159 h 992"/>
                      <a:gd name="T72" fmla="*/ 35 w 458"/>
                      <a:gd name="T73" fmla="*/ 121 h 992"/>
                      <a:gd name="T74" fmla="*/ 21 w 458"/>
                      <a:gd name="T75" fmla="*/ 100 h 992"/>
                      <a:gd name="T76" fmla="*/ 15 w 458"/>
                      <a:gd name="T77" fmla="*/ 93 h 992"/>
                      <a:gd name="T78" fmla="*/ 0 w 458"/>
                      <a:gd name="T79" fmla="*/ 62 h 992"/>
                      <a:gd name="T80" fmla="*/ 6 w 458"/>
                      <a:gd name="T81" fmla="*/ 29 h 992"/>
                      <a:gd name="T82" fmla="*/ 32 w 458"/>
                      <a:gd name="T83" fmla="*/ 4 h 9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458" h="992">
                        <a:moveTo>
                          <a:pt x="48" y="0"/>
                        </a:moveTo>
                        <a:lnTo>
                          <a:pt x="64" y="0"/>
                        </a:lnTo>
                        <a:lnTo>
                          <a:pt x="80" y="4"/>
                        </a:lnTo>
                        <a:lnTo>
                          <a:pt x="94" y="14"/>
                        </a:lnTo>
                        <a:lnTo>
                          <a:pt x="97" y="18"/>
                        </a:lnTo>
                        <a:lnTo>
                          <a:pt x="103" y="24"/>
                        </a:lnTo>
                        <a:lnTo>
                          <a:pt x="110" y="34"/>
                        </a:lnTo>
                        <a:lnTo>
                          <a:pt x="119" y="48"/>
                        </a:lnTo>
                        <a:lnTo>
                          <a:pt x="130" y="65"/>
                        </a:lnTo>
                        <a:lnTo>
                          <a:pt x="142" y="86"/>
                        </a:lnTo>
                        <a:lnTo>
                          <a:pt x="154" y="111"/>
                        </a:lnTo>
                        <a:lnTo>
                          <a:pt x="166" y="141"/>
                        </a:lnTo>
                        <a:lnTo>
                          <a:pt x="177" y="177"/>
                        </a:lnTo>
                        <a:lnTo>
                          <a:pt x="189" y="215"/>
                        </a:lnTo>
                        <a:lnTo>
                          <a:pt x="199" y="259"/>
                        </a:lnTo>
                        <a:lnTo>
                          <a:pt x="206" y="308"/>
                        </a:lnTo>
                        <a:lnTo>
                          <a:pt x="213" y="362"/>
                        </a:lnTo>
                        <a:lnTo>
                          <a:pt x="216" y="423"/>
                        </a:lnTo>
                        <a:lnTo>
                          <a:pt x="217" y="487"/>
                        </a:lnTo>
                        <a:lnTo>
                          <a:pt x="214" y="558"/>
                        </a:lnTo>
                        <a:lnTo>
                          <a:pt x="219" y="580"/>
                        </a:lnTo>
                        <a:lnTo>
                          <a:pt x="224" y="607"/>
                        </a:lnTo>
                        <a:lnTo>
                          <a:pt x="231" y="637"/>
                        </a:lnTo>
                        <a:lnTo>
                          <a:pt x="241" y="667"/>
                        </a:lnTo>
                        <a:lnTo>
                          <a:pt x="252" y="699"/>
                        </a:lnTo>
                        <a:lnTo>
                          <a:pt x="265" y="731"/>
                        </a:lnTo>
                        <a:lnTo>
                          <a:pt x="280" y="762"/>
                        </a:lnTo>
                        <a:lnTo>
                          <a:pt x="297" y="791"/>
                        </a:lnTo>
                        <a:lnTo>
                          <a:pt x="315" y="817"/>
                        </a:lnTo>
                        <a:lnTo>
                          <a:pt x="336" y="841"/>
                        </a:lnTo>
                        <a:lnTo>
                          <a:pt x="358" y="859"/>
                        </a:lnTo>
                        <a:lnTo>
                          <a:pt x="383" y="873"/>
                        </a:lnTo>
                        <a:lnTo>
                          <a:pt x="410" y="880"/>
                        </a:lnTo>
                        <a:lnTo>
                          <a:pt x="427" y="885"/>
                        </a:lnTo>
                        <a:lnTo>
                          <a:pt x="441" y="895"/>
                        </a:lnTo>
                        <a:lnTo>
                          <a:pt x="452" y="908"/>
                        </a:lnTo>
                        <a:lnTo>
                          <a:pt x="456" y="926"/>
                        </a:lnTo>
                        <a:lnTo>
                          <a:pt x="458" y="943"/>
                        </a:lnTo>
                        <a:lnTo>
                          <a:pt x="453" y="959"/>
                        </a:lnTo>
                        <a:lnTo>
                          <a:pt x="444" y="972"/>
                        </a:lnTo>
                        <a:lnTo>
                          <a:pt x="432" y="982"/>
                        </a:lnTo>
                        <a:lnTo>
                          <a:pt x="419" y="989"/>
                        </a:lnTo>
                        <a:lnTo>
                          <a:pt x="403" y="992"/>
                        </a:lnTo>
                        <a:lnTo>
                          <a:pt x="395" y="991"/>
                        </a:lnTo>
                        <a:lnTo>
                          <a:pt x="358" y="983"/>
                        </a:lnTo>
                        <a:lnTo>
                          <a:pt x="325" y="969"/>
                        </a:lnTo>
                        <a:lnTo>
                          <a:pt x="293" y="950"/>
                        </a:lnTo>
                        <a:lnTo>
                          <a:pt x="265" y="927"/>
                        </a:lnTo>
                        <a:lnTo>
                          <a:pt x="239" y="901"/>
                        </a:lnTo>
                        <a:lnTo>
                          <a:pt x="217" y="871"/>
                        </a:lnTo>
                        <a:lnTo>
                          <a:pt x="197" y="839"/>
                        </a:lnTo>
                        <a:lnTo>
                          <a:pt x="178" y="807"/>
                        </a:lnTo>
                        <a:lnTo>
                          <a:pt x="164" y="774"/>
                        </a:lnTo>
                        <a:lnTo>
                          <a:pt x="149" y="741"/>
                        </a:lnTo>
                        <a:lnTo>
                          <a:pt x="138" y="708"/>
                        </a:lnTo>
                        <a:lnTo>
                          <a:pt x="128" y="678"/>
                        </a:lnTo>
                        <a:lnTo>
                          <a:pt x="121" y="649"/>
                        </a:lnTo>
                        <a:lnTo>
                          <a:pt x="115" y="624"/>
                        </a:lnTo>
                        <a:lnTo>
                          <a:pt x="110" y="602"/>
                        </a:lnTo>
                        <a:lnTo>
                          <a:pt x="106" y="586"/>
                        </a:lnTo>
                        <a:lnTo>
                          <a:pt x="104" y="574"/>
                        </a:lnTo>
                        <a:lnTo>
                          <a:pt x="103" y="568"/>
                        </a:lnTo>
                        <a:lnTo>
                          <a:pt x="103" y="555"/>
                        </a:lnTo>
                        <a:lnTo>
                          <a:pt x="105" y="491"/>
                        </a:lnTo>
                        <a:lnTo>
                          <a:pt x="105" y="431"/>
                        </a:lnTo>
                        <a:lnTo>
                          <a:pt x="103" y="377"/>
                        </a:lnTo>
                        <a:lnTo>
                          <a:pt x="98" y="329"/>
                        </a:lnTo>
                        <a:lnTo>
                          <a:pt x="91" y="285"/>
                        </a:lnTo>
                        <a:lnTo>
                          <a:pt x="82" y="247"/>
                        </a:lnTo>
                        <a:lnTo>
                          <a:pt x="72" y="214"/>
                        </a:lnTo>
                        <a:lnTo>
                          <a:pt x="63" y="183"/>
                        </a:lnTo>
                        <a:lnTo>
                          <a:pt x="53" y="159"/>
                        </a:lnTo>
                        <a:lnTo>
                          <a:pt x="43" y="139"/>
                        </a:lnTo>
                        <a:lnTo>
                          <a:pt x="35" y="121"/>
                        </a:lnTo>
                        <a:lnTo>
                          <a:pt x="27" y="109"/>
                        </a:lnTo>
                        <a:lnTo>
                          <a:pt x="21" y="100"/>
                        </a:lnTo>
                        <a:lnTo>
                          <a:pt x="16" y="95"/>
                        </a:lnTo>
                        <a:lnTo>
                          <a:pt x="15" y="93"/>
                        </a:lnTo>
                        <a:lnTo>
                          <a:pt x="5" y="78"/>
                        </a:lnTo>
                        <a:lnTo>
                          <a:pt x="0" y="62"/>
                        </a:lnTo>
                        <a:lnTo>
                          <a:pt x="2" y="45"/>
                        </a:lnTo>
                        <a:lnTo>
                          <a:pt x="6" y="29"/>
                        </a:lnTo>
                        <a:lnTo>
                          <a:pt x="17" y="14"/>
                        </a:lnTo>
                        <a:lnTo>
                          <a:pt x="32" y="4"/>
                        </a:lnTo>
                        <a:lnTo>
                          <a:pt x="48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3" name="Freeform 12">
                    <a:extLst>
                      <a:ext uri="{FF2B5EF4-FFF2-40B4-BE49-F238E27FC236}">
                        <a16:creationId xmlns:a16="http://schemas.microsoft.com/office/drawing/2014/main" id="{4800B70C-2D6C-4D56-B47B-2440B7F4EE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00171" y="5348542"/>
                    <a:ext cx="79945" cy="309942"/>
                  </a:xfrm>
                  <a:custGeom>
                    <a:avLst/>
                    <a:gdLst>
                      <a:gd name="T0" fmla="*/ 347 w 390"/>
                      <a:gd name="T1" fmla="*/ 5 h 1511"/>
                      <a:gd name="T2" fmla="*/ 376 w 390"/>
                      <a:gd name="T3" fmla="*/ 47 h 1511"/>
                      <a:gd name="T4" fmla="*/ 362 w 390"/>
                      <a:gd name="T5" fmla="*/ 94 h 1511"/>
                      <a:gd name="T6" fmla="*/ 335 w 390"/>
                      <a:gd name="T7" fmla="*/ 112 h 1511"/>
                      <a:gd name="T8" fmla="*/ 293 w 390"/>
                      <a:gd name="T9" fmla="*/ 144 h 1511"/>
                      <a:gd name="T10" fmla="*/ 250 w 390"/>
                      <a:gd name="T11" fmla="*/ 200 h 1511"/>
                      <a:gd name="T12" fmla="*/ 233 w 390"/>
                      <a:gd name="T13" fmla="*/ 283 h 1511"/>
                      <a:gd name="T14" fmla="*/ 273 w 390"/>
                      <a:gd name="T15" fmla="*/ 388 h 1511"/>
                      <a:gd name="T16" fmla="*/ 373 w 390"/>
                      <a:gd name="T17" fmla="*/ 506 h 1511"/>
                      <a:gd name="T18" fmla="*/ 390 w 390"/>
                      <a:gd name="T19" fmla="*/ 553 h 1511"/>
                      <a:gd name="T20" fmla="*/ 363 w 390"/>
                      <a:gd name="T21" fmla="*/ 595 h 1511"/>
                      <a:gd name="T22" fmla="*/ 322 w 390"/>
                      <a:gd name="T23" fmla="*/ 601 h 1511"/>
                      <a:gd name="T24" fmla="*/ 263 w 390"/>
                      <a:gd name="T25" fmla="*/ 556 h 1511"/>
                      <a:gd name="T26" fmla="*/ 231 w 390"/>
                      <a:gd name="T27" fmla="*/ 554 h 1511"/>
                      <a:gd name="T28" fmla="*/ 213 w 390"/>
                      <a:gd name="T29" fmla="*/ 583 h 1511"/>
                      <a:gd name="T30" fmla="*/ 180 w 390"/>
                      <a:gd name="T31" fmla="*/ 634 h 1511"/>
                      <a:gd name="T32" fmla="*/ 142 w 390"/>
                      <a:gd name="T33" fmla="*/ 718 h 1511"/>
                      <a:gd name="T34" fmla="*/ 114 w 390"/>
                      <a:gd name="T35" fmla="*/ 824 h 1511"/>
                      <a:gd name="T36" fmla="*/ 117 w 390"/>
                      <a:gd name="T37" fmla="*/ 947 h 1511"/>
                      <a:gd name="T38" fmla="*/ 164 w 390"/>
                      <a:gd name="T39" fmla="*/ 1076 h 1511"/>
                      <a:gd name="T40" fmla="*/ 176 w 390"/>
                      <a:gd name="T41" fmla="*/ 1115 h 1511"/>
                      <a:gd name="T42" fmla="*/ 192 w 390"/>
                      <a:gd name="T43" fmla="*/ 1193 h 1511"/>
                      <a:gd name="T44" fmla="*/ 203 w 390"/>
                      <a:gd name="T45" fmla="*/ 1300 h 1511"/>
                      <a:gd name="T46" fmla="*/ 198 w 390"/>
                      <a:gd name="T47" fmla="*/ 1410 h 1511"/>
                      <a:gd name="T48" fmla="*/ 170 w 390"/>
                      <a:gd name="T49" fmla="*/ 1491 h 1511"/>
                      <a:gd name="T50" fmla="*/ 129 w 390"/>
                      <a:gd name="T51" fmla="*/ 1511 h 1511"/>
                      <a:gd name="T52" fmla="*/ 81 w 390"/>
                      <a:gd name="T53" fmla="*/ 1483 h 1511"/>
                      <a:gd name="T54" fmla="*/ 78 w 390"/>
                      <a:gd name="T55" fmla="*/ 1432 h 1511"/>
                      <a:gd name="T56" fmla="*/ 94 w 390"/>
                      <a:gd name="T57" fmla="*/ 1344 h 1511"/>
                      <a:gd name="T58" fmla="*/ 86 w 390"/>
                      <a:gd name="T59" fmla="*/ 1238 h 1511"/>
                      <a:gd name="T60" fmla="*/ 69 w 390"/>
                      <a:gd name="T61" fmla="*/ 1148 h 1511"/>
                      <a:gd name="T62" fmla="*/ 20 w 390"/>
                      <a:gd name="T63" fmla="*/ 1023 h 1511"/>
                      <a:gd name="T64" fmla="*/ 0 w 390"/>
                      <a:gd name="T65" fmla="*/ 874 h 1511"/>
                      <a:gd name="T66" fmla="*/ 18 w 390"/>
                      <a:gd name="T67" fmla="*/ 740 h 1511"/>
                      <a:gd name="T68" fmla="*/ 59 w 390"/>
                      <a:gd name="T69" fmla="*/ 628 h 1511"/>
                      <a:gd name="T70" fmla="*/ 103 w 390"/>
                      <a:gd name="T71" fmla="*/ 547 h 1511"/>
                      <a:gd name="T72" fmla="*/ 134 w 390"/>
                      <a:gd name="T73" fmla="*/ 504 h 1511"/>
                      <a:gd name="T74" fmla="*/ 168 w 390"/>
                      <a:gd name="T75" fmla="*/ 481 h 1511"/>
                      <a:gd name="T76" fmla="*/ 175 w 390"/>
                      <a:gd name="T77" fmla="*/ 441 h 1511"/>
                      <a:gd name="T78" fmla="*/ 125 w 390"/>
                      <a:gd name="T79" fmla="*/ 315 h 1511"/>
                      <a:gd name="T80" fmla="*/ 131 w 390"/>
                      <a:gd name="T81" fmla="*/ 198 h 1511"/>
                      <a:gd name="T82" fmla="*/ 178 w 390"/>
                      <a:gd name="T83" fmla="*/ 108 h 1511"/>
                      <a:gd name="T84" fmla="*/ 236 w 390"/>
                      <a:gd name="T85" fmla="*/ 47 h 1511"/>
                      <a:gd name="T86" fmla="*/ 284 w 390"/>
                      <a:gd name="T87" fmla="*/ 12 h 1511"/>
                      <a:gd name="T88" fmla="*/ 314 w 390"/>
                      <a:gd name="T89" fmla="*/ 0 h 15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390" h="1511">
                        <a:moveTo>
                          <a:pt x="314" y="0"/>
                        </a:moveTo>
                        <a:lnTo>
                          <a:pt x="331" y="0"/>
                        </a:lnTo>
                        <a:lnTo>
                          <a:pt x="347" y="5"/>
                        </a:lnTo>
                        <a:lnTo>
                          <a:pt x="361" y="16"/>
                        </a:lnTo>
                        <a:lnTo>
                          <a:pt x="372" y="29"/>
                        </a:lnTo>
                        <a:lnTo>
                          <a:pt x="376" y="47"/>
                        </a:lnTo>
                        <a:lnTo>
                          <a:pt x="376" y="64"/>
                        </a:lnTo>
                        <a:lnTo>
                          <a:pt x="372" y="80"/>
                        </a:lnTo>
                        <a:lnTo>
                          <a:pt x="362" y="94"/>
                        </a:lnTo>
                        <a:lnTo>
                          <a:pt x="347" y="104"/>
                        </a:lnTo>
                        <a:lnTo>
                          <a:pt x="343" y="107"/>
                        </a:lnTo>
                        <a:lnTo>
                          <a:pt x="335" y="112"/>
                        </a:lnTo>
                        <a:lnTo>
                          <a:pt x="324" y="119"/>
                        </a:lnTo>
                        <a:lnTo>
                          <a:pt x="309" y="130"/>
                        </a:lnTo>
                        <a:lnTo>
                          <a:pt x="293" y="144"/>
                        </a:lnTo>
                        <a:lnTo>
                          <a:pt x="278" y="160"/>
                        </a:lnTo>
                        <a:lnTo>
                          <a:pt x="263" y="178"/>
                        </a:lnTo>
                        <a:lnTo>
                          <a:pt x="250" y="200"/>
                        </a:lnTo>
                        <a:lnTo>
                          <a:pt x="240" y="224"/>
                        </a:lnTo>
                        <a:lnTo>
                          <a:pt x="234" y="251"/>
                        </a:lnTo>
                        <a:lnTo>
                          <a:pt x="233" y="283"/>
                        </a:lnTo>
                        <a:lnTo>
                          <a:pt x="240" y="317"/>
                        </a:lnTo>
                        <a:lnTo>
                          <a:pt x="252" y="351"/>
                        </a:lnTo>
                        <a:lnTo>
                          <a:pt x="273" y="388"/>
                        </a:lnTo>
                        <a:lnTo>
                          <a:pt x="300" y="427"/>
                        </a:lnTo>
                        <a:lnTo>
                          <a:pt x="332" y="466"/>
                        </a:lnTo>
                        <a:lnTo>
                          <a:pt x="373" y="506"/>
                        </a:lnTo>
                        <a:lnTo>
                          <a:pt x="384" y="520"/>
                        </a:lnTo>
                        <a:lnTo>
                          <a:pt x="389" y="537"/>
                        </a:lnTo>
                        <a:lnTo>
                          <a:pt x="390" y="553"/>
                        </a:lnTo>
                        <a:lnTo>
                          <a:pt x="385" y="570"/>
                        </a:lnTo>
                        <a:lnTo>
                          <a:pt x="375" y="585"/>
                        </a:lnTo>
                        <a:lnTo>
                          <a:pt x="363" y="595"/>
                        </a:lnTo>
                        <a:lnTo>
                          <a:pt x="350" y="601"/>
                        </a:lnTo>
                        <a:lnTo>
                          <a:pt x="335" y="604"/>
                        </a:lnTo>
                        <a:lnTo>
                          <a:pt x="322" y="601"/>
                        </a:lnTo>
                        <a:lnTo>
                          <a:pt x="308" y="596"/>
                        </a:lnTo>
                        <a:lnTo>
                          <a:pt x="297" y="589"/>
                        </a:lnTo>
                        <a:lnTo>
                          <a:pt x="263" y="556"/>
                        </a:lnTo>
                        <a:lnTo>
                          <a:pt x="234" y="522"/>
                        </a:lnTo>
                        <a:lnTo>
                          <a:pt x="235" y="538"/>
                        </a:lnTo>
                        <a:lnTo>
                          <a:pt x="231" y="554"/>
                        </a:lnTo>
                        <a:lnTo>
                          <a:pt x="223" y="569"/>
                        </a:lnTo>
                        <a:lnTo>
                          <a:pt x="220" y="574"/>
                        </a:lnTo>
                        <a:lnTo>
                          <a:pt x="213" y="583"/>
                        </a:lnTo>
                        <a:lnTo>
                          <a:pt x="204" y="596"/>
                        </a:lnTo>
                        <a:lnTo>
                          <a:pt x="193" y="613"/>
                        </a:lnTo>
                        <a:lnTo>
                          <a:pt x="180" y="634"/>
                        </a:lnTo>
                        <a:lnTo>
                          <a:pt x="168" y="659"/>
                        </a:lnTo>
                        <a:lnTo>
                          <a:pt x="154" y="687"/>
                        </a:lnTo>
                        <a:lnTo>
                          <a:pt x="142" y="718"/>
                        </a:lnTo>
                        <a:lnTo>
                          <a:pt x="130" y="751"/>
                        </a:lnTo>
                        <a:lnTo>
                          <a:pt x="122" y="787"/>
                        </a:lnTo>
                        <a:lnTo>
                          <a:pt x="114" y="824"/>
                        </a:lnTo>
                        <a:lnTo>
                          <a:pt x="111" y="863"/>
                        </a:lnTo>
                        <a:lnTo>
                          <a:pt x="112" y="905"/>
                        </a:lnTo>
                        <a:lnTo>
                          <a:pt x="117" y="947"/>
                        </a:lnTo>
                        <a:lnTo>
                          <a:pt x="126" y="990"/>
                        </a:lnTo>
                        <a:lnTo>
                          <a:pt x="142" y="1033"/>
                        </a:lnTo>
                        <a:lnTo>
                          <a:pt x="164" y="1076"/>
                        </a:lnTo>
                        <a:lnTo>
                          <a:pt x="170" y="1089"/>
                        </a:lnTo>
                        <a:lnTo>
                          <a:pt x="173" y="1099"/>
                        </a:lnTo>
                        <a:lnTo>
                          <a:pt x="176" y="1115"/>
                        </a:lnTo>
                        <a:lnTo>
                          <a:pt x="181" y="1136"/>
                        </a:lnTo>
                        <a:lnTo>
                          <a:pt x="186" y="1163"/>
                        </a:lnTo>
                        <a:lnTo>
                          <a:pt x="192" y="1193"/>
                        </a:lnTo>
                        <a:lnTo>
                          <a:pt x="197" y="1226"/>
                        </a:lnTo>
                        <a:lnTo>
                          <a:pt x="201" y="1261"/>
                        </a:lnTo>
                        <a:lnTo>
                          <a:pt x="203" y="1300"/>
                        </a:lnTo>
                        <a:lnTo>
                          <a:pt x="204" y="1336"/>
                        </a:lnTo>
                        <a:lnTo>
                          <a:pt x="203" y="1375"/>
                        </a:lnTo>
                        <a:lnTo>
                          <a:pt x="198" y="1410"/>
                        </a:lnTo>
                        <a:lnTo>
                          <a:pt x="191" y="1446"/>
                        </a:lnTo>
                        <a:lnTo>
                          <a:pt x="179" y="1478"/>
                        </a:lnTo>
                        <a:lnTo>
                          <a:pt x="170" y="1491"/>
                        </a:lnTo>
                        <a:lnTo>
                          <a:pt x="158" y="1501"/>
                        </a:lnTo>
                        <a:lnTo>
                          <a:pt x="145" y="1509"/>
                        </a:lnTo>
                        <a:lnTo>
                          <a:pt x="129" y="1511"/>
                        </a:lnTo>
                        <a:lnTo>
                          <a:pt x="107" y="1506"/>
                        </a:lnTo>
                        <a:lnTo>
                          <a:pt x="91" y="1496"/>
                        </a:lnTo>
                        <a:lnTo>
                          <a:pt x="81" y="1483"/>
                        </a:lnTo>
                        <a:lnTo>
                          <a:pt x="75" y="1467"/>
                        </a:lnTo>
                        <a:lnTo>
                          <a:pt x="74" y="1450"/>
                        </a:lnTo>
                        <a:lnTo>
                          <a:pt x="78" y="1432"/>
                        </a:lnTo>
                        <a:lnTo>
                          <a:pt x="86" y="1407"/>
                        </a:lnTo>
                        <a:lnTo>
                          <a:pt x="91" y="1376"/>
                        </a:lnTo>
                        <a:lnTo>
                          <a:pt x="94" y="1344"/>
                        </a:lnTo>
                        <a:lnTo>
                          <a:pt x="92" y="1308"/>
                        </a:lnTo>
                        <a:lnTo>
                          <a:pt x="90" y="1274"/>
                        </a:lnTo>
                        <a:lnTo>
                          <a:pt x="86" y="1238"/>
                        </a:lnTo>
                        <a:lnTo>
                          <a:pt x="81" y="1205"/>
                        </a:lnTo>
                        <a:lnTo>
                          <a:pt x="75" y="1174"/>
                        </a:lnTo>
                        <a:lnTo>
                          <a:pt x="69" y="1148"/>
                        </a:lnTo>
                        <a:lnTo>
                          <a:pt x="64" y="1126"/>
                        </a:lnTo>
                        <a:lnTo>
                          <a:pt x="39" y="1075"/>
                        </a:lnTo>
                        <a:lnTo>
                          <a:pt x="20" y="1023"/>
                        </a:lnTo>
                        <a:lnTo>
                          <a:pt x="8" y="972"/>
                        </a:lnTo>
                        <a:lnTo>
                          <a:pt x="1" y="922"/>
                        </a:lnTo>
                        <a:lnTo>
                          <a:pt x="0" y="874"/>
                        </a:lnTo>
                        <a:lnTo>
                          <a:pt x="2" y="827"/>
                        </a:lnTo>
                        <a:lnTo>
                          <a:pt x="9" y="783"/>
                        </a:lnTo>
                        <a:lnTo>
                          <a:pt x="18" y="740"/>
                        </a:lnTo>
                        <a:lnTo>
                          <a:pt x="30" y="699"/>
                        </a:lnTo>
                        <a:lnTo>
                          <a:pt x="45" y="663"/>
                        </a:lnTo>
                        <a:lnTo>
                          <a:pt x="59" y="628"/>
                        </a:lnTo>
                        <a:lnTo>
                          <a:pt x="74" y="597"/>
                        </a:lnTo>
                        <a:lnTo>
                          <a:pt x="90" y="570"/>
                        </a:lnTo>
                        <a:lnTo>
                          <a:pt x="103" y="547"/>
                        </a:lnTo>
                        <a:lnTo>
                          <a:pt x="115" y="527"/>
                        </a:lnTo>
                        <a:lnTo>
                          <a:pt x="126" y="514"/>
                        </a:lnTo>
                        <a:lnTo>
                          <a:pt x="134" y="504"/>
                        </a:lnTo>
                        <a:lnTo>
                          <a:pt x="137" y="499"/>
                        </a:lnTo>
                        <a:lnTo>
                          <a:pt x="152" y="487"/>
                        </a:lnTo>
                        <a:lnTo>
                          <a:pt x="168" y="481"/>
                        </a:lnTo>
                        <a:lnTo>
                          <a:pt x="186" y="479"/>
                        </a:lnTo>
                        <a:lnTo>
                          <a:pt x="203" y="484"/>
                        </a:lnTo>
                        <a:lnTo>
                          <a:pt x="175" y="441"/>
                        </a:lnTo>
                        <a:lnTo>
                          <a:pt x="152" y="399"/>
                        </a:lnTo>
                        <a:lnTo>
                          <a:pt x="136" y="356"/>
                        </a:lnTo>
                        <a:lnTo>
                          <a:pt x="125" y="315"/>
                        </a:lnTo>
                        <a:lnTo>
                          <a:pt x="122" y="274"/>
                        </a:lnTo>
                        <a:lnTo>
                          <a:pt x="124" y="233"/>
                        </a:lnTo>
                        <a:lnTo>
                          <a:pt x="131" y="198"/>
                        </a:lnTo>
                        <a:lnTo>
                          <a:pt x="143" y="165"/>
                        </a:lnTo>
                        <a:lnTo>
                          <a:pt x="159" y="135"/>
                        </a:lnTo>
                        <a:lnTo>
                          <a:pt x="178" y="108"/>
                        </a:lnTo>
                        <a:lnTo>
                          <a:pt x="196" y="85"/>
                        </a:lnTo>
                        <a:lnTo>
                          <a:pt x="217" y="64"/>
                        </a:lnTo>
                        <a:lnTo>
                          <a:pt x="236" y="47"/>
                        </a:lnTo>
                        <a:lnTo>
                          <a:pt x="254" y="32"/>
                        </a:lnTo>
                        <a:lnTo>
                          <a:pt x="270" y="21"/>
                        </a:lnTo>
                        <a:lnTo>
                          <a:pt x="284" y="12"/>
                        </a:lnTo>
                        <a:lnTo>
                          <a:pt x="292" y="7"/>
                        </a:lnTo>
                        <a:lnTo>
                          <a:pt x="297" y="5"/>
                        </a:lnTo>
                        <a:lnTo>
                          <a:pt x="314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4" name="Freeform 13">
                    <a:extLst>
                      <a:ext uri="{FF2B5EF4-FFF2-40B4-BE49-F238E27FC236}">
                        <a16:creationId xmlns:a16="http://schemas.microsoft.com/office/drawing/2014/main" id="{9C2C1C1B-EBAA-4258-86AC-816DEA0524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65358" y="5630196"/>
                    <a:ext cx="86095" cy="45097"/>
                  </a:xfrm>
                  <a:custGeom>
                    <a:avLst/>
                    <a:gdLst>
                      <a:gd name="T0" fmla="*/ 361 w 419"/>
                      <a:gd name="T1" fmla="*/ 0 h 220"/>
                      <a:gd name="T2" fmla="*/ 378 w 419"/>
                      <a:gd name="T3" fmla="*/ 2 h 220"/>
                      <a:gd name="T4" fmla="*/ 394 w 419"/>
                      <a:gd name="T5" fmla="*/ 9 h 220"/>
                      <a:gd name="T6" fmla="*/ 407 w 419"/>
                      <a:gd name="T7" fmla="*/ 20 h 220"/>
                      <a:gd name="T8" fmla="*/ 416 w 419"/>
                      <a:gd name="T9" fmla="*/ 36 h 220"/>
                      <a:gd name="T10" fmla="*/ 419 w 419"/>
                      <a:gd name="T11" fmla="*/ 52 h 220"/>
                      <a:gd name="T12" fmla="*/ 417 w 419"/>
                      <a:gd name="T13" fmla="*/ 70 h 220"/>
                      <a:gd name="T14" fmla="*/ 406 w 419"/>
                      <a:gd name="T15" fmla="*/ 100 h 220"/>
                      <a:gd name="T16" fmla="*/ 391 w 419"/>
                      <a:gd name="T17" fmla="*/ 126 h 220"/>
                      <a:gd name="T18" fmla="*/ 373 w 419"/>
                      <a:gd name="T19" fmla="*/ 148 h 220"/>
                      <a:gd name="T20" fmla="*/ 351 w 419"/>
                      <a:gd name="T21" fmla="*/ 166 h 220"/>
                      <a:gd name="T22" fmla="*/ 327 w 419"/>
                      <a:gd name="T23" fmla="*/ 181 h 220"/>
                      <a:gd name="T24" fmla="*/ 301 w 419"/>
                      <a:gd name="T25" fmla="*/ 193 h 220"/>
                      <a:gd name="T26" fmla="*/ 273 w 419"/>
                      <a:gd name="T27" fmla="*/ 203 h 220"/>
                      <a:gd name="T28" fmla="*/ 245 w 419"/>
                      <a:gd name="T29" fmla="*/ 211 h 220"/>
                      <a:gd name="T30" fmla="*/ 216 w 419"/>
                      <a:gd name="T31" fmla="*/ 216 h 220"/>
                      <a:gd name="T32" fmla="*/ 188 w 419"/>
                      <a:gd name="T33" fmla="*/ 218 h 220"/>
                      <a:gd name="T34" fmla="*/ 161 w 419"/>
                      <a:gd name="T35" fmla="*/ 220 h 220"/>
                      <a:gd name="T36" fmla="*/ 135 w 419"/>
                      <a:gd name="T37" fmla="*/ 220 h 220"/>
                      <a:gd name="T38" fmla="*/ 110 w 419"/>
                      <a:gd name="T39" fmla="*/ 220 h 220"/>
                      <a:gd name="T40" fmla="*/ 89 w 419"/>
                      <a:gd name="T41" fmla="*/ 219 h 220"/>
                      <a:gd name="T42" fmla="*/ 71 w 419"/>
                      <a:gd name="T43" fmla="*/ 218 h 220"/>
                      <a:gd name="T44" fmla="*/ 56 w 419"/>
                      <a:gd name="T45" fmla="*/ 216 h 220"/>
                      <a:gd name="T46" fmla="*/ 47 w 419"/>
                      <a:gd name="T47" fmla="*/ 214 h 220"/>
                      <a:gd name="T48" fmla="*/ 30 w 419"/>
                      <a:gd name="T49" fmla="*/ 209 h 220"/>
                      <a:gd name="T50" fmla="*/ 17 w 419"/>
                      <a:gd name="T51" fmla="*/ 200 h 220"/>
                      <a:gd name="T52" fmla="*/ 6 w 419"/>
                      <a:gd name="T53" fmla="*/ 186 h 220"/>
                      <a:gd name="T54" fmla="*/ 1 w 419"/>
                      <a:gd name="T55" fmla="*/ 169 h 220"/>
                      <a:gd name="T56" fmla="*/ 0 w 419"/>
                      <a:gd name="T57" fmla="*/ 152 h 220"/>
                      <a:gd name="T58" fmla="*/ 6 w 419"/>
                      <a:gd name="T59" fmla="*/ 134 h 220"/>
                      <a:gd name="T60" fmla="*/ 16 w 419"/>
                      <a:gd name="T61" fmla="*/ 121 h 220"/>
                      <a:gd name="T62" fmla="*/ 29 w 419"/>
                      <a:gd name="T63" fmla="*/ 110 h 220"/>
                      <a:gd name="T64" fmla="*/ 45 w 419"/>
                      <a:gd name="T65" fmla="*/ 105 h 220"/>
                      <a:gd name="T66" fmla="*/ 63 w 419"/>
                      <a:gd name="T67" fmla="*/ 104 h 220"/>
                      <a:gd name="T68" fmla="*/ 83 w 419"/>
                      <a:gd name="T69" fmla="*/ 106 h 220"/>
                      <a:gd name="T70" fmla="*/ 105 w 419"/>
                      <a:gd name="T71" fmla="*/ 107 h 220"/>
                      <a:gd name="T72" fmla="*/ 129 w 419"/>
                      <a:gd name="T73" fmla="*/ 109 h 220"/>
                      <a:gd name="T74" fmla="*/ 155 w 419"/>
                      <a:gd name="T75" fmla="*/ 107 h 220"/>
                      <a:gd name="T76" fmla="*/ 180 w 419"/>
                      <a:gd name="T77" fmla="*/ 106 h 220"/>
                      <a:gd name="T78" fmla="*/ 206 w 419"/>
                      <a:gd name="T79" fmla="*/ 102 h 220"/>
                      <a:gd name="T80" fmla="*/ 230 w 419"/>
                      <a:gd name="T81" fmla="*/ 98 h 220"/>
                      <a:gd name="T82" fmla="*/ 253 w 419"/>
                      <a:gd name="T83" fmla="*/ 91 h 220"/>
                      <a:gd name="T84" fmla="*/ 273 w 419"/>
                      <a:gd name="T85" fmla="*/ 82 h 220"/>
                      <a:gd name="T86" fmla="*/ 290 w 419"/>
                      <a:gd name="T87" fmla="*/ 70 h 220"/>
                      <a:gd name="T88" fmla="*/ 302 w 419"/>
                      <a:gd name="T89" fmla="*/ 57 h 220"/>
                      <a:gd name="T90" fmla="*/ 310 w 419"/>
                      <a:gd name="T91" fmla="*/ 41 h 220"/>
                      <a:gd name="T92" fmla="*/ 317 w 419"/>
                      <a:gd name="T93" fmla="*/ 25 h 220"/>
                      <a:gd name="T94" fmla="*/ 329 w 419"/>
                      <a:gd name="T95" fmla="*/ 13 h 220"/>
                      <a:gd name="T96" fmla="*/ 344 w 419"/>
                      <a:gd name="T97" fmla="*/ 4 h 220"/>
                      <a:gd name="T98" fmla="*/ 361 w 419"/>
                      <a:gd name="T99" fmla="*/ 0 h 2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419" h="220">
                        <a:moveTo>
                          <a:pt x="361" y="0"/>
                        </a:moveTo>
                        <a:lnTo>
                          <a:pt x="378" y="2"/>
                        </a:lnTo>
                        <a:lnTo>
                          <a:pt x="394" y="9"/>
                        </a:lnTo>
                        <a:lnTo>
                          <a:pt x="407" y="20"/>
                        </a:lnTo>
                        <a:lnTo>
                          <a:pt x="416" y="36"/>
                        </a:lnTo>
                        <a:lnTo>
                          <a:pt x="419" y="52"/>
                        </a:lnTo>
                        <a:lnTo>
                          <a:pt x="417" y="70"/>
                        </a:lnTo>
                        <a:lnTo>
                          <a:pt x="406" y="100"/>
                        </a:lnTo>
                        <a:lnTo>
                          <a:pt x="391" y="126"/>
                        </a:lnTo>
                        <a:lnTo>
                          <a:pt x="373" y="148"/>
                        </a:lnTo>
                        <a:lnTo>
                          <a:pt x="351" y="166"/>
                        </a:lnTo>
                        <a:lnTo>
                          <a:pt x="327" y="181"/>
                        </a:lnTo>
                        <a:lnTo>
                          <a:pt x="301" y="193"/>
                        </a:lnTo>
                        <a:lnTo>
                          <a:pt x="273" y="203"/>
                        </a:lnTo>
                        <a:lnTo>
                          <a:pt x="245" y="211"/>
                        </a:lnTo>
                        <a:lnTo>
                          <a:pt x="216" y="216"/>
                        </a:lnTo>
                        <a:lnTo>
                          <a:pt x="188" y="218"/>
                        </a:lnTo>
                        <a:lnTo>
                          <a:pt x="161" y="220"/>
                        </a:lnTo>
                        <a:lnTo>
                          <a:pt x="135" y="220"/>
                        </a:lnTo>
                        <a:lnTo>
                          <a:pt x="110" y="220"/>
                        </a:lnTo>
                        <a:lnTo>
                          <a:pt x="89" y="219"/>
                        </a:lnTo>
                        <a:lnTo>
                          <a:pt x="71" y="218"/>
                        </a:lnTo>
                        <a:lnTo>
                          <a:pt x="56" y="216"/>
                        </a:lnTo>
                        <a:lnTo>
                          <a:pt x="47" y="214"/>
                        </a:lnTo>
                        <a:lnTo>
                          <a:pt x="30" y="209"/>
                        </a:lnTo>
                        <a:lnTo>
                          <a:pt x="17" y="200"/>
                        </a:lnTo>
                        <a:lnTo>
                          <a:pt x="6" y="186"/>
                        </a:lnTo>
                        <a:lnTo>
                          <a:pt x="1" y="169"/>
                        </a:lnTo>
                        <a:lnTo>
                          <a:pt x="0" y="152"/>
                        </a:lnTo>
                        <a:lnTo>
                          <a:pt x="6" y="134"/>
                        </a:lnTo>
                        <a:lnTo>
                          <a:pt x="16" y="121"/>
                        </a:lnTo>
                        <a:lnTo>
                          <a:pt x="29" y="110"/>
                        </a:lnTo>
                        <a:lnTo>
                          <a:pt x="45" y="105"/>
                        </a:lnTo>
                        <a:lnTo>
                          <a:pt x="63" y="104"/>
                        </a:lnTo>
                        <a:lnTo>
                          <a:pt x="83" y="106"/>
                        </a:lnTo>
                        <a:lnTo>
                          <a:pt x="105" y="107"/>
                        </a:lnTo>
                        <a:lnTo>
                          <a:pt x="129" y="109"/>
                        </a:lnTo>
                        <a:lnTo>
                          <a:pt x="155" y="107"/>
                        </a:lnTo>
                        <a:lnTo>
                          <a:pt x="180" y="106"/>
                        </a:lnTo>
                        <a:lnTo>
                          <a:pt x="206" y="102"/>
                        </a:lnTo>
                        <a:lnTo>
                          <a:pt x="230" y="98"/>
                        </a:lnTo>
                        <a:lnTo>
                          <a:pt x="253" y="91"/>
                        </a:lnTo>
                        <a:lnTo>
                          <a:pt x="273" y="82"/>
                        </a:lnTo>
                        <a:lnTo>
                          <a:pt x="290" y="70"/>
                        </a:lnTo>
                        <a:lnTo>
                          <a:pt x="302" y="57"/>
                        </a:lnTo>
                        <a:lnTo>
                          <a:pt x="310" y="41"/>
                        </a:lnTo>
                        <a:lnTo>
                          <a:pt x="317" y="25"/>
                        </a:lnTo>
                        <a:lnTo>
                          <a:pt x="329" y="13"/>
                        </a:lnTo>
                        <a:lnTo>
                          <a:pt x="344" y="4"/>
                        </a:lnTo>
                        <a:lnTo>
                          <a:pt x="361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5" name="Freeform 14">
                    <a:extLst>
                      <a:ext uri="{FF2B5EF4-FFF2-40B4-BE49-F238E27FC236}">
                        <a16:creationId xmlns:a16="http://schemas.microsoft.com/office/drawing/2014/main" id="{B5AE4D18-EF12-4B01-95F3-FFF71EBA732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132081" y="5288274"/>
                    <a:ext cx="672362" cy="780185"/>
                  </a:xfrm>
                  <a:custGeom>
                    <a:avLst/>
                    <a:gdLst>
                      <a:gd name="T0" fmla="*/ 1720 w 3280"/>
                      <a:gd name="T1" fmla="*/ 304 h 3806"/>
                      <a:gd name="T2" fmla="*/ 1946 w 3280"/>
                      <a:gd name="T3" fmla="*/ 3668 h 3806"/>
                      <a:gd name="T4" fmla="*/ 2291 w 3280"/>
                      <a:gd name="T5" fmla="*/ 3623 h 3806"/>
                      <a:gd name="T6" fmla="*/ 2759 w 3280"/>
                      <a:gd name="T7" fmla="*/ 3104 h 3806"/>
                      <a:gd name="T8" fmla="*/ 3068 w 3280"/>
                      <a:gd name="T9" fmla="*/ 2655 h 3806"/>
                      <a:gd name="T10" fmla="*/ 2935 w 3280"/>
                      <a:gd name="T11" fmla="*/ 2619 h 3806"/>
                      <a:gd name="T12" fmla="*/ 3169 w 3280"/>
                      <a:gd name="T13" fmla="*/ 2249 h 3806"/>
                      <a:gd name="T14" fmla="*/ 3050 w 3280"/>
                      <a:gd name="T15" fmla="*/ 1978 h 3806"/>
                      <a:gd name="T16" fmla="*/ 3078 w 3280"/>
                      <a:gd name="T17" fmla="*/ 1482 h 3806"/>
                      <a:gd name="T18" fmla="*/ 2959 w 3280"/>
                      <a:gd name="T19" fmla="*/ 1236 h 3806"/>
                      <a:gd name="T20" fmla="*/ 2808 w 3280"/>
                      <a:gd name="T21" fmla="*/ 1467 h 3806"/>
                      <a:gd name="T22" fmla="*/ 2872 w 3280"/>
                      <a:gd name="T23" fmla="*/ 1060 h 3806"/>
                      <a:gd name="T24" fmla="*/ 2778 w 3280"/>
                      <a:gd name="T25" fmla="*/ 754 h 3806"/>
                      <a:gd name="T26" fmla="*/ 2645 w 3280"/>
                      <a:gd name="T27" fmla="*/ 835 h 3806"/>
                      <a:gd name="T28" fmla="*/ 2625 w 3280"/>
                      <a:gd name="T29" fmla="*/ 513 h 3806"/>
                      <a:gd name="T30" fmla="*/ 2394 w 3280"/>
                      <a:gd name="T31" fmla="*/ 331 h 3806"/>
                      <a:gd name="T32" fmla="*/ 2172 w 3280"/>
                      <a:gd name="T33" fmla="*/ 187 h 3806"/>
                      <a:gd name="T34" fmla="*/ 1108 w 3280"/>
                      <a:gd name="T35" fmla="*/ 187 h 3806"/>
                      <a:gd name="T36" fmla="*/ 886 w 3280"/>
                      <a:gd name="T37" fmla="*/ 331 h 3806"/>
                      <a:gd name="T38" fmla="*/ 655 w 3280"/>
                      <a:gd name="T39" fmla="*/ 511 h 3806"/>
                      <a:gd name="T40" fmla="*/ 635 w 3280"/>
                      <a:gd name="T41" fmla="*/ 834 h 3806"/>
                      <a:gd name="T42" fmla="*/ 502 w 3280"/>
                      <a:gd name="T43" fmla="*/ 754 h 3806"/>
                      <a:gd name="T44" fmla="*/ 408 w 3280"/>
                      <a:gd name="T45" fmla="*/ 1060 h 3806"/>
                      <a:gd name="T46" fmla="*/ 472 w 3280"/>
                      <a:gd name="T47" fmla="*/ 1467 h 3806"/>
                      <a:gd name="T48" fmla="*/ 321 w 3280"/>
                      <a:gd name="T49" fmla="*/ 1236 h 3806"/>
                      <a:gd name="T50" fmla="*/ 202 w 3280"/>
                      <a:gd name="T51" fmla="*/ 1482 h 3806"/>
                      <a:gd name="T52" fmla="*/ 230 w 3280"/>
                      <a:gd name="T53" fmla="*/ 1977 h 3806"/>
                      <a:gd name="T54" fmla="*/ 115 w 3280"/>
                      <a:gd name="T55" fmla="*/ 2168 h 3806"/>
                      <a:gd name="T56" fmla="*/ 239 w 3280"/>
                      <a:gd name="T57" fmla="*/ 2534 h 3806"/>
                      <a:gd name="T58" fmla="*/ 308 w 3280"/>
                      <a:gd name="T59" fmla="*/ 2697 h 3806"/>
                      <a:gd name="T60" fmla="*/ 321 w 3280"/>
                      <a:gd name="T61" fmla="*/ 2903 h 3806"/>
                      <a:gd name="T62" fmla="*/ 940 w 3280"/>
                      <a:gd name="T63" fmla="*/ 3589 h 3806"/>
                      <a:gd name="T64" fmla="*/ 1218 w 3280"/>
                      <a:gd name="T65" fmla="*/ 3694 h 3806"/>
                      <a:gd name="T66" fmla="*/ 1552 w 3280"/>
                      <a:gd name="T67" fmla="*/ 3396 h 3806"/>
                      <a:gd name="T68" fmla="*/ 1414 w 3280"/>
                      <a:gd name="T69" fmla="*/ 157 h 3806"/>
                      <a:gd name="T70" fmla="*/ 1411 w 3280"/>
                      <a:gd name="T71" fmla="*/ 29 h 3806"/>
                      <a:gd name="T72" fmla="*/ 1680 w 3280"/>
                      <a:gd name="T73" fmla="*/ 176 h 3806"/>
                      <a:gd name="T74" fmla="*/ 2003 w 3280"/>
                      <a:gd name="T75" fmla="*/ 0 h 3806"/>
                      <a:gd name="T76" fmla="*/ 2361 w 3280"/>
                      <a:gd name="T77" fmla="*/ 162 h 3806"/>
                      <a:gd name="T78" fmla="*/ 2703 w 3280"/>
                      <a:gd name="T79" fmla="*/ 419 h 3806"/>
                      <a:gd name="T80" fmla="*/ 2862 w 3280"/>
                      <a:gd name="T81" fmla="*/ 685 h 3806"/>
                      <a:gd name="T82" fmla="*/ 2979 w 3280"/>
                      <a:gd name="T83" fmla="*/ 1113 h 3806"/>
                      <a:gd name="T84" fmla="*/ 3139 w 3280"/>
                      <a:gd name="T85" fmla="*/ 1302 h 3806"/>
                      <a:gd name="T86" fmla="*/ 3179 w 3280"/>
                      <a:gd name="T87" fmla="*/ 1846 h 3806"/>
                      <a:gd name="T88" fmla="*/ 3274 w 3280"/>
                      <a:gd name="T89" fmla="*/ 2147 h 3806"/>
                      <a:gd name="T90" fmla="*/ 3184 w 3280"/>
                      <a:gd name="T91" fmla="*/ 2558 h 3806"/>
                      <a:gd name="T92" fmla="*/ 3074 w 3280"/>
                      <a:gd name="T93" fmla="*/ 2932 h 3806"/>
                      <a:gd name="T94" fmla="*/ 2490 w 3280"/>
                      <a:gd name="T95" fmla="*/ 3561 h 3806"/>
                      <a:gd name="T96" fmla="*/ 2259 w 3280"/>
                      <a:gd name="T97" fmla="*/ 3763 h 3806"/>
                      <a:gd name="T98" fmla="*/ 1859 w 3280"/>
                      <a:gd name="T99" fmla="*/ 3749 h 3806"/>
                      <a:gd name="T100" fmla="*/ 1503 w 3280"/>
                      <a:gd name="T101" fmla="*/ 3682 h 3806"/>
                      <a:gd name="T102" fmla="*/ 1093 w 3280"/>
                      <a:gd name="T103" fmla="*/ 3789 h 3806"/>
                      <a:gd name="T104" fmla="*/ 863 w 3280"/>
                      <a:gd name="T105" fmla="*/ 3672 h 3806"/>
                      <a:gd name="T106" fmla="*/ 282 w 3280"/>
                      <a:gd name="T107" fmla="*/ 3035 h 3806"/>
                      <a:gd name="T108" fmla="*/ 95 w 3280"/>
                      <a:gd name="T109" fmla="*/ 2602 h 3806"/>
                      <a:gd name="T110" fmla="*/ 0 w 3280"/>
                      <a:gd name="T111" fmla="*/ 2240 h 3806"/>
                      <a:gd name="T112" fmla="*/ 87 w 3280"/>
                      <a:gd name="T113" fmla="*/ 1872 h 3806"/>
                      <a:gd name="T114" fmla="*/ 115 w 3280"/>
                      <a:gd name="T115" fmla="*/ 1377 h 3806"/>
                      <a:gd name="T116" fmla="*/ 276 w 3280"/>
                      <a:gd name="T117" fmla="*/ 1130 h 3806"/>
                      <a:gd name="T118" fmla="*/ 378 w 3280"/>
                      <a:gd name="T119" fmla="*/ 740 h 3806"/>
                      <a:gd name="T120" fmla="*/ 540 w 3280"/>
                      <a:gd name="T121" fmla="*/ 503 h 3806"/>
                      <a:gd name="T122" fmla="*/ 854 w 3280"/>
                      <a:gd name="T123" fmla="*/ 188 h 3806"/>
                      <a:gd name="T124" fmla="*/ 1180 w 3280"/>
                      <a:gd name="T125" fmla="*/ 16 h 38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3280" h="3806">
                        <a:moveTo>
                          <a:pt x="2000" y="112"/>
                        </a:moveTo>
                        <a:lnTo>
                          <a:pt x="1961" y="117"/>
                        </a:lnTo>
                        <a:lnTo>
                          <a:pt x="1923" y="129"/>
                        </a:lnTo>
                        <a:lnTo>
                          <a:pt x="1886" y="146"/>
                        </a:lnTo>
                        <a:lnTo>
                          <a:pt x="1851" y="168"/>
                        </a:lnTo>
                        <a:lnTo>
                          <a:pt x="1819" y="194"/>
                        </a:lnTo>
                        <a:lnTo>
                          <a:pt x="1790" y="221"/>
                        </a:lnTo>
                        <a:lnTo>
                          <a:pt x="1763" y="250"/>
                        </a:lnTo>
                        <a:lnTo>
                          <a:pt x="1740" y="278"/>
                        </a:lnTo>
                        <a:lnTo>
                          <a:pt x="1720" y="304"/>
                        </a:lnTo>
                        <a:lnTo>
                          <a:pt x="1705" y="326"/>
                        </a:lnTo>
                        <a:lnTo>
                          <a:pt x="1705" y="3334"/>
                        </a:lnTo>
                        <a:lnTo>
                          <a:pt x="1728" y="3396"/>
                        </a:lnTo>
                        <a:lnTo>
                          <a:pt x="1753" y="3454"/>
                        </a:lnTo>
                        <a:lnTo>
                          <a:pt x="1780" y="3505"/>
                        </a:lnTo>
                        <a:lnTo>
                          <a:pt x="1809" y="3549"/>
                        </a:lnTo>
                        <a:lnTo>
                          <a:pt x="1841" y="3588"/>
                        </a:lnTo>
                        <a:lnTo>
                          <a:pt x="1874" y="3621"/>
                        </a:lnTo>
                        <a:lnTo>
                          <a:pt x="1908" y="3648"/>
                        </a:lnTo>
                        <a:lnTo>
                          <a:pt x="1946" y="3668"/>
                        </a:lnTo>
                        <a:lnTo>
                          <a:pt x="1984" y="3683"/>
                        </a:lnTo>
                        <a:lnTo>
                          <a:pt x="2024" y="3691"/>
                        </a:lnTo>
                        <a:lnTo>
                          <a:pt x="2063" y="3694"/>
                        </a:lnTo>
                        <a:lnTo>
                          <a:pt x="2101" y="3691"/>
                        </a:lnTo>
                        <a:lnTo>
                          <a:pt x="2139" y="3685"/>
                        </a:lnTo>
                        <a:lnTo>
                          <a:pt x="2174" y="3675"/>
                        </a:lnTo>
                        <a:lnTo>
                          <a:pt x="2208" y="3664"/>
                        </a:lnTo>
                        <a:lnTo>
                          <a:pt x="2239" y="3651"/>
                        </a:lnTo>
                        <a:lnTo>
                          <a:pt x="2267" y="3636"/>
                        </a:lnTo>
                        <a:lnTo>
                          <a:pt x="2291" y="3623"/>
                        </a:lnTo>
                        <a:lnTo>
                          <a:pt x="2312" y="3609"/>
                        </a:lnTo>
                        <a:lnTo>
                          <a:pt x="2329" y="3598"/>
                        </a:lnTo>
                        <a:lnTo>
                          <a:pt x="2340" y="3589"/>
                        </a:lnTo>
                        <a:lnTo>
                          <a:pt x="2395" y="3503"/>
                        </a:lnTo>
                        <a:lnTo>
                          <a:pt x="2452" y="3422"/>
                        </a:lnTo>
                        <a:lnTo>
                          <a:pt x="2511" y="3347"/>
                        </a:lnTo>
                        <a:lnTo>
                          <a:pt x="2572" y="3277"/>
                        </a:lnTo>
                        <a:lnTo>
                          <a:pt x="2633" y="3213"/>
                        </a:lnTo>
                        <a:lnTo>
                          <a:pt x="2696" y="3155"/>
                        </a:lnTo>
                        <a:lnTo>
                          <a:pt x="2759" y="3104"/>
                        </a:lnTo>
                        <a:lnTo>
                          <a:pt x="2823" y="3053"/>
                        </a:lnTo>
                        <a:lnTo>
                          <a:pt x="2876" y="3003"/>
                        </a:lnTo>
                        <a:lnTo>
                          <a:pt x="2922" y="2952"/>
                        </a:lnTo>
                        <a:lnTo>
                          <a:pt x="2959" y="2903"/>
                        </a:lnTo>
                        <a:lnTo>
                          <a:pt x="2991" y="2856"/>
                        </a:lnTo>
                        <a:lnTo>
                          <a:pt x="3015" y="2810"/>
                        </a:lnTo>
                        <a:lnTo>
                          <a:pt x="3035" y="2767"/>
                        </a:lnTo>
                        <a:lnTo>
                          <a:pt x="3050" y="2726"/>
                        </a:lnTo>
                        <a:lnTo>
                          <a:pt x="3061" y="2689"/>
                        </a:lnTo>
                        <a:lnTo>
                          <a:pt x="3068" y="2655"/>
                        </a:lnTo>
                        <a:lnTo>
                          <a:pt x="3041" y="2673"/>
                        </a:lnTo>
                        <a:lnTo>
                          <a:pt x="3013" y="2692"/>
                        </a:lnTo>
                        <a:lnTo>
                          <a:pt x="2986" y="2699"/>
                        </a:lnTo>
                        <a:lnTo>
                          <a:pt x="2972" y="2697"/>
                        </a:lnTo>
                        <a:lnTo>
                          <a:pt x="2958" y="2692"/>
                        </a:lnTo>
                        <a:lnTo>
                          <a:pt x="2946" y="2682"/>
                        </a:lnTo>
                        <a:lnTo>
                          <a:pt x="2937" y="2670"/>
                        </a:lnTo>
                        <a:lnTo>
                          <a:pt x="2931" y="2654"/>
                        </a:lnTo>
                        <a:lnTo>
                          <a:pt x="2930" y="2636"/>
                        </a:lnTo>
                        <a:lnTo>
                          <a:pt x="2935" y="2619"/>
                        </a:lnTo>
                        <a:lnTo>
                          <a:pt x="2945" y="2604"/>
                        </a:lnTo>
                        <a:lnTo>
                          <a:pt x="2958" y="2595"/>
                        </a:lnTo>
                        <a:lnTo>
                          <a:pt x="3007" y="2564"/>
                        </a:lnTo>
                        <a:lnTo>
                          <a:pt x="3048" y="2529"/>
                        </a:lnTo>
                        <a:lnTo>
                          <a:pt x="3084" y="2491"/>
                        </a:lnTo>
                        <a:lnTo>
                          <a:pt x="3113" y="2451"/>
                        </a:lnTo>
                        <a:lnTo>
                          <a:pt x="3136" y="2406"/>
                        </a:lnTo>
                        <a:lnTo>
                          <a:pt x="3153" y="2358"/>
                        </a:lnTo>
                        <a:lnTo>
                          <a:pt x="3164" y="2303"/>
                        </a:lnTo>
                        <a:lnTo>
                          <a:pt x="3169" y="2249"/>
                        </a:lnTo>
                        <a:lnTo>
                          <a:pt x="3168" y="2195"/>
                        </a:lnTo>
                        <a:lnTo>
                          <a:pt x="3162" y="2143"/>
                        </a:lnTo>
                        <a:lnTo>
                          <a:pt x="3152" y="2093"/>
                        </a:lnTo>
                        <a:lnTo>
                          <a:pt x="3140" y="2047"/>
                        </a:lnTo>
                        <a:lnTo>
                          <a:pt x="3126" y="2006"/>
                        </a:lnTo>
                        <a:lnTo>
                          <a:pt x="3101" y="2012"/>
                        </a:lnTo>
                        <a:lnTo>
                          <a:pt x="3089" y="2010"/>
                        </a:lnTo>
                        <a:lnTo>
                          <a:pt x="3073" y="2003"/>
                        </a:lnTo>
                        <a:lnTo>
                          <a:pt x="3059" y="1992"/>
                        </a:lnTo>
                        <a:lnTo>
                          <a:pt x="3050" y="1978"/>
                        </a:lnTo>
                        <a:lnTo>
                          <a:pt x="3046" y="1961"/>
                        </a:lnTo>
                        <a:lnTo>
                          <a:pt x="3047" y="1944"/>
                        </a:lnTo>
                        <a:lnTo>
                          <a:pt x="3063" y="1870"/>
                        </a:lnTo>
                        <a:lnTo>
                          <a:pt x="3074" y="1801"/>
                        </a:lnTo>
                        <a:lnTo>
                          <a:pt x="3082" y="1737"/>
                        </a:lnTo>
                        <a:lnTo>
                          <a:pt x="3086" y="1677"/>
                        </a:lnTo>
                        <a:lnTo>
                          <a:pt x="3089" y="1622"/>
                        </a:lnTo>
                        <a:lnTo>
                          <a:pt x="3087" y="1571"/>
                        </a:lnTo>
                        <a:lnTo>
                          <a:pt x="3084" y="1525"/>
                        </a:lnTo>
                        <a:lnTo>
                          <a:pt x="3078" y="1482"/>
                        </a:lnTo>
                        <a:lnTo>
                          <a:pt x="3069" y="1444"/>
                        </a:lnTo>
                        <a:lnTo>
                          <a:pt x="3061" y="1408"/>
                        </a:lnTo>
                        <a:lnTo>
                          <a:pt x="3050" y="1376"/>
                        </a:lnTo>
                        <a:lnTo>
                          <a:pt x="3037" y="1348"/>
                        </a:lnTo>
                        <a:lnTo>
                          <a:pt x="3025" y="1322"/>
                        </a:lnTo>
                        <a:lnTo>
                          <a:pt x="3012" y="1300"/>
                        </a:lnTo>
                        <a:lnTo>
                          <a:pt x="2998" y="1280"/>
                        </a:lnTo>
                        <a:lnTo>
                          <a:pt x="2985" y="1263"/>
                        </a:lnTo>
                        <a:lnTo>
                          <a:pt x="2972" y="1248"/>
                        </a:lnTo>
                        <a:lnTo>
                          <a:pt x="2959" y="1236"/>
                        </a:lnTo>
                        <a:lnTo>
                          <a:pt x="2948" y="1285"/>
                        </a:lnTo>
                        <a:lnTo>
                          <a:pt x="2934" y="1337"/>
                        </a:lnTo>
                        <a:lnTo>
                          <a:pt x="2917" y="1389"/>
                        </a:lnTo>
                        <a:lnTo>
                          <a:pt x="2896" y="1445"/>
                        </a:lnTo>
                        <a:lnTo>
                          <a:pt x="2887" y="1460"/>
                        </a:lnTo>
                        <a:lnTo>
                          <a:pt x="2875" y="1471"/>
                        </a:lnTo>
                        <a:lnTo>
                          <a:pt x="2861" y="1478"/>
                        </a:lnTo>
                        <a:lnTo>
                          <a:pt x="2845" y="1480"/>
                        </a:lnTo>
                        <a:lnTo>
                          <a:pt x="2824" y="1476"/>
                        </a:lnTo>
                        <a:lnTo>
                          <a:pt x="2808" y="1467"/>
                        </a:lnTo>
                        <a:lnTo>
                          <a:pt x="2797" y="1455"/>
                        </a:lnTo>
                        <a:lnTo>
                          <a:pt x="2791" y="1439"/>
                        </a:lnTo>
                        <a:lnTo>
                          <a:pt x="2789" y="1421"/>
                        </a:lnTo>
                        <a:lnTo>
                          <a:pt x="2792" y="1404"/>
                        </a:lnTo>
                        <a:lnTo>
                          <a:pt x="2817" y="1337"/>
                        </a:lnTo>
                        <a:lnTo>
                          <a:pt x="2836" y="1274"/>
                        </a:lnTo>
                        <a:lnTo>
                          <a:pt x="2852" y="1215"/>
                        </a:lnTo>
                        <a:lnTo>
                          <a:pt x="2862" y="1160"/>
                        </a:lnTo>
                        <a:lnTo>
                          <a:pt x="2869" y="1108"/>
                        </a:lnTo>
                        <a:lnTo>
                          <a:pt x="2872" y="1060"/>
                        </a:lnTo>
                        <a:lnTo>
                          <a:pt x="2872" y="1016"/>
                        </a:lnTo>
                        <a:lnTo>
                          <a:pt x="2868" y="975"/>
                        </a:lnTo>
                        <a:lnTo>
                          <a:pt x="2862" y="937"/>
                        </a:lnTo>
                        <a:lnTo>
                          <a:pt x="2854" y="903"/>
                        </a:lnTo>
                        <a:lnTo>
                          <a:pt x="2843" y="871"/>
                        </a:lnTo>
                        <a:lnTo>
                          <a:pt x="2833" y="842"/>
                        </a:lnTo>
                        <a:lnTo>
                          <a:pt x="2819" y="815"/>
                        </a:lnTo>
                        <a:lnTo>
                          <a:pt x="2806" y="793"/>
                        </a:lnTo>
                        <a:lnTo>
                          <a:pt x="2791" y="772"/>
                        </a:lnTo>
                        <a:lnTo>
                          <a:pt x="2778" y="754"/>
                        </a:lnTo>
                        <a:lnTo>
                          <a:pt x="2763" y="738"/>
                        </a:lnTo>
                        <a:lnTo>
                          <a:pt x="2748" y="724"/>
                        </a:lnTo>
                        <a:lnTo>
                          <a:pt x="2741" y="765"/>
                        </a:lnTo>
                        <a:lnTo>
                          <a:pt x="2729" y="807"/>
                        </a:lnTo>
                        <a:lnTo>
                          <a:pt x="2722" y="823"/>
                        </a:lnTo>
                        <a:lnTo>
                          <a:pt x="2709" y="835"/>
                        </a:lnTo>
                        <a:lnTo>
                          <a:pt x="2694" y="842"/>
                        </a:lnTo>
                        <a:lnTo>
                          <a:pt x="2676" y="845"/>
                        </a:lnTo>
                        <a:lnTo>
                          <a:pt x="2661" y="842"/>
                        </a:lnTo>
                        <a:lnTo>
                          <a:pt x="2645" y="835"/>
                        </a:lnTo>
                        <a:lnTo>
                          <a:pt x="2633" y="823"/>
                        </a:lnTo>
                        <a:lnTo>
                          <a:pt x="2624" y="807"/>
                        </a:lnTo>
                        <a:lnTo>
                          <a:pt x="2622" y="789"/>
                        </a:lnTo>
                        <a:lnTo>
                          <a:pt x="2624" y="772"/>
                        </a:lnTo>
                        <a:lnTo>
                          <a:pt x="2637" y="724"/>
                        </a:lnTo>
                        <a:lnTo>
                          <a:pt x="2645" y="679"/>
                        </a:lnTo>
                        <a:lnTo>
                          <a:pt x="2648" y="634"/>
                        </a:lnTo>
                        <a:lnTo>
                          <a:pt x="2646" y="591"/>
                        </a:lnTo>
                        <a:lnTo>
                          <a:pt x="2639" y="551"/>
                        </a:lnTo>
                        <a:lnTo>
                          <a:pt x="2625" y="513"/>
                        </a:lnTo>
                        <a:lnTo>
                          <a:pt x="2607" y="476"/>
                        </a:lnTo>
                        <a:lnTo>
                          <a:pt x="2584" y="441"/>
                        </a:lnTo>
                        <a:lnTo>
                          <a:pt x="2557" y="409"/>
                        </a:lnTo>
                        <a:lnTo>
                          <a:pt x="2528" y="381"/>
                        </a:lnTo>
                        <a:lnTo>
                          <a:pt x="2496" y="357"/>
                        </a:lnTo>
                        <a:lnTo>
                          <a:pt x="2463" y="334"/>
                        </a:lnTo>
                        <a:lnTo>
                          <a:pt x="2430" y="315"/>
                        </a:lnTo>
                        <a:lnTo>
                          <a:pt x="2397" y="299"/>
                        </a:lnTo>
                        <a:lnTo>
                          <a:pt x="2398" y="315"/>
                        </a:lnTo>
                        <a:lnTo>
                          <a:pt x="2394" y="331"/>
                        </a:lnTo>
                        <a:lnTo>
                          <a:pt x="2386" y="345"/>
                        </a:lnTo>
                        <a:lnTo>
                          <a:pt x="2373" y="358"/>
                        </a:lnTo>
                        <a:lnTo>
                          <a:pt x="2357" y="364"/>
                        </a:lnTo>
                        <a:lnTo>
                          <a:pt x="2340" y="365"/>
                        </a:lnTo>
                        <a:lnTo>
                          <a:pt x="2323" y="361"/>
                        </a:lnTo>
                        <a:lnTo>
                          <a:pt x="2308" y="353"/>
                        </a:lnTo>
                        <a:lnTo>
                          <a:pt x="2296" y="339"/>
                        </a:lnTo>
                        <a:lnTo>
                          <a:pt x="2256" y="279"/>
                        </a:lnTo>
                        <a:lnTo>
                          <a:pt x="2214" y="229"/>
                        </a:lnTo>
                        <a:lnTo>
                          <a:pt x="2172" y="187"/>
                        </a:lnTo>
                        <a:lnTo>
                          <a:pt x="2130" y="155"/>
                        </a:lnTo>
                        <a:lnTo>
                          <a:pt x="2087" y="131"/>
                        </a:lnTo>
                        <a:lnTo>
                          <a:pt x="2046" y="117"/>
                        </a:lnTo>
                        <a:lnTo>
                          <a:pt x="2003" y="112"/>
                        </a:lnTo>
                        <a:lnTo>
                          <a:pt x="2000" y="112"/>
                        </a:lnTo>
                        <a:close/>
                        <a:moveTo>
                          <a:pt x="1277" y="112"/>
                        </a:moveTo>
                        <a:lnTo>
                          <a:pt x="1234" y="117"/>
                        </a:lnTo>
                        <a:lnTo>
                          <a:pt x="1193" y="130"/>
                        </a:lnTo>
                        <a:lnTo>
                          <a:pt x="1150" y="154"/>
                        </a:lnTo>
                        <a:lnTo>
                          <a:pt x="1108" y="187"/>
                        </a:lnTo>
                        <a:lnTo>
                          <a:pt x="1066" y="229"/>
                        </a:lnTo>
                        <a:lnTo>
                          <a:pt x="1024" y="279"/>
                        </a:lnTo>
                        <a:lnTo>
                          <a:pt x="984" y="339"/>
                        </a:lnTo>
                        <a:lnTo>
                          <a:pt x="972" y="353"/>
                        </a:lnTo>
                        <a:lnTo>
                          <a:pt x="957" y="361"/>
                        </a:lnTo>
                        <a:lnTo>
                          <a:pt x="940" y="365"/>
                        </a:lnTo>
                        <a:lnTo>
                          <a:pt x="923" y="364"/>
                        </a:lnTo>
                        <a:lnTo>
                          <a:pt x="907" y="357"/>
                        </a:lnTo>
                        <a:lnTo>
                          <a:pt x="894" y="345"/>
                        </a:lnTo>
                        <a:lnTo>
                          <a:pt x="886" y="331"/>
                        </a:lnTo>
                        <a:lnTo>
                          <a:pt x="883" y="315"/>
                        </a:lnTo>
                        <a:lnTo>
                          <a:pt x="883" y="297"/>
                        </a:lnTo>
                        <a:lnTo>
                          <a:pt x="851" y="315"/>
                        </a:lnTo>
                        <a:lnTo>
                          <a:pt x="817" y="333"/>
                        </a:lnTo>
                        <a:lnTo>
                          <a:pt x="784" y="355"/>
                        </a:lnTo>
                        <a:lnTo>
                          <a:pt x="752" y="381"/>
                        </a:lnTo>
                        <a:lnTo>
                          <a:pt x="723" y="408"/>
                        </a:lnTo>
                        <a:lnTo>
                          <a:pt x="696" y="440"/>
                        </a:lnTo>
                        <a:lnTo>
                          <a:pt x="673" y="476"/>
                        </a:lnTo>
                        <a:lnTo>
                          <a:pt x="655" y="511"/>
                        </a:lnTo>
                        <a:lnTo>
                          <a:pt x="643" y="551"/>
                        </a:lnTo>
                        <a:lnTo>
                          <a:pt x="634" y="591"/>
                        </a:lnTo>
                        <a:lnTo>
                          <a:pt x="632" y="633"/>
                        </a:lnTo>
                        <a:lnTo>
                          <a:pt x="635" y="677"/>
                        </a:lnTo>
                        <a:lnTo>
                          <a:pt x="643" y="724"/>
                        </a:lnTo>
                        <a:lnTo>
                          <a:pt x="656" y="771"/>
                        </a:lnTo>
                        <a:lnTo>
                          <a:pt x="658" y="789"/>
                        </a:lnTo>
                        <a:lnTo>
                          <a:pt x="656" y="807"/>
                        </a:lnTo>
                        <a:lnTo>
                          <a:pt x="647" y="821"/>
                        </a:lnTo>
                        <a:lnTo>
                          <a:pt x="635" y="834"/>
                        </a:lnTo>
                        <a:lnTo>
                          <a:pt x="619" y="842"/>
                        </a:lnTo>
                        <a:lnTo>
                          <a:pt x="604" y="845"/>
                        </a:lnTo>
                        <a:lnTo>
                          <a:pt x="586" y="842"/>
                        </a:lnTo>
                        <a:lnTo>
                          <a:pt x="571" y="834"/>
                        </a:lnTo>
                        <a:lnTo>
                          <a:pt x="558" y="821"/>
                        </a:lnTo>
                        <a:lnTo>
                          <a:pt x="550" y="805"/>
                        </a:lnTo>
                        <a:lnTo>
                          <a:pt x="539" y="765"/>
                        </a:lnTo>
                        <a:lnTo>
                          <a:pt x="532" y="724"/>
                        </a:lnTo>
                        <a:lnTo>
                          <a:pt x="517" y="738"/>
                        </a:lnTo>
                        <a:lnTo>
                          <a:pt x="502" y="754"/>
                        </a:lnTo>
                        <a:lnTo>
                          <a:pt x="488" y="772"/>
                        </a:lnTo>
                        <a:lnTo>
                          <a:pt x="474" y="793"/>
                        </a:lnTo>
                        <a:lnTo>
                          <a:pt x="460" y="815"/>
                        </a:lnTo>
                        <a:lnTo>
                          <a:pt x="447" y="841"/>
                        </a:lnTo>
                        <a:lnTo>
                          <a:pt x="435" y="871"/>
                        </a:lnTo>
                        <a:lnTo>
                          <a:pt x="426" y="903"/>
                        </a:lnTo>
                        <a:lnTo>
                          <a:pt x="418" y="937"/>
                        </a:lnTo>
                        <a:lnTo>
                          <a:pt x="412" y="975"/>
                        </a:lnTo>
                        <a:lnTo>
                          <a:pt x="408" y="1016"/>
                        </a:lnTo>
                        <a:lnTo>
                          <a:pt x="408" y="1060"/>
                        </a:lnTo>
                        <a:lnTo>
                          <a:pt x="412" y="1108"/>
                        </a:lnTo>
                        <a:lnTo>
                          <a:pt x="418" y="1160"/>
                        </a:lnTo>
                        <a:lnTo>
                          <a:pt x="429" y="1215"/>
                        </a:lnTo>
                        <a:lnTo>
                          <a:pt x="444" y="1274"/>
                        </a:lnTo>
                        <a:lnTo>
                          <a:pt x="463" y="1337"/>
                        </a:lnTo>
                        <a:lnTo>
                          <a:pt x="488" y="1403"/>
                        </a:lnTo>
                        <a:lnTo>
                          <a:pt x="491" y="1420"/>
                        </a:lnTo>
                        <a:lnTo>
                          <a:pt x="490" y="1437"/>
                        </a:lnTo>
                        <a:lnTo>
                          <a:pt x="483" y="1453"/>
                        </a:lnTo>
                        <a:lnTo>
                          <a:pt x="472" y="1467"/>
                        </a:lnTo>
                        <a:lnTo>
                          <a:pt x="456" y="1476"/>
                        </a:lnTo>
                        <a:lnTo>
                          <a:pt x="435" y="1480"/>
                        </a:lnTo>
                        <a:lnTo>
                          <a:pt x="419" y="1478"/>
                        </a:lnTo>
                        <a:lnTo>
                          <a:pt x="405" y="1471"/>
                        </a:lnTo>
                        <a:lnTo>
                          <a:pt x="393" y="1460"/>
                        </a:lnTo>
                        <a:lnTo>
                          <a:pt x="384" y="1445"/>
                        </a:lnTo>
                        <a:lnTo>
                          <a:pt x="363" y="1388"/>
                        </a:lnTo>
                        <a:lnTo>
                          <a:pt x="346" y="1335"/>
                        </a:lnTo>
                        <a:lnTo>
                          <a:pt x="332" y="1285"/>
                        </a:lnTo>
                        <a:lnTo>
                          <a:pt x="321" y="1236"/>
                        </a:lnTo>
                        <a:lnTo>
                          <a:pt x="308" y="1248"/>
                        </a:lnTo>
                        <a:lnTo>
                          <a:pt x="295" y="1263"/>
                        </a:lnTo>
                        <a:lnTo>
                          <a:pt x="282" y="1279"/>
                        </a:lnTo>
                        <a:lnTo>
                          <a:pt x="268" y="1298"/>
                        </a:lnTo>
                        <a:lnTo>
                          <a:pt x="255" y="1322"/>
                        </a:lnTo>
                        <a:lnTo>
                          <a:pt x="243" y="1346"/>
                        </a:lnTo>
                        <a:lnTo>
                          <a:pt x="230" y="1376"/>
                        </a:lnTo>
                        <a:lnTo>
                          <a:pt x="219" y="1408"/>
                        </a:lnTo>
                        <a:lnTo>
                          <a:pt x="211" y="1442"/>
                        </a:lnTo>
                        <a:lnTo>
                          <a:pt x="202" y="1482"/>
                        </a:lnTo>
                        <a:lnTo>
                          <a:pt x="198" y="1525"/>
                        </a:lnTo>
                        <a:lnTo>
                          <a:pt x="193" y="1571"/>
                        </a:lnTo>
                        <a:lnTo>
                          <a:pt x="193" y="1622"/>
                        </a:lnTo>
                        <a:lnTo>
                          <a:pt x="194" y="1677"/>
                        </a:lnTo>
                        <a:lnTo>
                          <a:pt x="199" y="1736"/>
                        </a:lnTo>
                        <a:lnTo>
                          <a:pt x="206" y="1800"/>
                        </a:lnTo>
                        <a:lnTo>
                          <a:pt x="217" y="1869"/>
                        </a:lnTo>
                        <a:lnTo>
                          <a:pt x="233" y="1943"/>
                        </a:lnTo>
                        <a:lnTo>
                          <a:pt x="234" y="1961"/>
                        </a:lnTo>
                        <a:lnTo>
                          <a:pt x="230" y="1977"/>
                        </a:lnTo>
                        <a:lnTo>
                          <a:pt x="221" y="1992"/>
                        </a:lnTo>
                        <a:lnTo>
                          <a:pt x="207" y="2003"/>
                        </a:lnTo>
                        <a:lnTo>
                          <a:pt x="191" y="2010"/>
                        </a:lnTo>
                        <a:lnTo>
                          <a:pt x="179" y="2012"/>
                        </a:lnTo>
                        <a:lnTo>
                          <a:pt x="154" y="2004"/>
                        </a:lnTo>
                        <a:lnTo>
                          <a:pt x="144" y="2033"/>
                        </a:lnTo>
                        <a:lnTo>
                          <a:pt x="134" y="2063"/>
                        </a:lnTo>
                        <a:lnTo>
                          <a:pt x="127" y="2097"/>
                        </a:lnTo>
                        <a:lnTo>
                          <a:pt x="119" y="2131"/>
                        </a:lnTo>
                        <a:lnTo>
                          <a:pt x="115" y="2168"/>
                        </a:lnTo>
                        <a:lnTo>
                          <a:pt x="111" y="2205"/>
                        </a:lnTo>
                        <a:lnTo>
                          <a:pt x="110" y="2242"/>
                        </a:lnTo>
                        <a:lnTo>
                          <a:pt x="112" y="2281"/>
                        </a:lnTo>
                        <a:lnTo>
                          <a:pt x="117" y="2319"/>
                        </a:lnTo>
                        <a:lnTo>
                          <a:pt x="127" y="2357"/>
                        </a:lnTo>
                        <a:lnTo>
                          <a:pt x="139" y="2394"/>
                        </a:lnTo>
                        <a:lnTo>
                          <a:pt x="156" y="2431"/>
                        </a:lnTo>
                        <a:lnTo>
                          <a:pt x="179" y="2467"/>
                        </a:lnTo>
                        <a:lnTo>
                          <a:pt x="206" y="2501"/>
                        </a:lnTo>
                        <a:lnTo>
                          <a:pt x="239" y="2534"/>
                        </a:lnTo>
                        <a:lnTo>
                          <a:pt x="277" y="2565"/>
                        </a:lnTo>
                        <a:lnTo>
                          <a:pt x="322" y="2593"/>
                        </a:lnTo>
                        <a:lnTo>
                          <a:pt x="335" y="2604"/>
                        </a:lnTo>
                        <a:lnTo>
                          <a:pt x="345" y="2619"/>
                        </a:lnTo>
                        <a:lnTo>
                          <a:pt x="350" y="2636"/>
                        </a:lnTo>
                        <a:lnTo>
                          <a:pt x="349" y="2654"/>
                        </a:lnTo>
                        <a:lnTo>
                          <a:pt x="343" y="2670"/>
                        </a:lnTo>
                        <a:lnTo>
                          <a:pt x="334" y="2682"/>
                        </a:lnTo>
                        <a:lnTo>
                          <a:pt x="322" y="2690"/>
                        </a:lnTo>
                        <a:lnTo>
                          <a:pt x="308" y="2697"/>
                        </a:lnTo>
                        <a:lnTo>
                          <a:pt x="295" y="2698"/>
                        </a:lnTo>
                        <a:lnTo>
                          <a:pt x="268" y="2692"/>
                        </a:lnTo>
                        <a:lnTo>
                          <a:pt x="239" y="2673"/>
                        </a:lnTo>
                        <a:lnTo>
                          <a:pt x="212" y="2654"/>
                        </a:lnTo>
                        <a:lnTo>
                          <a:pt x="219" y="2688"/>
                        </a:lnTo>
                        <a:lnTo>
                          <a:pt x="230" y="2726"/>
                        </a:lnTo>
                        <a:lnTo>
                          <a:pt x="245" y="2767"/>
                        </a:lnTo>
                        <a:lnTo>
                          <a:pt x="265" y="2810"/>
                        </a:lnTo>
                        <a:lnTo>
                          <a:pt x="289" y="2855"/>
                        </a:lnTo>
                        <a:lnTo>
                          <a:pt x="321" y="2903"/>
                        </a:lnTo>
                        <a:lnTo>
                          <a:pt x="358" y="2952"/>
                        </a:lnTo>
                        <a:lnTo>
                          <a:pt x="405" y="3002"/>
                        </a:lnTo>
                        <a:lnTo>
                          <a:pt x="458" y="3052"/>
                        </a:lnTo>
                        <a:lnTo>
                          <a:pt x="521" y="3104"/>
                        </a:lnTo>
                        <a:lnTo>
                          <a:pt x="595" y="3165"/>
                        </a:lnTo>
                        <a:lnTo>
                          <a:pt x="668" y="3234"/>
                        </a:lnTo>
                        <a:lnTo>
                          <a:pt x="739" y="3311"/>
                        </a:lnTo>
                        <a:lnTo>
                          <a:pt x="808" y="3396"/>
                        </a:lnTo>
                        <a:lnTo>
                          <a:pt x="875" y="3490"/>
                        </a:lnTo>
                        <a:lnTo>
                          <a:pt x="940" y="3589"/>
                        </a:lnTo>
                        <a:lnTo>
                          <a:pt x="951" y="3598"/>
                        </a:lnTo>
                        <a:lnTo>
                          <a:pt x="968" y="3609"/>
                        </a:lnTo>
                        <a:lnTo>
                          <a:pt x="989" y="3623"/>
                        </a:lnTo>
                        <a:lnTo>
                          <a:pt x="1013" y="3636"/>
                        </a:lnTo>
                        <a:lnTo>
                          <a:pt x="1041" y="3650"/>
                        </a:lnTo>
                        <a:lnTo>
                          <a:pt x="1073" y="3663"/>
                        </a:lnTo>
                        <a:lnTo>
                          <a:pt x="1106" y="3675"/>
                        </a:lnTo>
                        <a:lnTo>
                          <a:pt x="1143" y="3685"/>
                        </a:lnTo>
                        <a:lnTo>
                          <a:pt x="1179" y="3691"/>
                        </a:lnTo>
                        <a:lnTo>
                          <a:pt x="1218" y="3694"/>
                        </a:lnTo>
                        <a:lnTo>
                          <a:pt x="1257" y="3691"/>
                        </a:lnTo>
                        <a:lnTo>
                          <a:pt x="1297" y="3683"/>
                        </a:lnTo>
                        <a:lnTo>
                          <a:pt x="1335" y="3668"/>
                        </a:lnTo>
                        <a:lnTo>
                          <a:pt x="1372" y="3647"/>
                        </a:lnTo>
                        <a:lnTo>
                          <a:pt x="1407" y="3621"/>
                        </a:lnTo>
                        <a:lnTo>
                          <a:pt x="1440" y="3588"/>
                        </a:lnTo>
                        <a:lnTo>
                          <a:pt x="1471" y="3549"/>
                        </a:lnTo>
                        <a:lnTo>
                          <a:pt x="1500" y="3505"/>
                        </a:lnTo>
                        <a:lnTo>
                          <a:pt x="1527" y="3453"/>
                        </a:lnTo>
                        <a:lnTo>
                          <a:pt x="1552" y="3396"/>
                        </a:lnTo>
                        <a:lnTo>
                          <a:pt x="1575" y="3334"/>
                        </a:lnTo>
                        <a:lnTo>
                          <a:pt x="1575" y="326"/>
                        </a:lnTo>
                        <a:lnTo>
                          <a:pt x="1566" y="312"/>
                        </a:lnTo>
                        <a:lnTo>
                          <a:pt x="1553" y="294"/>
                        </a:lnTo>
                        <a:lnTo>
                          <a:pt x="1536" y="273"/>
                        </a:lnTo>
                        <a:lnTo>
                          <a:pt x="1518" y="250"/>
                        </a:lnTo>
                        <a:lnTo>
                          <a:pt x="1495" y="226"/>
                        </a:lnTo>
                        <a:lnTo>
                          <a:pt x="1471" y="202"/>
                        </a:lnTo>
                        <a:lnTo>
                          <a:pt x="1444" y="179"/>
                        </a:lnTo>
                        <a:lnTo>
                          <a:pt x="1414" y="157"/>
                        </a:lnTo>
                        <a:lnTo>
                          <a:pt x="1383" y="140"/>
                        </a:lnTo>
                        <a:lnTo>
                          <a:pt x="1350" y="125"/>
                        </a:lnTo>
                        <a:lnTo>
                          <a:pt x="1316" y="115"/>
                        </a:lnTo>
                        <a:lnTo>
                          <a:pt x="1279" y="112"/>
                        </a:lnTo>
                        <a:lnTo>
                          <a:pt x="1277" y="112"/>
                        </a:lnTo>
                        <a:close/>
                        <a:moveTo>
                          <a:pt x="1277" y="0"/>
                        </a:moveTo>
                        <a:lnTo>
                          <a:pt x="1282" y="0"/>
                        </a:lnTo>
                        <a:lnTo>
                          <a:pt x="1327" y="5"/>
                        </a:lnTo>
                        <a:lnTo>
                          <a:pt x="1369" y="15"/>
                        </a:lnTo>
                        <a:lnTo>
                          <a:pt x="1411" y="29"/>
                        </a:lnTo>
                        <a:lnTo>
                          <a:pt x="1449" y="48"/>
                        </a:lnTo>
                        <a:lnTo>
                          <a:pt x="1484" y="71"/>
                        </a:lnTo>
                        <a:lnTo>
                          <a:pt x="1518" y="96"/>
                        </a:lnTo>
                        <a:lnTo>
                          <a:pt x="1549" y="122"/>
                        </a:lnTo>
                        <a:lnTo>
                          <a:pt x="1575" y="149"/>
                        </a:lnTo>
                        <a:lnTo>
                          <a:pt x="1600" y="176"/>
                        </a:lnTo>
                        <a:lnTo>
                          <a:pt x="1622" y="202"/>
                        </a:lnTo>
                        <a:lnTo>
                          <a:pt x="1640" y="225"/>
                        </a:lnTo>
                        <a:lnTo>
                          <a:pt x="1658" y="202"/>
                        </a:lnTo>
                        <a:lnTo>
                          <a:pt x="1680" y="176"/>
                        </a:lnTo>
                        <a:lnTo>
                          <a:pt x="1705" y="149"/>
                        </a:lnTo>
                        <a:lnTo>
                          <a:pt x="1731" y="122"/>
                        </a:lnTo>
                        <a:lnTo>
                          <a:pt x="1762" y="96"/>
                        </a:lnTo>
                        <a:lnTo>
                          <a:pt x="1796" y="71"/>
                        </a:lnTo>
                        <a:lnTo>
                          <a:pt x="1831" y="48"/>
                        </a:lnTo>
                        <a:lnTo>
                          <a:pt x="1869" y="29"/>
                        </a:lnTo>
                        <a:lnTo>
                          <a:pt x="1911" y="15"/>
                        </a:lnTo>
                        <a:lnTo>
                          <a:pt x="1953" y="5"/>
                        </a:lnTo>
                        <a:lnTo>
                          <a:pt x="1998" y="0"/>
                        </a:lnTo>
                        <a:lnTo>
                          <a:pt x="2003" y="0"/>
                        </a:lnTo>
                        <a:lnTo>
                          <a:pt x="2052" y="4"/>
                        </a:lnTo>
                        <a:lnTo>
                          <a:pt x="2100" y="16"/>
                        </a:lnTo>
                        <a:lnTo>
                          <a:pt x="2146" y="36"/>
                        </a:lnTo>
                        <a:lnTo>
                          <a:pt x="2192" y="63"/>
                        </a:lnTo>
                        <a:lnTo>
                          <a:pt x="2237" y="97"/>
                        </a:lnTo>
                        <a:lnTo>
                          <a:pt x="2281" y="139"/>
                        </a:lnTo>
                        <a:lnTo>
                          <a:pt x="2294" y="143"/>
                        </a:lnTo>
                        <a:lnTo>
                          <a:pt x="2311" y="146"/>
                        </a:lnTo>
                        <a:lnTo>
                          <a:pt x="2334" y="154"/>
                        </a:lnTo>
                        <a:lnTo>
                          <a:pt x="2361" y="162"/>
                        </a:lnTo>
                        <a:lnTo>
                          <a:pt x="2392" y="175"/>
                        </a:lnTo>
                        <a:lnTo>
                          <a:pt x="2426" y="188"/>
                        </a:lnTo>
                        <a:lnTo>
                          <a:pt x="2462" y="205"/>
                        </a:lnTo>
                        <a:lnTo>
                          <a:pt x="2500" y="226"/>
                        </a:lnTo>
                        <a:lnTo>
                          <a:pt x="2537" y="248"/>
                        </a:lnTo>
                        <a:lnTo>
                          <a:pt x="2574" y="275"/>
                        </a:lnTo>
                        <a:lnTo>
                          <a:pt x="2611" y="306"/>
                        </a:lnTo>
                        <a:lnTo>
                          <a:pt x="2645" y="339"/>
                        </a:lnTo>
                        <a:lnTo>
                          <a:pt x="2676" y="377"/>
                        </a:lnTo>
                        <a:lnTo>
                          <a:pt x="2703" y="419"/>
                        </a:lnTo>
                        <a:lnTo>
                          <a:pt x="2724" y="460"/>
                        </a:lnTo>
                        <a:lnTo>
                          <a:pt x="2740" y="503"/>
                        </a:lnTo>
                        <a:lnTo>
                          <a:pt x="2751" y="547"/>
                        </a:lnTo>
                        <a:lnTo>
                          <a:pt x="2757" y="593"/>
                        </a:lnTo>
                        <a:lnTo>
                          <a:pt x="2770" y="601"/>
                        </a:lnTo>
                        <a:lnTo>
                          <a:pt x="2785" y="612"/>
                        </a:lnTo>
                        <a:lnTo>
                          <a:pt x="2803" y="626"/>
                        </a:lnTo>
                        <a:lnTo>
                          <a:pt x="2822" y="643"/>
                        </a:lnTo>
                        <a:lnTo>
                          <a:pt x="2841" y="661"/>
                        </a:lnTo>
                        <a:lnTo>
                          <a:pt x="2862" y="685"/>
                        </a:lnTo>
                        <a:lnTo>
                          <a:pt x="2883" y="711"/>
                        </a:lnTo>
                        <a:lnTo>
                          <a:pt x="2902" y="740"/>
                        </a:lnTo>
                        <a:lnTo>
                          <a:pt x="2920" y="773"/>
                        </a:lnTo>
                        <a:lnTo>
                          <a:pt x="2937" y="810"/>
                        </a:lnTo>
                        <a:lnTo>
                          <a:pt x="2952" y="850"/>
                        </a:lnTo>
                        <a:lnTo>
                          <a:pt x="2965" y="894"/>
                        </a:lnTo>
                        <a:lnTo>
                          <a:pt x="2974" y="943"/>
                        </a:lnTo>
                        <a:lnTo>
                          <a:pt x="2980" y="995"/>
                        </a:lnTo>
                        <a:lnTo>
                          <a:pt x="2981" y="1051"/>
                        </a:lnTo>
                        <a:lnTo>
                          <a:pt x="2979" y="1113"/>
                        </a:lnTo>
                        <a:lnTo>
                          <a:pt x="2991" y="1120"/>
                        </a:lnTo>
                        <a:lnTo>
                          <a:pt x="3004" y="1130"/>
                        </a:lnTo>
                        <a:lnTo>
                          <a:pt x="3020" y="1142"/>
                        </a:lnTo>
                        <a:lnTo>
                          <a:pt x="3036" y="1156"/>
                        </a:lnTo>
                        <a:lnTo>
                          <a:pt x="3053" y="1173"/>
                        </a:lnTo>
                        <a:lnTo>
                          <a:pt x="3070" y="1193"/>
                        </a:lnTo>
                        <a:lnTo>
                          <a:pt x="3087" y="1215"/>
                        </a:lnTo>
                        <a:lnTo>
                          <a:pt x="3106" y="1241"/>
                        </a:lnTo>
                        <a:lnTo>
                          <a:pt x="3121" y="1270"/>
                        </a:lnTo>
                        <a:lnTo>
                          <a:pt x="3139" y="1302"/>
                        </a:lnTo>
                        <a:lnTo>
                          <a:pt x="3153" y="1338"/>
                        </a:lnTo>
                        <a:lnTo>
                          <a:pt x="3167" y="1377"/>
                        </a:lnTo>
                        <a:lnTo>
                          <a:pt x="3178" y="1420"/>
                        </a:lnTo>
                        <a:lnTo>
                          <a:pt x="3187" y="1468"/>
                        </a:lnTo>
                        <a:lnTo>
                          <a:pt x="3193" y="1520"/>
                        </a:lnTo>
                        <a:lnTo>
                          <a:pt x="3197" y="1575"/>
                        </a:lnTo>
                        <a:lnTo>
                          <a:pt x="3198" y="1635"/>
                        </a:lnTo>
                        <a:lnTo>
                          <a:pt x="3196" y="1701"/>
                        </a:lnTo>
                        <a:lnTo>
                          <a:pt x="3190" y="1771"/>
                        </a:lnTo>
                        <a:lnTo>
                          <a:pt x="3179" y="1846"/>
                        </a:lnTo>
                        <a:lnTo>
                          <a:pt x="3185" y="1857"/>
                        </a:lnTo>
                        <a:lnTo>
                          <a:pt x="3192" y="1873"/>
                        </a:lnTo>
                        <a:lnTo>
                          <a:pt x="3202" y="1894"/>
                        </a:lnTo>
                        <a:lnTo>
                          <a:pt x="3213" y="1919"/>
                        </a:lnTo>
                        <a:lnTo>
                          <a:pt x="3225" y="1949"/>
                        </a:lnTo>
                        <a:lnTo>
                          <a:pt x="3237" y="1982"/>
                        </a:lnTo>
                        <a:lnTo>
                          <a:pt x="3248" y="2019"/>
                        </a:lnTo>
                        <a:lnTo>
                          <a:pt x="3258" y="2060"/>
                        </a:lnTo>
                        <a:lnTo>
                          <a:pt x="3268" y="2101"/>
                        </a:lnTo>
                        <a:lnTo>
                          <a:pt x="3274" y="2147"/>
                        </a:lnTo>
                        <a:lnTo>
                          <a:pt x="3279" y="2194"/>
                        </a:lnTo>
                        <a:lnTo>
                          <a:pt x="3280" y="2240"/>
                        </a:lnTo>
                        <a:lnTo>
                          <a:pt x="3278" y="2290"/>
                        </a:lnTo>
                        <a:lnTo>
                          <a:pt x="3271" y="2339"/>
                        </a:lnTo>
                        <a:lnTo>
                          <a:pt x="3259" y="2388"/>
                        </a:lnTo>
                        <a:lnTo>
                          <a:pt x="3246" y="2430"/>
                        </a:lnTo>
                        <a:lnTo>
                          <a:pt x="3228" y="2470"/>
                        </a:lnTo>
                        <a:lnTo>
                          <a:pt x="3207" y="2507"/>
                        </a:lnTo>
                        <a:lnTo>
                          <a:pt x="3182" y="2543"/>
                        </a:lnTo>
                        <a:lnTo>
                          <a:pt x="3184" y="2558"/>
                        </a:lnTo>
                        <a:lnTo>
                          <a:pt x="3184" y="2577"/>
                        </a:lnTo>
                        <a:lnTo>
                          <a:pt x="3184" y="2603"/>
                        </a:lnTo>
                        <a:lnTo>
                          <a:pt x="3181" y="2633"/>
                        </a:lnTo>
                        <a:lnTo>
                          <a:pt x="3178" y="2666"/>
                        </a:lnTo>
                        <a:lnTo>
                          <a:pt x="3170" y="2703"/>
                        </a:lnTo>
                        <a:lnTo>
                          <a:pt x="3159" y="2743"/>
                        </a:lnTo>
                        <a:lnTo>
                          <a:pt x="3146" y="2788"/>
                        </a:lnTo>
                        <a:lnTo>
                          <a:pt x="3126" y="2833"/>
                        </a:lnTo>
                        <a:lnTo>
                          <a:pt x="3103" y="2881"/>
                        </a:lnTo>
                        <a:lnTo>
                          <a:pt x="3074" y="2932"/>
                        </a:lnTo>
                        <a:lnTo>
                          <a:pt x="3039" y="2982"/>
                        </a:lnTo>
                        <a:lnTo>
                          <a:pt x="2997" y="3035"/>
                        </a:lnTo>
                        <a:lnTo>
                          <a:pt x="2947" y="3088"/>
                        </a:lnTo>
                        <a:lnTo>
                          <a:pt x="2891" y="3141"/>
                        </a:lnTo>
                        <a:lnTo>
                          <a:pt x="2825" y="3193"/>
                        </a:lnTo>
                        <a:lnTo>
                          <a:pt x="2754" y="3251"/>
                        </a:lnTo>
                        <a:lnTo>
                          <a:pt x="2686" y="3316"/>
                        </a:lnTo>
                        <a:lnTo>
                          <a:pt x="2619" y="3390"/>
                        </a:lnTo>
                        <a:lnTo>
                          <a:pt x="2553" y="3471"/>
                        </a:lnTo>
                        <a:lnTo>
                          <a:pt x="2490" y="3561"/>
                        </a:lnTo>
                        <a:lnTo>
                          <a:pt x="2428" y="3657"/>
                        </a:lnTo>
                        <a:lnTo>
                          <a:pt x="2417" y="3672"/>
                        </a:lnTo>
                        <a:lnTo>
                          <a:pt x="2412" y="3675"/>
                        </a:lnTo>
                        <a:lnTo>
                          <a:pt x="2402" y="3682"/>
                        </a:lnTo>
                        <a:lnTo>
                          <a:pt x="2389" y="3693"/>
                        </a:lnTo>
                        <a:lnTo>
                          <a:pt x="2370" y="3705"/>
                        </a:lnTo>
                        <a:lnTo>
                          <a:pt x="2347" y="3719"/>
                        </a:lnTo>
                        <a:lnTo>
                          <a:pt x="2322" y="3733"/>
                        </a:lnTo>
                        <a:lnTo>
                          <a:pt x="2292" y="3749"/>
                        </a:lnTo>
                        <a:lnTo>
                          <a:pt x="2259" y="3763"/>
                        </a:lnTo>
                        <a:lnTo>
                          <a:pt x="2224" y="3776"/>
                        </a:lnTo>
                        <a:lnTo>
                          <a:pt x="2186" y="3789"/>
                        </a:lnTo>
                        <a:lnTo>
                          <a:pt x="2146" y="3798"/>
                        </a:lnTo>
                        <a:lnTo>
                          <a:pt x="2105" y="3805"/>
                        </a:lnTo>
                        <a:lnTo>
                          <a:pt x="2062" y="3806"/>
                        </a:lnTo>
                        <a:lnTo>
                          <a:pt x="2027" y="3805"/>
                        </a:lnTo>
                        <a:lnTo>
                          <a:pt x="1990" y="3800"/>
                        </a:lnTo>
                        <a:lnTo>
                          <a:pt x="1952" y="3790"/>
                        </a:lnTo>
                        <a:lnTo>
                          <a:pt x="1905" y="3773"/>
                        </a:lnTo>
                        <a:lnTo>
                          <a:pt x="1859" y="3749"/>
                        </a:lnTo>
                        <a:lnTo>
                          <a:pt x="1817" y="3719"/>
                        </a:lnTo>
                        <a:lnTo>
                          <a:pt x="1775" y="3682"/>
                        </a:lnTo>
                        <a:lnTo>
                          <a:pt x="1738" y="3639"/>
                        </a:lnTo>
                        <a:lnTo>
                          <a:pt x="1702" y="3589"/>
                        </a:lnTo>
                        <a:lnTo>
                          <a:pt x="1669" y="3534"/>
                        </a:lnTo>
                        <a:lnTo>
                          <a:pt x="1640" y="3471"/>
                        </a:lnTo>
                        <a:lnTo>
                          <a:pt x="1610" y="3534"/>
                        </a:lnTo>
                        <a:lnTo>
                          <a:pt x="1577" y="3589"/>
                        </a:lnTo>
                        <a:lnTo>
                          <a:pt x="1541" y="3639"/>
                        </a:lnTo>
                        <a:lnTo>
                          <a:pt x="1503" y="3682"/>
                        </a:lnTo>
                        <a:lnTo>
                          <a:pt x="1462" y="3719"/>
                        </a:lnTo>
                        <a:lnTo>
                          <a:pt x="1419" y="3749"/>
                        </a:lnTo>
                        <a:lnTo>
                          <a:pt x="1374" y="3773"/>
                        </a:lnTo>
                        <a:lnTo>
                          <a:pt x="1327" y="3790"/>
                        </a:lnTo>
                        <a:lnTo>
                          <a:pt x="1289" y="3800"/>
                        </a:lnTo>
                        <a:lnTo>
                          <a:pt x="1253" y="3805"/>
                        </a:lnTo>
                        <a:lnTo>
                          <a:pt x="1217" y="3806"/>
                        </a:lnTo>
                        <a:lnTo>
                          <a:pt x="1174" y="3805"/>
                        </a:lnTo>
                        <a:lnTo>
                          <a:pt x="1133" y="3798"/>
                        </a:lnTo>
                        <a:lnTo>
                          <a:pt x="1093" y="3789"/>
                        </a:lnTo>
                        <a:lnTo>
                          <a:pt x="1055" y="3778"/>
                        </a:lnTo>
                        <a:lnTo>
                          <a:pt x="1019" y="3764"/>
                        </a:lnTo>
                        <a:lnTo>
                          <a:pt x="988" y="3749"/>
                        </a:lnTo>
                        <a:lnTo>
                          <a:pt x="957" y="3733"/>
                        </a:lnTo>
                        <a:lnTo>
                          <a:pt x="932" y="3719"/>
                        </a:lnTo>
                        <a:lnTo>
                          <a:pt x="908" y="3705"/>
                        </a:lnTo>
                        <a:lnTo>
                          <a:pt x="890" y="3693"/>
                        </a:lnTo>
                        <a:lnTo>
                          <a:pt x="877" y="3682"/>
                        </a:lnTo>
                        <a:lnTo>
                          <a:pt x="867" y="3675"/>
                        </a:lnTo>
                        <a:lnTo>
                          <a:pt x="863" y="3672"/>
                        </a:lnTo>
                        <a:lnTo>
                          <a:pt x="851" y="3657"/>
                        </a:lnTo>
                        <a:lnTo>
                          <a:pt x="789" y="3560"/>
                        </a:lnTo>
                        <a:lnTo>
                          <a:pt x="726" y="3471"/>
                        </a:lnTo>
                        <a:lnTo>
                          <a:pt x="660" y="3390"/>
                        </a:lnTo>
                        <a:lnTo>
                          <a:pt x="593" y="3316"/>
                        </a:lnTo>
                        <a:lnTo>
                          <a:pt x="524" y="3251"/>
                        </a:lnTo>
                        <a:lnTo>
                          <a:pt x="454" y="3193"/>
                        </a:lnTo>
                        <a:lnTo>
                          <a:pt x="388" y="3141"/>
                        </a:lnTo>
                        <a:lnTo>
                          <a:pt x="332" y="3088"/>
                        </a:lnTo>
                        <a:lnTo>
                          <a:pt x="282" y="3035"/>
                        </a:lnTo>
                        <a:lnTo>
                          <a:pt x="240" y="2982"/>
                        </a:lnTo>
                        <a:lnTo>
                          <a:pt x="205" y="2930"/>
                        </a:lnTo>
                        <a:lnTo>
                          <a:pt x="176" y="2881"/>
                        </a:lnTo>
                        <a:lnTo>
                          <a:pt x="151" y="2833"/>
                        </a:lnTo>
                        <a:lnTo>
                          <a:pt x="133" y="2786"/>
                        </a:lnTo>
                        <a:lnTo>
                          <a:pt x="118" y="2743"/>
                        </a:lnTo>
                        <a:lnTo>
                          <a:pt x="109" y="2703"/>
                        </a:lnTo>
                        <a:lnTo>
                          <a:pt x="101" y="2666"/>
                        </a:lnTo>
                        <a:lnTo>
                          <a:pt x="98" y="2631"/>
                        </a:lnTo>
                        <a:lnTo>
                          <a:pt x="95" y="2602"/>
                        </a:lnTo>
                        <a:lnTo>
                          <a:pt x="95" y="2577"/>
                        </a:lnTo>
                        <a:lnTo>
                          <a:pt x="95" y="2558"/>
                        </a:lnTo>
                        <a:lnTo>
                          <a:pt x="96" y="2543"/>
                        </a:lnTo>
                        <a:lnTo>
                          <a:pt x="72" y="2507"/>
                        </a:lnTo>
                        <a:lnTo>
                          <a:pt x="51" y="2470"/>
                        </a:lnTo>
                        <a:lnTo>
                          <a:pt x="34" y="2430"/>
                        </a:lnTo>
                        <a:lnTo>
                          <a:pt x="20" y="2388"/>
                        </a:lnTo>
                        <a:lnTo>
                          <a:pt x="9" y="2339"/>
                        </a:lnTo>
                        <a:lnTo>
                          <a:pt x="1" y="2290"/>
                        </a:lnTo>
                        <a:lnTo>
                          <a:pt x="0" y="2240"/>
                        </a:lnTo>
                        <a:lnTo>
                          <a:pt x="1" y="2192"/>
                        </a:lnTo>
                        <a:lnTo>
                          <a:pt x="5" y="2147"/>
                        </a:lnTo>
                        <a:lnTo>
                          <a:pt x="12" y="2101"/>
                        </a:lnTo>
                        <a:lnTo>
                          <a:pt x="21" y="2058"/>
                        </a:lnTo>
                        <a:lnTo>
                          <a:pt x="32" y="2019"/>
                        </a:lnTo>
                        <a:lnTo>
                          <a:pt x="43" y="1982"/>
                        </a:lnTo>
                        <a:lnTo>
                          <a:pt x="55" y="1948"/>
                        </a:lnTo>
                        <a:lnTo>
                          <a:pt x="66" y="1918"/>
                        </a:lnTo>
                        <a:lnTo>
                          <a:pt x="77" y="1892"/>
                        </a:lnTo>
                        <a:lnTo>
                          <a:pt x="87" y="1872"/>
                        </a:lnTo>
                        <a:lnTo>
                          <a:pt x="95" y="1856"/>
                        </a:lnTo>
                        <a:lnTo>
                          <a:pt x="100" y="1846"/>
                        </a:lnTo>
                        <a:lnTo>
                          <a:pt x="90" y="1771"/>
                        </a:lnTo>
                        <a:lnTo>
                          <a:pt x="84" y="1701"/>
                        </a:lnTo>
                        <a:lnTo>
                          <a:pt x="82" y="1635"/>
                        </a:lnTo>
                        <a:lnTo>
                          <a:pt x="82" y="1575"/>
                        </a:lnTo>
                        <a:lnTo>
                          <a:pt x="87" y="1519"/>
                        </a:lnTo>
                        <a:lnTo>
                          <a:pt x="93" y="1467"/>
                        </a:lnTo>
                        <a:lnTo>
                          <a:pt x="102" y="1420"/>
                        </a:lnTo>
                        <a:lnTo>
                          <a:pt x="115" y="1377"/>
                        </a:lnTo>
                        <a:lnTo>
                          <a:pt x="127" y="1338"/>
                        </a:lnTo>
                        <a:lnTo>
                          <a:pt x="143" y="1302"/>
                        </a:lnTo>
                        <a:lnTo>
                          <a:pt x="159" y="1269"/>
                        </a:lnTo>
                        <a:lnTo>
                          <a:pt x="176" y="1241"/>
                        </a:lnTo>
                        <a:lnTo>
                          <a:pt x="193" y="1215"/>
                        </a:lnTo>
                        <a:lnTo>
                          <a:pt x="210" y="1193"/>
                        </a:lnTo>
                        <a:lnTo>
                          <a:pt x="227" y="1173"/>
                        </a:lnTo>
                        <a:lnTo>
                          <a:pt x="244" y="1156"/>
                        </a:lnTo>
                        <a:lnTo>
                          <a:pt x="261" y="1142"/>
                        </a:lnTo>
                        <a:lnTo>
                          <a:pt x="276" y="1130"/>
                        </a:lnTo>
                        <a:lnTo>
                          <a:pt x="289" y="1120"/>
                        </a:lnTo>
                        <a:lnTo>
                          <a:pt x="301" y="1113"/>
                        </a:lnTo>
                        <a:lnTo>
                          <a:pt x="299" y="1051"/>
                        </a:lnTo>
                        <a:lnTo>
                          <a:pt x="300" y="995"/>
                        </a:lnTo>
                        <a:lnTo>
                          <a:pt x="306" y="943"/>
                        </a:lnTo>
                        <a:lnTo>
                          <a:pt x="315" y="894"/>
                        </a:lnTo>
                        <a:lnTo>
                          <a:pt x="328" y="850"/>
                        </a:lnTo>
                        <a:lnTo>
                          <a:pt x="343" y="810"/>
                        </a:lnTo>
                        <a:lnTo>
                          <a:pt x="360" y="773"/>
                        </a:lnTo>
                        <a:lnTo>
                          <a:pt x="378" y="740"/>
                        </a:lnTo>
                        <a:lnTo>
                          <a:pt x="398" y="711"/>
                        </a:lnTo>
                        <a:lnTo>
                          <a:pt x="418" y="685"/>
                        </a:lnTo>
                        <a:lnTo>
                          <a:pt x="439" y="661"/>
                        </a:lnTo>
                        <a:lnTo>
                          <a:pt x="458" y="643"/>
                        </a:lnTo>
                        <a:lnTo>
                          <a:pt x="477" y="626"/>
                        </a:lnTo>
                        <a:lnTo>
                          <a:pt x="495" y="612"/>
                        </a:lnTo>
                        <a:lnTo>
                          <a:pt x="510" y="601"/>
                        </a:lnTo>
                        <a:lnTo>
                          <a:pt x="523" y="593"/>
                        </a:lnTo>
                        <a:lnTo>
                          <a:pt x="529" y="547"/>
                        </a:lnTo>
                        <a:lnTo>
                          <a:pt x="540" y="503"/>
                        </a:lnTo>
                        <a:lnTo>
                          <a:pt x="556" y="460"/>
                        </a:lnTo>
                        <a:lnTo>
                          <a:pt x="577" y="419"/>
                        </a:lnTo>
                        <a:lnTo>
                          <a:pt x="604" y="377"/>
                        </a:lnTo>
                        <a:lnTo>
                          <a:pt x="635" y="339"/>
                        </a:lnTo>
                        <a:lnTo>
                          <a:pt x="669" y="306"/>
                        </a:lnTo>
                        <a:lnTo>
                          <a:pt x="706" y="275"/>
                        </a:lnTo>
                        <a:lnTo>
                          <a:pt x="743" y="248"/>
                        </a:lnTo>
                        <a:lnTo>
                          <a:pt x="780" y="226"/>
                        </a:lnTo>
                        <a:lnTo>
                          <a:pt x="818" y="205"/>
                        </a:lnTo>
                        <a:lnTo>
                          <a:pt x="854" y="188"/>
                        </a:lnTo>
                        <a:lnTo>
                          <a:pt x="888" y="175"/>
                        </a:lnTo>
                        <a:lnTo>
                          <a:pt x="919" y="162"/>
                        </a:lnTo>
                        <a:lnTo>
                          <a:pt x="946" y="154"/>
                        </a:lnTo>
                        <a:lnTo>
                          <a:pt x="969" y="146"/>
                        </a:lnTo>
                        <a:lnTo>
                          <a:pt x="986" y="143"/>
                        </a:lnTo>
                        <a:lnTo>
                          <a:pt x="999" y="139"/>
                        </a:lnTo>
                        <a:lnTo>
                          <a:pt x="1043" y="97"/>
                        </a:lnTo>
                        <a:lnTo>
                          <a:pt x="1088" y="63"/>
                        </a:lnTo>
                        <a:lnTo>
                          <a:pt x="1134" y="36"/>
                        </a:lnTo>
                        <a:lnTo>
                          <a:pt x="1180" y="16"/>
                        </a:lnTo>
                        <a:lnTo>
                          <a:pt x="1228" y="4"/>
                        </a:lnTo>
                        <a:lnTo>
                          <a:pt x="1277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6" name="Freeform 15">
                    <a:extLst>
                      <a:ext uri="{FF2B5EF4-FFF2-40B4-BE49-F238E27FC236}">
                        <a16:creationId xmlns:a16="http://schemas.microsoft.com/office/drawing/2014/main" id="{EBBDC814-018B-4646-9C72-A0DA391B4E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56407" y="5348542"/>
                    <a:ext cx="79945" cy="309942"/>
                  </a:xfrm>
                  <a:custGeom>
                    <a:avLst/>
                    <a:gdLst>
                      <a:gd name="T0" fmla="*/ 98 w 390"/>
                      <a:gd name="T1" fmla="*/ 7 h 1511"/>
                      <a:gd name="T2" fmla="*/ 137 w 390"/>
                      <a:gd name="T3" fmla="*/ 32 h 1511"/>
                      <a:gd name="T4" fmla="*/ 194 w 390"/>
                      <a:gd name="T5" fmla="*/ 85 h 1511"/>
                      <a:gd name="T6" fmla="*/ 247 w 390"/>
                      <a:gd name="T7" fmla="*/ 165 h 1511"/>
                      <a:gd name="T8" fmla="*/ 268 w 390"/>
                      <a:gd name="T9" fmla="*/ 274 h 1511"/>
                      <a:gd name="T10" fmla="*/ 238 w 390"/>
                      <a:gd name="T11" fmla="*/ 399 h 1511"/>
                      <a:gd name="T12" fmla="*/ 201 w 390"/>
                      <a:gd name="T13" fmla="*/ 481 h 1511"/>
                      <a:gd name="T14" fmla="*/ 242 w 390"/>
                      <a:gd name="T15" fmla="*/ 488 h 1511"/>
                      <a:gd name="T16" fmla="*/ 264 w 390"/>
                      <a:gd name="T17" fmla="*/ 514 h 1511"/>
                      <a:gd name="T18" fmla="*/ 300 w 390"/>
                      <a:gd name="T19" fmla="*/ 570 h 1511"/>
                      <a:gd name="T20" fmla="*/ 346 w 390"/>
                      <a:gd name="T21" fmla="*/ 663 h 1511"/>
                      <a:gd name="T22" fmla="*/ 382 w 390"/>
                      <a:gd name="T23" fmla="*/ 783 h 1511"/>
                      <a:gd name="T24" fmla="*/ 389 w 390"/>
                      <a:gd name="T25" fmla="*/ 922 h 1511"/>
                      <a:gd name="T26" fmla="*/ 351 w 390"/>
                      <a:gd name="T27" fmla="*/ 1075 h 1511"/>
                      <a:gd name="T28" fmla="*/ 314 w 390"/>
                      <a:gd name="T29" fmla="*/ 1184 h 1511"/>
                      <a:gd name="T30" fmla="*/ 299 w 390"/>
                      <a:gd name="T31" fmla="*/ 1285 h 1511"/>
                      <a:gd name="T32" fmla="*/ 300 w 390"/>
                      <a:gd name="T33" fmla="*/ 1382 h 1511"/>
                      <a:gd name="T34" fmla="*/ 316 w 390"/>
                      <a:gd name="T35" fmla="*/ 1450 h 1511"/>
                      <a:gd name="T36" fmla="*/ 299 w 390"/>
                      <a:gd name="T37" fmla="*/ 1496 h 1511"/>
                      <a:gd name="T38" fmla="*/ 247 w 390"/>
                      <a:gd name="T39" fmla="*/ 1509 h 1511"/>
                      <a:gd name="T40" fmla="*/ 211 w 390"/>
                      <a:gd name="T41" fmla="*/ 1478 h 1511"/>
                      <a:gd name="T42" fmla="*/ 188 w 390"/>
                      <a:gd name="T43" fmla="*/ 1375 h 1511"/>
                      <a:gd name="T44" fmla="*/ 189 w 390"/>
                      <a:gd name="T45" fmla="*/ 1261 h 1511"/>
                      <a:gd name="T46" fmla="*/ 204 w 390"/>
                      <a:gd name="T47" fmla="*/ 1163 h 1511"/>
                      <a:gd name="T48" fmla="*/ 218 w 390"/>
                      <a:gd name="T49" fmla="*/ 1099 h 1511"/>
                      <a:gd name="T50" fmla="*/ 249 w 390"/>
                      <a:gd name="T51" fmla="*/ 1032 h 1511"/>
                      <a:gd name="T52" fmla="*/ 278 w 390"/>
                      <a:gd name="T53" fmla="*/ 902 h 1511"/>
                      <a:gd name="T54" fmla="*/ 267 w 390"/>
                      <a:gd name="T55" fmla="*/ 783 h 1511"/>
                      <a:gd name="T56" fmla="*/ 233 w 390"/>
                      <a:gd name="T57" fmla="*/ 684 h 1511"/>
                      <a:gd name="T58" fmla="*/ 195 w 390"/>
                      <a:gd name="T59" fmla="*/ 610 h 1511"/>
                      <a:gd name="T60" fmla="*/ 170 w 390"/>
                      <a:gd name="T61" fmla="*/ 573 h 1511"/>
                      <a:gd name="T62" fmla="*/ 155 w 390"/>
                      <a:gd name="T63" fmla="*/ 538 h 1511"/>
                      <a:gd name="T64" fmla="*/ 94 w 390"/>
                      <a:gd name="T65" fmla="*/ 589 h 1511"/>
                      <a:gd name="T66" fmla="*/ 56 w 390"/>
                      <a:gd name="T67" fmla="*/ 604 h 1511"/>
                      <a:gd name="T68" fmla="*/ 15 w 390"/>
                      <a:gd name="T69" fmla="*/ 585 h 1511"/>
                      <a:gd name="T70" fmla="*/ 1 w 390"/>
                      <a:gd name="T71" fmla="*/ 537 h 1511"/>
                      <a:gd name="T72" fmla="*/ 58 w 390"/>
                      <a:gd name="T73" fmla="*/ 466 h 1511"/>
                      <a:gd name="T74" fmla="*/ 138 w 390"/>
                      <a:gd name="T75" fmla="*/ 351 h 1511"/>
                      <a:gd name="T76" fmla="*/ 156 w 390"/>
                      <a:gd name="T77" fmla="*/ 249 h 1511"/>
                      <a:gd name="T78" fmla="*/ 127 w 390"/>
                      <a:gd name="T79" fmla="*/ 177 h 1511"/>
                      <a:gd name="T80" fmla="*/ 79 w 390"/>
                      <a:gd name="T81" fmla="*/ 129 h 1511"/>
                      <a:gd name="T82" fmla="*/ 47 w 390"/>
                      <a:gd name="T83" fmla="*/ 107 h 1511"/>
                      <a:gd name="T84" fmla="*/ 20 w 390"/>
                      <a:gd name="T85" fmla="*/ 80 h 1511"/>
                      <a:gd name="T86" fmla="*/ 18 w 390"/>
                      <a:gd name="T87" fmla="*/ 29 h 1511"/>
                      <a:gd name="T88" fmla="*/ 59 w 390"/>
                      <a:gd name="T89" fmla="*/ 0 h 15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390" h="1511">
                        <a:moveTo>
                          <a:pt x="77" y="0"/>
                        </a:moveTo>
                        <a:lnTo>
                          <a:pt x="94" y="5"/>
                        </a:lnTo>
                        <a:lnTo>
                          <a:pt x="98" y="7"/>
                        </a:lnTo>
                        <a:lnTo>
                          <a:pt x="108" y="12"/>
                        </a:lnTo>
                        <a:lnTo>
                          <a:pt x="120" y="21"/>
                        </a:lnTo>
                        <a:lnTo>
                          <a:pt x="137" y="32"/>
                        </a:lnTo>
                        <a:lnTo>
                          <a:pt x="155" y="47"/>
                        </a:lnTo>
                        <a:lnTo>
                          <a:pt x="175" y="64"/>
                        </a:lnTo>
                        <a:lnTo>
                          <a:pt x="194" y="85"/>
                        </a:lnTo>
                        <a:lnTo>
                          <a:pt x="214" y="108"/>
                        </a:lnTo>
                        <a:lnTo>
                          <a:pt x="232" y="135"/>
                        </a:lnTo>
                        <a:lnTo>
                          <a:pt x="247" y="165"/>
                        </a:lnTo>
                        <a:lnTo>
                          <a:pt x="259" y="198"/>
                        </a:lnTo>
                        <a:lnTo>
                          <a:pt x="266" y="233"/>
                        </a:lnTo>
                        <a:lnTo>
                          <a:pt x="268" y="274"/>
                        </a:lnTo>
                        <a:lnTo>
                          <a:pt x="265" y="316"/>
                        </a:lnTo>
                        <a:lnTo>
                          <a:pt x="255" y="358"/>
                        </a:lnTo>
                        <a:lnTo>
                          <a:pt x="238" y="399"/>
                        </a:lnTo>
                        <a:lnTo>
                          <a:pt x="216" y="441"/>
                        </a:lnTo>
                        <a:lnTo>
                          <a:pt x="187" y="484"/>
                        </a:lnTo>
                        <a:lnTo>
                          <a:pt x="201" y="481"/>
                        </a:lnTo>
                        <a:lnTo>
                          <a:pt x="215" y="479"/>
                        </a:lnTo>
                        <a:lnTo>
                          <a:pt x="229" y="482"/>
                        </a:lnTo>
                        <a:lnTo>
                          <a:pt x="242" y="488"/>
                        </a:lnTo>
                        <a:lnTo>
                          <a:pt x="253" y="499"/>
                        </a:lnTo>
                        <a:lnTo>
                          <a:pt x="256" y="504"/>
                        </a:lnTo>
                        <a:lnTo>
                          <a:pt x="264" y="514"/>
                        </a:lnTo>
                        <a:lnTo>
                          <a:pt x="275" y="527"/>
                        </a:lnTo>
                        <a:lnTo>
                          <a:pt x="287" y="547"/>
                        </a:lnTo>
                        <a:lnTo>
                          <a:pt x="300" y="570"/>
                        </a:lnTo>
                        <a:lnTo>
                          <a:pt x="316" y="597"/>
                        </a:lnTo>
                        <a:lnTo>
                          <a:pt x="331" y="628"/>
                        </a:lnTo>
                        <a:lnTo>
                          <a:pt x="346" y="663"/>
                        </a:lnTo>
                        <a:lnTo>
                          <a:pt x="360" y="699"/>
                        </a:lnTo>
                        <a:lnTo>
                          <a:pt x="372" y="740"/>
                        </a:lnTo>
                        <a:lnTo>
                          <a:pt x="382" y="783"/>
                        </a:lnTo>
                        <a:lnTo>
                          <a:pt x="388" y="827"/>
                        </a:lnTo>
                        <a:lnTo>
                          <a:pt x="390" y="874"/>
                        </a:lnTo>
                        <a:lnTo>
                          <a:pt x="389" y="922"/>
                        </a:lnTo>
                        <a:lnTo>
                          <a:pt x="383" y="972"/>
                        </a:lnTo>
                        <a:lnTo>
                          <a:pt x="371" y="1023"/>
                        </a:lnTo>
                        <a:lnTo>
                          <a:pt x="351" y="1075"/>
                        </a:lnTo>
                        <a:lnTo>
                          <a:pt x="326" y="1126"/>
                        </a:lnTo>
                        <a:lnTo>
                          <a:pt x="320" y="1153"/>
                        </a:lnTo>
                        <a:lnTo>
                          <a:pt x="314" y="1184"/>
                        </a:lnTo>
                        <a:lnTo>
                          <a:pt x="307" y="1216"/>
                        </a:lnTo>
                        <a:lnTo>
                          <a:pt x="303" y="1250"/>
                        </a:lnTo>
                        <a:lnTo>
                          <a:pt x="299" y="1285"/>
                        </a:lnTo>
                        <a:lnTo>
                          <a:pt x="298" y="1318"/>
                        </a:lnTo>
                        <a:lnTo>
                          <a:pt x="298" y="1351"/>
                        </a:lnTo>
                        <a:lnTo>
                          <a:pt x="300" y="1382"/>
                        </a:lnTo>
                        <a:lnTo>
                          <a:pt x="304" y="1409"/>
                        </a:lnTo>
                        <a:lnTo>
                          <a:pt x="312" y="1432"/>
                        </a:lnTo>
                        <a:lnTo>
                          <a:pt x="316" y="1450"/>
                        </a:lnTo>
                        <a:lnTo>
                          <a:pt x="316" y="1467"/>
                        </a:lnTo>
                        <a:lnTo>
                          <a:pt x="310" y="1483"/>
                        </a:lnTo>
                        <a:lnTo>
                          <a:pt x="299" y="1496"/>
                        </a:lnTo>
                        <a:lnTo>
                          <a:pt x="284" y="1506"/>
                        </a:lnTo>
                        <a:lnTo>
                          <a:pt x="261" y="1511"/>
                        </a:lnTo>
                        <a:lnTo>
                          <a:pt x="247" y="1509"/>
                        </a:lnTo>
                        <a:lnTo>
                          <a:pt x="232" y="1501"/>
                        </a:lnTo>
                        <a:lnTo>
                          <a:pt x="220" y="1491"/>
                        </a:lnTo>
                        <a:lnTo>
                          <a:pt x="211" y="1478"/>
                        </a:lnTo>
                        <a:lnTo>
                          <a:pt x="199" y="1446"/>
                        </a:lnTo>
                        <a:lnTo>
                          <a:pt x="192" y="1410"/>
                        </a:lnTo>
                        <a:lnTo>
                          <a:pt x="188" y="1375"/>
                        </a:lnTo>
                        <a:lnTo>
                          <a:pt x="186" y="1336"/>
                        </a:lnTo>
                        <a:lnTo>
                          <a:pt x="187" y="1300"/>
                        </a:lnTo>
                        <a:lnTo>
                          <a:pt x="189" y="1261"/>
                        </a:lnTo>
                        <a:lnTo>
                          <a:pt x="194" y="1226"/>
                        </a:lnTo>
                        <a:lnTo>
                          <a:pt x="199" y="1193"/>
                        </a:lnTo>
                        <a:lnTo>
                          <a:pt x="204" y="1163"/>
                        </a:lnTo>
                        <a:lnTo>
                          <a:pt x="210" y="1136"/>
                        </a:lnTo>
                        <a:lnTo>
                          <a:pt x="215" y="1115"/>
                        </a:lnTo>
                        <a:lnTo>
                          <a:pt x="218" y="1099"/>
                        </a:lnTo>
                        <a:lnTo>
                          <a:pt x="221" y="1089"/>
                        </a:lnTo>
                        <a:lnTo>
                          <a:pt x="226" y="1076"/>
                        </a:lnTo>
                        <a:lnTo>
                          <a:pt x="249" y="1032"/>
                        </a:lnTo>
                        <a:lnTo>
                          <a:pt x="264" y="988"/>
                        </a:lnTo>
                        <a:lnTo>
                          <a:pt x="275" y="945"/>
                        </a:lnTo>
                        <a:lnTo>
                          <a:pt x="278" y="902"/>
                        </a:lnTo>
                        <a:lnTo>
                          <a:pt x="278" y="862"/>
                        </a:lnTo>
                        <a:lnTo>
                          <a:pt x="275" y="821"/>
                        </a:lnTo>
                        <a:lnTo>
                          <a:pt x="267" y="783"/>
                        </a:lnTo>
                        <a:lnTo>
                          <a:pt x="257" y="747"/>
                        </a:lnTo>
                        <a:lnTo>
                          <a:pt x="247" y="714"/>
                        </a:lnTo>
                        <a:lnTo>
                          <a:pt x="233" y="684"/>
                        </a:lnTo>
                        <a:lnTo>
                          <a:pt x="221" y="655"/>
                        </a:lnTo>
                        <a:lnTo>
                          <a:pt x="207" y="631"/>
                        </a:lnTo>
                        <a:lnTo>
                          <a:pt x="195" y="610"/>
                        </a:lnTo>
                        <a:lnTo>
                          <a:pt x="184" y="593"/>
                        </a:lnTo>
                        <a:lnTo>
                          <a:pt x="176" y="580"/>
                        </a:lnTo>
                        <a:lnTo>
                          <a:pt x="170" y="573"/>
                        </a:lnTo>
                        <a:lnTo>
                          <a:pt x="167" y="569"/>
                        </a:lnTo>
                        <a:lnTo>
                          <a:pt x="159" y="554"/>
                        </a:lnTo>
                        <a:lnTo>
                          <a:pt x="155" y="538"/>
                        </a:lnTo>
                        <a:lnTo>
                          <a:pt x="158" y="522"/>
                        </a:lnTo>
                        <a:lnTo>
                          <a:pt x="127" y="556"/>
                        </a:lnTo>
                        <a:lnTo>
                          <a:pt x="94" y="589"/>
                        </a:lnTo>
                        <a:lnTo>
                          <a:pt x="82" y="596"/>
                        </a:lnTo>
                        <a:lnTo>
                          <a:pt x="70" y="601"/>
                        </a:lnTo>
                        <a:lnTo>
                          <a:pt x="56" y="604"/>
                        </a:lnTo>
                        <a:lnTo>
                          <a:pt x="42" y="601"/>
                        </a:lnTo>
                        <a:lnTo>
                          <a:pt x="27" y="595"/>
                        </a:lnTo>
                        <a:lnTo>
                          <a:pt x="15" y="585"/>
                        </a:lnTo>
                        <a:lnTo>
                          <a:pt x="5" y="570"/>
                        </a:lnTo>
                        <a:lnTo>
                          <a:pt x="0" y="553"/>
                        </a:lnTo>
                        <a:lnTo>
                          <a:pt x="1" y="537"/>
                        </a:lnTo>
                        <a:lnTo>
                          <a:pt x="8" y="520"/>
                        </a:lnTo>
                        <a:lnTo>
                          <a:pt x="18" y="506"/>
                        </a:lnTo>
                        <a:lnTo>
                          <a:pt x="58" y="466"/>
                        </a:lnTo>
                        <a:lnTo>
                          <a:pt x="92" y="427"/>
                        </a:lnTo>
                        <a:lnTo>
                          <a:pt x="118" y="388"/>
                        </a:lnTo>
                        <a:lnTo>
                          <a:pt x="138" y="351"/>
                        </a:lnTo>
                        <a:lnTo>
                          <a:pt x="151" y="316"/>
                        </a:lnTo>
                        <a:lnTo>
                          <a:pt x="158" y="281"/>
                        </a:lnTo>
                        <a:lnTo>
                          <a:pt x="156" y="249"/>
                        </a:lnTo>
                        <a:lnTo>
                          <a:pt x="150" y="222"/>
                        </a:lnTo>
                        <a:lnTo>
                          <a:pt x="139" y="199"/>
                        </a:lnTo>
                        <a:lnTo>
                          <a:pt x="127" y="177"/>
                        </a:lnTo>
                        <a:lnTo>
                          <a:pt x="111" y="158"/>
                        </a:lnTo>
                        <a:lnTo>
                          <a:pt x="95" y="142"/>
                        </a:lnTo>
                        <a:lnTo>
                          <a:pt x="79" y="129"/>
                        </a:lnTo>
                        <a:lnTo>
                          <a:pt x="66" y="119"/>
                        </a:lnTo>
                        <a:lnTo>
                          <a:pt x="54" y="112"/>
                        </a:lnTo>
                        <a:lnTo>
                          <a:pt x="47" y="107"/>
                        </a:lnTo>
                        <a:lnTo>
                          <a:pt x="44" y="104"/>
                        </a:lnTo>
                        <a:lnTo>
                          <a:pt x="29" y="94"/>
                        </a:lnTo>
                        <a:lnTo>
                          <a:pt x="20" y="80"/>
                        </a:lnTo>
                        <a:lnTo>
                          <a:pt x="14" y="64"/>
                        </a:lnTo>
                        <a:lnTo>
                          <a:pt x="14" y="47"/>
                        </a:lnTo>
                        <a:lnTo>
                          <a:pt x="18" y="29"/>
                        </a:lnTo>
                        <a:lnTo>
                          <a:pt x="29" y="16"/>
                        </a:lnTo>
                        <a:lnTo>
                          <a:pt x="43" y="5"/>
                        </a:lnTo>
                        <a:lnTo>
                          <a:pt x="59" y="0"/>
                        </a:lnTo>
                        <a:lnTo>
                          <a:pt x="77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7" name="Freeform 16">
                    <a:extLst>
                      <a:ext uri="{FF2B5EF4-FFF2-40B4-BE49-F238E27FC236}">
                        <a16:creationId xmlns:a16="http://schemas.microsoft.com/office/drawing/2014/main" id="{4B9914B4-03C1-4AC5-8A14-CBC5CE24BC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14179" y="5669554"/>
                    <a:ext cx="164811" cy="227537"/>
                  </a:xfrm>
                  <a:custGeom>
                    <a:avLst/>
                    <a:gdLst>
                      <a:gd name="T0" fmla="*/ 768 w 805"/>
                      <a:gd name="T1" fmla="*/ 4 h 1111"/>
                      <a:gd name="T2" fmla="*/ 795 w 805"/>
                      <a:gd name="T3" fmla="*/ 25 h 1111"/>
                      <a:gd name="T4" fmla="*/ 805 w 805"/>
                      <a:gd name="T5" fmla="*/ 58 h 1111"/>
                      <a:gd name="T6" fmla="*/ 804 w 805"/>
                      <a:gd name="T7" fmla="*/ 75 h 1111"/>
                      <a:gd name="T8" fmla="*/ 798 w 805"/>
                      <a:gd name="T9" fmla="*/ 117 h 1111"/>
                      <a:gd name="T10" fmla="*/ 783 w 805"/>
                      <a:gd name="T11" fmla="*/ 181 h 1111"/>
                      <a:gd name="T12" fmla="*/ 754 w 805"/>
                      <a:gd name="T13" fmla="*/ 262 h 1111"/>
                      <a:gd name="T14" fmla="*/ 709 w 805"/>
                      <a:gd name="T15" fmla="*/ 360 h 1111"/>
                      <a:gd name="T16" fmla="*/ 640 w 805"/>
                      <a:gd name="T17" fmla="*/ 469 h 1111"/>
                      <a:gd name="T18" fmla="*/ 548 w 805"/>
                      <a:gd name="T19" fmla="*/ 586 h 1111"/>
                      <a:gd name="T20" fmla="*/ 517 w 805"/>
                      <a:gd name="T21" fmla="*/ 628 h 1111"/>
                      <a:gd name="T22" fmla="*/ 488 w 805"/>
                      <a:gd name="T23" fmla="*/ 683 h 1111"/>
                      <a:gd name="T24" fmla="*/ 467 w 805"/>
                      <a:gd name="T25" fmla="*/ 747 h 1111"/>
                      <a:gd name="T26" fmla="*/ 459 w 805"/>
                      <a:gd name="T27" fmla="*/ 814 h 1111"/>
                      <a:gd name="T28" fmla="*/ 471 w 805"/>
                      <a:gd name="T29" fmla="*/ 876 h 1111"/>
                      <a:gd name="T30" fmla="*/ 504 w 805"/>
                      <a:gd name="T31" fmla="*/ 924 h 1111"/>
                      <a:gd name="T32" fmla="*/ 552 w 805"/>
                      <a:gd name="T33" fmla="*/ 958 h 1111"/>
                      <a:gd name="T34" fmla="*/ 612 w 805"/>
                      <a:gd name="T35" fmla="*/ 981 h 1111"/>
                      <a:gd name="T36" fmla="*/ 677 w 805"/>
                      <a:gd name="T37" fmla="*/ 993 h 1111"/>
                      <a:gd name="T38" fmla="*/ 740 w 805"/>
                      <a:gd name="T39" fmla="*/ 999 h 1111"/>
                      <a:gd name="T40" fmla="*/ 772 w 805"/>
                      <a:gd name="T41" fmla="*/ 1011 h 1111"/>
                      <a:gd name="T42" fmla="*/ 790 w 805"/>
                      <a:gd name="T43" fmla="*/ 1040 h 1111"/>
                      <a:gd name="T44" fmla="*/ 789 w 805"/>
                      <a:gd name="T45" fmla="*/ 1075 h 1111"/>
                      <a:gd name="T46" fmla="*/ 770 w 805"/>
                      <a:gd name="T47" fmla="*/ 1101 h 1111"/>
                      <a:gd name="T48" fmla="*/ 738 w 805"/>
                      <a:gd name="T49" fmla="*/ 1111 h 1111"/>
                      <a:gd name="T50" fmla="*/ 672 w 805"/>
                      <a:gd name="T51" fmla="*/ 1105 h 1111"/>
                      <a:gd name="T52" fmla="*/ 563 w 805"/>
                      <a:gd name="T53" fmla="*/ 1083 h 1111"/>
                      <a:gd name="T54" fmla="*/ 477 w 805"/>
                      <a:gd name="T55" fmla="*/ 1043 h 1111"/>
                      <a:gd name="T56" fmla="*/ 411 w 805"/>
                      <a:gd name="T57" fmla="*/ 989 h 1111"/>
                      <a:gd name="T58" fmla="*/ 368 w 805"/>
                      <a:gd name="T59" fmla="*/ 919 h 1111"/>
                      <a:gd name="T60" fmla="*/ 350 w 805"/>
                      <a:gd name="T61" fmla="*/ 844 h 1111"/>
                      <a:gd name="T62" fmla="*/ 353 w 805"/>
                      <a:gd name="T63" fmla="*/ 767 h 1111"/>
                      <a:gd name="T64" fmla="*/ 277 w 805"/>
                      <a:gd name="T65" fmla="*/ 799 h 1111"/>
                      <a:gd name="T66" fmla="*/ 190 w 805"/>
                      <a:gd name="T67" fmla="*/ 812 h 1111"/>
                      <a:gd name="T68" fmla="*/ 122 w 805"/>
                      <a:gd name="T69" fmla="*/ 801 h 1111"/>
                      <a:gd name="T70" fmla="*/ 60 w 805"/>
                      <a:gd name="T71" fmla="*/ 767 h 1111"/>
                      <a:gd name="T72" fmla="*/ 10 w 805"/>
                      <a:gd name="T73" fmla="*/ 710 h 1111"/>
                      <a:gd name="T74" fmla="*/ 0 w 805"/>
                      <a:gd name="T75" fmla="*/ 676 h 1111"/>
                      <a:gd name="T76" fmla="*/ 14 w 805"/>
                      <a:gd name="T77" fmla="*/ 644 h 1111"/>
                      <a:gd name="T78" fmla="*/ 43 w 805"/>
                      <a:gd name="T79" fmla="*/ 625 h 1111"/>
                      <a:gd name="T80" fmla="*/ 76 w 805"/>
                      <a:gd name="T81" fmla="*/ 626 h 1111"/>
                      <a:gd name="T82" fmla="*/ 103 w 805"/>
                      <a:gd name="T83" fmla="*/ 648 h 1111"/>
                      <a:gd name="T84" fmla="*/ 134 w 805"/>
                      <a:gd name="T85" fmla="*/ 683 h 1111"/>
                      <a:gd name="T86" fmla="*/ 173 w 805"/>
                      <a:gd name="T87" fmla="*/ 699 h 1111"/>
                      <a:gd name="T88" fmla="*/ 229 w 805"/>
                      <a:gd name="T89" fmla="*/ 695 h 1111"/>
                      <a:gd name="T90" fmla="*/ 285 w 805"/>
                      <a:gd name="T91" fmla="*/ 674 h 1111"/>
                      <a:gd name="T92" fmla="*/ 334 w 805"/>
                      <a:gd name="T93" fmla="*/ 647 h 1111"/>
                      <a:gd name="T94" fmla="*/ 367 w 805"/>
                      <a:gd name="T95" fmla="*/ 623 h 1111"/>
                      <a:gd name="T96" fmla="*/ 389 w 805"/>
                      <a:gd name="T97" fmla="*/ 613 h 1111"/>
                      <a:gd name="T98" fmla="*/ 417 w 805"/>
                      <a:gd name="T99" fmla="*/ 581 h 1111"/>
                      <a:gd name="T100" fmla="*/ 449 w 805"/>
                      <a:gd name="T101" fmla="*/ 530 h 1111"/>
                      <a:gd name="T102" fmla="*/ 511 w 805"/>
                      <a:gd name="T103" fmla="*/ 455 h 1111"/>
                      <a:gd name="T104" fmla="*/ 585 w 805"/>
                      <a:gd name="T105" fmla="*/ 348 h 1111"/>
                      <a:gd name="T106" fmla="*/ 637 w 805"/>
                      <a:gd name="T107" fmla="*/ 253 h 1111"/>
                      <a:gd name="T108" fmla="*/ 668 w 805"/>
                      <a:gd name="T109" fmla="*/ 173 h 1111"/>
                      <a:gd name="T110" fmla="*/ 687 w 805"/>
                      <a:gd name="T111" fmla="*/ 110 h 1111"/>
                      <a:gd name="T112" fmla="*/ 693 w 805"/>
                      <a:gd name="T113" fmla="*/ 71 h 1111"/>
                      <a:gd name="T114" fmla="*/ 695 w 805"/>
                      <a:gd name="T115" fmla="*/ 55 h 1111"/>
                      <a:gd name="T116" fmla="*/ 706 w 805"/>
                      <a:gd name="T117" fmla="*/ 23 h 1111"/>
                      <a:gd name="T118" fmla="*/ 734 w 805"/>
                      <a:gd name="T119" fmla="*/ 3 h 1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805" h="1111">
                        <a:moveTo>
                          <a:pt x="751" y="0"/>
                        </a:moveTo>
                        <a:lnTo>
                          <a:pt x="768" y="4"/>
                        </a:lnTo>
                        <a:lnTo>
                          <a:pt x="784" y="13"/>
                        </a:lnTo>
                        <a:lnTo>
                          <a:pt x="795" y="25"/>
                        </a:lnTo>
                        <a:lnTo>
                          <a:pt x="802" y="40"/>
                        </a:lnTo>
                        <a:lnTo>
                          <a:pt x="805" y="58"/>
                        </a:lnTo>
                        <a:lnTo>
                          <a:pt x="805" y="63"/>
                        </a:lnTo>
                        <a:lnTo>
                          <a:pt x="804" y="75"/>
                        </a:lnTo>
                        <a:lnTo>
                          <a:pt x="801" y="94"/>
                        </a:lnTo>
                        <a:lnTo>
                          <a:pt x="798" y="117"/>
                        </a:lnTo>
                        <a:lnTo>
                          <a:pt x="791" y="147"/>
                        </a:lnTo>
                        <a:lnTo>
                          <a:pt x="783" y="181"/>
                        </a:lnTo>
                        <a:lnTo>
                          <a:pt x="771" y="219"/>
                        </a:lnTo>
                        <a:lnTo>
                          <a:pt x="754" y="262"/>
                        </a:lnTo>
                        <a:lnTo>
                          <a:pt x="733" y="309"/>
                        </a:lnTo>
                        <a:lnTo>
                          <a:pt x="709" y="360"/>
                        </a:lnTo>
                        <a:lnTo>
                          <a:pt x="677" y="412"/>
                        </a:lnTo>
                        <a:lnTo>
                          <a:pt x="640" y="469"/>
                        </a:lnTo>
                        <a:lnTo>
                          <a:pt x="598" y="527"/>
                        </a:lnTo>
                        <a:lnTo>
                          <a:pt x="548" y="586"/>
                        </a:lnTo>
                        <a:lnTo>
                          <a:pt x="533" y="604"/>
                        </a:lnTo>
                        <a:lnTo>
                          <a:pt x="517" y="628"/>
                        </a:lnTo>
                        <a:lnTo>
                          <a:pt x="503" y="653"/>
                        </a:lnTo>
                        <a:lnTo>
                          <a:pt x="488" y="683"/>
                        </a:lnTo>
                        <a:lnTo>
                          <a:pt x="476" y="715"/>
                        </a:lnTo>
                        <a:lnTo>
                          <a:pt x="467" y="747"/>
                        </a:lnTo>
                        <a:lnTo>
                          <a:pt x="461" y="781"/>
                        </a:lnTo>
                        <a:lnTo>
                          <a:pt x="459" y="814"/>
                        </a:lnTo>
                        <a:lnTo>
                          <a:pt x="462" y="846"/>
                        </a:lnTo>
                        <a:lnTo>
                          <a:pt x="471" y="876"/>
                        </a:lnTo>
                        <a:lnTo>
                          <a:pt x="484" y="902"/>
                        </a:lnTo>
                        <a:lnTo>
                          <a:pt x="504" y="924"/>
                        </a:lnTo>
                        <a:lnTo>
                          <a:pt x="526" y="942"/>
                        </a:lnTo>
                        <a:lnTo>
                          <a:pt x="552" y="958"/>
                        </a:lnTo>
                        <a:lnTo>
                          <a:pt x="582" y="971"/>
                        </a:lnTo>
                        <a:lnTo>
                          <a:pt x="612" y="981"/>
                        </a:lnTo>
                        <a:lnTo>
                          <a:pt x="644" y="988"/>
                        </a:lnTo>
                        <a:lnTo>
                          <a:pt x="677" y="993"/>
                        </a:lnTo>
                        <a:lnTo>
                          <a:pt x="709" y="996"/>
                        </a:lnTo>
                        <a:lnTo>
                          <a:pt x="740" y="999"/>
                        </a:lnTo>
                        <a:lnTo>
                          <a:pt x="757" y="1003"/>
                        </a:lnTo>
                        <a:lnTo>
                          <a:pt x="772" y="1011"/>
                        </a:lnTo>
                        <a:lnTo>
                          <a:pt x="784" y="1025"/>
                        </a:lnTo>
                        <a:lnTo>
                          <a:pt x="790" y="1040"/>
                        </a:lnTo>
                        <a:lnTo>
                          <a:pt x="793" y="1058"/>
                        </a:lnTo>
                        <a:lnTo>
                          <a:pt x="789" y="1075"/>
                        </a:lnTo>
                        <a:lnTo>
                          <a:pt x="781" y="1089"/>
                        </a:lnTo>
                        <a:lnTo>
                          <a:pt x="770" y="1101"/>
                        </a:lnTo>
                        <a:lnTo>
                          <a:pt x="754" y="1108"/>
                        </a:lnTo>
                        <a:lnTo>
                          <a:pt x="738" y="1111"/>
                        </a:lnTo>
                        <a:lnTo>
                          <a:pt x="734" y="1111"/>
                        </a:lnTo>
                        <a:lnTo>
                          <a:pt x="672" y="1105"/>
                        </a:lnTo>
                        <a:lnTo>
                          <a:pt x="616" y="1096"/>
                        </a:lnTo>
                        <a:lnTo>
                          <a:pt x="563" y="1083"/>
                        </a:lnTo>
                        <a:lnTo>
                          <a:pt x="517" y="1065"/>
                        </a:lnTo>
                        <a:lnTo>
                          <a:pt x="477" y="1043"/>
                        </a:lnTo>
                        <a:lnTo>
                          <a:pt x="442" y="1019"/>
                        </a:lnTo>
                        <a:lnTo>
                          <a:pt x="411" y="989"/>
                        </a:lnTo>
                        <a:lnTo>
                          <a:pt x="387" y="956"/>
                        </a:lnTo>
                        <a:lnTo>
                          <a:pt x="368" y="919"/>
                        </a:lnTo>
                        <a:lnTo>
                          <a:pt x="356" y="882"/>
                        </a:lnTo>
                        <a:lnTo>
                          <a:pt x="350" y="844"/>
                        </a:lnTo>
                        <a:lnTo>
                          <a:pt x="349" y="805"/>
                        </a:lnTo>
                        <a:lnTo>
                          <a:pt x="353" y="767"/>
                        </a:lnTo>
                        <a:lnTo>
                          <a:pt x="316" y="784"/>
                        </a:lnTo>
                        <a:lnTo>
                          <a:pt x="277" y="799"/>
                        </a:lnTo>
                        <a:lnTo>
                          <a:pt x="234" y="808"/>
                        </a:lnTo>
                        <a:lnTo>
                          <a:pt x="190" y="812"/>
                        </a:lnTo>
                        <a:lnTo>
                          <a:pt x="156" y="810"/>
                        </a:lnTo>
                        <a:lnTo>
                          <a:pt x="122" y="801"/>
                        </a:lnTo>
                        <a:lnTo>
                          <a:pt x="89" y="786"/>
                        </a:lnTo>
                        <a:lnTo>
                          <a:pt x="60" y="767"/>
                        </a:lnTo>
                        <a:lnTo>
                          <a:pt x="33" y="741"/>
                        </a:lnTo>
                        <a:lnTo>
                          <a:pt x="10" y="710"/>
                        </a:lnTo>
                        <a:lnTo>
                          <a:pt x="3" y="693"/>
                        </a:lnTo>
                        <a:lnTo>
                          <a:pt x="0" y="676"/>
                        </a:lnTo>
                        <a:lnTo>
                          <a:pt x="4" y="658"/>
                        </a:lnTo>
                        <a:lnTo>
                          <a:pt x="14" y="644"/>
                        </a:lnTo>
                        <a:lnTo>
                          <a:pt x="26" y="631"/>
                        </a:lnTo>
                        <a:lnTo>
                          <a:pt x="43" y="625"/>
                        </a:lnTo>
                        <a:lnTo>
                          <a:pt x="60" y="623"/>
                        </a:lnTo>
                        <a:lnTo>
                          <a:pt x="76" y="626"/>
                        </a:lnTo>
                        <a:lnTo>
                          <a:pt x="90" y="635"/>
                        </a:lnTo>
                        <a:lnTo>
                          <a:pt x="103" y="648"/>
                        </a:lnTo>
                        <a:lnTo>
                          <a:pt x="117" y="668"/>
                        </a:lnTo>
                        <a:lnTo>
                          <a:pt x="134" y="683"/>
                        </a:lnTo>
                        <a:lnTo>
                          <a:pt x="153" y="694"/>
                        </a:lnTo>
                        <a:lnTo>
                          <a:pt x="173" y="699"/>
                        </a:lnTo>
                        <a:lnTo>
                          <a:pt x="200" y="700"/>
                        </a:lnTo>
                        <a:lnTo>
                          <a:pt x="229" y="695"/>
                        </a:lnTo>
                        <a:lnTo>
                          <a:pt x="257" y="687"/>
                        </a:lnTo>
                        <a:lnTo>
                          <a:pt x="285" y="674"/>
                        </a:lnTo>
                        <a:lnTo>
                          <a:pt x="311" y="661"/>
                        </a:lnTo>
                        <a:lnTo>
                          <a:pt x="334" y="647"/>
                        </a:lnTo>
                        <a:lnTo>
                          <a:pt x="354" y="634"/>
                        </a:lnTo>
                        <a:lnTo>
                          <a:pt x="367" y="623"/>
                        </a:lnTo>
                        <a:lnTo>
                          <a:pt x="378" y="617"/>
                        </a:lnTo>
                        <a:lnTo>
                          <a:pt x="389" y="613"/>
                        </a:lnTo>
                        <a:lnTo>
                          <a:pt x="401" y="612"/>
                        </a:lnTo>
                        <a:lnTo>
                          <a:pt x="417" y="581"/>
                        </a:lnTo>
                        <a:lnTo>
                          <a:pt x="433" y="554"/>
                        </a:lnTo>
                        <a:lnTo>
                          <a:pt x="449" y="530"/>
                        </a:lnTo>
                        <a:lnTo>
                          <a:pt x="465" y="512"/>
                        </a:lnTo>
                        <a:lnTo>
                          <a:pt x="511" y="455"/>
                        </a:lnTo>
                        <a:lnTo>
                          <a:pt x="552" y="400"/>
                        </a:lnTo>
                        <a:lnTo>
                          <a:pt x="585" y="348"/>
                        </a:lnTo>
                        <a:lnTo>
                          <a:pt x="615" y="299"/>
                        </a:lnTo>
                        <a:lnTo>
                          <a:pt x="637" y="253"/>
                        </a:lnTo>
                        <a:lnTo>
                          <a:pt x="655" y="211"/>
                        </a:lnTo>
                        <a:lnTo>
                          <a:pt x="668" y="173"/>
                        </a:lnTo>
                        <a:lnTo>
                          <a:pt x="679" y="138"/>
                        </a:lnTo>
                        <a:lnTo>
                          <a:pt x="687" y="110"/>
                        </a:lnTo>
                        <a:lnTo>
                          <a:pt x="690" y="87"/>
                        </a:lnTo>
                        <a:lnTo>
                          <a:pt x="693" y="71"/>
                        </a:lnTo>
                        <a:lnTo>
                          <a:pt x="694" y="59"/>
                        </a:lnTo>
                        <a:lnTo>
                          <a:pt x="695" y="55"/>
                        </a:lnTo>
                        <a:lnTo>
                          <a:pt x="698" y="37"/>
                        </a:lnTo>
                        <a:lnTo>
                          <a:pt x="706" y="23"/>
                        </a:lnTo>
                        <a:lnTo>
                          <a:pt x="718" y="10"/>
                        </a:lnTo>
                        <a:lnTo>
                          <a:pt x="734" y="3"/>
                        </a:lnTo>
                        <a:lnTo>
                          <a:pt x="751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8" name="Freeform 17">
                    <a:extLst>
                      <a:ext uri="{FF2B5EF4-FFF2-40B4-BE49-F238E27FC236}">
                        <a16:creationId xmlns:a16="http://schemas.microsoft.com/office/drawing/2014/main" id="{6CCEE6DD-E5DD-427E-A53F-82D5EB3089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61326" y="5632246"/>
                    <a:ext cx="120533" cy="93884"/>
                  </a:xfrm>
                  <a:custGeom>
                    <a:avLst/>
                    <a:gdLst>
                      <a:gd name="T0" fmla="*/ 524 w 586"/>
                      <a:gd name="T1" fmla="*/ 1 h 459"/>
                      <a:gd name="T2" fmla="*/ 544 w 586"/>
                      <a:gd name="T3" fmla="*/ 4 h 459"/>
                      <a:gd name="T4" fmla="*/ 564 w 586"/>
                      <a:gd name="T5" fmla="*/ 14 h 459"/>
                      <a:gd name="T6" fmla="*/ 584 w 586"/>
                      <a:gd name="T7" fmla="*/ 42 h 459"/>
                      <a:gd name="T8" fmla="*/ 584 w 586"/>
                      <a:gd name="T9" fmla="*/ 76 h 459"/>
                      <a:gd name="T10" fmla="*/ 564 w 586"/>
                      <a:gd name="T11" fmla="*/ 104 h 459"/>
                      <a:gd name="T12" fmla="*/ 534 w 586"/>
                      <a:gd name="T13" fmla="*/ 115 h 459"/>
                      <a:gd name="T14" fmla="*/ 513 w 586"/>
                      <a:gd name="T15" fmla="*/ 113 h 459"/>
                      <a:gd name="T16" fmla="*/ 499 w 586"/>
                      <a:gd name="T17" fmla="*/ 116 h 459"/>
                      <a:gd name="T18" fmla="*/ 474 w 586"/>
                      <a:gd name="T19" fmla="*/ 127 h 459"/>
                      <a:gd name="T20" fmla="*/ 441 w 586"/>
                      <a:gd name="T21" fmla="*/ 155 h 459"/>
                      <a:gd name="T22" fmla="*/ 405 w 586"/>
                      <a:gd name="T23" fmla="*/ 207 h 459"/>
                      <a:gd name="T24" fmla="*/ 364 w 586"/>
                      <a:gd name="T25" fmla="*/ 288 h 459"/>
                      <a:gd name="T26" fmla="*/ 355 w 586"/>
                      <a:gd name="T27" fmla="*/ 306 h 459"/>
                      <a:gd name="T28" fmla="*/ 335 w 586"/>
                      <a:gd name="T29" fmla="*/ 342 h 459"/>
                      <a:gd name="T30" fmla="*/ 302 w 586"/>
                      <a:gd name="T31" fmla="*/ 385 h 459"/>
                      <a:gd name="T32" fmla="*/ 258 w 586"/>
                      <a:gd name="T33" fmla="*/ 424 h 459"/>
                      <a:gd name="T34" fmla="*/ 201 w 586"/>
                      <a:gd name="T35" fmla="*/ 453 h 459"/>
                      <a:gd name="T36" fmla="*/ 151 w 586"/>
                      <a:gd name="T37" fmla="*/ 459 h 459"/>
                      <a:gd name="T38" fmla="*/ 105 w 586"/>
                      <a:gd name="T39" fmla="*/ 454 h 459"/>
                      <a:gd name="T40" fmla="*/ 52 w 586"/>
                      <a:gd name="T41" fmla="*/ 433 h 459"/>
                      <a:gd name="T42" fmla="*/ 11 w 586"/>
                      <a:gd name="T43" fmla="*/ 404 h 459"/>
                      <a:gd name="T44" fmla="*/ 0 w 586"/>
                      <a:gd name="T45" fmla="*/ 372 h 459"/>
                      <a:gd name="T46" fmla="*/ 10 w 586"/>
                      <a:gd name="T47" fmla="*/ 338 h 459"/>
                      <a:gd name="T48" fmla="*/ 38 w 586"/>
                      <a:gd name="T49" fmla="*/ 316 h 459"/>
                      <a:gd name="T50" fmla="*/ 71 w 586"/>
                      <a:gd name="T51" fmla="*/ 316 h 459"/>
                      <a:gd name="T52" fmla="*/ 110 w 586"/>
                      <a:gd name="T53" fmla="*/ 337 h 459"/>
                      <a:gd name="T54" fmla="*/ 150 w 586"/>
                      <a:gd name="T55" fmla="*/ 348 h 459"/>
                      <a:gd name="T56" fmla="*/ 189 w 586"/>
                      <a:gd name="T57" fmla="*/ 336 h 459"/>
                      <a:gd name="T58" fmla="*/ 222 w 586"/>
                      <a:gd name="T59" fmla="*/ 306 h 459"/>
                      <a:gd name="T60" fmla="*/ 247 w 586"/>
                      <a:gd name="T61" fmla="*/ 272 h 459"/>
                      <a:gd name="T62" fmla="*/ 262 w 586"/>
                      <a:gd name="T63" fmla="*/ 245 h 459"/>
                      <a:gd name="T64" fmla="*/ 311 w 586"/>
                      <a:gd name="T65" fmla="*/ 147 h 459"/>
                      <a:gd name="T66" fmla="*/ 361 w 586"/>
                      <a:gd name="T67" fmla="*/ 79 h 459"/>
                      <a:gd name="T68" fmla="*/ 410 w 586"/>
                      <a:gd name="T69" fmla="*/ 36 h 459"/>
                      <a:gd name="T70" fmla="*/ 455 w 586"/>
                      <a:gd name="T71" fmla="*/ 11 h 459"/>
                      <a:gd name="T72" fmla="*/ 494 w 586"/>
                      <a:gd name="T73" fmla="*/ 1 h 4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586" h="459">
                        <a:moveTo>
                          <a:pt x="509" y="0"/>
                        </a:moveTo>
                        <a:lnTo>
                          <a:pt x="524" y="1"/>
                        </a:lnTo>
                        <a:lnTo>
                          <a:pt x="535" y="3"/>
                        </a:lnTo>
                        <a:lnTo>
                          <a:pt x="544" y="4"/>
                        </a:lnTo>
                        <a:lnTo>
                          <a:pt x="549" y="6"/>
                        </a:lnTo>
                        <a:lnTo>
                          <a:pt x="564" y="14"/>
                        </a:lnTo>
                        <a:lnTo>
                          <a:pt x="577" y="26"/>
                        </a:lnTo>
                        <a:lnTo>
                          <a:pt x="584" y="42"/>
                        </a:lnTo>
                        <a:lnTo>
                          <a:pt x="586" y="59"/>
                        </a:lnTo>
                        <a:lnTo>
                          <a:pt x="584" y="76"/>
                        </a:lnTo>
                        <a:lnTo>
                          <a:pt x="575" y="91"/>
                        </a:lnTo>
                        <a:lnTo>
                          <a:pt x="564" y="104"/>
                        </a:lnTo>
                        <a:lnTo>
                          <a:pt x="550" y="112"/>
                        </a:lnTo>
                        <a:lnTo>
                          <a:pt x="534" y="115"/>
                        </a:lnTo>
                        <a:lnTo>
                          <a:pt x="517" y="113"/>
                        </a:lnTo>
                        <a:lnTo>
                          <a:pt x="513" y="113"/>
                        </a:lnTo>
                        <a:lnTo>
                          <a:pt x="507" y="113"/>
                        </a:lnTo>
                        <a:lnTo>
                          <a:pt x="499" y="116"/>
                        </a:lnTo>
                        <a:lnTo>
                          <a:pt x="488" y="119"/>
                        </a:lnTo>
                        <a:lnTo>
                          <a:pt x="474" y="127"/>
                        </a:lnTo>
                        <a:lnTo>
                          <a:pt x="458" y="139"/>
                        </a:lnTo>
                        <a:lnTo>
                          <a:pt x="441" y="155"/>
                        </a:lnTo>
                        <a:lnTo>
                          <a:pt x="424" y="177"/>
                        </a:lnTo>
                        <a:lnTo>
                          <a:pt x="405" y="207"/>
                        </a:lnTo>
                        <a:lnTo>
                          <a:pt x="384" y="242"/>
                        </a:lnTo>
                        <a:lnTo>
                          <a:pt x="364" y="288"/>
                        </a:lnTo>
                        <a:lnTo>
                          <a:pt x="361" y="294"/>
                        </a:lnTo>
                        <a:lnTo>
                          <a:pt x="355" y="306"/>
                        </a:lnTo>
                        <a:lnTo>
                          <a:pt x="346" y="324"/>
                        </a:lnTo>
                        <a:lnTo>
                          <a:pt x="335" y="342"/>
                        </a:lnTo>
                        <a:lnTo>
                          <a:pt x="320" y="363"/>
                        </a:lnTo>
                        <a:lnTo>
                          <a:pt x="302" y="385"/>
                        </a:lnTo>
                        <a:lnTo>
                          <a:pt x="281" y="406"/>
                        </a:lnTo>
                        <a:lnTo>
                          <a:pt x="258" y="424"/>
                        </a:lnTo>
                        <a:lnTo>
                          <a:pt x="231" y="440"/>
                        </a:lnTo>
                        <a:lnTo>
                          <a:pt x="201" y="453"/>
                        </a:lnTo>
                        <a:lnTo>
                          <a:pt x="178" y="458"/>
                        </a:lnTo>
                        <a:lnTo>
                          <a:pt x="151" y="459"/>
                        </a:lnTo>
                        <a:lnTo>
                          <a:pt x="128" y="458"/>
                        </a:lnTo>
                        <a:lnTo>
                          <a:pt x="105" y="454"/>
                        </a:lnTo>
                        <a:lnTo>
                          <a:pt x="79" y="445"/>
                        </a:lnTo>
                        <a:lnTo>
                          <a:pt x="52" y="433"/>
                        </a:lnTo>
                        <a:lnTo>
                          <a:pt x="24" y="416"/>
                        </a:lnTo>
                        <a:lnTo>
                          <a:pt x="11" y="404"/>
                        </a:lnTo>
                        <a:lnTo>
                          <a:pt x="3" y="388"/>
                        </a:lnTo>
                        <a:lnTo>
                          <a:pt x="0" y="372"/>
                        </a:lnTo>
                        <a:lnTo>
                          <a:pt x="2" y="354"/>
                        </a:lnTo>
                        <a:lnTo>
                          <a:pt x="10" y="338"/>
                        </a:lnTo>
                        <a:lnTo>
                          <a:pt x="22" y="325"/>
                        </a:lnTo>
                        <a:lnTo>
                          <a:pt x="38" y="316"/>
                        </a:lnTo>
                        <a:lnTo>
                          <a:pt x="55" y="314"/>
                        </a:lnTo>
                        <a:lnTo>
                          <a:pt x="71" y="316"/>
                        </a:lnTo>
                        <a:lnTo>
                          <a:pt x="86" y="324"/>
                        </a:lnTo>
                        <a:lnTo>
                          <a:pt x="110" y="337"/>
                        </a:lnTo>
                        <a:lnTo>
                          <a:pt x="130" y="345"/>
                        </a:lnTo>
                        <a:lnTo>
                          <a:pt x="150" y="348"/>
                        </a:lnTo>
                        <a:lnTo>
                          <a:pt x="169" y="346"/>
                        </a:lnTo>
                        <a:lnTo>
                          <a:pt x="189" y="336"/>
                        </a:lnTo>
                        <a:lnTo>
                          <a:pt x="206" y="324"/>
                        </a:lnTo>
                        <a:lnTo>
                          <a:pt x="222" y="306"/>
                        </a:lnTo>
                        <a:lnTo>
                          <a:pt x="235" y="289"/>
                        </a:lnTo>
                        <a:lnTo>
                          <a:pt x="247" y="272"/>
                        </a:lnTo>
                        <a:lnTo>
                          <a:pt x="256" y="257"/>
                        </a:lnTo>
                        <a:lnTo>
                          <a:pt x="262" y="245"/>
                        </a:lnTo>
                        <a:lnTo>
                          <a:pt x="285" y="192"/>
                        </a:lnTo>
                        <a:lnTo>
                          <a:pt x="311" y="147"/>
                        </a:lnTo>
                        <a:lnTo>
                          <a:pt x="335" y="110"/>
                        </a:lnTo>
                        <a:lnTo>
                          <a:pt x="361" y="79"/>
                        </a:lnTo>
                        <a:lnTo>
                          <a:pt x="385" y="54"/>
                        </a:lnTo>
                        <a:lnTo>
                          <a:pt x="410" y="36"/>
                        </a:lnTo>
                        <a:lnTo>
                          <a:pt x="433" y="21"/>
                        </a:lnTo>
                        <a:lnTo>
                          <a:pt x="455" y="11"/>
                        </a:lnTo>
                        <a:lnTo>
                          <a:pt x="474" y="5"/>
                        </a:lnTo>
                        <a:lnTo>
                          <a:pt x="494" y="1"/>
                        </a:lnTo>
                        <a:lnTo>
                          <a:pt x="509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9" name="Freeform 18">
                    <a:extLst>
                      <a:ext uri="{FF2B5EF4-FFF2-40B4-BE49-F238E27FC236}">
                        <a16:creationId xmlns:a16="http://schemas.microsoft.com/office/drawing/2014/main" id="{70D98475-E341-47DB-AD5D-1236A7D993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23199" y="5393230"/>
                    <a:ext cx="37308" cy="211548"/>
                  </a:xfrm>
                  <a:custGeom>
                    <a:avLst/>
                    <a:gdLst>
                      <a:gd name="T0" fmla="*/ 111 w 183"/>
                      <a:gd name="T1" fmla="*/ 0 h 1031"/>
                      <a:gd name="T2" fmla="*/ 129 w 183"/>
                      <a:gd name="T3" fmla="*/ 2 h 1031"/>
                      <a:gd name="T4" fmla="*/ 145 w 183"/>
                      <a:gd name="T5" fmla="*/ 10 h 1031"/>
                      <a:gd name="T6" fmla="*/ 157 w 183"/>
                      <a:gd name="T7" fmla="*/ 21 h 1031"/>
                      <a:gd name="T8" fmla="*/ 166 w 183"/>
                      <a:gd name="T9" fmla="*/ 35 h 1031"/>
                      <a:gd name="T10" fmla="*/ 170 w 183"/>
                      <a:gd name="T11" fmla="*/ 53 h 1031"/>
                      <a:gd name="T12" fmla="*/ 168 w 183"/>
                      <a:gd name="T13" fmla="*/ 71 h 1031"/>
                      <a:gd name="T14" fmla="*/ 167 w 183"/>
                      <a:gd name="T15" fmla="*/ 75 h 1031"/>
                      <a:gd name="T16" fmla="*/ 165 w 183"/>
                      <a:gd name="T17" fmla="*/ 87 h 1031"/>
                      <a:gd name="T18" fmla="*/ 160 w 183"/>
                      <a:gd name="T19" fmla="*/ 105 h 1031"/>
                      <a:gd name="T20" fmla="*/ 155 w 183"/>
                      <a:gd name="T21" fmla="*/ 130 h 1031"/>
                      <a:gd name="T22" fmla="*/ 149 w 183"/>
                      <a:gd name="T23" fmla="*/ 161 h 1031"/>
                      <a:gd name="T24" fmla="*/ 143 w 183"/>
                      <a:gd name="T25" fmla="*/ 196 h 1031"/>
                      <a:gd name="T26" fmla="*/ 137 w 183"/>
                      <a:gd name="T27" fmla="*/ 237 h 1031"/>
                      <a:gd name="T28" fmla="*/ 129 w 183"/>
                      <a:gd name="T29" fmla="*/ 283 h 1031"/>
                      <a:gd name="T30" fmla="*/ 124 w 183"/>
                      <a:gd name="T31" fmla="*/ 330 h 1031"/>
                      <a:gd name="T32" fmla="*/ 118 w 183"/>
                      <a:gd name="T33" fmla="*/ 382 h 1031"/>
                      <a:gd name="T34" fmla="*/ 115 w 183"/>
                      <a:gd name="T35" fmla="*/ 436 h 1031"/>
                      <a:gd name="T36" fmla="*/ 112 w 183"/>
                      <a:gd name="T37" fmla="*/ 493 h 1031"/>
                      <a:gd name="T38" fmla="*/ 111 w 183"/>
                      <a:gd name="T39" fmla="*/ 551 h 1031"/>
                      <a:gd name="T40" fmla="*/ 112 w 183"/>
                      <a:gd name="T41" fmla="*/ 608 h 1031"/>
                      <a:gd name="T42" fmla="*/ 116 w 183"/>
                      <a:gd name="T43" fmla="*/ 669 h 1031"/>
                      <a:gd name="T44" fmla="*/ 122 w 183"/>
                      <a:gd name="T45" fmla="*/ 728 h 1031"/>
                      <a:gd name="T46" fmla="*/ 131 w 183"/>
                      <a:gd name="T47" fmla="*/ 787 h 1031"/>
                      <a:gd name="T48" fmla="*/ 144 w 183"/>
                      <a:gd name="T49" fmla="*/ 844 h 1031"/>
                      <a:gd name="T50" fmla="*/ 160 w 183"/>
                      <a:gd name="T51" fmla="*/ 901 h 1031"/>
                      <a:gd name="T52" fmla="*/ 179 w 183"/>
                      <a:gd name="T53" fmla="*/ 955 h 1031"/>
                      <a:gd name="T54" fmla="*/ 183 w 183"/>
                      <a:gd name="T55" fmla="*/ 972 h 1031"/>
                      <a:gd name="T56" fmla="*/ 182 w 183"/>
                      <a:gd name="T57" fmla="*/ 990 h 1031"/>
                      <a:gd name="T58" fmla="*/ 176 w 183"/>
                      <a:gd name="T59" fmla="*/ 1006 h 1031"/>
                      <a:gd name="T60" fmla="*/ 165 w 183"/>
                      <a:gd name="T61" fmla="*/ 1019 h 1031"/>
                      <a:gd name="T62" fmla="*/ 149 w 183"/>
                      <a:gd name="T63" fmla="*/ 1028 h 1031"/>
                      <a:gd name="T64" fmla="*/ 128 w 183"/>
                      <a:gd name="T65" fmla="*/ 1031 h 1031"/>
                      <a:gd name="T66" fmla="*/ 112 w 183"/>
                      <a:gd name="T67" fmla="*/ 1030 h 1031"/>
                      <a:gd name="T68" fmla="*/ 98 w 183"/>
                      <a:gd name="T69" fmla="*/ 1023 h 1031"/>
                      <a:gd name="T70" fmla="*/ 85 w 183"/>
                      <a:gd name="T71" fmla="*/ 1012 h 1031"/>
                      <a:gd name="T72" fmla="*/ 77 w 183"/>
                      <a:gd name="T73" fmla="*/ 997 h 1031"/>
                      <a:gd name="T74" fmla="*/ 55 w 183"/>
                      <a:gd name="T75" fmla="*/ 938 h 1031"/>
                      <a:gd name="T76" fmla="*/ 37 w 183"/>
                      <a:gd name="T77" fmla="*/ 876 h 1031"/>
                      <a:gd name="T78" fmla="*/ 23 w 183"/>
                      <a:gd name="T79" fmla="*/ 815 h 1031"/>
                      <a:gd name="T80" fmla="*/ 13 w 183"/>
                      <a:gd name="T81" fmla="*/ 751 h 1031"/>
                      <a:gd name="T82" fmla="*/ 6 w 183"/>
                      <a:gd name="T83" fmla="*/ 687 h 1031"/>
                      <a:gd name="T84" fmla="*/ 1 w 183"/>
                      <a:gd name="T85" fmla="*/ 624 h 1031"/>
                      <a:gd name="T86" fmla="*/ 0 w 183"/>
                      <a:gd name="T87" fmla="*/ 562 h 1031"/>
                      <a:gd name="T88" fmla="*/ 0 w 183"/>
                      <a:gd name="T89" fmla="*/ 500 h 1031"/>
                      <a:gd name="T90" fmla="*/ 2 w 183"/>
                      <a:gd name="T91" fmla="*/ 440 h 1031"/>
                      <a:gd name="T92" fmla="*/ 7 w 183"/>
                      <a:gd name="T93" fmla="*/ 382 h 1031"/>
                      <a:gd name="T94" fmla="*/ 12 w 183"/>
                      <a:gd name="T95" fmla="*/ 328 h 1031"/>
                      <a:gd name="T96" fmla="*/ 18 w 183"/>
                      <a:gd name="T97" fmla="*/ 276 h 1031"/>
                      <a:gd name="T98" fmla="*/ 24 w 183"/>
                      <a:gd name="T99" fmla="*/ 228 h 1031"/>
                      <a:gd name="T100" fmla="*/ 32 w 183"/>
                      <a:gd name="T101" fmla="*/ 185 h 1031"/>
                      <a:gd name="T102" fmla="*/ 39 w 183"/>
                      <a:gd name="T103" fmla="*/ 146 h 1031"/>
                      <a:gd name="T104" fmla="*/ 45 w 183"/>
                      <a:gd name="T105" fmla="*/ 113 h 1031"/>
                      <a:gd name="T106" fmla="*/ 51 w 183"/>
                      <a:gd name="T107" fmla="*/ 86 h 1031"/>
                      <a:gd name="T108" fmla="*/ 56 w 183"/>
                      <a:gd name="T109" fmla="*/ 64 h 1031"/>
                      <a:gd name="T110" fmla="*/ 60 w 183"/>
                      <a:gd name="T111" fmla="*/ 49 h 1031"/>
                      <a:gd name="T112" fmla="*/ 61 w 183"/>
                      <a:gd name="T113" fmla="*/ 41 h 1031"/>
                      <a:gd name="T114" fmla="*/ 68 w 183"/>
                      <a:gd name="T115" fmla="*/ 26 h 1031"/>
                      <a:gd name="T116" fmla="*/ 79 w 183"/>
                      <a:gd name="T117" fmla="*/ 12 h 1031"/>
                      <a:gd name="T118" fmla="*/ 94 w 183"/>
                      <a:gd name="T119" fmla="*/ 3 h 1031"/>
                      <a:gd name="T120" fmla="*/ 111 w 183"/>
                      <a:gd name="T121" fmla="*/ 0 h 10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83" h="1031">
                        <a:moveTo>
                          <a:pt x="111" y="0"/>
                        </a:moveTo>
                        <a:lnTo>
                          <a:pt x="129" y="2"/>
                        </a:lnTo>
                        <a:lnTo>
                          <a:pt x="145" y="10"/>
                        </a:lnTo>
                        <a:lnTo>
                          <a:pt x="157" y="21"/>
                        </a:lnTo>
                        <a:lnTo>
                          <a:pt x="166" y="35"/>
                        </a:lnTo>
                        <a:lnTo>
                          <a:pt x="170" y="53"/>
                        </a:lnTo>
                        <a:lnTo>
                          <a:pt x="168" y="71"/>
                        </a:lnTo>
                        <a:lnTo>
                          <a:pt x="167" y="75"/>
                        </a:lnTo>
                        <a:lnTo>
                          <a:pt x="165" y="87"/>
                        </a:lnTo>
                        <a:lnTo>
                          <a:pt x="160" y="105"/>
                        </a:lnTo>
                        <a:lnTo>
                          <a:pt x="155" y="130"/>
                        </a:lnTo>
                        <a:lnTo>
                          <a:pt x="149" y="161"/>
                        </a:lnTo>
                        <a:lnTo>
                          <a:pt x="143" y="196"/>
                        </a:lnTo>
                        <a:lnTo>
                          <a:pt x="137" y="237"/>
                        </a:lnTo>
                        <a:lnTo>
                          <a:pt x="129" y="283"/>
                        </a:lnTo>
                        <a:lnTo>
                          <a:pt x="124" y="330"/>
                        </a:lnTo>
                        <a:lnTo>
                          <a:pt x="118" y="382"/>
                        </a:lnTo>
                        <a:lnTo>
                          <a:pt x="115" y="436"/>
                        </a:lnTo>
                        <a:lnTo>
                          <a:pt x="112" y="493"/>
                        </a:lnTo>
                        <a:lnTo>
                          <a:pt x="111" y="551"/>
                        </a:lnTo>
                        <a:lnTo>
                          <a:pt x="112" y="608"/>
                        </a:lnTo>
                        <a:lnTo>
                          <a:pt x="116" y="669"/>
                        </a:lnTo>
                        <a:lnTo>
                          <a:pt x="122" y="728"/>
                        </a:lnTo>
                        <a:lnTo>
                          <a:pt x="131" y="787"/>
                        </a:lnTo>
                        <a:lnTo>
                          <a:pt x="144" y="844"/>
                        </a:lnTo>
                        <a:lnTo>
                          <a:pt x="160" y="901"/>
                        </a:lnTo>
                        <a:lnTo>
                          <a:pt x="179" y="955"/>
                        </a:lnTo>
                        <a:lnTo>
                          <a:pt x="183" y="972"/>
                        </a:lnTo>
                        <a:lnTo>
                          <a:pt x="182" y="990"/>
                        </a:lnTo>
                        <a:lnTo>
                          <a:pt x="176" y="1006"/>
                        </a:lnTo>
                        <a:lnTo>
                          <a:pt x="165" y="1019"/>
                        </a:lnTo>
                        <a:lnTo>
                          <a:pt x="149" y="1028"/>
                        </a:lnTo>
                        <a:lnTo>
                          <a:pt x="128" y="1031"/>
                        </a:lnTo>
                        <a:lnTo>
                          <a:pt x="112" y="1030"/>
                        </a:lnTo>
                        <a:lnTo>
                          <a:pt x="98" y="1023"/>
                        </a:lnTo>
                        <a:lnTo>
                          <a:pt x="85" y="1012"/>
                        </a:lnTo>
                        <a:lnTo>
                          <a:pt x="77" y="997"/>
                        </a:lnTo>
                        <a:lnTo>
                          <a:pt x="55" y="938"/>
                        </a:lnTo>
                        <a:lnTo>
                          <a:pt x="37" y="876"/>
                        </a:lnTo>
                        <a:lnTo>
                          <a:pt x="23" y="815"/>
                        </a:lnTo>
                        <a:lnTo>
                          <a:pt x="13" y="751"/>
                        </a:lnTo>
                        <a:lnTo>
                          <a:pt x="6" y="687"/>
                        </a:lnTo>
                        <a:lnTo>
                          <a:pt x="1" y="624"/>
                        </a:lnTo>
                        <a:lnTo>
                          <a:pt x="0" y="562"/>
                        </a:lnTo>
                        <a:lnTo>
                          <a:pt x="0" y="500"/>
                        </a:lnTo>
                        <a:lnTo>
                          <a:pt x="2" y="440"/>
                        </a:lnTo>
                        <a:lnTo>
                          <a:pt x="7" y="382"/>
                        </a:lnTo>
                        <a:lnTo>
                          <a:pt x="12" y="328"/>
                        </a:lnTo>
                        <a:lnTo>
                          <a:pt x="18" y="276"/>
                        </a:lnTo>
                        <a:lnTo>
                          <a:pt x="24" y="228"/>
                        </a:lnTo>
                        <a:lnTo>
                          <a:pt x="32" y="185"/>
                        </a:lnTo>
                        <a:lnTo>
                          <a:pt x="39" y="146"/>
                        </a:lnTo>
                        <a:lnTo>
                          <a:pt x="45" y="113"/>
                        </a:lnTo>
                        <a:lnTo>
                          <a:pt x="51" y="86"/>
                        </a:lnTo>
                        <a:lnTo>
                          <a:pt x="56" y="64"/>
                        </a:lnTo>
                        <a:lnTo>
                          <a:pt x="60" y="49"/>
                        </a:lnTo>
                        <a:lnTo>
                          <a:pt x="61" y="41"/>
                        </a:lnTo>
                        <a:lnTo>
                          <a:pt x="68" y="26"/>
                        </a:lnTo>
                        <a:lnTo>
                          <a:pt x="79" y="12"/>
                        </a:lnTo>
                        <a:lnTo>
                          <a:pt x="94" y="3"/>
                        </a:lnTo>
                        <a:lnTo>
                          <a:pt x="111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0" name="Freeform 19">
                    <a:extLst>
                      <a:ext uri="{FF2B5EF4-FFF2-40B4-BE49-F238E27FC236}">
                        <a16:creationId xmlns:a16="http://schemas.microsoft.com/office/drawing/2014/main" id="{4ECCFEDC-D038-419A-B502-63740684B1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498190" y="5890531"/>
                    <a:ext cx="86095" cy="81175"/>
                  </a:xfrm>
                  <a:custGeom>
                    <a:avLst/>
                    <a:gdLst>
                      <a:gd name="T0" fmla="*/ 356 w 420"/>
                      <a:gd name="T1" fmla="*/ 0 h 396"/>
                      <a:gd name="T2" fmla="*/ 373 w 420"/>
                      <a:gd name="T3" fmla="*/ 0 h 396"/>
                      <a:gd name="T4" fmla="*/ 389 w 420"/>
                      <a:gd name="T5" fmla="*/ 6 h 396"/>
                      <a:gd name="T6" fmla="*/ 403 w 420"/>
                      <a:gd name="T7" fmla="*/ 16 h 396"/>
                      <a:gd name="T8" fmla="*/ 414 w 420"/>
                      <a:gd name="T9" fmla="*/ 29 h 396"/>
                      <a:gd name="T10" fmla="*/ 420 w 420"/>
                      <a:gd name="T11" fmla="*/ 46 h 396"/>
                      <a:gd name="T12" fmla="*/ 420 w 420"/>
                      <a:gd name="T13" fmla="*/ 64 h 396"/>
                      <a:gd name="T14" fmla="*/ 414 w 420"/>
                      <a:gd name="T15" fmla="*/ 81 h 396"/>
                      <a:gd name="T16" fmla="*/ 404 w 420"/>
                      <a:gd name="T17" fmla="*/ 94 h 396"/>
                      <a:gd name="T18" fmla="*/ 391 w 420"/>
                      <a:gd name="T19" fmla="*/ 104 h 396"/>
                      <a:gd name="T20" fmla="*/ 373 w 420"/>
                      <a:gd name="T21" fmla="*/ 110 h 396"/>
                      <a:gd name="T22" fmla="*/ 369 w 420"/>
                      <a:gd name="T23" fmla="*/ 112 h 396"/>
                      <a:gd name="T24" fmla="*/ 359 w 420"/>
                      <a:gd name="T25" fmla="*/ 114 h 396"/>
                      <a:gd name="T26" fmla="*/ 344 w 420"/>
                      <a:gd name="T27" fmla="*/ 118 h 396"/>
                      <a:gd name="T28" fmla="*/ 326 w 420"/>
                      <a:gd name="T29" fmla="*/ 124 h 396"/>
                      <a:gd name="T30" fmla="*/ 305 w 420"/>
                      <a:gd name="T31" fmla="*/ 131 h 396"/>
                      <a:gd name="T32" fmla="*/ 282 w 420"/>
                      <a:gd name="T33" fmla="*/ 142 h 396"/>
                      <a:gd name="T34" fmla="*/ 258 w 420"/>
                      <a:gd name="T35" fmla="*/ 156 h 396"/>
                      <a:gd name="T36" fmla="*/ 233 w 420"/>
                      <a:gd name="T37" fmla="*/ 172 h 396"/>
                      <a:gd name="T38" fmla="*/ 208 w 420"/>
                      <a:gd name="T39" fmla="*/ 193 h 396"/>
                      <a:gd name="T40" fmla="*/ 183 w 420"/>
                      <a:gd name="T41" fmla="*/ 216 h 396"/>
                      <a:gd name="T42" fmla="*/ 161 w 420"/>
                      <a:gd name="T43" fmla="*/ 244 h 396"/>
                      <a:gd name="T44" fmla="*/ 141 w 420"/>
                      <a:gd name="T45" fmla="*/ 276 h 396"/>
                      <a:gd name="T46" fmla="*/ 123 w 420"/>
                      <a:gd name="T47" fmla="*/ 313 h 396"/>
                      <a:gd name="T48" fmla="*/ 109 w 420"/>
                      <a:gd name="T49" fmla="*/ 355 h 396"/>
                      <a:gd name="T50" fmla="*/ 102 w 420"/>
                      <a:gd name="T51" fmla="*/ 371 h 396"/>
                      <a:gd name="T52" fmla="*/ 89 w 420"/>
                      <a:gd name="T53" fmla="*/ 385 h 396"/>
                      <a:gd name="T54" fmla="*/ 73 w 420"/>
                      <a:gd name="T55" fmla="*/ 393 h 396"/>
                      <a:gd name="T56" fmla="*/ 55 w 420"/>
                      <a:gd name="T57" fmla="*/ 396 h 396"/>
                      <a:gd name="T58" fmla="*/ 42 w 420"/>
                      <a:gd name="T59" fmla="*/ 394 h 396"/>
                      <a:gd name="T60" fmla="*/ 26 w 420"/>
                      <a:gd name="T61" fmla="*/ 387 h 396"/>
                      <a:gd name="T62" fmla="*/ 13 w 420"/>
                      <a:gd name="T63" fmla="*/ 375 h 396"/>
                      <a:gd name="T64" fmla="*/ 4 w 420"/>
                      <a:gd name="T65" fmla="*/ 360 h 396"/>
                      <a:gd name="T66" fmla="*/ 0 w 420"/>
                      <a:gd name="T67" fmla="*/ 344 h 396"/>
                      <a:gd name="T68" fmla="*/ 3 w 420"/>
                      <a:gd name="T69" fmla="*/ 326 h 396"/>
                      <a:gd name="T70" fmla="*/ 17 w 420"/>
                      <a:gd name="T71" fmla="*/ 279 h 396"/>
                      <a:gd name="T72" fmla="*/ 36 w 420"/>
                      <a:gd name="T73" fmla="*/ 237 h 396"/>
                      <a:gd name="T74" fmla="*/ 56 w 420"/>
                      <a:gd name="T75" fmla="*/ 199 h 396"/>
                      <a:gd name="T76" fmla="*/ 81 w 420"/>
                      <a:gd name="T77" fmla="*/ 166 h 396"/>
                      <a:gd name="T78" fmla="*/ 106 w 420"/>
                      <a:gd name="T79" fmla="*/ 136 h 396"/>
                      <a:gd name="T80" fmla="*/ 133 w 420"/>
                      <a:gd name="T81" fmla="*/ 109 h 396"/>
                      <a:gd name="T82" fmla="*/ 160 w 420"/>
                      <a:gd name="T83" fmla="*/ 87 h 396"/>
                      <a:gd name="T84" fmla="*/ 188 w 420"/>
                      <a:gd name="T85" fmla="*/ 67 h 396"/>
                      <a:gd name="T86" fmla="*/ 216 w 420"/>
                      <a:gd name="T87" fmla="*/ 51 h 396"/>
                      <a:gd name="T88" fmla="*/ 242 w 420"/>
                      <a:gd name="T89" fmla="*/ 38 h 396"/>
                      <a:gd name="T90" fmla="*/ 267 w 420"/>
                      <a:gd name="T91" fmla="*/ 27 h 396"/>
                      <a:gd name="T92" fmla="*/ 291 w 420"/>
                      <a:gd name="T93" fmla="*/ 17 h 396"/>
                      <a:gd name="T94" fmla="*/ 311 w 420"/>
                      <a:gd name="T95" fmla="*/ 11 h 396"/>
                      <a:gd name="T96" fmla="*/ 328 w 420"/>
                      <a:gd name="T97" fmla="*/ 6 h 396"/>
                      <a:gd name="T98" fmla="*/ 342 w 420"/>
                      <a:gd name="T99" fmla="*/ 2 h 396"/>
                      <a:gd name="T100" fmla="*/ 351 w 420"/>
                      <a:gd name="T101" fmla="*/ 1 h 396"/>
                      <a:gd name="T102" fmla="*/ 356 w 420"/>
                      <a:gd name="T103" fmla="*/ 0 h 3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420" h="396">
                        <a:moveTo>
                          <a:pt x="356" y="0"/>
                        </a:moveTo>
                        <a:lnTo>
                          <a:pt x="373" y="0"/>
                        </a:lnTo>
                        <a:lnTo>
                          <a:pt x="389" y="6"/>
                        </a:lnTo>
                        <a:lnTo>
                          <a:pt x="403" y="16"/>
                        </a:lnTo>
                        <a:lnTo>
                          <a:pt x="414" y="29"/>
                        </a:lnTo>
                        <a:lnTo>
                          <a:pt x="420" y="46"/>
                        </a:lnTo>
                        <a:lnTo>
                          <a:pt x="420" y="64"/>
                        </a:lnTo>
                        <a:lnTo>
                          <a:pt x="414" y="81"/>
                        </a:lnTo>
                        <a:lnTo>
                          <a:pt x="404" y="94"/>
                        </a:lnTo>
                        <a:lnTo>
                          <a:pt x="391" y="104"/>
                        </a:lnTo>
                        <a:lnTo>
                          <a:pt x="373" y="110"/>
                        </a:lnTo>
                        <a:lnTo>
                          <a:pt x="369" y="112"/>
                        </a:lnTo>
                        <a:lnTo>
                          <a:pt x="359" y="114"/>
                        </a:lnTo>
                        <a:lnTo>
                          <a:pt x="344" y="118"/>
                        </a:lnTo>
                        <a:lnTo>
                          <a:pt x="326" y="124"/>
                        </a:lnTo>
                        <a:lnTo>
                          <a:pt x="305" y="131"/>
                        </a:lnTo>
                        <a:lnTo>
                          <a:pt x="282" y="142"/>
                        </a:lnTo>
                        <a:lnTo>
                          <a:pt x="258" y="156"/>
                        </a:lnTo>
                        <a:lnTo>
                          <a:pt x="233" y="172"/>
                        </a:lnTo>
                        <a:lnTo>
                          <a:pt x="208" y="193"/>
                        </a:lnTo>
                        <a:lnTo>
                          <a:pt x="183" y="216"/>
                        </a:lnTo>
                        <a:lnTo>
                          <a:pt x="161" y="244"/>
                        </a:lnTo>
                        <a:lnTo>
                          <a:pt x="141" y="276"/>
                        </a:lnTo>
                        <a:lnTo>
                          <a:pt x="123" y="313"/>
                        </a:lnTo>
                        <a:lnTo>
                          <a:pt x="109" y="355"/>
                        </a:lnTo>
                        <a:lnTo>
                          <a:pt x="102" y="371"/>
                        </a:lnTo>
                        <a:lnTo>
                          <a:pt x="89" y="385"/>
                        </a:lnTo>
                        <a:lnTo>
                          <a:pt x="73" y="393"/>
                        </a:lnTo>
                        <a:lnTo>
                          <a:pt x="55" y="396"/>
                        </a:lnTo>
                        <a:lnTo>
                          <a:pt x="42" y="394"/>
                        </a:lnTo>
                        <a:lnTo>
                          <a:pt x="26" y="387"/>
                        </a:lnTo>
                        <a:lnTo>
                          <a:pt x="13" y="375"/>
                        </a:lnTo>
                        <a:lnTo>
                          <a:pt x="4" y="360"/>
                        </a:lnTo>
                        <a:lnTo>
                          <a:pt x="0" y="344"/>
                        </a:lnTo>
                        <a:lnTo>
                          <a:pt x="3" y="326"/>
                        </a:lnTo>
                        <a:lnTo>
                          <a:pt x="17" y="279"/>
                        </a:lnTo>
                        <a:lnTo>
                          <a:pt x="36" y="237"/>
                        </a:lnTo>
                        <a:lnTo>
                          <a:pt x="56" y="199"/>
                        </a:lnTo>
                        <a:lnTo>
                          <a:pt x="81" y="166"/>
                        </a:lnTo>
                        <a:lnTo>
                          <a:pt x="106" y="136"/>
                        </a:lnTo>
                        <a:lnTo>
                          <a:pt x="133" y="109"/>
                        </a:lnTo>
                        <a:lnTo>
                          <a:pt x="160" y="87"/>
                        </a:lnTo>
                        <a:lnTo>
                          <a:pt x="188" y="67"/>
                        </a:lnTo>
                        <a:lnTo>
                          <a:pt x="216" y="51"/>
                        </a:lnTo>
                        <a:lnTo>
                          <a:pt x="242" y="38"/>
                        </a:lnTo>
                        <a:lnTo>
                          <a:pt x="267" y="27"/>
                        </a:lnTo>
                        <a:lnTo>
                          <a:pt x="291" y="17"/>
                        </a:lnTo>
                        <a:lnTo>
                          <a:pt x="311" y="11"/>
                        </a:lnTo>
                        <a:lnTo>
                          <a:pt x="328" y="6"/>
                        </a:lnTo>
                        <a:lnTo>
                          <a:pt x="342" y="2"/>
                        </a:lnTo>
                        <a:lnTo>
                          <a:pt x="351" y="1"/>
                        </a:lnTo>
                        <a:lnTo>
                          <a:pt x="356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1" name="Freeform 20">
                    <a:extLst>
                      <a:ext uri="{FF2B5EF4-FFF2-40B4-BE49-F238E27FC236}">
                        <a16:creationId xmlns:a16="http://schemas.microsoft.com/office/drawing/2014/main" id="{010365EB-EAA6-4159-A781-B1B4F8A79E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37548" y="5901190"/>
                    <a:ext cx="130782" cy="113973"/>
                  </a:xfrm>
                  <a:custGeom>
                    <a:avLst/>
                    <a:gdLst>
                      <a:gd name="T0" fmla="*/ 578 w 638"/>
                      <a:gd name="T1" fmla="*/ 0 h 556"/>
                      <a:gd name="T2" fmla="*/ 595 w 638"/>
                      <a:gd name="T3" fmla="*/ 2 h 556"/>
                      <a:gd name="T4" fmla="*/ 611 w 638"/>
                      <a:gd name="T5" fmla="*/ 8 h 556"/>
                      <a:gd name="T6" fmla="*/ 624 w 638"/>
                      <a:gd name="T7" fmla="*/ 19 h 556"/>
                      <a:gd name="T8" fmla="*/ 634 w 638"/>
                      <a:gd name="T9" fmla="*/ 33 h 556"/>
                      <a:gd name="T10" fmla="*/ 638 w 638"/>
                      <a:gd name="T11" fmla="*/ 51 h 556"/>
                      <a:gd name="T12" fmla="*/ 636 w 638"/>
                      <a:gd name="T13" fmla="*/ 68 h 556"/>
                      <a:gd name="T14" fmla="*/ 630 w 638"/>
                      <a:gd name="T15" fmla="*/ 85 h 556"/>
                      <a:gd name="T16" fmla="*/ 624 w 638"/>
                      <a:gd name="T17" fmla="*/ 95 h 556"/>
                      <a:gd name="T18" fmla="*/ 615 w 638"/>
                      <a:gd name="T19" fmla="*/ 111 h 556"/>
                      <a:gd name="T20" fmla="*/ 602 w 638"/>
                      <a:gd name="T21" fmla="*/ 129 h 556"/>
                      <a:gd name="T22" fmla="*/ 586 w 638"/>
                      <a:gd name="T23" fmla="*/ 153 h 556"/>
                      <a:gd name="T24" fmla="*/ 568 w 638"/>
                      <a:gd name="T25" fmla="*/ 180 h 556"/>
                      <a:gd name="T26" fmla="*/ 547 w 638"/>
                      <a:gd name="T27" fmla="*/ 209 h 556"/>
                      <a:gd name="T28" fmla="*/ 524 w 638"/>
                      <a:gd name="T29" fmla="*/ 240 h 556"/>
                      <a:gd name="T30" fmla="*/ 499 w 638"/>
                      <a:gd name="T31" fmla="*/ 272 h 556"/>
                      <a:gd name="T32" fmla="*/ 472 w 638"/>
                      <a:gd name="T33" fmla="*/ 306 h 556"/>
                      <a:gd name="T34" fmla="*/ 443 w 638"/>
                      <a:gd name="T35" fmla="*/ 340 h 556"/>
                      <a:gd name="T36" fmla="*/ 411 w 638"/>
                      <a:gd name="T37" fmla="*/ 373 h 556"/>
                      <a:gd name="T38" fmla="*/ 379 w 638"/>
                      <a:gd name="T39" fmla="*/ 405 h 556"/>
                      <a:gd name="T40" fmla="*/ 345 w 638"/>
                      <a:gd name="T41" fmla="*/ 436 h 556"/>
                      <a:gd name="T42" fmla="*/ 311 w 638"/>
                      <a:gd name="T43" fmla="*/ 464 h 556"/>
                      <a:gd name="T44" fmla="*/ 276 w 638"/>
                      <a:gd name="T45" fmla="*/ 490 h 556"/>
                      <a:gd name="T46" fmla="*/ 239 w 638"/>
                      <a:gd name="T47" fmla="*/ 512 h 556"/>
                      <a:gd name="T48" fmla="*/ 202 w 638"/>
                      <a:gd name="T49" fmla="*/ 530 h 556"/>
                      <a:gd name="T50" fmla="*/ 165 w 638"/>
                      <a:gd name="T51" fmla="*/ 544 h 556"/>
                      <a:gd name="T52" fmla="*/ 127 w 638"/>
                      <a:gd name="T53" fmla="*/ 552 h 556"/>
                      <a:gd name="T54" fmla="*/ 90 w 638"/>
                      <a:gd name="T55" fmla="*/ 556 h 556"/>
                      <a:gd name="T56" fmla="*/ 67 w 638"/>
                      <a:gd name="T57" fmla="*/ 555 h 556"/>
                      <a:gd name="T58" fmla="*/ 44 w 638"/>
                      <a:gd name="T59" fmla="*/ 551 h 556"/>
                      <a:gd name="T60" fmla="*/ 27 w 638"/>
                      <a:gd name="T61" fmla="*/ 545 h 556"/>
                      <a:gd name="T62" fmla="*/ 13 w 638"/>
                      <a:gd name="T63" fmla="*/ 534 h 556"/>
                      <a:gd name="T64" fmla="*/ 5 w 638"/>
                      <a:gd name="T65" fmla="*/ 519 h 556"/>
                      <a:gd name="T66" fmla="*/ 0 w 638"/>
                      <a:gd name="T67" fmla="*/ 502 h 556"/>
                      <a:gd name="T68" fmla="*/ 1 w 638"/>
                      <a:gd name="T69" fmla="*/ 485 h 556"/>
                      <a:gd name="T70" fmla="*/ 7 w 638"/>
                      <a:gd name="T71" fmla="*/ 468 h 556"/>
                      <a:gd name="T72" fmla="*/ 18 w 638"/>
                      <a:gd name="T73" fmla="*/ 454 h 556"/>
                      <a:gd name="T74" fmla="*/ 33 w 638"/>
                      <a:gd name="T75" fmla="*/ 445 h 556"/>
                      <a:gd name="T76" fmla="*/ 50 w 638"/>
                      <a:gd name="T77" fmla="*/ 441 h 556"/>
                      <a:gd name="T78" fmla="*/ 67 w 638"/>
                      <a:gd name="T79" fmla="*/ 442 h 556"/>
                      <a:gd name="T80" fmla="*/ 95 w 638"/>
                      <a:gd name="T81" fmla="*/ 444 h 556"/>
                      <a:gd name="T82" fmla="*/ 123 w 638"/>
                      <a:gd name="T83" fmla="*/ 441 h 556"/>
                      <a:gd name="T84" fmla="*/ 154 w 638"/>
                      <a:gd name="T85" fmla="*/ 431 h 556"/>
                      <a:gd name="T86" fmla="*/ 185 w 638"/>
                      <a:gd name="T87" fmla="*/ 416 h 556"/>
                      <a:gd name="T88" fmla="*/ 217 w 638"/>
                      <a:gd name="T89" fmla="*/ 396 h 556"/>
                      <a:gd name="T90" fmla="*/ 249 w 638"/>
                      <a:gd name="T91" fmla="*/ 372 h 556"/>
                      <a:gd name="T92" fmla="*/ 282 w 638"/>
                      <a:gd name="T93" fmla="*/ 345 h 556"/>
                      <a:gd name="T94" fmla="*/ 315 w 638"/>
                      <a:gd name="T95" fmla="*/ 313 h 556"/>
                      <a:gd name="T96" fmla="*/ 346 w 638"/>
                      <a:gd name="T97" fmla="*/ 279 h 556"/>
                      <a:gd name="T98" fmla="*/ 377 w 638"/>
                      <a:gd name="T99" fmla="*/ 245 h 556"/>
                      <a:gd name="T100" fmla="*/ 407 w 638"/>
                      <a:gd name="T101" fmla="*/ 208 h 556"/>
                      <a:gd name="T102" fmla="*/ 436 w 638"/>
                      <a:gd name="T103" fmla="*/ 171 h 556"/>
                      <a:gd name="T104" fmla="*/ 465 w 638"/>
                      <a:gd name="T105" fmla="*/ 133 h 556"/>
                      <a:gd name="T106" fmla="*/ 490 w 638"/>
                      <a:gd name="T107" fmla="*/ 96 h 556"/>
                      <a:gd name="T108" fmla="*/ 515 w 638"/>
                      <a:gd name="T109" fmla="*/ 61 h 556"/>
                      <a:gd name="T110" fmla="*/ 535 w 638"/>
                      <a:gd name="T111" fmla="*/ 26 h 556"/>
                      <a:gd name="T112" fmla="*/ 546 w 638"/>
                      <a:gd name="T113" fmla="*/ 13 h 556"/>
                      <a:gd name="T114" fmla="*/ 561 w 638"/>
                      <a:gd name="T115" fmla="*/ 4 h 556"/>
                      <a:gd name="T116" fmla="*/ 578 w 638"/>
                      <a:gd name="T117" fmla="*/ 0 h 5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638" h="556">
                        <a:moveTo>
                          <a:pt x="578" y="0"/>
                        </a:moveTo>
                        <a:lnTo>
                          <a:pt x="595" y="2"/>
                        </a:lnTo>
                        <a:lnTo>
                          <a:pt x="611" y="8"/>
                        </a:lnTo>
                        <a:lnTo>
                          <a:pt x="624" y="19"/>
                        </a:lnTo>
                        <a:lnTo>
                          <a:pt x="634" y="33"/>
                        </a:lnTo>
                        <a:lnTo>
                          <a:pt x="638" y="51"/>
                        </a:lnTo>
                        <a:lnTo>
                          <a:pt x="636" y="68"/>
                        </a:lnTo>
                        <a:lnTo>
                          <a:pt x="630" y="85"/>
                        </a:lnTo>
                        <a:lnTo>
                          <a:pt x="624" y="95"/>
                        </a:lnTo>
                        <a:lnTo>
                          <a:pt x="615" y="111"/>
                        </a:lnTo>
                        <a:lnTo>
                          <a:pt x="602" y="129"/>
                        </a:lnTo>
                        <a:lnTo>
                          <a:pt x="586" y="153"/>
                        </a:lnTo>
                        <a:lnTo>
                          <a:pt x="568" y="180"/>
                        </a:lnTo>
                        <a:lnTo>
                          <a:pt x="547" y="209"/>
                        </a:lnTo>
                        <a:lnTo>
                          <a:pt x="524" y="240"/>
                        </a:lnTo>
                        <a:lnTo>
                          <a:pt x="499" y="272"/>
                        </a:lnTo>
                        <a:lnTo>
                          <a:pt x="472" y="306"/>
                        </a:lnTo>
                        <a:lnTo>
                          <a:pt x="443" y="340"/>
                        </a:lnTo>
                        <a:lnTo>
                          <a:pt x="411" y="373"/>
                        </a:lnTo>
                        <a:lnTo>
                          <a:pt x="379" y="405"/>
                        </a:lnTo>
                        <a:lnTo>
                          <a:pt x="345" y="436"/>
                        </a:lnTo>
                        <a:lnTo>
                          <a:pt x="311" y="464"/>
                        </a:lnTo>
                        <a:lnTo>
                          <a:pt x="276" y="490"/>
                        </a:lnTo>
                        <a:lnTo>
                          <a:pt x="239" y="512"/>
                        </a:lnTo>
                        <a:lnTo>
                          <a:pt x="202" y="530"/>
                        </a:lnTo>
                        <a:lnTo>
                          <a:pt x="165" y="544"/>
                        </a:lnTo>
                        <a:lnTo>
                          <a:pt x="127" y="552"/>
                        </a:lnTo>
                        <a:lnTo>
                          <a:pt x="90" y="556"/>
                        </a:lnTo>
                        <a:lnTo>
                          <a:pt x="67" y="555"/>
                        </a:lnTo>
                        <a:lnTo>
                          <a:pt x="44" y="551"/>
                        </a:lnTo>
                        <a:lnTo>
                          <a:pt x="27" y="545"/>
                        </a:lnTo>
                        <a:lnTo>
                          <a:pt x="13" y="534"/>
                        </a:lnTo>
                        <a:lnTo>
                          <a:pt x="5" y="519"/>
                        </a:lnTo>
                        <a:lnTo>
                          <a:pt x="0" y="502"/>
                        </a:lnTo>
                        <a:lnTo>
                          <a:pt x="1" y="485"/>
                        </a:lnTo>
                        <a:lnTo>
                          <a:pt x="7" y="468"/>
                        </a:lnTo>
                        <a:lnTo>
                          <a:pt x="18" y="454"/>
                        </a:lnTo>
                        <a:lnTo>
                          <a:pt x="33" y="445"/>
                        </a:lnTo>
                        <a:lnTo>
                          <a:pt x="50" y="441"/>
                        </a:lnTo>
                        <a:lnTo>
                          <a:pt x="67" y="442"/>
                        </a:lnTo>
                        <a:lnTo>
                          <a:pt x="95" y="444"/>
                        </a:lnTo>
                        <a:lnTo>
                          <a:pt x="123" y="441"/>
                        </a:lnTo>
                        <a:lnTo>
                          <a:pt x="154" y="431"/>
                        </a:lnTo>
                        <a:lnTo>
                          <a:pt x="185" y="416"/>
                        </a:lnTo>
                        <a:lnTo>
                          <a:pt x="217" y="396"/>
                        </a:lnTo>
                        <a:lnTo>
                          <a:pt x="249" y="372"/>
                        </a:lnTo>
                        <a:lnTo>
                          <a:pt x="282" y="345"/>
                        </a:lnTo>
                        <a:lnTo>
                          <a:pt x="315" y="313"/>
                        </a:lnTo>
                        <a:lnTo>
                          <a:pt x="346" y="279"/>
                        </a:lnTo>
                        <a:lnTo>
                          <a:pt x="377" y="245"/>
                        </a:lnTo>
                        <a:lnTo>
                          <a:pt x="407" y="208"/>
                        </a:lnTo>
                        <a:lnTo>
                          <a:pt x="436" y="171"/>
                        </a:lnTo>
                        <a:lnTo>
                          <a:pt x="465" y="133"/>
                        </a:lnTo>
                        <a:lnTo>
                          <a:pt x="490" y="96"/>
                        </a:lnTo>
                        <a:lnTo>
                          <a:pt x="515" y="61"/>
                        </a:lnTo>
                        <a:lnTo>
                          <a:pt x="535" y="26"/>
                        </a:lnTo>
                        <a:lnTo>
                          <a:pt x="546" y="13"/>
                        </a:lnTo>
                        <a:lnTo>
                          <a:pt x="561" y="4"/>
                        </a:lnTo>
                        <a:lnTo>
                          <a:pt x="578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2" name="Freeform 21">
                    <a:extLst>
                      <a:ext uri="{FF2B5EF4-FFF2-40B4-BE49-F238E27FC236}">
                        <a16:creationId xmlns:a16="http://schemas.microsoft.com/office/drawing/2014/main" id="{BB18E06E-E9FE-4231-80B9-3ED87A8FA1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658901" y="5643315"/>
                    <a:ext cx="93885" cy="203348"/>
                  </a:xfrm>
                  <a:custGeom>
                    <a:avLst/>
                    <a:gdLst>
                      <a:gd name="T0" fmla="*/ 411 w 458"/>
                      <a:gd name="T1" fmla="*/ 0 h 992"/>
                      <a:gd name="T2" fmla="*/ 442 w 458"/>
                      <a:gd name="T3" fmla="*/ 14 h 992"/>
                      <a:gd name="T4" fmla="*/ 458 w 458"/>
                      <a:gd name="T5" fmla="*/ 45 h 992"/>
                      <a:gd name="T6" fmla="*/ 453 w 458"/>
                      <a:gd name="T7" fmla="*/ 79 h 992"/>
                      <a:gd name="T8" fmla="*/ 441 w 458"/>
                      <a:gd name="T9" fmla="*/ 95 h 992"/>
                      <a:gd name="T10" fmla="*/ 430 w 458"/>
                      <a:gd name="T11" fmla="*/ 110 h 992"/>
                      <a:gd name="T12" fmla="*/ 414 w 458"/>
                      <a:gd name="T13" fmla="*/ 140 h 992"/>
                      <a:gd name="T14" fmla="*/ 394 w 458"/>
                      <a:gd name="T15" fmla="*/ 185 h 992"/>
                      <a:gd name="T16" fmla="*/ 375 w 458"/>
                      <a:gd name="T17" fmla="*/ 249 h 992"/>
                      <a:gd name="T18" fmla="*/ 360 w 458"/>
                      <a:gd name="T19" fmla="*/ 330 h 992"/>
                      <a:gd name="T20" fmla="*/ 353 w 458"/>
                      <a:gd name="T21" fmla="*/ 432 h 992"/>
                      <a:gd name="T22" fmla="*/ 355 w 458"/>
                      <a:gd name="T23" fmla="*/ 557 h 992"/>
                      <a:gd name="T24" fmla="*/ 354 w 458"/>
                      <a:gd name="T25" fmla="*/ 574 h 992"/>
                      <a:gd name="T26" fmla="*/ 348 w 458"/>
                      <a:gd name="T27" fmla="*/ 602 h 992"/>
                      <a:gd name="T28" fmla="*/ 337 w 458"/>
                      <a:gd name="T29" fmla="*/ 649 h 992"/>
                      <a:gd name="T30" fmla="*/ 320 w 458"/>
                      <a:gd name="T31" fmla="*/ 708 h 992"/>
                      <a:gd name="T32" fmla="*/ 294 w 458"/>
                      <a:gd name="T33" fmla="*/ 774 h 992"/>
                      <a:gd name="T34" fmla="*/ 261 w 458"/>
                      <a:gd name="T35" fmla="*/ 839 h 992"/>
                      <a:gd name="T36" fmla="*/ 219 w 458"/>
                      <a:gd name="T37" fmla="*/ 901 h 992"/>
                      <a:gd name="T38" fmla="*/ 165 w 458"/>
                      <a:gd name="T39" fmla="*/ 950 h 992"/>
                      <a:gd name="T40" fmla="*/ 100 w 458"/>
                      <a:gd name="T41" fmla="*/ 983 h 992"/>
                      <a:gd name="T42" fmla="*/ 55 w 458"/>
                      <a:gd name="T43" fmla="*/ 992 h 992"/>
                      <a:gd name="T44" fmla="*/ 26 w 458"/>
                      <a:gd name="T45" fmla="*/ 982 h 992"/>
                      <a:gd name="T46" fmla="*/ 5 w 458"/>
                      <a:gd name="T47" fmla="*/ 959 h 992"/>
                      <a:gd name="T48" fmla="*/ 2 w 458"/>
                      <a:gd name="T49" fmla="*/ 926 h 992"/>
                      <a:gd name="T50" fmla="*/ 17 w 458"/>
                      <a:gd name="T51" fmla="*/ 895 h 992"/>
                      <a:gd name="T52" fmla="*/ 48 w 458"/>
                      <a:gd name="T53" fmla="*/ 880 h 992"/>
                      <a:gd name="T54" fmla="*/ 100 w 458"/>
                      <a:gd name="T55" fmla="*/ 859 h 992"/>
                      <a:gd name="T56" fmla="*/ 143 w 458"/>
                      <a:gd name="T57" fmla="*/ 817 h 992"/>
                      <a:gd name="T58" fmla="*/ 178 w 458"/>
                      <a:gd name="T59" fmla="*/ 761 h 992"/>
                      <a:gd name="T60" fmla="*/ 206 w 458"/>
                      <a:gd name="T61" fmla="*/ 697 h 992"/>
                      <a:gd name="T62" fmla="*/ 227 w 458"/>
                      <a:gd name="T63" fmla="*/ 634 h 992"/>
                      <a:gd name="T64" fmla="*/ 241 w 458"/>
                      <a:gd name="T65" fmla="*/ 580 h 992"/>
                      <a:gd name="T66" fmla="*/ 242 w 458"/>
                      <a:gd name="T67" fmla="*/ 487 h 992"/>
                      <a:gd name="T68" fmla="*/ 245 w 458"/>
                      <a:gd name="T69" fmla="*/ 362 h 992"/>
                      <a:gd name="T70" fmla="*/ 260 w 458"/>
                      <a:gd name="T71" fmla="*/ 259 h 992"/>
                      <a:gd name="T72" fmla="*/ 281 w 458"/>
                      <a:gd name="T73" fmla="*/ 177 h 992"/>
                      <a:gd name="T74" fmla="*/ 304 w 458"/>
                      <a:gd name="T75" fmla="*/ 111 h 992"/>
                      <a:gd name="T76" fmla="*/ 328 w 458"/>
                      <a:gd name="T77" fmla="*/ 65 h 992"/>
                      <a:gd name="T78" fmla="*/ 348 w 458"/>
                      <a:gd name="T79" fmla="*/ 34 h 992"/>
                      <a:gd name="T80" fmla="*/ 361 w 458"/>
                      <a:gd name="T81" fmla="*/ 18 h 992"/>
                      <a:gd name="T82" fmla="*/ 378 w 458"/>
                      <a:gd name="T83" fmla="*/ 4 h 9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458" h="992">
                        <a:moveTo>
                          <a:pt x="394" y="0"/>
                        </a:moveTo>
                        <a:lnTo>
                          <a:pt x="411" y="0"/>
                        </a:lnTo>
                        <a:lnTo>
                          <a:pt x="427" y="4"/>
                        </a:lnTo>
                        <a:lnTo>
                          <a:pt x="442" y="14"/>
                        </a:lnTo>
                        <a:lnTo>
                          <a:pt x="453" y="29"/>
                        </a:lnTo>
                        <a:lnTo>
                          <a:pt x="458" y="45"/>
                        </a:lnTo>
                        <a:lnTo>
                          <a:pt x="458" y="62"/>
                        </a:lnTo>
                        <a:lnTo>
                          <a:pt x="453" y="79"/>
                        </a:lnTo>
                        <a:lnTo>
                          <a:pt x="443" y="93"/>
                        </a:lnTo>
                        <a:lnTo>
                          <a:pt x="441" y="95"/>
                        </a:lnTo>
                        <a:lnTo>
                          <a:pt x="436" y="102"/>
                        </a:lnTo>
                        <a:lnTo>
                          <a:pt x="430" y="110"/>
                        </a:lnTo>
                        <a:lnTo>
                          <a:pt x="422" y="124"/>
                        </a:lnTo>
                        <a:lnTo>
                          <a:pt x="414" y="140"/>
                        </a:lnTo>
                        <a:lnTo>
                          <a:pt x="404" y="161"/>
                        </a:lnTo>
                        <a:lnTo>
                          <a:pt x="394" y="185"/>
                        </a:lnTo>
                        <a:lnTo>
                          <a:pt x="384" y="215"/>
                        </a:lnTo>
                        <a:lnTo>
                          <a:pt x="375" y="249"/>
                        </a:lnTo>
                        <a:lnTo>
                          <a:pt x="367" y="287"/>
                        </a:lnTo>
                        <a:lnTo>
                          <a:pt x="360" y="330"/>
                        </a:lnTo>
                        <a:lnTo>
                          <a:pt x="355" y="380"/>
                        </a:lnTo>
                        <a:lnTo>
                          <a:pt x="353" y="432"/>
                        </a:lnTo>
                        <a:lnTo>
                          <a:pt x="353" y="491"/>
                        </a:lnTo>
                        <a:lnTo>
                          <a:pt x="355" y="557"/>
                        </a:lnTo>
                        <a:lnTo>
                          <a:pt x="354" y="568"/>
                        </a:lnTo>
                        <a:lnTo>
                          <a:pt x="354" y="574"/>
                        </a:lnTo>
                        <a:lnTo>
                          <a:pt x="352" y="586"/>
                        </a:lnTo>
                        <a:lnTo>
                          <a:pt x="348" y="602"/>
                        </a:lnTo>
                        <a:lnTo>
                          <a:pt x="343" y="624"/>
                        </a:lnTo>
                        <a:lnTo>
                          <a:pt x="337" y="649"/>
                        </a:lnTo>
                        <a:lnTo>
                          <a:pt x="330" y="678"/>
                        </a:lnTo>
                        <a:lnTo>
                          <a:pt x="320" y="708"/>
                        </a:lnTo>
                        <a:lnTo>
                          <a:pt x="308" y="741"/>
                        </a:lnTo>
                        <a:lnTo>
                          <a:pt x="294" y="774"/>
                        </a:lnTo>
                        <a:lnTo>
                          <a:pt x="280" y="807"/>
                        </a:lnTo>
                        <a:lnTo>
                          <a:pt x="261" y="839"/>
                        </a:lnTo>
                        <a:lnTo>
                          <a:pt x="241" y="871"/>
                        </a:lnTo>
                        <a:lnTo>
                          <a:pt x="219" y="901"/>
                        </a:lnTo>
                        <a:lnTo>
                          <a:pt x="193" y="927"/>
                        </a:lnTo>
                        <a:lnTo>
                          <a:pt x="165" y="950"/>
                        </a:lnTo>
                        <a:lnTo>
                          <a:pt x="133" y="969"/>
                        </a:lnTo>
                        <a:lnTo>
                          <a:pt x="100" y="983"/>
                        </a:lnTo>
                        <a:lnTo>
                          <a:pt x="63" y="991"/>
                        </a:lnTo>
                        <a:lnTo>
                          <a:pt x="55" y="992"/>
                        </a:lnTo>
                        <a:lnTo>
                          <a:pt x="39" y="989"/>
                        </a:lnTo>
                        <a:lnTo>
                          <a:pt x="26" y="982"/>
                        </a:lnTo>
                        <a:lnTo>
                          <a:pt x="14" y="972"/>
                        </a:lnTo>
                        <a:lnTo>
                          <a:pt x="5" y="959"/>
                        </a:lnTo>
                        <a:lnTo>
                          <a:pt x="0" y="943"/>
                        </a:lnTo>
                        <a:lnTo>
                          <a:pt x="2" y="926"/>
                        </a:lnTo>
                        <a:lnTo>
                          <a:pt x="6" y="908"/>
                        </a:lnTo>
                        <a:lnTo>
                          <a:pt x="17" y="895"/>
                        </a:lnTo>
                        <a:lnTo>
                          <a:pt x="31" y="885"/>
                        </a:lnTo>
                        <a:lnTo>
                          <a:pt x="48" y="880"/>
                        </a:lnTo>
                        <a:lnTo>
                          <a:pt x="75" y="873"/>
                        </a:lnTo>
                        <a:lnTo>
                          <a:pt x="100" y="859"/>
                        </a:lnTo>
                        <a:lnTo>
                          <a:pt x="122" y="841"/>
                        </a:lnTo>
                        <a:lnTo>
                          <a:pt x="143" y="817"/>
                        </a:lnTo>
                        <a:lnTo>
                          <a:pt x="163" y="790"/>
                        </a:lnTo>
                        <a:lnTo>
                          <a:pt x="178" y="761"/>
                        </a:lnTo>
                        <a:lnTo>
                          <a:pt x="194" y="729"/>
                        </a:lnTo>
                        <a:lnTo>
                          <a:pt x="206" y="697"/>
                        </a:lnTo>
                        <a:lnTo>
                          <a:pt x="217" y="665"/>
                        </a:lnTo>
                        <a:lnTo>
                          <a:pt x="227" y="634"/>
                        </a:lnTo>
                        <a:lnTo>
                          <a:pt x="234" y="606"/>
                        </a:lnTo>
                        <a:lnTo>
                          <a:pt x="241" y="580"/>
                        </a:lnTo>
                        <a:lnTo>
                          <a:pt x="244" y="558"/>
                        </a:lnTo>
                        <a:lnTo>
                          <a:pt x="242" y="487"/>
                        </a:lnTo>
                        <a:lnTo>
                          <a:pt x="242" y="423"/>
                        </a:lnTo>
                        <a:lnTo>
                          <a:pt x="245" y="362"/>
                        </a:lnTo>
                        <a:lnTo>
                          <a:pt x="252" y="308"/>
                        </a:lnTo>
                        <a:lnTo>
                          <a:pt x="260" y="259"/>
                        </a:lnTo>
                        <a:lnTo>
                          <a:pt x="270" y="215"/>
                        </a:lnTo>
                        <a:lnTo>
                          <a:pt x="281" y="177"/>
                        </a:lnTo>
                        <a:lnTo>
                          <a:pt x="292" y="141"/>
                        </a:lnTo>
                        <a:lnTo>
                          <a:pt x="304" y="111"/>
                        </a:lnTo>
                        <a:lnTo>
                          <a:pt x="316" y="86"/>
                        </a:lnTo>
                        <a:lnTo>
                          <a:pt x="328" y="65"/>
                        </a:lnTo>
                        <a:lnTo>
                          <a:pt x="339" y="48"/>
                        </a:lnTo>
                        <a:lnTo>
                          <a:pt x="348" y="34"/>
                        </a:lnTo>
                        <a:lnTo>
                          <a:pt x="355" y="24"/>
                        </a:lnTo>
                        <a:lnTo>
                          <a:pt x="361" y="18"/>
                        </a:lnTo>
                        <a:lnTo>
                          <a:pt x="364" y="14"/>
                        </a:lnTo>
                        <a:lnTo>
                          <a:pt x="378" y="4"/>
                        </a:lnTo>
                        <a:lnTo>
                          <a:pt x="394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3" name="Freeform 22">
                    <a:extLst>
                      <a:ext uri="{FF2B5EF4-FFF2-40B4-BE49-F238E27FC236}">
                        <a16:creationId xmlns:a16="http://schemas.microsoft.com/office/drawing/2014/main" id="{0E7ECDDE-D4B8-48B0-9A5E-6AB39A0824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485071" y="5630196"/>
                    <a:ext cx="86095" cy="45097"/>
                  </a:xfrm>
                  <a:custGeom>
                    <a:avLst/>
                    <a:gdLst>
                      <a:gd name="T0" fmla="*/ 58 w 419"/>
                      <a:gd name="T1" fmla="*/ 0 h 220"/>
                      <a:gd name="T2" fmla="*/ 75 w 419"/>
                      <a:gd name="T3" fmla="*/ 3 h 220"/>
                      <a:gd name="T4" fmla="*/ 90 w 419"/>
                      <a:gd name="T5" fmla="*/ 11 h 220"/>
                      <a:gd name="T6" fmla="*/ 102 w 419"/>
                      <a:gd name="T7" fmla="*/ 25 h 220"/>
                      <a:gd name="T8" fmla="*/ 109 w 419"/>
                      <a:gd name="T9" fmla="*/ 41 h 220"/>
                      <a:gd name="T10" fmla="*/ 117 w 419"/>
                      <a:gd name="T11" fmla="*/ 58 h 220"/>
                      <a:gd name="T12" fmla="*/ 129 w 419"/>
                      <a:gd name="T13" fmla="*/ 72 h 220"/>
                      <a:gd name="T14" fmla="*/ 146 w 419"/>
                      <a:gd name="T15" fmla="*/ 83 h 220"/>
                      <a:gd name="T16" fmla="*/ 166 w 419"/>
                      <a:gd name="T17" fmla="*/ 91 h 220"/>
                      <a:gd name="T18" fmla="*/ 187 w 419"/>
                      <a:gd name="T19" fmla="*/ 98 h 220"/>
                      <a:gd name="T20" fmla="*/ 211 w 419"/>
                      <a:gd name="T21" fmla="*/ 102 h 220"/>
                      <a:gd name="T22" fmla="*/ 236 w 419"/>
                      <a:gd name="T23" fmla="*/ 106 h 220"/>
                      <a:gd name="T24" fmla="*/ 261 w 419"/>
                      <a:gd name="T25" fmla="*/ 107 h 220"/>
                      <a:gd name="T26" fmla="*/ 284 w 419"/>
                      <a:gd name="T27" fmla="*/ 109 h 220"/>
                      <a:gd name="T28" fmla="*/ 307 w 419"/>
                      <a:gd name="T29" fmla="*/ 107 h 220"/>
                      <a:gd name="T30" fmla="*/ 326 w 419"/>
                      <a:gd name="T31" fmla="*/ 107 h 220"/>
                      <a:gd name="T32" fmla="*/ 344 w 419"/>
                      <a:gd name="T33" fmla="*/ 105 h 220"/>
                      <a:gd name="T34" fmla="*/ 357 w 419"/>
                      <a:gd name="T35" fmla="*/ 104 h 220"/>
                      <a:gd name="T36" fmla="*/ 374 w 419"/>
                      <a:gd name="T37" fmla="*/ 104 h 220"/>
                      <a:gd name="T38" fmla="*/ 390 w 419"/>
                      <a:gd name="T39" fmla="*/ 110 h 220"/>
                      <a:gd name="T40" fmla="*/ 403 w 419"/>
                      <a:gd name="T41" fmla="*/ 120 h 220"/>
                      <a:gd name="T42" fmla="*/ 414 w 419"/>
                      <a:gd name="T43" fmla="*/ 134 h 220"/>
                      <a:gd name="T44" fmla="*/ 419 w 419"/>
                      <a:gd name="T45" fmla="*/ 152 h 220"/>
                      <a:gd name="T46" fmla="*/ 419 w 419"/>
                      <a:gd name="T47" fmla="*/ 169 h 220"/>
                      <a:gd name="T48" fmla="*/ 413 w 419"/>
                      <a:gd name="T49" fmla="*/ 186 h 220"/>
                      <a:gd name="T50" fmla="*/ 403 w 419"/>
                      <a:gd name="T51" fmla="*/ 200 h 220"/>
                      <a:gd name="T52" fmla="*/ 389 w 419"/>
                      <a:gd name="T53" fmla="*/ 209 h 220"/>
                      <a:gd name="T54" fmla="*/ 373 w 419"/>
                      <a:gd name="T55" fmla="*/ 214 h 220"/>
                      <a:gd name="T56" fmla="*/ 363 w 419"/>
                      <a:gd name="T57" fmla="*/ 216 h 220"/>
                      <a:gd name="T58" fmla="*/ 350 w 419"/>
                      <a:gd name="T59" fmla="*/ 218 h 220"/>
                      <a:gd name="T60" fmla="*/ 331 w 419"/>
                      <a:gd name="T61" fmla="*/ 219 h 220"/>
                      <a:gd name="T62" fmla="*/ 309 w 419"/>
                      <a:gd name="T63" fmla="*/ 220 h 220"/>
                      <a:gd name="T64" fmla="*/ 284 w 419"/>
                      <a:gd name="T65" fmla="*/ 220 h 220"/>
                      <a:gd name="T66" fmla="*/ 258 w 419"/>
                      <a:gd name="T67" fmla="*/ 220 h 220"/>
                      <a:gd name="T68" fmla="*/ 231 w 419"/>
                      <a:gd name="T69" fmla="*/ 218 h 220"/>
                      <a:gd name="T70" fmla="*/ 203 w 419"/>
                      <a:gd name="T71" fmla="*/ 216 h 220"/>
                      <a:gd name="T72" fmla="*/ 174 w 419"/>
                      <a:gd name="T73" fmla="*/ 211 h 220"/>
                      <a:gd name="T74" fmla="*/ 146 w 419"/>
                      <a:gd name="T75" fmla="*/ 203 h 220"/>
                      <a:gd name="T76" fmla="*/ 119 w 419"/>
                      <a:gd name="T77" fmla="*/ 193 h 220"/>
                      <a:gd name="T78" fmla="*/ 92 w 419"/>
                      <a:gd name="T79" fmla="*/ 181 h 220"/>
                      <a:gd name="T80" fmla="*/ 69 w 419"/>
                      <a:gd name="T81" fmla="*/ 166 h 220"/>
                      <a:gd name="T82" fmla="*/ 47 w 419"/>
                      <a:gd name="T83" fmla="*/ 148 h 220"/>
                      <a:gd name="T84" fmla="*/ 28 w 419"/>
                      <a:gd name="T85" fmla="*/ 126 h 220"/>
                      <a:gd name="T86" fmla="*/ 13 w 419"/>
                      <a:gd name="T87" fmla="*/ 100 h 220"/>
                      <a:gd name="T88" fmla="*/ 2 w 419"/>
                      <a:gd name="T89" fmla="*/ 70 h 220"/>
                      <a:gd name="T90" fmla="*/ 0 w 419"/>
                      <a:gd name="T91" fmla="*/ 52 h 220"/>
                      <a:gd name="T92" fmla="*/ 3 w 419"/>
                      <a:gd name="T93" fmla="*/ 36 h 220"/>
                      <a:gd name="T94" fmla="*/ 12 w 419"/>
                      <a:gd name="T95" fmla="*/ 20 h 220"/>
                      <a:gd name="T96" fmla="*/ 25 w 419"/>
                      <a:gd name="T97" fmla="*/ 9 h 220"/>
                      <a:gd name="T98" fmla="*/ 41 w 419"/>
                      <a:gd name="T99" fmla="*/ 2 h 220"/>
                      <a:gd name="T100" fmla="*/ 58 w 419"/>
                      <a:gd name="T101" fmla="*/ 0 h 2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419" h="220">
                        <a:moveTo>
                          <a:pt x="58" y="0"/>
                        </a:moveTo>
                        <a:lnTo>
                          <a:pt x="75" y="3"/>
                        </a:lnTo>
                        <a:lnTo>
                          <a:pt x="90" y="11"/>
                        </a:lnTo>
                        <a:lnTo>
                          <a:pt x="102" y="25"/>
                        </a:lnTo>
                        <a:lnTo>
                          <a:pt x="109" y="41"/>
                        </a:lnTo>
                        <a:lnTo>
                          <a:pt x="117" y="58"/>
                        </a:lnTo>
                        <a:lnTo>
                          <a:pt x="129" y="72"/>
                        </a:lnTo>
                        <a:lnTo>
                          <a:pt x="146" y="83"/>
                        </a:lnTo>
                        <a:lnTo>
                          <a:pt x="166" y="91"/>
                        </a:lnTo>
                        <a:lnTo>
                          <a:pt x="187" y="98"/>
                        </a:lnTo>
                        <a:lnTo>
                          <a:pt x="211" y="102"/>
                        </a:lnTo>
                        <a:lnTo>
                          <a:pt x="236" y="106"/>
                        </a:lnTo>
                        <a:lnTo>
                          <a:pt x="261" y="107"/>
                        </a:lnTo>
                        <a:lnTo>
                          <a:pt x="284" y="109"/>
                        </a:lnTo>
                        <a:lnTo>
                          <a:pt x="307" y="107"/>
                        </a:lnTo>
                        <a:lnTo>
                          <a:pt x="326" y="107"/>
                        </a:lnTo>
                        <a:lnTo>
                          <a:pt x="344" y="105"/>
                        </a:lnTo>
                        <a:lnTo>
                          <a:pt x="357" y="104"/>
                        </a:lnTo>
                        <a:lnTo>
                          <a:pt x="374" y="104"/>
                        </a:lnTo>
                        <a:lnTo>
                          <a:pt x="390" y="110"/>
                        </a:lnTo>
                        <a:lnTo>
                          <a:pt x="403" y="120"/>
                        </a:lnTo>
                        <a:lnTo>
                          <a:pt x="414" y="134"/>
                        </a:lnTo>
                        <a:lnTo>
                          <a:pt x="419" y="152"/>
                        </a:lnTo>
                        <a:lnTo>
                          <a:pt x="419" y="169"/>
                        </a:lnTo>
                        <a:lnTo>
                          <a:pt x="413" y="186"/>
                        </a:lnTo>
                        <a:lnTo>
                          <a:pt x="403" y="200"/>
                        </a:lnTo>
                        <a:lnTo>
                          <a:pt x="389" y="209"/>
                        </a:lnTo>
                        <a:lnTo>
                          <a:pt x="373" y="214"/>
                        </a:lnTo>
                        <a:lnTo>
                          <a:pt x="363" y="216"/>
                        </a:lnTo>
                        <a:lnTo>
                          <a:pt x="350" y="218"/>
                        </a:lnTo>
                        <a:lnTo>
                          <a:pt x="331" y="219"/>
                        </a:lnTo>
                        <a:lnTo>
                          <a:pt x="309" y="220"/>
                        </a:lnTo>
                        <a:lnTo>
                          <a:pt x="284" y="220"/>
                        </a:lnTo>
                        <a:lnTo>
                          <a:pt x="258" y="220"/>
                        </a:lnTo>
                        <a:lnTo>
                          <a:pt x="231" y="218"/>
                        </a:lnTo>
                        <a:lnTo>
                          <a:pt x="203" y="216"/>
                        </a:lnTo>
                        <a:lnTo>
                          <a:pt x="174" y="211"/>
                        </a:lnTo>
                        <a:lnTo>
                          <a:pt x="146" y="203"/>
                        </a:lnTo>
                        <a:lnTo>
                          <a:pt x="119" y="193"/>
                        </a:lnTo>
                        <a:lnTo>
                          <a:pt x="92" y="181"/>
                        </a:lnTo>
                        <a:lnTo>
                          <a:pt x="69" y="166"/>
                        </a:lnTo>
                        <a:lnTo>
                          <a:pt x="47" y="148"/>
                        </a:lnTo>
                        <a:lnTo>
                          <a:pt x="28" y="126"/>
                        </a:lnTo>
                        <a:lnTo>
                          <a:pt x="13" y="100"/>
                        </a:lnTo>
                        <a:lnTo>
                          <a:pt x="2" y="70"/>
                        </a:lnTo>
                        <a:lnTo>
                          <a:pt x="0" y="52"/>
                        </a:lnTo>
                        <a:lnTo>
                          <a:pt x="3" y="36"/>
                        </a:lnTo>
                        <a:lnTo>
                          <a:pt x="12" y="20"/>
                        </a:lnTo>
                        <a:lnTo>
                          <a:pt x="25" y="9"/>
                        </a:lnTo>
                        <a:lnTo>
                          <a:pt x="41" y="2"/>
                        </a:lnTo>
                        <a:lnTo>
                          <a:pt x="58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45714" tIns="22857" rIns="45714" bIns="2285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55AAD1D-C75B-4B8F-AEF6-50129BC282BB}"/>
              </a:ext>
            </a:extLst>
          </p:cNvPr>
          <p:cNvGrpSpPr/>
          <p:nvPr/>
        </p:nvGrpSpPr>
        <p:grpSpPr>
          <a:xfrm>
            <a:off x="1828252" y="1829174"/>
            <a:ext cx="8553998" cy="369332"/>
            <a:chOff x="2513739" y="6939314"/>
            <a:chExt cx="17110219" cy="738760"/>
          </a:xfrm>
        </p:grpSpPr>
        <p:sp>
          <p:nvSpPr>
            <p:cNvPr id="95" name="Shape 5250">
              <a:extLst>
                <a:ext uri="{FF2B5EF4-FFF2-40B4-BE49-F238E27FC236}">
                  <a16:creationId xmlns:a16="http://schemas.microsoft.com/office/drawing/2014/main" id="{28531365-72A4-44AF-BE57-5244DA32AEDE}"/>
                </a:ext>
              </a:extLst>
            </p:cNvPr>
            <p:cNvSpPr/>
            <p:nvPr/>
          </p:nvSpPr>
          <p:spPr>
            <a:xfrm>
              <a:off x="2513739" y="7122846"/>
              <a:ext cx="396499" cy="396498"/>
            </a:xfrm>
            <a:prstGeom prst="rect">
              <a:avLst/>
            </a:prstGeom>
            <a:solidFill>
              <a:srgbClr val="D8707C"/>
            </a:solidFill>
            <a:ln w="12700" cap="flat">
              <a:noFill/>
              <a:miter lim="400000"/>
            </a:ln>
            <a:effectLst/>
          </p:spPr>
          <p:txBody>
            <a:bodyPr wrap="square" lIns="45701" tIns="45701" rIns="45701" bIns="45701" numCol="1" anchor="t">
              <a:noAutofit/>
            </a:bodyPr>
            <a:lstStyle/>
            <a:p>
              <a:pPr marL="0" marR="0" lvl="0" indent="0" defTabSz="4569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anose="020B0604020202020204" charset="0"/>
                <a:ea typeface="Calibri"/>
                <a:cs typeface="Raleway" panose="020B0604020202020204" charset="0"/>
                <a:sym typeface="Calibri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30E1451-C61D-4DEA-87DE-009A134C332B}"/>
                </a:ext>
              </a:extLst>
            </p:cNvPr>
            <p:cNvSpPr txBox="1"/>
            <p:nvPr/>
          </p:nvSpPr>
          <p:spPr>
            <a:xfrm>
              <a:off x="3265527" y="6939314"/>
              <a:ext cx="16358431" cy="7387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en-US" sz="2400" b="1" kern="0" dirty="0">
                  <a:solidFill>
                    <a:srgbClr val="FF0000"/>
                  </a:solidFill>
                  <a:cs typeface="Segoe UI" panose="020B0502040204020203" pitchFamily="34" charset="0"/>
                </a:rPr>
                <a:t>Performance</a:t>
              </a:r>
              <a:r>
                <a:rPr lang="en-US" sz="2400" b="1" kern="0" dirty="0">
                  <a:solidFill>
                    <a:srgbClr val="262626"/>
                  </a:solidFill>
                  <a:cs typeface="Segoe UI" panose="020B0502040204020203" pitchFamily="34" charset="0"/>
                </a:rPr>
                <a:t> and </a:t>
              </a:r>
              <a:r>
                <a:rPr lang="en-US" sz="2400" b="1" kern="0" dirty="0">
                  <a:solidFill>
                    <a:srgbClr val="FF0000"/>
                  </a:solidFill>
                  <a:cs typeface="Segoe UI" panose="020B0502040204020203" pitchFamily="34" charset="0"/>
                </a:rPr>
                <a:t>computational cost</a:t>
              </a:r>
              <a:r>
                <a:rPr lang="en-US" sz="2400" b="1" kern="0" dirty="0">
                  <a:solidFill>
                    <a:srgbClr val="262626"/>
                  </a:solidFill>
                  <a:cs typeface="Segoe UI" panose="020B0502040204020203" pitchFamily="34" charset="0"/>
                </a:rPr>
                <a:t> of ANN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cs typeface="Segoe UI" panose="020B0502040204020203" pitchFamily="34" charset="0"/>
              </a:endParaRP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D30E1451-C61D-4DEA-87DE-009A134C332B}"/>
              </a:ext>
            </a:extLst>
          </p:cNvPr>
          <p:cNvSpPr txBox="1"/>
          <p:nvPr/>
        </p:nvSpPr>
        <p:spPr>
          <a:xfrm>
            <a:off x="1664828" y="1135786"/>
            <a:ext cx="9241298" cy="579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2800" b="1" kern="0" dirty="0">
                <a:solidFill>
                  <a:schemeClr val="bg1"/>
                </a:solidFill>
                <a:cs typeface="Segoe UI" panose="020B0502040204020203" pitchFamily="34" charset="0"/>
              </a:rPr>
              <a:t>The </a:t>
            </a:r>
            <a:r>
              <a:rPr lang="en-US" sz="2800" b="1" kern="0" dirty="0">
                <a:solidFill>
                  <a:srgbClr val="FFFF00"/>
                </a:solidFill>
                <a:cs typeface="Segoe UI" panose="020B0502040204020203" pitchFamily="34" charset="0"/>
              </a:rPr>
              <a:t>Architecture of ANN </a:t>
            </a:r>
            <a:r>
              <a:rPr lang="en-US" sz="2800" b="1" kern="0" dirty="0">
                <a:solidFill>
                  <a:schemeClr val="bg1"/>
                </a:solidFill>
                <a:cs typeface="Segoe UI" panose="020B0502040204020203" pitchFamily="34" charset="0"/>
              </a:rPr>
              <a:t>plays an </a:t>
            </a:r>
            <a:r>
              <a:rPr lang="en-US" sz="2800" b="1" kern="0" dirty="0">
                <a:solidFill>
                  <a:srgbClr val="FFFF00"/>
                </a:solidFill>
                <a:cs typeface="Segoe UI" panose="020B0502040204020203" pitchFamily="34" charset="0"/>
              </a:rPr>
              <a:t>important</a:t>
            </a:r>
            <a:r>
              <a:rPr lang="en-US" sz="2800" b="1" kern="0" dirty="0">
                <a:solidFill>
                  <a:schemeClr val="bg1"/>
                </a:solidFill>
                <a:cs typeface="Segoe UI" panose="020B0502040204020203" pitchFamily="34" charset="0"/>
              </a:rPr>
              <a:t> role on the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838198" y="2262975"/>
            <a:ext cx="10172703" cy="563257"/>
            <a:chOff x="951018" y="4368568"/>
            <a:chExt cx="10172703" cy="619583"/>
          </a:xfrm>
        </p:grpSpPr>
        <p:sp>
          <p:nvSpPr>
            <p:cNvPr id="99" name="Rounded Rectangle 12">
              <a:extLst>
                <a:ext uri="{FF2B5EF4-FFF2-40B4-BE49-F238E27FC236}">
                  <a16:creationId xmlns:a16="http://schemas.microsoft.com/office/drawing/2014/main" id="{4E5D6DD1-77BA-4DBE-8A05-5F7C79933A53}"/>
                </a:ext>
              </a:extLst>
            </p:cNvPr>
            <p:cNvSpPr/>
            <p:nvPr/>
          </p:nvSpPr>
          <p:spPr>
            <a:xfrm>
              <a:off x="1188007" y="4427477"/>
              <a:ext cx="9935714" cy="519637"/>
            </a:xfrm>
            <a:prstGeom prst="roundRect">
              <a:avLst/>
            </a:prstGeom>
            <a:solidFill>
              <a:srgbClr val="494B69"/>
            </a:solidFill>
            <a:ln w="12700" cap="flat" cmpd="sng" algn="ctr">
              <a:solidFill>
                <a:srgbClr val="494B69">
                  <a:shade val="50000"/>
                </a:srgbClr>
              </a:solidFill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457200" lvl="2"/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8D25914-E95C-4554-864C-74B84DCFAE34}"/>
                </a:ext>
              </a:extLst>
            </p:cNvPr>
            <p:cNvGrpSpPr/>
            <p:nvPr/>
          </p:nvGrpSpPr>
          <p:grpSpPr>
            <a:xfrm>
              <a:off x="951018" y="4368568"/>
              <a:ext cx="660881" cy="619583"/>
              <a:chOff x="1997921" y="9623671"/>
              <a:chExt cx="1321935" cy="1239327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87A25CCA-DA3B-46CE-B7AD-968B1D6DC1D0}"/>
                  </a:ext>
                </a:extLst>
              </p:cNvPr>
              <p:cNvSpPr/>
              <p:nvPr/>
            </p:nvSpPr>
            <p:spPr>
              <a:xfrm>
                <a:off x="1997921" y="9623671"/>
                <a:ext cx="1321935" cy="1239327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 panose="020B0604020202020204" charset="0"/>
                  <a:ea typeface="+mn-ea"/>
                  <a:cs typeface="Raleway" panose="020B0604020202020204" charset="0"/>
                </a:endParaRPr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365D5C4B-4970-4CA4-9D14-3976926CB42B}"/>
                  </a:ext>
                </a:extLst>
              </p:cNvPr>
              <p:cNvGrpSpPr/>
              <p:nvPr/>
            </p:nvGrpSpPr>
            <p:grpSpPr>
              <a:xfrm>
                <a:off x="2169234" y="9845085"/>
                <a:ext cx="886800" cy="796500"/>
                <a:chOff x="1044035" y="5920470"/>
                <a:chExt cx="359156" cy="360000"/>
              </a:xfrm>
            </p:grpSpPr>
            <p:sp>
              <p:nvSpPr>
                <p:cNvPr id="103" name="Freeform 81">
                  <a:extLst>
                    <a:ext uri="{FF2B5EF4-FFF2-40B4-BE49-F238E27FC236}">
                      <a16:creationId xmlns:a16="http://schemas.microsoft.com/office/drawing/2014/main" id="{99A5E410-E354-4A8A-8D5F-7D9A98D2B0A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044035" y="5920470"/>
                  <a:ext cx="359156" cy="360000"/>
                </a:xfrm>
                <a:custGeom>
                  <a:avLst/>
                  <a:gdLst>
                    <a:gd name="T0" fmla="*/ 61 w 71"/>
                    <a:gd name="T1" fmla="*/ 21 h 71"/>
                    <a:gd name="T2" fmla="*/ 63 w 71"/>
                    <a:gd name="T3" fmla="*/ 12 h 71"/>
                    <a:gd name="T4" fmla="*/ 51 w 71"/>
                    <a:gd name="T5" fmla="*/ 11 h 71"/>
                    <a:gd name="T6" fmla="*/ 38 w 71"/>
                    <a:gd name="T7" fmla="*/ 0 h 71"/>
                    <a:gd name="T8" fmla="*/ 29 w 71"/>
                    <a:gd name="T9" fmla="*/ 8 h 71"/>
                    <a:gd name="T10" fmla="*/ 12 w 71"/>
                    <a:gd name="T11" fmla="*/ 9 h 71"/>
                    <a:gd name="T12" fmla="*/ 9 w 71"/>
                    <a:gd name="T13" fmla="*/ 19 h 71"/>
                    <a:gd name="T14" fmla="*/ 5 w 71"/>
                    <a:gd name="T15" fmla="*/ 29 h 71"/>
                    <a:gd name="T16" fmla="*/ 5 w 71"/>
                    <a:gd name="T17" fmla="*/ 43 h 71"/>
                    <a:gd name="T18" fmla="*/ 9 w 71"/>
                    <a:gd name="T19" fmla="*/ 53 h 71"/>
                    <a:gd name="T20" fmla="*/ 16 w 71"/>
                    <a:gd name="T21" fmla="*/ 64 h 71"/>
                    <a:gd name="T22" fmla="*/ 29 w 71"/>
                    <a:gd name="T23" fmla="*/ 64 h 71"/>
                    <a:gd name="T24" fmla="*/ 38 w 71"/>
                    <a:gd name="T25" fmla="*/ 71 h 71"/>
                    <a:gd name="T26" fmla="*/ 51 w 71"/>
                    <a:gd name="T27" fmla="*/ 61 h 71"/>
                    <a:gd name="T28" fmla="*/ 59 w 71"/>
                    <a:gd name="T29" fmla="*/ 63 h 71"/>
                    <a:gd name="T30" fmla="*/ 61 w 71"/>
                    <a:gd name="T31" fmla="*/ 51 h 71"/>
                    <a:gd name="T32" fmla="*/ 71 w 71"/>
                    <a:gd name="T33" fmla="*/ 38 h 71"/>
                    <a:gd name="T34" fmla="*/ 69 w 71"/>
                    <a:gd name="T35" fmla="*/ 38 h 71"/>
                    <a:gd name="T36" fmla="*/ 62 w 71"/>
                    <a:gd name="T37" fmla="*/ 42 h 71"/>
                    <a:gd name="T38" fmla="*/ 58 w 71"/>
                    <a:gd name="T39" fmla="*/ 50 h 71"/>
                    <a:gd name="T40" fmla="*/ 61 w 71"/>
                    <a:gd name="T41" fmla="*/ 57 h 71"/>
                    <a:gd name="T42" fmla="*/ 52 w 71"/>
                    <a:gd name="T43" fmla="*/ 58 h 71"/>
                    <a:gd name="T44" fmla="*/ 41 w 71"/>
                    <a:gd name="T45" fmla="*/ 62 h 71"/>
                    <a:gd name="T46" fmla="*/ 41 w 71"/>
                    <a:gd name="T47" fmla="*/ 63 h 71"/>
                    <a:gd name="T48" fmla="*/ 33 w 71"/>
                    <a:gd name="T49" fmla="*/ 69 h 71"/>
                    <a:gd name="T50" fmla="*/ 30 w 71"/>
                    <a:gd name="T51" fmla="*/ 62 h 71"/>
                    <a:gd name="T52" fmla="*/ 22 w 71"/>
                    <a:gd name="T53" fmla="*/ 58 h 71"/>
                    <a:gd name="T54" fmla="*/ 17 w 71"/>
                    <a:gd name="T55" fmla="*/ 61 h 71"/>
                    <a:gd name="T56" fmla="*/ 11 w 71"/>
                    <a:gd name="T57" fmla="*/ 54 h 71"/>
                    <a:gd name="T58" fmla="*/ 13 w 71"/>
                    <a:gd name="T59" fmla="*/ 50 h 71"/>
                    <a:gd name="T60" fmla="*/ 9 w 71"/>
                    <a:gd name="T61" fmla="*/ 41 h 71"/>
                    <a:gd name="T62" fmla="*/ 3 w 71"/>
                    <a:gd name="T63" fmla="*/ 33 h 71"/>
                    <a:gd name="T64" fmla="*/ 10 w 71"/>
                    <a:gd name="T65" fmla="*/ 30 h 71"/>
                    <a:gd name="T66" fmla="*/ 13 w 71"/>
                    <a:gd name="T67" fmla="*/ 22 h 71"/>
                    <a:gd name="T68" fmla="*/ 10 w 71"/>
                    <a:gd name="T69" fmla="*/ 16 h 71"/>
                    <a:gd name="T70" fmla="*/ 17 w 71"/>
                    <a:gd name="T71" fmla="*/ 11 h 71"/>
                    <a:gd name="T72" fmla="*/ 22 w 71"/>
                    <a:gd name="T73" fmla="*/ 14 h 71"/>
                    <a:gd name="T74" fmla="*/ 31 w 71"/>
                    <a:gd name="T75" fmla="*/ 9 h 71"/>
                    <a:gd name="T76" fmla="*/ 38 w 71"/>
                    <a:gd name="T77" fmla="*/ 3 h 71"/>
                    <a:gd name="T78" fmla="*/ 41 w 71"/>
                    <a:gd name="T79" fmla="*/ 9 h 71"/>
                    <a:gd name="T80" fmla="*/ 41 w 71"/>
                    <a:gd name="T81" fmla="*/ 9 h 71"/>
                    <a:gd name="T82" fmla="*/ 41 w 71"/>
                    <a:gd name="T83" fmla="*/ 10 h 71"/>
                    <a:gd name="T84" fmla="*/ 41 w 71"/>
                    <a:gd name="T85" fmla="*/ 10 h 71"/>
                    <a:gd name="T86" fmla="*/ 41 w 71"/>
                    <a:gd name="T87" fmla="*/ 10 h 71"/>
                    <a:gd name="T88" fmla="*/ 52 w 71"/>
                    <a:gd name="T89" fmla="*/ 13 h 71"/>
                    <a:gd name="T90" fmla="*/ 61 w 71"/>
                    <a:gd name="T91" fmla="*/ 14 h 71"/>
                    <a:gd name="T92" fmla="*/ 58 w 71"/>
                    <a:gd name="T93" fmla="*/ 20 h 71"/>
                    <a:gd name="T94" fmla="*/ 58 w 71"/>
                    <a:gd name="T95" fmla="*/ 20 h 71"/>
                    <a:gd name="T96" fmla="*/ 58 w 71"/>
                    <a:gd name="T97" fmla="*/ 21 h 71"/>
                    <a:gd name="T98" fmla="*/ 58 w 71"/>
                    <a:gd name="T99" fmla="*/ 21 h 71"/>
                    <a:gd name="T100" fmla="*/ 63 w 71"/>
                    <a:gd name="T101" fmla="*/ 31 h 71"/>
                    <a:gd name="T102" fmla="*/ 69 w 71"/>
                    <a:gd name="T103" fmla="*/ 38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1" h="71">
                      <a:moveTo>
                        <a:pt x="67" y="29"/>
                      </a:moveTo>
                      <a:cubicBezTo>
                        <a:pt x="64" y="29"/>
                        <a:pt x="64" y="29"/>
                        <a:pt x="64" y="29"/>
                      </a:cubicBezTo>
                      <a:cubicBezTo>
                        <a:pt x="63" y="26"/>
                        <a:pt x="62" y="23"/>
                        <a:pt x="61" y="21"/>
                      </a:cubicBezTo>
                      <a:cubicBezTo>
                        <a:pt x="63" y="19"/>
                        <a:pt x="63" y="19"/>
                        <a:pt x="63" y="19"/>
                      </a:cubicBezTo>
                      <a:cubicBezTo>
                        <a:pt x="64" y="18"/>
                        <a:pt x="64" y="17"/>
                        <a:pt x="64" y="16"/>
                      </a:cubicBezTo>
                      <a:cubicBezTo>
                        <a:pt x="64" y="15"/>
                        <a:pt x="64" y="13"/>
                        <a:pt x="63" y="12"/>
                      </a:cubicBezTo>
                      <a:cubicBezTo>
                        <a:pt x="59" y="9"/>
                        <a:pt x="59" y="9"/>
                        <a:pt x="59" y="9"/>
                      </a:cubicBezTo>
                      <a:cubicBezTo>
                        <a:pt x="57" y="7"/>
                        <a:pt x="54" y="7"/>
                        <a:pt x="52" y="9"/>
                      </a:cubicBezTo>
                      <a:cubicBezTo>
                        <a:pt x="51" y="11"/>
                        <a:pt x="51" y="11"/>
                        <a:pt x="51" y="11"/>
                      </a:cubicBezTo>
                      <a:cubicBezTo>
                        <a:pt x="48" y="10"/>
                        <a:pt x="46" y="8"/>
                        <a:pt x="43" y="8"/>
                      </a:cubicBezTo>
                      <a:cubicBezTo>
                        <a:pt x="43" y="5"/>
                        <a:pt x="43" y="5"/>
                        <a:pt x="43" y="5"/>
                      </a:cubicBezTo>
                      <a:cubicBezTo>
                        <a:pt x="43" y="2"/>
                        <a:pt x="41" y="0"/>
                        <a:pt x="38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31" y="0"/>
                        <a:pt x="29" y="2"/>
                        <a:pt x="29" y="5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6" y="8"/>
                        <a:pt x="23" y="10"/>
                        <a:pt x="21" y="11"/>
                      </a:cubicBezTo>
                      <a:cubicBezTo>
                        <a:pt x="19" y="9"/>
                        <a:pt x="19" y="9"/>
                        <a:pt x="19" y="9"/>
                      </a:cubicBezTo>
                      <a:cubicBezTo>
                        <a:pt x="17" y="7"/>
                        <a:pt x="14" y="7"/>
                        <a:pt x="12" y="9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8" y="13"/>
                        <a:pt x="8" y="15"/>
                        <a:pt x="8" y="16"/>
                      </a:cubicBezTo>
                      <a:cubicBezTo>
                        <a:pt x="8" y="17"/>
                        <a:pt x="8" y="18"/>
                        <a:pt x="9" y="19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9" y="23"/>
                        <a:pt x="8" y="26"/>
                        <a:pt x="8" y="29"/>
                      </a:cubicBezTo>
                      <a:cubicBezTo>
                        <a:pt x="5" y="29"/>
                        <a:pt x="5" y="29"/>
                        <a:pt x="5" y="29"/>
                      </a:cubicBezTo>
                      <a:cubicBezTo>
                        <a:pt x="2" y="29"/>
                        <a:pt x="0" y="31"/>
                        <a:pt x="0" y="33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41"/>
                        <a:pt x="2" y="43"/>
                        <a:pt x="5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cubicBezTo>
                        <a:pt x="8" y="46"/>
                        <a:pt x="9" y="48"/>
                        <a:pt x="11" y="51"/>
                      </a:cubicBezTo>
                      <a:cubicBezTo>
                        <a:pt x="9" y="53"/>
                        <a:pt x="9" y="53"/>
                        <a:pt x="9" y="53"/>
                      </a:cubicBezTo>
                      <a:cubicBezTo>
                        <a:pt x="7" y="54"/>
                        <a:pt x="7" y="57"/>
                        <a:pt x="9" y="59"/>
                      </a:cubicBezTo>
                      <a:cubicBezTo>
                        <a:pt x="12" y="63"/>
                        <a:pt x="12" y="63"/>
                        <a:pt x="12" y="63"/>
                      </a:cubicBezTo>
                      <a:cubicBezTo>
                        <a:pt x="13" y="64"/>
                        <a:pt x="15" y="64"/>
                        <a:pt x="16" y="64"/>
                      </a:cubicBezTo>
                      <a:cubicBezTo>
                        <a:pt x="17" y="64"/>
                        <a:pt x="18" y="64"/>
                        <a:pt x="19" y="63"/>
                      </a:cubicBezTo>
                      <a:cubicBezTo>
                        <a:pt x="21" y="61"/>
                        <a:pt x="21" y="61"/>
                        <a:pt x="21" y="61"/>
                      </a:cubicBezTo>
                      <a:cubicBezTo>
                        <a:pt x="23" y="62"/>
                        <a:pt x="26" y="63"/>
                        <a:pt x="29" y="64"/>
                      </a:cubicBezTo>
                      <a:cubicBezTo>
                        <a:pt x="29" y="67"/>
                        <a:pt x="29" y="67"/>
                        <a:pt x="29" y="67"/>
                      </a:cubicBezTo>
                      <a:cubicBezTo>
                        <a:pt x="29" y="69"/>
                        <a:pt x="31" y="71"/>
                        <a:pt x="33" y="71"/>
                      </a:cubicBezTo>
                      <a:cubicBezTo>
                        <a:pt x="38" y="71"/>
                        <a:pt x="38" y="71"/>
                        <a:pt x="38" y="71"/>
                      </a:cubicBezTo>
                      <a:cubicBezTo>
                        <a:pt x="41" y="71"/>
                        <a:pt x="43" y="69"/>
                        <a:pt x="43" y="67"/>
                      </a:cubicBezTo>
                      <a:cubicBezTo>
                        <a:pt x="43" y="64"/>
                        <a:pt x="43" y="64"/>
                        <a:pt x="43" y="64"/>
                      </a:cubicBezTo>
                      <a:cubicBezTo>
                        <a:pt x="46" y="63"/>
                        <a:pt x="48" y="62"/>
                        <a:pt x="51" y="61"/>
                      </a:cubicBezTo>
                      <a:cubicBezTo>
                        <a:pt x="52" y="63"/>
                        <a:pt x="52" y="63"/>
                        <a:pt x="52" y="63"/>
                      </a:cubicBezTo>
                      <a:cubicBezTo>
                        <a:pt x="53" y="64"/>
                        <a:pt x="55" y="64"/>
                        <a:pt x="56" y="64"/>
                      </a:cubicBezTo>
                      <a:cubicBezTo>
                        <a:pt x="57" y="64"/>
                        <a:pt x="58" y="64"/>
                        <a:pt x="59" y="63"/>
                      </a:cubicBezTo>
                      <a:cubicBezTo>
                        <a:pt x="63" y="59"/>
                        <a:pt x="63" y="59"/>
                        <a:pt x="63" y="59"/>
                      </a:cubicBezTo>
                      <a:cubicBezTo>
                        <a:pt x="64" y="57"/>
                        <a:pt x="64" y="54"/>
                        <a:pt x="63" y="53"/>
                      </a:cubicBezTo>
                      <a:cubicBezTo>
                        <a:pt x="61" y="51"/>
                        <a:pt x="61" y="51"/>
                        <a:pt x="61" y="51"/>
                      </a:cubicBezTo>
                      <a:cubicBezTo>
                        <a:pt x="62" y="48"/>
                        <a:pt x="63" y="46"/>
                        <a:pt x="64" y="43"/>
                      </a:cubicBezTo>
                      <a:cubicBezTo>
                        <a:pt x="67" y="43"/>
                        <a:pt x="67" y="43"/>
                        <a:pt x="67" y="43"/>
                      </a:cubicBezTo>
                      <a:cubicBezTo>
                        <a:pt x="69" y="43"/>
                        <a:pt x="71" y="41"/>
                        <a:pt x="71" y="38"/>
                      </a:cubicBezTo>
                      <a:cubicBezTo>
                        <a:pt x="71" y="33"/>
                        <a:pt x="71" y="33"/>
                        <a:pt x="71" y="33"/>
                      </a:cubicBezTo>
                      <a:cubicBezTo>
                        <a:pt x="71" y="31"/>
                        <a:pt x="69" y="29"/>
                        <a:pt x="67" y="29"/>
                      </a:cubicBezTo>
                      <a:close/>
                      <a:moveTo>
                        <a:pt x="69" y="38"/>
                      </a:moveTo>
                      <a:cubicBezTo>
                        <a:pt x="69" y="40"/>
                        <a:pt x="68" y="41"/>
                        <a:pt x="67" y="41"/>
                      </a:cubicBezTo>
                      <a:cubicBezTo>
                        <a:pt x="63" y="41"/>
                        <a:pt x="63" y="41"/>
                        <a:pt x="63" y="41"/>
                      </a:cubicBezTo>
                      <a:cubicBezTo>
                        <a:pt x="62" y="41"/>
                        <a:pt x="62" y="41"/>
                        <a:pt x="62" y="42"/>
                      </a:cubicBezTo>
                      <a:cubicBezTo>
                        <a:pt x="62" y="42"/>
                        <a:pt x="62" y="42"/>
                        <a:pt x="62" y="42"/>
                      </a:cubicBezTo>
                      <a:cubicBezTo>
                        <a:pt x="61" y="45"/>
                        <a:pt x="60" y="47"/>
                        <a:pt x="58" y="50"/>
                      </a:cubicBezTo>
                      <a:cubicBezTo>
                        <a:pt x="58" y="50"/>
                        <a:pt x="58" y="50"/>
                        <a:pt x="58" y="50"/>
                      </a:cubicBezTo>
                      <a:cubicBezTo>
                        <a:pt x="58" y="51"/>
                        <a:pt x="58" y="51"/>
                        <a:pt x="58" y="52"/>
                      </a:cubicBezTo>
                      <a:cubicBezTo>
                        <a:pt x="61" y="54"/>
                        <a:pt x="61" y="54"/>
                        <a:pt x="61" y="54"/>
                      </a:cubicBezTo>
                      <a:cubicBezTo>
                        <a:pt x="62" y="55"/>
                        <a:pt x="62" y="57"/>
                        <a:pt x="61" y="57"/>
                      </a:cubicBezTo>
                      <a:cubicBezTo>
                        <a:pt x="57" y="61"/>
                        <a:pt x="57" y="61"/>
                        <a:pt x="57" y="61"/>
                      </a:cubicBezTo>
                      <a:cubicBezTo>
                        <a:pt x="57" y="62"/>
                        <a:pt x="55" y="62"/>
                        <a:pt x="54" y="61"/>
                      </a:cubicBezTo>
                      <a:cubicBezTo>
                        <a:pt x="52" y="58"/>
                        <a:pt x="52" y="58"/>
                        <a:pt x="52" y="58"/>
                      </a:cubicBezTo>
                      <a:cubicBezTo>
                        <a:pt x="51" y="58"/>
                        <a:pt x="51" y="58"/>
                        <a:pt x="50" y="58"/>
                      </a:cubicBezTo>
                      <a:cubicBezTo>
                        <a:pt x="50" y="58"/>
                        <a:pt x="50" y="58"/>
                        <a:pt x="50" y="58"/>
                      </a:cubicBezTo>
                      <a:cubicBezTo>
                        <a:pt x="47" y="60"/>
                        <a:pt x="45" y="61"/>
                        <a:pt x="41" y="62"/>
                      </a:cubicBezTo>
                      <a:cubicBezTo>
                        <a:pt x="41" y="62"/>
                        <a:pt x="41" y="62"/>
                        <a:pt x="41" y="62"/>
                      </a:cubicBezTo>
                      <a:cubicBezTo>
                        <a:pt x="41" y="62"/>
                        <a:pt x="41" y="62"/>
                        <a:pt x="41" y="62"/>
                      </a:cubicBezTo>
                      <a:cubicBezTo>
                        <a:pt x="41" y="62"/>
                        <a:pt x="41" y="62"/>
                        <a:pt x="41" y="63"/>
                      </a:cubicBezTo>
                      <a:cubicBezTo>
                        <a:pt x="41" y="67"/>
                        <a:pt x="41" y="67"/>
                        <a:pt x="41" y="67"/>
                      </a:cubicBezTo>
                      <a:cubicBezTo>
                        <a:pt x="41" y="68"/>
                        <a:pt x="39" y="69"/>
                        <a:pt x="38" y="69"/>
                      </a:cubicBezTo>
                      <a:cubicBezTo>
                        <a:pt x="33" y="69"/>
                        <a:pt x="33" y="69"/>
                        <a:pt x="33" y="69"/>
                      </a:cubicBezTo>
                      <a:cubicBezTo>
                        <a:pt x="32" y="69"/>
                        <a:pt x="31" y="68"/>
                        <a:pt x="31" y="67"/>
                      </a:cubicBezTo>
                      <a:cubicBezTo>
                        <a:pt x="31" y="63"/>
                        <a:pt x="31" y="63"/>
                        <a:pt x="31" y="63"/>
                      </a:cubicBezTo>
                      <a:cubicBezTo>
                        <a:pt x="31" y="62"/>
                        <a:pt x="31" y="62"/>
                        <a:pt x="30" y="62"/>
                      </a:cubicBezTo>
                      <a:cubicBezTo>
                        <a:pt x="30" y="62"/>
                        <a:pt x="30" y="62"/>
                        <a:pt x="30" y="62"/>
                      </a:cubicBezTo>
                      <a:cubicBezTo>
                        <a:pt x="30" y="62"/>
                        <a:pt x="30" y="62"/>
                        <a:pt x="30" y="62"/>
                      </a:cubicBezTo>
                      <a:cubicBezTo>
                        <a:pt x="27" y="61"/>
                        <a:pt x="24" y="60"/>
                        <a:pt x="22" y="58"/>
                      </a:cubicBezTo>
                      <a:cubicBezTo>
                        <a:pt x="21" y="58"/>
                        <a:pt x="21" y="58"/>
                        <a:pt x="21" y="58"/>
                      </a:cubicBezTo>
                      <a:cubicBezTo>
                        <a:pt x="21" y="58"/>
                        <a:pt x="20" y="58"/>
                        <a:pt x="20" y="58"/>
                      </a:cubicBezTo>
                      <a:cubicBezTo>
                        <a:pt x="17" y="61"/>
                        <a:pt x="17" y="61"/>
                        <a:pt x="17" y="61"/>
                      </a:cubicBezTo>
                      <a:cubicBezTo>
                        <a:pt x="16" y="62"/>
                        <a:pt x="15" y="62"/>
                        <a:pt x="14" y="61"/>
                      </a:cubicBezTo>
                      <a:cubicBezTo>
                        <a:pt x="11" y="57"/>
                        <a:pt x="11" y="57"/>
                        <a:pt x="11" y="57"/>
                      </a:cubicBezTo>
                      <a:cubicBezTo>
                        <a:pt x="10" y="57"/>
                        <a:pt x="10" y="55"/>
                        <a:pt x="11" y="54"/>
                      </a:cubicBezTo>
                      <a:cubicBezTo>
                        <a:pt x="13" y="52"/>
                        <a:pt x="13" y="52"/>
                        <a:pt x="13" y="52"/>
                      </a:cubicBezTo>
                      <a:cubicBezTo>
                        <a:pt x="14" y="51"/>
                        <a:pt x="14" y="51"/>
                        <a:pt x="13" y="50"/>
                      </a:cubicBezTo>
                      <a:cubicBezTo>
                        <a:pt x="13" y="50"/>
                        <a:pt x="13" y="50"/>
                        <a:pt x="13" y="50"/>
                      </a:cubicBezTo>
                      <a:cubicBezTo>
                        <a:pt x="12" y="47"/>
                        <a:pt x="11" y="45"/>
                        <a:pt x="10" y="42"/>
                      </a:cubicBezTo>
                      <a:cubicBezTo>
                        <a:pt x="10" y="42"/>
                        <a:pt x="10" y="42"/>
                        <a:pt x="10" y="42"/>
                      </a:cubicBezTo>
                      <a:cubicBezTo>
                        <a:pt x="10" y="41"/>
                        <a:pt x="9" y="41"/>
                        <a:pt x="9" y="41"/>
                      </a:cubicBezTo>
                      <a:cubicBezTo>
                        <a:pt x="5" y="41"/>
                        <a:pt x="5" y="41"/>
                        <a:pt x="5" y="41"/>
                      </a:cubicBezTo>
                      <a:cubicBezTo>
                        <a:pt x="4" y="41"/>
                        <a:pt x="3" y="40"/>
                        <a:pt x="3" y="38"/>
                      </a:cubicBezTo>
                      <a:cubicBezTo>
                        <a:pt x="3" y="33"/>
                        <a:pt x="3" y="33"/>
                        <a:pt x="3" y="33"/>
                      </a:cubicBezTo>
                      <a:cubicBezTo>
                        <a:pt x="3" y="32"/>
                        <a:pt x="4" y="31"/>
                        <a:pt x="5" y="31"/>
                      </a:cubicBezTo>
                      <a:cubicBezTo>
                        <a:pt x="9" y="31"/>
                        <a:pt x="9" y="31"/>
                        <a:pt x="9" y="31"/>
                      </a:cubicBezTo>
                      <a:cubicBezTo>
                        <a:pt x="9" y="31"/>
                        <a:pt x="10" y="31"/>
                        <a:pt x="10" y="30"/>
                      </a:cubicBezTo>
                      <a:cubicBezTo>
                        <a:pt x="10" y="30"/>
                        <a:pt x="10" y="30"/>
                        <a:pt x="10" y="30"/>
                      </a:cubicBezTo>
                      <a:cubicBezTo>
                        <a:pt x="11" y="27"/>
                        <a:pt x="12" y="24"/>
                        <a:pt x="13" y="22"/>
                      </a:cubicBezTo>
                      <a:cubicBezTo>
                        <a:pt x="13" y="22"/>
                        <a:pt x="13" y="22"/>
                        <a:pt x="13" y="22"/>
                      </a:cubicBezTo>
                      <a:cubicBezTo>
                        <a:pt x="14" y="21"/>
                        <a:pt x="14" y="20"/>
                        <a:pt x="13" y="20"/>
                      </a:cubicBezTo>
                      <a:cubicBezTo>
                        <a:pt x="11" y="17"/>
                        <a:pt x="11" y="17"/>
                        <a:pt x="11" y="17"/>
                      </a:cubicBezTo>
                      <a:cubicBezTo>
                        <a:pt x="10" y="17"/>
                        <a:pt x="10" y="16"/>
                        <a:pt x="10" y="16"/>
                      </a:cubicBezTo>
                      <a:cubicBezTo>
                        <a:pt x="10" y="15"/>
                        <a:pt x="10" y="15"/>
                        <a:pt x="11" y="14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5" y="10"/>
                        <a:pt x="16" y="10"/>
                        <a:pt x="17" y="11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4"/>
                        <a:pt x="21" y="14"/>
                        <a:pt x="21" y="13"/>
                      </a:cubicBezTo>
                      <a:cubicBezTo>
                        <a:pt x="22" y="14"/>
                        <a:pt x="22" y="14"/>
                        <a:pt x="22" y="14"/>
                      </a:cubicBezTo>
                      <a:cubicBezTo>
                        <a:pt x="24" y="12"/>
                        <a:pt x="27" y="11"/>
                        <a:pt x="30" y="10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1" y="10"/>
                        <a:pt x="31" y="9"/>
                        <a:pt x="31" y="9"/>
                      </a:cubicBezTo>
                      <a:cubicBezTo>
                        <a:pt x="31" y="5"/>
                        <a:pt x="31" y="5"/>
                        <a:pt x="31" y="5"/>
                      </a:cubicBezTo>
                      <a:cubicBezTo>
                        <a:pt x="31" y="4"/>
                        <a:pt x="32" y="3"/>
                        <a:pt x="33" y="3"/>
                      </a:cubicBezTo>
                      <a:cubicBezTo>
                        <a:pt x="38" y="3"/>
                        <a:pt x="38" y="3"/>
                        <a:pt x="38" y="3"/>
                      </a:cubicBezTo>
                      <a:cubicBezTo>
                        <a:pt x="39" y="3"/>
                        <a:pt x="41" y="4"/>
                        <a:pt x="41" y="5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1" y="9"/>
                        <a:pt x="41" y="9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5" y="11"/>
                        <a:pt x="47" y="12"/>
                        <a:pt x="50" y="14"/>
                      </a:cubicBezTo>
                      <a:cubicBezTo>
                        <a:pt x="51" y="14"/>
                        <a:pt x="51" y="14"/>
                        <a:pt x="52" y="13"/>
                      </a:cubicBezTo>
                      <a:cubicBezTo>
                        <a:pt x="54" y="11"/>
                        <a:pt x="54" y="11"/>
                        <a:pt x="54" y="11"/>
                      </a:cubicBezTo>
                      <a:cubicBezTo>
                        <a:pt x="55" y="10"/>
                        <a:pt x="57" y="10"/>
                        <a:pt x="57" y="11"/>
                      </a:cubicBezTo>
                      <a:cubicBezTo>
                        <a:pt x="61" y="14"/>
                        <a:pt x="61" y="14"/>
                        <a:pt x="61" y="14"/>
                      </a:cubicBezTo>
                      <a:cubicBezTo>
                        <a:pt x="61" y="15"/>
                        <a:pt x="62" y="15"/>
                        <a:pt x="62" y="16"/>
                      </a:cubicBezTo>
                      <a:cubicBezTo>
                        <a:pt x="62" y="16"/>
                        <a:pt x="61" y="17"/>
                        <a:pt x="61" y="17"/>
                      </a:cubicBezTo>
                      <a:cubicBezTo>
                        <a:pt x="58" y="20"/>
                        <a:pt x="58" y="20"/>
                        <a:pt x="58" y="20"/>
                      </a:cubicBezTo>
                      <a:cubicBezTo>
                        <a:pt x="58" y="20"/>
                        <a:pt x="58" y="20"/>
                        <a:pt x="58" y="20"/>
                      </a:cubicBezTo>
                      <a:cubicBezTo>
                        <a:pt x="58" y="20"/>
                        <a:pt x="58" y="20"/>
                        <a:pt x="58" y="20"/>
                      </a:cubicBezTo>
                      <a:cubicBezTo>
                        <a:pt x="58" y="20"/>
                        <a:pt x="58" y="20"/>
                        <a:pt x="58" y="20"/>
                      </a:cubicBezTo>
                      <a:cubicBezTo>
                        <a:pt x="58" y="20"/>
                        <a:pt x="58" y="20"/>
                        <a:pt x="58" y="20"/>
                      </a:cubicBezTo>
                      <a:cubicBezTo>
                        <a:pt x="58" y="20"/>
                        <a:pt x="58" y="20"/>
                        <a:pt x="58" y="20"/>
                      </a:cubicBezTo>
                      <a:cubicBezTo>
                        <a:pt x="58" y="21"/>
                        <a:pt x="58" y="21"/>
                        <a:pt x="58" y="21"/>
                      </a:cubicBezTo>
                      <a:cubicBezTo>
                        <a:pt x="58" y="21"/>
                        <a:pt x="58" y="21"/>
                        <a:pt x="58" y="21"/>
                      </a:cubicBezTo>
                      <a:cubicBezTo>
                        <a:pt x="58" y="21"/>
                        <a:pt x="58" y="21"/>
                        <a:pt x="58" y="21"/>
                      </a:cubicBezTo>
                      <a:cubicBezTo>
                        <a:pt x="58" y="21"/>
                        <a:pt x="58" y="21"/>
                        <a:pt x="58" y="21"/>
                      </a:cubicBezTo>
                      <a:cubicBezTo>
                        <a:pt x="58" y="21"/>
                        <a:pt x="58" y="22"/>
                        <a:pt x="58" y="22"/>
                      </a:cubicBezTo>
                      <a:cubicBezTo>
                        <a:pt x="60" y="24"/>
                        <a:pt x="61" y="27"/>
                        <a:pt x="62" y="30"/>
                      </a:cubicBezTo>
                      <a:cubicBezTo>
                        <a:pt x="62" y="31"/>
                        <a:pt x="62" y="31"/>
                        <a:pt x="63" y="31"/>
                      </a:cubicBezTo>
                      <a:cubicBezTo>
                        <a:pt x="67" y="31"/>
                        <a:pt x="67" y="31"/>
                        <a:pt x="67" y="31"/>
                      </a:cubicBezTo>
                      <a:cubicBezTo>
                        <a:pt x="68" y="31"/>
                        <a:pt x="69" y="32"/>
                        <a:pt x="69" y="33"/>
                      </a:cubicBezTo>
                      <a:lnTo>
                        <a:pt x="69" y="38"/>
                      </a:lnTo>
                      <a:close/>
                    </a:path>
                  </a:pathLst>
                </a:custGeom>
                <a:solidFill>
                  <a:srgbClr val="494B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45714" tIns="22857" rIns="45714" bIns="2285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th-TH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aleway SemiBold" panose="020B0703030101060003" pitchFamily="34" charset="0"/>
                    <a:ea typeface="Open Sans Semibold" panose="020B0706030804020204" pitchFamily="34" charset="0"/>
                  </a:endParaRPr>
                </a:p>
              </p:txBody>
            </p:sp>
            <p:sp>
              <p:nvSpPr>
                <p:cNvPr id="104" name="Freeform 82">
                  <a:extLst>
                    <a:ext uri="{FF2B5EF4-FFF2-40B4-BE49-F238E27FC236}">
                      <a16:creationId xmlns:a16="http://schemas.microsoft.com/office/drawing/2014/main" id="{63C6958B-A8C4-4E0B-A00B-04FE729E101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09796" y="5986231"/>
                  <a:ext cx="227634" cy="228478"/>
                </a:xfrm>
                <a:custGeom>
                  <a:avLst/>
                  <a:gdLst>
                    <a:gd name="T0" fmla="*/ 23 w 45"/>
                    <a:gd name="T1" fmla="*/ 0 h 45"/>
                    <a:gd name="T2" fmla="*/ 0 w 45"/>
                    <a:gd name="T3" fmla="*/ 23 h 45"/>
                    <a:gd name="T4" fmla="*/ 23 w 45"/>
                    <a:gd name="T5" fmla="*/ 45 h 45"/>
                    <a:gd name="T6" fmla="*/ 45 w 45"/>
                    <a:gd name="T7" fmla="*/ 23 h 45"/>
                    <a:gd name="T8" fmla="*/ 23 w 45"/>
                    <a:gd name="T9" fmla="*/ 0 h 45"/>
                    <a:gd name="T10" fmla="*/ 23 w 45"/>
                    <a:gd name="T11" fmla="*/ 43 h 45"/>
                    <a:gd name="T12" fmla="*/ 3 w 45"/>
                    <a:gd name="T13" fmla="*/ 23 h 45"/>
                    <a:gd name="T14" fmla="*/ 23 w 45"/>
                    <a:gd name="T15" fmla="*/ 3 h 45"/>
                    <a:gd name="T16" fmla="*/ 43 w 45"/>
                    <a:gd name="T17" fmla="*/ 23 h 45"/>
                    <a:gd name="T18" fmla="*/ 23 w 45"/>
                    <a:gd name="T19" fmla="*/ 43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5" h="45">
                      <a:moveTo>
                        <a:pt x="23" y="0"/>
                      </a:moveTo>
                      <a:cubicBezTo>
                        <a:pt x="10" y="0"/>
                        <a:pt x="0" y="11"/>
                        <a:pt x="0" y="23"/>
                      </a:cubicBezTo>
                      <a:cubicBezTo>
                        <a:pt x="0" y="35"/>
                        <a:pt x="10" y="45"/>
                        <a:pt x="23" y="45"/>
                      </a:cubicBezTo>
                      <a:cubicBezTo>
                        <a:pt x="35" y="45"/>
                        <a:pt x="45" y="35"/>
                        <a:pt x="45" y="23"/>
                      </a:cubicBezTo>
                      <a:cubicBezTo>
                        <a:pt x="45" y="11"/>
                        <a:pt x="35" y="0"/>
                        <a:pt x="23" y="0"/>
                      </a:cubicBezTo>
                      <a:close/>
                      <a:moveTo>
                        <a:pt x="23" y="43"/>
                      </a:moveTo>
                      <a:cubicBezTo>
                        <a:pt x="12" y="43"/>
                        <a:pt x="3" y="34"/>
                        <a:pt x="3" y="23"/>
                      </a:cubicBezTo>
                      <a:cubicBezTo>
                        <a:pt x="3" y="12"/>
                        <a:pt x="12" y="3"/>
                        <a:pt x="23" y="3"/>
                      </a:cubicBezTo>
                      <a:cubicBezTo>
                        <a:pt x="34" y="3"/>
                        <a:pt x="43" y="12"/>
                        <a:pt x="43" y="23"/>
                      </a:cubicBezTo>
                      <a:cubicBezTo>
                        <a:pt x="43" y="34"/>
                        <a:pt x="34" y="43"/>
                        <a:pt x="23" y="43"/>
                      </a:cubicBezTo>
                      <a:close/>
                    </a:path>
                  </a:pathLst>
                </a:custGeom>
                <a:solidFill>
                  <a:srgbClr val="494B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45714" tIns="22857" rIns="45714" bIns="2285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th-TH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aleway SemiBold" panose="020B0703030101060003" pitchFamily="34" charset="0"/>
                    <a:ea typeface="Open Sans Semibold" panose="020B0706030804020204" pitchFamily="34" charset="0"/>
                  </a:endParaRPr>
                </a:p>
              </p:txBody>
            </p:sp>
          </p:grp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30E1451-C61D-4DEA-87DE-009A134C332B}"/>
              </a:ext>
            </a:extLst>
          </p:cNvPr>
          <p:cNvSpPr txBox="1"/>
          <p:nvPr/>
        </p:nvSpPr>
        <p:spPr>
          <a:xfrm>
            <a:off x="1641886" y="2328927"/>
            <a:ext cx="926423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/>
            <a:r>
              <a:rPr lang="en-US" sz="2700" b="1" kern="0" dirty="0">
                <a:solidFill>
                  <a:srgbClr val="FFFFFF"/>
                </a:solidFill>
                <a:ea typeface="Open Sans Semibold" panose="020B0706030804020204" pitchFamily="34" charset="0"/>
                <a:cs typeface="Segoe UI" panose="020B0502040204020203" pitchFamily="34" charset="0"/>
              </a:rPr>
              <a:t>Important </a:t>
            </a:r>
            <a:r>
              <a:rPr lang="en-US" sz="2700" b="1" kern="0" dirty="0">
                <a:solidFill>
                  <a:srgbClr val="FFFF00"/>
                </a:solidFill>
                <a:ea typeface="Open Sans Semibold" panose="020B0706030804020204" pitchFamily="34" charset="0"/>
                <a:cs typeface="Segoe UI" panose="020B0502040204020203" pitchFamily="34" charset="0"/>
              </a:rPr>
              <a:t>Parameters</a:t>
            </a:r>
            <a:r>
              <a:rPr lang="en-US" sz="2700" b="1" kern="0" dirty="0">
                <a:solidFill>
                  <a:srgbClr val="FFFFFF"/>
                </a:solidFill>
                <a:ea typeface="Open Sans Semibold" panose="020B0706030804020204" pitchFamily="34" charset="0"/>
                <a:cs typeface="Segoe UI" panose="020B0502040204020203" pitchFamily="34" charset="0"/>
              </a:rPr>
              <a:t> to consider in </a:t>
            </a:r>
            <a:r>
              <a:rPr lang="en-US" sz="2700" b="1" kern="0" dirty="0">
                <a:solidFill>
                  <a:srgbClr val="FFFF00"/>
                </a:solidFill>
                <a:ea typeface="Open Sans Semibold" panose="020B0706030804020204" pitchFamily="34" charset="0"/>
                <a:cs typeface="Segoe UI" panose="020B0502040204020203" pitchFamily="34" charset="0"/>
              </a:rPr>
              <a:t>designing</a:t>
            </a:r>
            <a:r>
              <a:rPr lang="en-US" sz="2700" b="1" kern="0" dirty="0">
                <a:solidFill>
                  <a:srgbClr val="FFFFFF"/>
                </a:solidFill>
                <a:ea typeface="Open Sans Semibold" panose="020B0706030804020204" pitchFamily="34" charset="0"/>
                <a:cs typeface="Segoe UI" panose="020B0502040204020203" pitchFamily="34" charset="0"/>
              </a:rPr>
              <a:t> ANN Architecture </a:t>
            </a:r>
          </a:p>
        </p:txBody>
      </p:sp>
      <p:grpSp>
        <p:nvGrpSpPr>
          <p:cNvPr id="106" name="Group 105"/>
          <p:cNvGrpSpPr/>
          <p:nvPr/>
        </p:nvGrpSpPr>
        <p:grpSpPr>
          <a:xfrm>
            <a:off x="844268" y="2955660"/>
            <a:ext cx="3730454" cy="563257"/>
            <a:chOff x="981058" y="4368568"/>
            <a:chExt cx="3730454" cy="619583"/>
          </a:xfrm>
        </p:grpSpPr>
        <p:sp>
          <p:nvSpPr>
            <p:cNvPr id="107" name="Rounded Rectangle 12">
              <a:extLst>
                <a:ext uri="{FF2B5EF4-FFF2-40B4-BE49-F238E27FC236}">
                  <a16:creationId xmlns:a16="http://schemas.microsoft.com/office/drawing/2014/main" id="{4E5D6DD1-77BA-4DBE-8A05-5F7C79933A53}"/>
                </a:ext>
              </a:extLst>
            </p:cNvPr>
            <p:cNvSpPr/>
            <p:nvPr/>
          </p:nvSpPr>
          <p:spPr>
            <a:xfrm>
              <a:off x="1188007" y="4427477"/>
              <a:ext cx="3523505" cy="519637"/>
            </a:xfrm>
            <a:prstGeom prst="roundRect">
              <a:avLst/>
            </a:prstGeom>
            <a:solidFill>
              <a:srgbClr val="3C7272"/>
            </a:solidFill>
            <a:ln w="12700" cap="flat" cmpd="sng" algn="ctr">
              <a:solidFill>
                <a:srgbClr val="494B69">
                  <a:shade val="50000"/>
                </a:srgbClr>
              </a:solidFill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457200" lvl="2"/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7A25CCA-DA3B-46CE-B7AD-968B1D6DC1D0}"/>
                </a:ext>
              </a:extLst>
            </p:cNvPr>
            <p:cNvSpPr/>
            <p:nvPr/>
          </p:nvSpPr>
          <p:spPr>
            <a:xfrm>
              <a:off x="981058" y="4368568"/>
              <a:ext cx="600801" cy="619583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604020202020204" charset="0"/>
                <a:ea typeface="+mn-ea"/>
                <a:cs typeface="Raleway" panose="020B0604020202020204" charset="0"/>
              </a:endParaRP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D30E1451-C61D-4DEA-87DE-009A134C332B}"/>
              </a:ext>
            </a:extLst>
          </p:cNvPr>
          <p:cNvSpPr txBox="1"/>
          <p:nvPr/>
        </p:nvSpPr>
        <p:spPr>
          <a:xfrm>
            <a:off x="1632014" y="3021844"/>
            <a:ext cx="269894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/>
            <a:r>
              <a:rPr lang="en-US" sz="2800" b="1" kern="0" dirty="0">
                <a:solidFill>
                  <a:srgbClr val="FFFFFF"/>
                </a:solidFill>
                <a:ea typeface="Open Sans Semibold" panose="020B0706030804020204" pitchFamily="34" charset="0"/>
                <a:cs typeface="Segoe UI" panose="020B0502040204020203" pitchFamily="34" charset="0"/>
              </a:rPr>
              <a:t>Main Parameters</a:t>
            </a:r>
          </a:p>
        </p:txBody>
      </p:sp>
      <p:sp>
        <p:nvSpPr>
          <p:cNvPr id="110" name="Round Same Side Corner Rectangle 11">
            <a:extLst>
              <a:ext uri="{FF2B5EF4-FFF2-40B4-BE49-F238E27FC236}">
                <a16:creationId xmlns:a16="http://schemas.microsoft.com/office/drawing/2014/main" id="{61486775-2C3A-4831-B97D-413631422112}"/>
              </a:ext>
            </a:extLst>
          </p:cNvPr>
          <p:cNvSpPr>
            <a:spLocks noChangeAspect="1"/>
          </p:cNvSpPr>
          <p:nvPr/>
        </p:nvSpPr>
        <p:spPr>
          <a:xfrm rot="9900000">
            <a:off x="946801" y="3071206"/>
            <a:ext cx="360212" cy="306930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rgbClr val="3C7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55AAD1D-C75B-4B8F-AEF6-50129BC282BB}"/>
              </a:ext>
            </a:extLst>
          </p:cNvPr>
          <p:cNvGrpSpPr/>
          <p:nvPr/>
        </p:nvGrpSpPr>
        <p:grpSpPr>
          <a:xfrm>
            <a:off x="1806678" y="3595331"/>
            <a:ext cx="8553998" cy="369332"/>
            <a:chOff x="2513739" y="6939320"/>
            <a:chExt cx="17110219" cy="738761"/>
          </a:xfrm>
        </p:grpSpPr>
        <p:sp>
          <p:nvSpPr>
            <p:cNvPr id="112" name="Shape 5250">
              <a:extLst>
                <a:ext uri="{FF2B5EF4-FFF2-40B4-BE49-F238E27FC236}">
                  <a16:creationId xmlns:a16="http://schemas.microsoft.com/office/drawing/2014/main" id="{28531365-72A4-44AF-BE57-5244DA32AEDE}"/>
                </a:ext>
              </a:extLst>
            </p:cNvPr>
            <p:cNvSpPr/>
            <p:nvPr/>
          </p:nvSpPr>
          <p:spPr>
            <a:xfrm>
              <a:off x="2513739" y="7122846"/>
              <a:ext cx="396499" cy="396498"/>
            </a:xfrm>
            <a:prstGeom prst="rect">
              <a:avLst/>
            </a:prstGeom>
            <a:solidFill>
              <a:srgbClr val="D8707C"/>
            </a:solidFill>
            <a:ln w="12700" cap="flat">
              <a:noFill/>
              <a:miter lim="400000"/>
            </a:ln>
            <a:effectLst/>
          </p:spPr>
          <p:txBody>
            <a:bodyPr wrap="square" lIns="45701" tIns="45701" rIns="45701" bIns="45701" numCol="1" anchor="t">
              <a:noAutofit/>
            </a:bodyPr>
            <a:lstStyle/>
            <a:p>
              <a:pPr marL="0" marR="0" lvl="0" indent="0" defTabSz="4569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anose="020B0604020202020204" charset="0"/>
                <a:ea typeface="Calibri"/>
                <a:cs typeface="Raleway" panose="020B0604020202020204" charset="0"/>
                <a:sym typeface="Calibri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D30E1451-C61D-4DEA-87DE-009A134C332B}"/>
                </a:ext>
              </a:extLst>
            </p:cNvPr>
            <p:cNvSpPr txBox="1"/>
            <p:nvPr/>
          </p:nvSpPr>
          <p:spPr>
            <a:xfrm>
              <a:off x="3265527" y="6939320"/>
              <a:ext cx="16358431" cy="7387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en-US" sz="2400" b="1" kern="0" dirty="0">
                  <a:cs typeface="Segoe UI" panose="020B0502040204020203" pitchFamily="34" charset="0"/>
                </a:rPr>
                <a:t>No. of Input Units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55AAD1D-C75B-4B8F-AEF6-50129BC282BB}"/>
              </a:ext>
            </a:extLst>
          </p:cNvPr>
          <p:cNvGrpSpPr/>
          <p:nvPr/>
        </p:nvGrpSpPr>
        <p:grpSpPr>
          <a:xfrm>
            <a:off x="1806678" y="3983783"/>
            <a:ext cx="8553998" cy="369332"/>
            <a:chOff x="2513739" y="6939320"/>
            <a:chExt cx="17110219" cy="738761"/>
          </a:xfrm>
        </p:grpSpPr>
        <p:sp>
          <p:nvSpPr>
            <p:cNvPr id="115" name="Shape 5250">
              <a:extLst>
                <a:ext uri="{FF2B5EF4-FFF2-40B4-BE49-F238E27FC236}">
                  <a16:creationId xmlns:a16="http://schemas.microsoft.com/office/drawing/2014/main" id="{28531365-72A4-44AF-BE57-5244DA32AEDE}"/>
                </a:ext>
              </a:extLst>
            </p:cNvPr>
            <p:cNvSpPr/>
            <p:nvPr/>
          </p:nvSpPr>
          <p:spPr>
            <a:xfrm>
              <a:off x="2513739" y="7122846"/>
              <a:ext cx="396499" cy="396498"/>
            </a:xfrm>
            <a:prstGeom prst="rect">
              <a:avLst/>
            </a:prstGeom>
            <a:solidFill>
              <a:srgbClr val="D8707C"/>
            </a:solidFill>
            <a:ln w="12700" cap="flat">
              <a:noFill/>
              <a:miter lim="400000"/>
            </a:ln>
            <a:effectLst/>
          </p:spPr>
          <p:txBody>
            <a:bodyPr wrap="square" lIns="45701" tIns="45701" rIns="45701" bIns="45701" numCol="1" anchor="t">
              <a:noAutofit/>
            </a:bodyPr>
            <a:lstStyle/>
            <a:p>
              <a:pPr marL="0" marR="0" lvl="0" indent="0" defTabSz="4569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anose="020B0604020202020204" charset="0"/>
                <a:ea typeface="Calibri"/>
                <a:cs typeface="Raleway" panose="020B0604020202020204" charset="0"/>
                <a:sym typeface="Calibri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30E1451-C61D-4DEA-87DE-009A134C332B}"/>
                </a:ext>
              </a:extLst>
            </p:cNvPr>
            <p:cNvSpPr txBox="1"/>
            <p:nvPr/>
          </p:nvSpPr>
          <p:spPr>
            <a:xfrm>
              <a:off x="3265527" y="6939320"/>
              <a:ext cx="16358431" cy="7387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en-US" sz="2400" b="1" kern="0" dirty="0">
                  <a:cs typeface="Segoe UI" panose="020B0502040204020203" pitchFamily="34" charset="0"/>
                </a:rPr>
                <a:t>No. of Hidden Layers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55AAD1D-C75B-4B8F-AEF6-50129BC282BB}"/>
              </a:ext>
            </a:extLst>
          </p:cNvPr>
          <p:cNvGrpSpPr/>
          <p:nvPr/>
        </p:nvGrpSpPr>
        <p:grpSpPr>
          <a:xfrm>
            <a:off x="1799066" y="4791259"/>
            <a:ext cx="8553998" cy="369332"/>
            <a:chOff x="2513739" y="6939320"/>
            <a:chExt cx="17110219" cy="738761"/>
          </a:xfrm>
        </p:grpSpPr>
        <p:sp>
          <p:nvSpPr>
            <p:cNvPr id="118" name="Shape 5250">
              <a:extLst>
                <a:ext uri="{FF2B5EF4-FFF2-40B4-BE49-F238E27FC236}">
                  <a16:creationId xmlns:a16="http://schemas.microsoft.com/office/drawing/2014/main" id="{28531365-72A4-44AF-BE57-5244DA32AEDE}"/>
                </a:ext>
              </a:extLst>
            </p:cNvPr>
            <p:cNvSpPr/>
            <p:nvPr/>
          </p:nvSpPr>
          <p:spPr>
            <a:xfrm>
              <a:off x="2513739" y="7122846"/>
              <a:ext cx="396499" cy="396498"/>
            </a:xfrm>
            <a:prstGeom prst="rect">
              <a:avLst/>
            </a:prstGeom>
            <a:solidFill>
              <a:srgbClr val="D8707C"/>
            </a:solidFill>
            <a:ln w="12700" cap="flat">
              <a:noFill/>
              <a:miter lim="400000"/>
            </a:ln>
            <a:effectLst/>
          </p:spPr>
          <p:txBody>
            <a:bodyPr wrap="square" lIns="45701" tIns="45701" rIns="45701" bIns="45701" numCol="1" anchor="t">
              <a:noAutofit/>
            </a:bodyPr>
            <a:lstStyle/>
            <a:p>
              <a:pPr marL="0" marR="0" lvl="0" indent="0" defTabSz="4569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anose="020B0604020202020204" charset="0"/>
                <a:ea typeface="Calibri"/>
                <a:cs typeface="Raleway" panose="020B0604020202020204" charset="0"/>
                <a:sym typeface="Calibri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30E1451-C61D-4DEA-87DE-009A134C332B}"/>
                </a:ext>
              </a:extLst>
            </p:cNvPr>
            <p:cNvSpPr txBox="1"/>
            <p:nvPr/>
          </p:nvSpPr>
          <p:spPr>
            <a:xfrm>
              <a:off x="3265527" y="6939320"/>
              <a:ext cx="16358431" cy="7387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en-US" sz="2400" b="1" kern="0" dirty="0">
                  <a:cs typeface="Segoe UI" panose="020B0502040204020203" pitchFamily="34" charset="0"/>
                </a:rPr>
                <a:t>No. of Output Units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55AAD1D-C75B-4B8F-AEF6-50129BC282BB}"/>
              </a:ext>
            </a:extLst>
          </p:cNvPr>
          <p:cNvGrpSpPr/>
          <p:nvPr/>
        </p:nvGrpSpPr>
        <p:grpSpPr>
          <a:xfrm>
            <a:off x="1799066" y="5179711"/>
            <a:ext cx="8553998" cy="369332"/>
            <a:chOff x="2513739" y="6939320"/>
            <a:chExt cx="17110219" cy="738761"/>
          </a:xfrm>
        </p:grpSpPr>
        <p:sp>
          <p:nvSpPr>
            <p:cNvPr id="122" name="Shape 5250">
              <a:extLst>
                <a:ext uri="{FF2B5EF4-FFF2-40B4-BE49-F238E27FC236}">
                  <a16:creationId xmlns:a16="http://schemas.microsoft.com/office/drawing/2014/main" id="{28531365-72A4-44AF-BE57-5244DA32AEDE}"/>
                </a:ext>
              </a:extLst>
            </p:cNvPr>
            <p:cNvSpPr/>
            <p:nvPr/>
          </p:nvSpPr>
          <p:spPr>
            <a:xfrm>
              <a:off x="2513739" y="7122846"/>
              <a:ext cx="396499" cy="396498"/>
            </a:xfrm>
            <a:prstGeom prst="rect">
              <a:avLst/>
            </a:prstGeom>
            <a:solidFill>
              <a:srgbClr val="D8707C"/>
            </a:solidFill>
            <a:ln w="12700" cap="flat">
              <a:noFill/>
              <a:miter lim="400000"/>
            </a:ln>
            <a:effectLst/>
          </p:spPr>
          <p:txBody>
            <a:bodyPr wrap="square" lIns="45701" tIns="45701" rIns="45701" bIns="45701" numCol="1" anchor="t">
              <a:noAutofit/>
            </a:bodyPr>
            <a:lstStyle/>
            <a:p>
              <a:pPr marL="0" marR="0" lvl="0" indent="0" defTabSz="4569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anose="020B0604020202020204" charset="0"/>
                <a:ea typeface="Calibri"/>
                <a:cs typeface="Raleway" panose="020B0604020202020204" charset="0"/>
                <a:sym typeface="Calibri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D30E1451-C61D-4DEA-87DE-009A134C332B}"/>
                </a:ext>
              </a:extLst>
            </p:cNvPr>
            <p:cNvSpPr txBox="1"/>
            <p:nvPr/>
          </p:nvSpPr>
          <p:spPr>
            <a:xfrm>
              <a:off x="3265527" y="6939320"/>
              <a:ext cx="16358431" cy="7387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en-US" sz="2400" b="1" kern="0" dirty="0">
                  <a:cs typeface="Segoe UI" panose="020B0502040204020203" pitchFamily="34" charset="0"/>
                </a:rPr>
                <a:t>Mathematical Function at each Hidden and Output Unit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55AAD1D-C75B-4B8F-AEF6-50129BC282BB}"/>
              </a:ext>
            </a:extLst>
          </p:cNvPr>
          <p:cNvGrpSpPr/>
          <p:nvPr/>
        </p:nvGrpSpPr>
        <p:grpSpPr>
          <a:xfrm>
            <a:off x="1799066" y="5555888"/>
            <a:ext cx="8553998" cy="369332"/>
            <a:chOff x="2513739" y="6939320"/>
            <a:chExt cx="17110219" cy="738761"/>
          </a:xfrm>
        </p:grpSpPr>
        <p:sp>
          <p:nvSpPr>
            <p:cNvPr id="125" name="Shape 5250">
              <a:extLst>
                <a:ext uri="{FF2B5EF4-FFF2-40B4-BE49-F238E27FC236}">
                  <a16:creationId xmlns:a16="http://schemas.microsoft.com/office/drawing/2014/main" id="{28531365-72A4-44AF-BE57-5244DA32AEDE}"/>
                </a:ext>
              </a:extLst>
            </p:cNvPr>
            <p:cNvSpPr/>
            <p:nvPr/>
          </p:nvSpPr>
          <p:spPr>
            <a:xfrm>
              <a:off x="2513739" y="7122846"/>
              <a:ext cx="396499" cy="396498"/>
            </a:xfrm>
            <a:prstGeom prst="rect">
              <a:avLst/>
            </a:prstGeom>
            <a:solidFill>
              <a:srgbClr val="D8707C"/>
            </a:solidFill>
            <a:ln w="12700" cap="flat">
              <a:noFill/>
              <a:miter lim="400000"/>
            </a:ln>
            <a:effectLst/>
          </p:spPr>
          <p:txBody>
            <a:bodyPr wrap="square" lIns="45701" tIns="45701" rIns="45701" bIns="45701" numCol="1" anchor="t">
              <a:noAutofit/>
            </a:bodyPr>
            <a:lstStyle/>
            <a:p>
              <a:pPr marL="0" marR="0" lvl="0" indent="0" defTabSz="4569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anose="020B0604020202020204" charset="0"/>
                <a:ea typeface="Calibri"/>
                <a:cs typeface="Raleway" panose="020B0604020202020204" charset="0"/>
                <a:sym typeface="Calibri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30E1451-C61D-4DEA-87DE-009A134C332B}"/>
                </a:ext>
              </a:extLst>
            </p:cNvPr>
            <p:cNvSpPr txBox="1"/>
            <p:nvPr/>
          </p:nvSpPr>
          <p:spPr>
            <a:xfrm>
              <a:off x="3265527" y="6939320"/>
              <a:ext cx="16358431" cy="7387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en-US" sz="2400" b="1" kern="0" dirty="0">
                  <a:cs typeface="Segoe UI" panose="020B0502040204020203" pitchFamily="34" charset="0"/>
                </a:rPr>
                <a:t>Weights between Units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55AAD1D-C75B-4B8F-AEF6-50129BC282BB}"/>
              </a:ext>
            </a:extLst>
          </p:cNvPr>
          <p:cNvGrpSpPr/>
          <p:nvPr/>
        </p:nvGrpSpPr>
        <p:grpSpPr>
          <a:xfrm>
            <a:off x="1799066" y="5944340"/>
            <a:ext cx="8553998" cy="369332"/>
            <a:chOff x="2513739" y="6939320"/>
            <a:chExt cx="17110219" cy="738761"/>
          </a:xfrm>
        </p:grpSpPr>
        <p:sp>
          <p:nvSpPr>
            <p:cNvPr id="128" name="Shape 5250">
              <a:extLst>
                <a:ext uri="{FF2B5EF4-FFF2-40B4-BE49-F238E27FC236}">
                  <a16:creationId xmlns:a16="http://schemas.microsoft.com/office/drawing/2014/main" id="{28531365-72A4-44AF-BE57-5244DA32AEDE}"/>
                </a:ext>
              </a:extLst>
            </p:cNvPr>
            <p:cNvSpPr/>
            <p:nvPr/>
          </p:nvSpPr>
          <p:spPr>
            <a:xfrm>
              <a:off x="2513739" y="7122846"/>
              <a:ext cx="396499" cy="396498"/>
            </a:xfrm>
            <a:prstGeom prst="rect">
              <a:avLst/>
            </a:prstGeom>
            <a:solidFill>
              <a:srgbClr val="D8707C"/>
            </a:solidFill>
            <a:ln w="12700" cap="flat">
              <a:noFill/>
              <a:miter lim="400000"/>
            </a:ln>
            <a:effectLst/>
          </p:spPr>
          <p:txBody>
            <a:bodyPr wrap="square" lIns="45701" tIns="45701" rIns="45701" bIns="45701" numCol="1" anchor="t">
              <a:noAutofit/>
            </a:bodyPr>
            <a:lstStyle/>
            <a:p>
              <a:pPr marL="0" marR="0" lvl="0" indent="0" defTabSz="4569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anose="020B0604020202020204" charset="0"/>
                <a:ea typeface="Calibri"/>
                <a:cs typeface="Raleway" panose="020B0604020202020204" charset="0"/>
                <a:sym typeface="Calibri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30E1451-C61D-4DEA-87DE-009A134C332B}"/>
                </a:ext>
              </a:extLst>
            </p:cNvPr>
            <p:cNvSpPr txBox="1"/>
            <p:nvPr/>
          </p:nvSpPr>
          <p:spPr>
            <a:xfrm>
              <a:off x="3265527" y="6939320"/>
              <a:ext cx="16358431" cy="7387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en-US" sz="2400" b="1" kern="0" dirty="0">
                  <a:cs typeface="Segoe UI" panose="020B0502040204020203" pitchFamily="34" charset="0"/>
                </a:rPr>
                <a:t>ANN will be Fully Connected or Not?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Segoe UI" panose="020B0502040204020203" pitchFamily="34" charset="0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2419810" y="4387521"/>
            <a:ext cx="8602439" cy="369332"/>
            <a:chOff x="2398672" y="4963039"/>
            <a:chExt cx="9199774" cy="369332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CBF1328-6B29-41DA-901D-43E938C06E62}"/>
                </a:ext>
              </a:extLst>
            </p:cNvPr>
            <p:cNvSpPr txBox="1"/>
            <p:nvPr/>
          </p:nvSpPr>
          <p:spPr>
            <a:xfrm>
              <a:off x="2750666" y="4963039"/>
              <a:ext cx="884778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just"/>
              <a:r>
                <a:rPr lang="en-US" altLang="ko-KR" sz="2400" b="1" dirty="0">
                  <a:cs typeface="Segoe UI" panose="020B0502040204020203" pitchFamily="34" charset="0"/>
                </a:rPr>
                <a:t>No. of Hidden Units at each Hidden Layer</a:t>
              </a:r>
              <a:endParaRPr lang="ko-KR" altLang="en-US" sz="2400" b="1" dirty="0">
                <a:cs typeface="Segoe UI" panose="020B0502040204020203" pitchFamily="34" charset="0"/>
              </a:endParaRPr>
            </a:p>
          </p:txBody>
        </p:sp>
        <p:sp>
          <p:nvSpPr>
            <p:cNvPr id="132" name="Shape 5391">
              <a:extLst>
                <a:ext uri="{FF2B5EF4-FFF2-40B4-BE49-F238E27FC236}">
                  <a16:creationId xmlns:a16="http://schemas.microsoft.com/office/drawing/2014/main" id="{167CE661-21A8-4C20-AAE2-DDED29016B55}"/>
                </a:ext>
              </a:extLst>
            </p:cNvPr>
            <p:cNvSpPr/>
            <p:nvPr/>
          </p:nvSpPr>
          <p:spPr>
            <a:xfrm rot="10800000">
              <a:off x="2398672" y="5042153"/>
              <a:ext cx="231633" cy="195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0463"/>
                  </a:moveTo>
                  <a:cubicBezTo>
                    <a:pt x="11676" y="21600"/>
                    <a:pt x="11676" y="21600"/>
                    <a:pt x="11676" y="21600"/>
                  </a:cubicBezTo>
                  <a:cubicBezTo>
                    <a:pt x="11676" y="21600"/>
                    <a:pt x="11676" y="21600"/>
                    <a:pt x="11092" y="21600"/>
                  </a:cubicBezTo>
                  <a:cubicBezTo>
                    <a:pt x="11092" y="21600"/>
                    <a:pt x="11092" y="21600"/>
                    <a:pt x="11092" y="21600"/>
                  </a:cubicBezTo>
                  <a:cubicBezTo>
                    <a:pt x="584" y="11368"/>
                    <a:pt x="584" y="11368"/>
                    <a:pt x="584" y="11368"/>
                  </a:cubicBezTo>
                  <a:cubicBezTo>
                    <a:pt x="584" y="11368"/>
                    <a:pt x="0" y="10800"/>
                    <a:pt x="0" y="10800"/>
                  </a:cubicBezTo>
                  <a:cubicBezTo>
                    <a:pt x="0" y="10800"/>
                    <a:pt x="584" y="10232"/>
                    <a:pt x="584" y="10232"/>
                  </a:cubicBezTo>
                  <a:cubicBezTo>
                    <a:pt x="11092" y="568"/>
                    <a:pt x="11092" y="568"/>
                    <a:pt x="11092" y="568"/>
                  </a:cubicBezTo>
                  <a:cubicBezTo>
                    <a:pt x="11092" y="0"/>
                    <a:pt x="11092" y="0"/>
                    <a:pt x="11092" y="0"/>
                  </a:cubicBezTo>
                  <a:cubicBezTo>
                    <a:pt x="11676" y="0"/>
                    <a:pt x="11676" y="0"/>
                    <a:pt x="11676" y="568"/>
                  </a:cubicBezTo>
                  <a:cubicBezTo>
                    <a:pt x="12843" y="1137"/>
                    <a:pt x="12843" y="1137"/>
                    <a:pt x="12843" y="1137"/>
                  </a:cubicBezTo>
                  <a:cubicBezTo>
                    <a:pt x="12843" y="1705"/>
                    <a:pt x="13427" y="1705"/>
                    <a:pt x="13427" y="1705"/>
                  </a:cubicBezTo>
                  <a:cubicBezTo>
                    <a:pt x="13427" y="2274"/>
                    <a:pt x="12843" y="2274"/>
                    <a:pt x="12843" y="2274"/>
                  </a:cubicBezTo>
                  <a:cubicBezTo>
                    <a:pt x="4086" y="10800"/>
                    <a:pt x="4086" y="10800"/>
                    <a:pt x="4086" y="10800"/>
                  </a:cubicBezTo>
                  <a:cubicBezTo>
                    <a:pt x="12843" y="19326"/>
                    <a:pt x="12843" y="19326"/>
                    <a:pt x="12843" y="19326"/>
                  </a:cubicBezTo>
                  <a:cubicBezTo>
                    <a:pt x="12843" y="19326"/>
                    <a:pt x="13427" y="19895"/>
                    <a:pt x="13427" y="19895"/>
                  </a:cubicBezTo>
                  <a:cubicBezTo>
                    <a:pt x="13427" y="19895"/>
                    <a:pt x="12843" y="20463"/>
                    <a:pt x="12843" y="20463"/>
                  </a:cubicBezTo>
                  <a:close/>
                  <a:moveTo>
                    <a:pt x="21600" y="20463"/>
                  </a:moveTo>
                  <a:cubicBezTo>
                    <a:pt x="20432" y="21600"/>
                    <a:pt x="20432" y="21600"/>
                    <a:pt x="20432" y="21600"/>
                  </a:cubicBezTo>
                  <a:cubicBezTo>
                    <a:pt x="20432" y="21600"/>
                    <a:pt x="19849" y="21600"/>
                    <a:pt x="19849" y="21600"/>
                  </a:cubicBezTo>
                  <a:cubicBezTo>
                    <a:pt x="19849" y="21600"/>
                    <a:pt x="19265" y="21600"/>
                    <a:pt x="19265" y="21600"/>
                  </a:cubicBezTo>
                  <a:cubicBezTo>
                    <a:pt x="8757" y="11368"/>
                    <a:pt x="8757" y="11368"/>
                    <a:pt x="8757" y="11368"/>
                  </a:cubicBezTo>
                  <a:cubicBezTo>
                    <a:pt x="8757" y="11368"/>
                    <a:pt x="8757" y="10800"/>
                    <a:pt x="8757" y="10800"/>
                  </a:cubicBezTo>
                  <a:cubicBezTo>
                    <a:pt x="8757" y="10800"/>
                    <a:pt x="8757" y="10232"/>
                    <a:pt x="8757" y="10232"/>
                  </a:cubicBezTo>
                  <a:cubicBezTo>
                    <a:pt x="19265" y="568"/>
                    <a:pt x="19265" y="568"/>
                    <a:pt x="19265" y="568"/>
                  </a:cubicBezTo>
                  <a:cubicBezTo>
                    <a:pt x="19265" y="0"/>
                    <a:pt x="19849" y="0"/>
                    <a:pt x="19849" y="0"/>
                  </a:cubicBezTo>
                  <a:cubicBezTo>
                    <a:pt x="19849" y="0"/>
                    <a:pt x="20432" y="0"/>
                    <a:pt x="20432" y="568"/>
                  </a:cubicBezTo>
                  <a:cubicBezTo>
                    <a:pt x="21600" y="1137"/>
                    <a:pt x="21600" y="1137"/>
                    <a:pt x="21600" y="1137"/>
                  </a:cubicBezTo>
                  <a:cubicBezTo>
                    <a:pt x="21600" y="1705"/>
                    <a:pt x="21600" y="1705"/>
                    <a:pt x="21600" y="1705"/>
                  </a:cubicBezTo>
                  <a:cubicBezTo>
                    <a:pt x="21600" y="2274"/>
                    <a:pt x="21600" y="2274"/>
                    <a:pt x="21600" y="2274"/>
                  </a:cubicBezTo>
                  <a:cubicBezTo>
                    <a:pt x="12843" y="10800"/>
                    <a:pt x="12843" y="10800"/>
                    <a:pt x="12843" y="10800"/>
                  </a:cubicBezTo>
                  <a:cubicBezTo>
                    <a:pt x="21600" y="19326"/>
                    <a:pt x="21600" y="19326"/>
                    <a:pt x="21600" y="19326"/>
                  </a:cubicBezTo>
                  <a:cubicBezTo>
                    <a:pt x="21600" y="19326"/>
                    <a:pt x="21600" y="19895"/>
                    <a:pt x="21600" y="19895"/>
                  </a:cubicBezTo>
                  <a:cubicBezTo>
                    <a:pt x="21600" y="19895"/>
                    <a:pt x="21600" y="20463"/>
                    <a:pt x="21600" y="2046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96" tIns="91396" rIns="91396" bIns="91396" numCol="1" anchor="t">
              <a:noAutofit/>
            </a:bodyPr>
            <a:lstStyle/>
            <a:p>
              <a:pPr algn="just">
                <a:def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solidFill>
                  <a:prstClr val="black"/>
                </a:solidFill>
                <a:latin typeface="Segoe UI" pitchFamily="34" charset="0"/>
                <a:ea typeface="Calibri"/>
                <a:cs typeface="Segoe UI" pitchFamily="34" charset="0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13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7" grpId="0"/>
      <p:bldP spid="105" grpId="0"/>
      <p:bldP spid="10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85815"/>
          </a:xfrm>
        </p:spPr>
        <p:txBody>
          <a:bodyPr/>
          <a:lstStyle/>
          <a:p>
            <a:r>
              <a:rPr lang="en-US" dirty="0"/>
              <a:t>ANN can be categorized based on number of hidden layers contained in ANN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6888" y="2811440"/>
            <a:ext cx="6578224" cy="1112292"/>
          </a:xfrm>
          <a:prstGeom prst="rect">
            <a:avLst/>
          </a:prstGeom>
          <a:solidFill>
            <a:schemeClr val="tx2">
              <a:lumMod val="75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indent="-285750"/>
            <a:r>
              <a:rPr lang="en-US" sz="2400" dirty="0"/>
              <a:t>Two Layer Neural Network (Perceptron)</a:t>
            </a:r>
          </a:p>
          <a:p>
            <a:pPr marL="914400" indent="-285750">
              <a:buFont typeface="Arial" panose="020B0604020202020204" pitchFamily="34" charset="0"/>
              <a:buChar char="•"/>
            </a:pPr>
            <a:r>
              <a:rPr lang="en-US" sz="2400" dirty="0"/>
              <a:t>Contains 0 hidden layers</a:t>
            </a:r>
          </a:p>
        </p:txBody>
      </p:sp>
      <p:sp>
        <p:nvSpPr>
          <p:cNvPr id="5" name="Oval 4"/>
          <p:cNvSpPr/>
          <p:nvPr/>
        </p:nvSpPr>
        <p:spPr>
          <a:xfrm>
            <a:off x="1653647" y="2702258"/>
            <a:ext cx="1473959" cy="1337482"/>
          </a:xfrm>
          <a:prstGeom prst="ellipse">
            <a:avLst/>
          </a:prstGeom>
          <a:solidFill>
            <a:srgbClr val="7030A0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6417" y="4408965"/>
            <a:ext cx="6578224" cy="2101017"/>
          </a:xfrm>
          <a:prstGeom prst="rect">
            <a:avLst/>
          </a:prstGeom>
          <a:solidFill>
            <a:schemeClr val="tx2">
              <a:lumMod val="75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indent="-285750"/>
            <a:r>
              <a:rPr lang="en-US" sz="2400" dirty="0"/>
              <a:t>Multi Layer Neural Network</a:t>
            </a:r>
          </a:p>
          <a:p>
            <a:pPr marL="914400" indent="-285750">
              <a:buFont typeface="Arial" panose="020B0604020202020204" pitchFamily="34" charset="0"/>
              <a:buChar char="•"/>
            </a:pPr>
            <a:r>
              <a:rPr lang="en-US" sz="2400" dirty="0"/>
              <a:t>Regular Neural Network</a:t>
            </a:r>
          </a:p>
          <a:p>
            <a:pPr marL="182880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Contains 1 hidden layer </a:t>
            </a:r>
          </a:p>
          <a:p>
            <a:pPr marL="914400" indent="-285750">
              <a:buFont typeface="Arial" panose="020B0604020202020204" pitchFamily="34" charset="0"/>
              <a:buChar char="•"/>
            </a:pPr>
            <a:r>
              <a:rPr lang="en-US" sz="2400" dirty="0"/>
              <a:t>Deep Neural Network</a:t>
            </a:r>
          </a:p>
          <a:p>
            <a:pPr marL="182880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Contains &gt;1  hidden layers</a:t>
            </a:r>
          </a:p>
        </p:txBody>
      </p:sp>
      <p:sp>
        <p:nvSpPr>
          <p:cNvPr id="7" name="Oval 6"/>
          <p:cNvSpPr/>
          <p:nvPr/>
        </p:nvSpPr>
        <p:spPr>
          <a:xfrm>
            <a:off x="1687209" y="4719467"/>
            <a:ext cx="1479078" cy="1480011"/>
          </a:xfrm>
          <a:prstGeom prst="ellipse">
            <a:avLst/>
          </a:prstGeom>
          <a:solidFill>
            <a:srgbClr val="7030A0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91" y="497938"/>
            <a:ext cx="8447822" cy="8424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Artificial Neural Networks</a:t>
            </a:r>
            <a:endParaRPr lang="en-US" sz="3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750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206" y="2246575"/>
            <a:ext cx="5227093" cy="4012275"/>
          </a:xfrm>
        </p:spPr>
        <p:txBody>
          <a:bodyPr>
            <a:normAutofit/>
          </a:bodyPr>
          <a:lstStyle/>
          <a:p>
            <a:r>
              <a:rPr lang="en-US" sz="3200" dirty="0"/>
              <a:t>Multiple input nodes</a:t>
            </a:r>
          </a:p>
          <a:p>
            <a:r>
              <a:rPr lang="en-US" sz="3200" dirty="0"/>
              <a:t>Single output node</a:t>
            </a:r>
          </a:p>
          <a:p>
            <a:pPr lvl="1"/>
            <a:r>
              <a:rPr lang="en-US" sz="2800" dirty="0"/>
              <a:t>Takes weighted sum of the inputs</a:t>
            </a:r>
          </a:p>
          <a:p>
            <a:pPr lvl="1"/>
            <a:r>
              <a:rPr lang="en-US" sz="2800" dirty="0"/>
              <a:t>Unit function calculates the output for the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7291" y="497937"/>
            <a:ext cx="9269155" cy="115344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layer Artificial Neural Network (Perceptron)</a:t>
            </a:r>
            <a:endParaRPr lang="en-US" sz="3600" dirty="0">
              <a:solidFill>
                <a:schemeClr val="tx1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945441" y="2129051"/>
            <a:ext cx="4980247" cy="3416805"/>
            <a:chOff x="5631539" y="2129051"/>
            <a:chExt cx="4980247" cy="3416805"/>
          </a:xfrm>
        </p:grpSpPr>
        <p:sp>
          <p:nvSpPr>
            <p:cNvPr id="5" name="Oval 4"/>
            <p:cNvSpPr/>
            <p:nvPr/>
          </p:nvSpPr>
          <p:spPr>
            <a:xfrm>
              <a:off x="6005015" y="2129051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012272" y="2862012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077588" y="3580479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6070330" y="5068185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631539" y="2164688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45837" y="2869394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98537" y="3604566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45945" y="5122354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n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8345715" y="3048001"/>
              <a:ext cx="1016000" cy="100008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∑   ?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8882746" y="3048001"/>
              <a:ext cx="0" cy="10000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515509" y="2475964"/>
              <a:ext cx="1873755" cy="8637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  <a:endCxn id="16" idx="2"/>
            </p:cNvCxnSpPr>
            <p:nvPr/>
          </p:nvCxnSpPr>
          <p:spPr>
            <a:xfrm>
              <a:off x="6544535" y="3100848"/>
              <a:ext cx="1801180" cy="4471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0" idx="6"/>
            </p:cNvCxnSpPr>
            <p:nvPr/>
          </p:nvCxnSpPr>
          <p:spPr>
            <a:xfrm flipV="1">
              <a:off x="6609851" y="3730171"/>
              <a:ext cx="1793927" cy="891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1" idx="6"/>
              <a:endCxn id="16" idx="3"/>
            </p:cNvCxnSpPr>
            <p:nvPr/>
          </p:nvCxnSpPr>
          <p:spPr>
            <a:xfrm flipV="1">
              <a:off x="6602593" y="3901623"/>
              <a:ext cx="1891912" cy="14053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0138230" y="3231482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V="1">
              <a:off x="9353041" y="3491521"/>
              <a:ext cx="785189" cy="216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6994338" y="2393656"/>
              <a:ext cx="496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045140" y="2879881"/>
              <a:ext cx="496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30626" y="3402394"/>
              <a:ext cx="496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</a:t>
              </a:r>
              <a:r>
                <a:rPr lang="en-US" b="1" baseline="-25000" dirty="0"/>
                <a:t>3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16112" y="4389361"/>
              <a:ext cx="496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</a:t>
              </a:r>
              <a:r>
                <a:rPr lang="en-US" b="1" baseline="-25000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3786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885172"/>
            <a:ext cx="2653259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8CAEA5F-2168-4945-89AA-311AA29E373C}"/>
              </a:ext>
            </a:extLst>
          </p:cNvPr>
          <p:cNvSpPr/>
          <p:nvPr/>
        </p:nvSpPr>
        <p:spPr>
          <a:xfrm>
            <a:off x="862864" y="1106963"/>
            <a:ext cx="4472534" cy="62117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Consider the Sample Data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825450"/>
              </p:ext>
            </p:extLst>
          </p:nvPr>
        </p:nvGraphicFramePr>
        <p:xfrm>
          <a:off x="1084521" y="2743200"/>
          <a:ext cx="9993054" cy="23241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4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0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8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Instance No.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Input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Output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E</a:t>
                      </a:r>
                      <a:r>
                        <a:rPr lang="en-US" sz="2400" b="1" kern="1200" baseline="-25000" dirty="0">
                          <a:effectLst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Negative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E</a:t>
                      </a:r>
                      <a:r>
                        <a:rPr lang="en-US" sz="2400" b="1" kern="1200" baseline="-25000" dirty="0">
                          <a:effectLst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Good Product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Positive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E</a:t>
                      </a:r>
                      <a:r>
                        <a:rPr lang="en-US" sz="2400" b="1" kern="1200" baseline="-25000" dirty="0">
                          <a:effectLst/>
                        </a:rPr>
                        <a:t>3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Best product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Positive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F613799E-CD0B-4EF6-A81D-3AAE7BEF01B1}"/>
              </a:ext>
            </a:extLst>
          </p:cNvPr>
          <p:cNvSpPr/>
          <p:nvPr/>
        </p:nvSpPr>
        <p:spPr>
          <a:xfrm>
            <a:off x="937292" y="318063"/>
            <a:ext cx="8485004" cy="62117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Perceptron Example – Sample Data</a:t>
            </a:r>
            <a:endParaRPr lang="en-US" sz="3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961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203201"/>
            <a:ext cx="5298592" cy="7207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Sample Data (Cont.)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E1195-67F6-4F98-A028-CFF4359AA800}"/>
              </a:ext>
            </a:extLst>
          </p:cNvPr>
          <p:cNvCxnSpPr>
            <a:cxnSpLocks/>
          </p:cNvCxnSpPr>
          <p:nvPr/>
        </p:nvCxnSpPr>
        <p:spPr>
          <a:xfrm flipV="1">
            <a:off x="947191" y="885173"/>
            <a:ext cx="4272509" cy="1"/>
          </a:xfrm>
          <a:prstGeom prst="line">
            <a:avLst/>
          </a:prstGeom>
          <a:ln w="571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8CAEA5F-2168-4945-89AA-311AA29E373C}"/>
              </a:ext>
            </a:extLst>
          </p:cNvPr>
          <p:cNvSpPr/>
          <p:nvPr/>
        </p:nvSpPr>
        <p:spPr>
          <a:xfrm>
            <a:off x="947191" y="1062333"/>
            <a:ext cx="8882609" cy="62862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Consider the Sample Data 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853536"/>
              </p:ext>
            </p:extLst>
          </p:nvPr>
        </p:nvGraphicFramePr>
        <p:xfrm>
          <a:off x="940321" y="2638646"/>
          <a:ext cx="10311358" cy="305002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8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9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0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effectLst/>
                        </a:rPr>
                        <a:t>Instance No.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effectLst/>
                        </a:rPr>
                        <a:t>Input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effectLst/>
                        </a:rPr>
                        <a:t>Output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Bad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Product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effectLst/>
                        </a:rPr>
                        <a:t>Good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effectLst/>
                        </a:rPr>
                        <a:t>Nice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1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E</a:t>
                      </a:r>
                      <a:r>
                        <a:rPr lang="en-US" sz="2400" b="1" kern="1200" baseline="-25000" dirty="0">
                          <a:effectLst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E</a:t>
                      </a:r>
                      <a:r>
                        <a:rPr lang="en-US" sz="2400" b="1" kern="1200" baseline="-25000" dirty="0">
                          <a:effectLst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>
                          <a:effectLst/>
                        </a:rPr>
                        <a:t>E</a:t>
                      </a:r>
                      <a:r>
                        <a:rPr lang="en-US" sz="2400" b="1" kern="1200" baseline="-25000">
                          <a:effectLst/>
                        </a:rPr>
                        <a:t>3</a:t>
                      </a:r>
                      <a:endParaRPr lang="en-US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</a:rPr>
                        <a:t>+1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7147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4940478" y="2248882"/>
            <a:ext cx="4617705" cy="3129001"/>
            <a:chOff x="6005015" y="2129051"/>
            <a:chExt cx="4617705" cy="3129001"/>
          </a:xfrm>
        </p:grpSpPr>
        <p:sp>
          <p:nvSpPr>
            <p:cNvPr id="6" name="Oval 5"/>
            <p:cNvSpPr/>
            <p:nvPr/>
          </p:nvSpPr>
          <p:spPr>
            <a:xfrm>
              <a:off x="6005015" y="2129051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012272" y="3007153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077588" y="3914307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080896" y="4780381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09212" y="2164688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09865" y="3000021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62562" y="3880336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78210" y="4765986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4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345715" y="3048001"/>
              <a:ext cx="1016000" cy="100008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6515509" y="2475964"/>
              <a:ext cx="1873755" cy="8637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7" idx="6"/>
              <a:endCxn id="14" idx="2"/>
            </p:cNvCxnSpPr>
            <p:nvPr/>
          </p:nvCxnSpPr>
          <p:spPr>
            <a:xfrm>
              <a:off x="6544535" y="3245989"/>
              <a:ext cx="1801180" cy="302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8" idx="6"/>
            </p:cNvCxnSpPr>
            <p:nvPr/>
          </p:nvCxnSpPr>
          <p:spPr>
            <a:xfrm flipV="1">
              <a:off x="6609851" y="3708321"/>
              <a:ext cx="1779413" cy="4448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6"/>
              <a:endCxn id="14" idx="3"/>
            </p:cNvCxnSpPr>
            <p:nvPr/>
          </p:nvCxnSpPr>
          <p:spPr>
            <a:xfrm flipV="1">
              <a:off x="6613159" y="3901623"/>
              <a:ext cx="1881346" cy="11175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138230" y="3231482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9353041" y="3764623"/>
              <a:ext cx="1269679" cy="5349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6994338" y="2393656"/>
              <a:ext cx="5469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0.25</a:t>
              </a:r>
              <a:endParaRPr lang="en-US" sz="1600" b="1" baseline="-25000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973767" y="3118475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32" name="TextBox 31"/>
          <p:cNvSpPr txBox="1"/>
          <p:nvPr/>
        </p:nvSpPr>
        <p:spPr>
          <a:xfrm>
            <a:off x="6017072" y="3692296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33" name="TextBox 32"/>
          <p:cNvSpPr txBox="1"/>
          <p:nvPr/>
        </p:nvSpPr>
        <p:spPr>
          <a:xfrm>
            <a:off x="6156618" y="4238386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37" name="TextBox 36"/>
          <p:cNvSpPr txBox="1"/>
          <p:nvPr/>
        </p:nvSpPr>
        <p:spPr>
          <a:xfrm>
            <a:off x="3551275" y="2248882"/>
            <a:ext cx="160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73048" y="5057392"/>
            <a:ext cx="159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1275" y="4041398"/>
            <a:ext cx="162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73048" y="3141508"/>
            <a:ext cx="160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2</a:t>
            </a:r>
          </a:p>
        </p:txBody>
      </p:sp>
      <p:sp>
        <p:nvSpPr>
          <p:cNvPr id="53" name="TextBox 52"/>
          <p:cNvSpPr txBox="1"/>
          <p:nvPr/>
        </p:nvSpPr>
        <p:spPr>
          <a:xfrm flipH="1">
            <a:off x="9627418" y="2592794"/>
            <a:ext cx="145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Pos</a:t>
            </a:r>
            <a:endParaRPr lang="en-US" b="1" baseline="-25000" dirty="0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8266604" y="2866337"/>
            <a:ext cx="1291579" cy="61180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062415" y="2761518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S&gt; 0</a:t>
            </a:r>
            <a:endParaRPr lang="en-US" sz="1600" b="1" baseline="-25000" dirty="0"/>
          </a:p>
        </p:txBody>
      </p:sp>
      <p:sp>
        <p:nvSpPr>
          <p:cNvPr id="61" name="TextBox 60"/>
          <p:cNvSpPr txBox="1"/>
          <p:nvPr/>
        </p:nvSpPr>
        <p:spPr>
          <a:xfrm flipH="1">
            <a:off x="9755815" y="4238881"/>
            <a:ext cx="112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-1    Neg</a:t>
            </a:r>
            <a:endParaRPr lang="en-US" b="1" baseline="-25000" dirty="0"/>
          </a:p>
        </p:txBody>
      </p:sp>
      <p:sp>
        <p:nvSpPr>
          <p:cNvPr id="69" name="Rectangle 68"/>
          <p:cNvSpPr/>
          <p:nvPr/>
        </p:nvSpPr>
        <p:spPr>
          <a:xfrm>
            <a:off x="5837605" y="5541092"/>
            <a:ext cx="4517090" cy="5322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S= 0.25*x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sz="2000" b="1" dirty="0">
                <a:solidFill>
                  <a:schemeClr val="tx1"/>
                </a:solidFill>
              </a:rPr>
              <a:t> + 0.25*x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 + 0.25*x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  <a:r>
              <a:rPr lang="en-US" sz="2000" b="1" dirty="0">
                <a:solidFill>
                  <a:schemeClr val="tx1"/>
                </a:solidFill>
              </a:rPr>
              <a:t> + 0.25*x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40433" y="4183162"/>
            <a:ext cx="1104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Otherwise</a:t>
            </a:r>
            <a:endParaRPr lang="en-US" sz="1600" b="1" baseline="-25000" dirty="0"/>
          </a:p>
        </p:txBody>
      </p:sp>
      <p:sp>
        <p:nvSpPr>
          <p:cNvPr id="72" name="Rounded Rectangle 71"/>
          <p:cNvSpPr/>
          <p:nvPr/>
        </p:nvSpPr>
        <p:spPr>
          <a:xfrm>
            <a:off x="937291" y="497938"/>
            <a:ext cx="4992510" cy="72287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Perceptron Example</a:t>
            </a:r>
            <a:endParaRPr lang="en-US" sz="3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285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9" y="1665027"/>
            <a:ext cx="5683709" cy="4572000"/>
          </a:xfrm>
        </p:spPr>
        <p:txBody>
          <a:bodyPr>
            <a:noAutofit/>
          </a:bodyPr>
          <a:lstStyle/>
          <a:p>
            <a:r>
              <a:rPr lang="en-US" sz="2400" b="1" dirty="0"/>
              <a:t>Calculation  (Step-1): (Instance No. 1)</a:t>
            </a:r>
          </a:p>
          <a:p>
            <a:pPr marL="690563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1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1 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2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0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3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0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4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0 </a:t>
            </a:r>
          </a:p>
          <a:p>
            <a:pPr marL="457200" lvl="1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175" lvl="1" indent="0">
              <a:buNone/>
            </a:pPr>
            <a:r>
              <a:rPr lang="en-US" sz="1800" b="1" dirty="0">
                <a:solidFill>
                  <a:srgbClr val="0070C0"/>
                </a:solidFill>
              </a:rPr>
              <a:t>S= 0.25*(1) + 0.25* (0) + 0.25*(0) + 0.25* (0) = 0.25</a:t>
            </a:r>
          </a:p>
          <a:p>
            <a:pPr marL="457200" lvl="1" indent="0">
              <a:buNone/>
            </a:pPr>
            <a:endParaRPr lang="en-US" sz="2000" baseline="-25000" dirty="0"/>
          </a:p>
          <a:p>
            <a:pPr marL="228600" lvl="1">
              <a:spcBef>
                <a:spcPts val="0"/>
              </a:spcBef>
            </a:pPr>
            <a:r>
              <a:rPr lang="en-US" sz="2600" b="1" dirty="0"/>
              <a:t>0.25 &gt; 0, so the output of ANN is +1</a:t>
            </a:r>
          </a:p>
          <a:p>
            <a:pPr marL="0" lvl="1" indent="0">
              <a:spcBef>
                <a:spcPts val="0"/>
              </a:spcBef>
              <a:buNone/>
            </a:pPr>
            <a:endParaRPr lang="en-US" sz="2600" b="1" dirty="0"/>
          </a:p>
          <a:p>
            <a:pPr marL="519113" lvl="2">
              <a:spcBef>
                <a:spcPts val="0"/>
              </a:spcBef>
              <a:tabLst>
                <a:tab pos="231775" algn="l"/>
              </a:tabLst>
            </a:pPr>
            <a:r>
              <a:rPr lang="en-US" sz="2400" dirty="0"/>
              <a:t>So the image is categorized as </a:t>
            </a:r>
            <a:r>
              <a:rPr lang="en-US" sz="2400" dirty="0">
                <a:solidFill>
                  <a:srgbClr val="FF0000"/>
                </a:solidFill>
              </a:rPr>
              <a:t>“Pos” </a:t>
            </a:r>
          </a:p>
          <a:p>
            <a:pPr marL="519113" lvl="2">
              <a:spcBef>
                <a:spcPts val="0"/>
              </a:spcBef>
              <a:tabLst>
                <a:tab pos="231775" algn="l"/>
              </a:tabLst>
            </a:pPr>
            <a:r>
              <a:rPr lang="en-US" sz="2400" dirty="0"/>
              <a:t>Target : </a:t>
            </a:r>
            <a:r>
              <a:rPr lang="en-US" sz="2400" dirty="0">
                <a:solidFill>
                  <a:srgbClr val="FF0000"/>
                </a:solidFill>
              </a:rPr>
              <a:t>“Neg”</a:t>
            </a:r>
          </a:p>
          <a:p>
            <a:pPr marL="0" lvl="1" indent="0">
              <a:buNone/>
              <a:tabLst>
                <a:tab pos="231775" algn="l"/>
              </a:tabLst>
            </a:pPr>
            <a:r>
              <a:rPr lang="en-US" dirty="0"/>
              <a:t> </a:t>
            </a:r>
          </a:p>
          <a:p>
            <a:pPr marL="228600" lvl="1"/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937291" y="497938"/>
            <a:ext cx="4999485" cy="6776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Perceptron Example</a:t>
            </a:r>
            <a:endParaRPr lang="en-US" sz="3800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100545" y="2248882"/>
            <a:ext cx="4617705" cy="3129001"/>
            <a:chOff x="6005015" y="2129051"/>
            <a:chExt cx="4617705" cy="3129001"/>
          </a:xfrm>
        </p:grpSpPr>
        <p:sp>
          <p:nvSpPr>
            <p:cNvPr id="6" name="Oval 5"/>
            <p:cNvSpPr/>
            <p:nvPr/>
          </p:nvSpPr>
          <p:spPr>
            <a:xfrm>
              <a:off x="6005015" y="2129051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012272" y="3007153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077588" y="3914307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080896" y="4780381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09212" y="2164688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09865" y="3000021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62562" y="3880336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78210" y="4765986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4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345715" y="3048001"/>
              <a:ext cx="1016000" cy="100008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6515509" y="2475964"/>
              <a:ext cx="1873755" cy="8637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6"/>
              <a:endCxn id="14" idx="2"/>
            </p:cNvCxnSpPr>
            <p:nvPr/>
          </p:nvCxnSpPr>
          <p:spPr>
            <a:xfrm>
              <a:off x="6544535" y="3245989"/>
              <a:ext cx="1801180" cy="302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8" idx="6"/>
            </p:cNvCxnSpPr>
            <p:nvPr/>
          </p:nvCxnSpPr>
          <p:spPr>
            <a:xfrm flipV="1">
              <a:off x="6609851" y="3708321"/>
              <a:ext cx="1779413" cy="4448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6"/>
              <a:endCxn id="14" idx="3"/>
            </p:cNvCxnSpPr>
            <p:nvPr/>
          </p:nvCxnSpPr>
          <p:spPr>
            <a:xfrm flipV="1">
              <a:off x="6613159" y="3901623"/>
              <a:ext cx="1881346" cy="11175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0138230" y="3231482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9353041" y="3764623"/>
              <a:ext cx="1269679" cy="5349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6994338" y="2393656"/>
              <a:ext cx="5469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0.25</a:t>
              </a:r>
              <a:endParaRPr lang="en-US" sz="1600" b="1" baseline="-25000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133834" y="3118475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7177139" y="3692296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6685" y="4238386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25" name="TextBox 24"/>
          <p:cNvSpPr txBox="1"/>
          <p:nvPr/>
        </p:nvSpPr>
        <p:spPr>
          <a:xfrm>
            <a:off x="5698976" y="2331204"/>
            <a:ext cx="61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7627" y="5057392"/>
            <a:ext cx="55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7627" y="4041398"/>
            <a:ext cx="61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0749" y="3141507"/>
            <a:ext cx="617127" cy="381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 flipH="1">
            <a:off x="10787485" y="2592794"/>
            <a:ext cx="145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Pos</a:t>
            </a:r>
            <a:endParaRPr lang="en-US" b="1" baseline="-25000" dirty="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9426671" y="2866337"/>
            <a:ext cx="1291579" cy="61180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785751" y="2761518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S&gt; 0</a:t>
            </a:r>
            <a:endParaRPr lang="en-US" sz="1600" b="1" baseline="-25000" dirty="0"/>
          </a:p>
        </p:txBody>
      </p:sp>
      <p:sp>
        <p:nvSpPr>
          <p:cNvPr id="32" name="TextBox 31"/>
          <p:cNvSpPr txBox="1"/>
          <p:nvPr/>
        </p:nvSpPr>
        <p:spPr>
          <a:xfrm flipH="1">
            <a:off x="10915882" y="4238881"/>
            <a:ext cx="112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-1    Neg</a:t>
            </a:r>
            <a:endParaRPr lang="en-US" b="1" baseline="-25000" dirty="0"/>
          </a:p>
        </p:txBody>
      </p:sp>
      <p:sp>
        <p:nvSpPr>
          <p:cNvPr id="34" name="TextBox 33"/>
          <p:cNvSpPr txBox="1"/>
          <p:nvPr/>
        </p:nvSpPr>
        <p:spPr>
          <a:xfrm>
            <a:off x="9100500" y="4183162"/>
            <a:ext cx="1104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Otherwise</a:t>
            </a:r>
            <a:endParaRPr lang="en-US" sz="1600" b="1" baseline="-25000" dirty="0"/>
          </a:p>
        </p:txBody>
      </p:sp>
    </p:spTree>
    <p:extLst>
      <p:ext uri="{BB962C8B-B14F-4D97-AF65-F5344CB8AC3E}">
        <p14:creationId xmlns:p14="http://schemas.microsoft.com/office/powerpoint/2010/main" val="1540603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878" y="1825625"/>
            <a:ext cx="8079474" cy="359253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0" lvl="1" indent="0">
              <a:buNone/>
            </a:pPr>
            <a:r>
              <a:rPr lang="en-US" sz="2800" dirty="0"/>
              <a:t> </a:t>
            </a:r>
          </a:p>
          <a:p>
            <a:pPr marL="228600" lvl="1"/>
            <a:endParaRPr lang="en-US"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937291" y="497938"/>
            <a:ext cx="5804704" cy="8804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Algorithm</a:t>
            </a:r>
            <a:endParaRPr lang="en-US" sz="380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03277" y="1978025"/>
            <a:ext cx="10083421" cy="4350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Weights are randomly initialized.</a:t>
            </a:r>
          </a:p>
          <a:p>
            <a:r>
              <a:rPr lang="en-US" sz="3200" b="1" dirty="0"/>
              <a:t>For each training example E</a:t>
            </a:r>
          </a:p>
          <a:p>
            <a:pPr lvl="2"/>
            <a:r>
              <a:rPr lang="en-US" sz="2400" b="1" dirty="0">
                <a:solidFill>
                  <a:srgbClr val="0070C0"/>
                </a:solidFill>
              </a:rPr>
              <a:t>Calculate the observed output from Perceptron, o(E)</a:t>
            </a:r>
          </a:p>
          <a:p>
            <a:pPr lvl="2"/>
            <a:r>
              <a:rPr lang="en-US" sz="2400" b="1" dirty="0">
                <a:solidFill>
                  <a:srgbClr val="0070C0"/>
                </a:solidFill>
              </a:rPr>
              <a:t>If the target output t(E)  is different to o(E) </a:t>
            </a:r>
          </a:p>
          <a:p>
            <a:pPr lvl="3"/>
            <a:r>
              <a:rPr lang="en-US" sz="2000" b="1" dirty="0"/>
              <a:t>Then update all the weights so that o(E) becomes closer to t(E)</a:t>
            </a:r>
          </a:p>
          <a:p>
            <a:r>
              <a:rPr lang="en-US" sz="3200" b="1" dirty="0"/>
              <a:t>This process is done for every example</a:t>
            </a:r>
          </a:p>
          <a:p>
            <a:r>
              <a:rPr lang="en-US" sz="3200" b="1" dirty="0"/>
              <a:t>It is not necessary to stop when all examples are used.</a:t>
            </a:r>
          </a:p>
          <a:p>
            <a:pPr lvl="2"/>
            <a:r>
              <a:rPr lang="en-US" sz="2400" b="1" dirty="0">
                <a:solidFill>
                  <a:srgbClr val="0070C0"/>
                </a:solidFill>
              </a:rPr>
              <a:t>Repeat the cycle again (an epoch) until network produces the correct output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57304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878" y="1825625"/>
            <a:ext cx="10630582" cy="157316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0" lvl="1" indent="0">
              <a:buNone/>
            </a:pPr>
            <a:r>
              <a:rPr lang="en-US" sz="2800" dirty="0"/>
              <a:t> </a:t>
            </a:r>
          </a:p>
          <a:p>
            <a:pPr marL="228600" lvl="1"/>
            <a:endParaRPr lang="en-US"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502951" y="470642"/>
            <a:ext cx="10688210" cy="49613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Perceptron Training Rule (How to update weights)</a:t>
            </a:r>
            <a:endParaRPr lang="en-US" sz="330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71018" y="1337223"/>
            <a:ext cx="10920142" cy="19252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/>
              <a:t>When t(E) is different from o(E)</a:t>
            </a:r>
          </a:p>
          <a:p>
            <a:pPr lvl="2"/>
            <a:r>
              <a:rPr lang="en-US" sz="2400" b="1" dirty="0"/>
              <a:t>Add </a:t>
            </a:r>
            <a:r>
              <a:rPr lang="el-GR" sz="2400" b="1" dirty="0"/>
              <a:t>∆</a:t>
            </a:r>
            <a:r>
              <a:rPr lang="en-US" sz="2400" b="1" baseline="-25000" dirty="0" err="1"/>
              <a:t>i</a:t>
            </a:r>
            <a:r>
              <a:rPr lang="en-US" sz="2400" b="1" dirty="0"/>
              <a:t> to weight </a:t>
            </a:r>
            <a:r>
              <a:rPr lang="en-US" sz="2400" b="1" dirty="0" err="1"/>
              <a:t>w</a:t>
            </a:r>
            <a:r>
              <a:rPr lang="en-US" sz="2400" b="1" baseline="-25000" dirty="0" err="1"/>
              <a:t>i</a:t>
            </a:r>
            <a:endParaRPr lang="en-US" sz="2400" b="1" baseline="-25000" dirty="0"/>
          </a:p>
          <a:p>
            <a:pPr lvl="2"/>
            <a:r>
              <a:rPr lang="en-US" sz="2400" b="1" dirty="0"/>
              <a:t>Where change </a:t>
            </a:r>
            <a:r>
              <a:rPr lang="el-GR" sz="2400" b="1" dirty="0">
                <a:solidFill>
                  <a:srgbClr val="FF0000"/>
                </a:solidFill>
              </a:rPr>
              <a:t>∆</a:t>
            </a:r>
            <a:r>
              <a:rPr lang="en-US" sz="2400" b="1" baseline="-25000" dirty="0" err="1">
                <a:solidFill>
                  <a:srgbClr val="FF0000"/>
                </a:solidFill>
              </a:rPr>
              <a:t>i</a:t>
            </a:r>
            <a:r>
              <a:rPr lang="en-US" sz="2400" b="1" dirty="0">
                <a:solidFill>
                  <a:srgbClr val="FF0000"/>
                </a:solidFill>
              </a:rPr>
              <a:t> = ɳ(t(E) – o(E) ) x</a:t>
            </a:r>
            <a:r>
              <a:rPr lang="en-US" sz="2400" b="1" baseline="-25000" dirty="0">
                <a:solidFill>
                  <a:srgbClr val="FF0000"/>
                </a:solidFill>
              </a:rPr>
              <a:t>i</a:t>
            </a:r>
            <a:r>
              <a:rPr lang="en-US" sz="2400" b="1" dirty="0">
                <a:solidFill>
                  <a:srgbClr val="FF0000"/>
                </a:solidFill>
              </a:rPr>
              <a:t>  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ɳ</a:t>
            </a:r>
            <a:r>
              <a:rPr lang="en-US" sz="2400" b="1" dirty="0">
                <a:sym typeface="Wingdings" panose="05000000000000000000" pitchFamily="2" charset="2"/>
              </a:rPr>
              <a:t> is learning rate (Usually very small value)</a:t>
            </a:r>
            <a:endParaRPr lang="en-US" sz="2400" b="1" dirty="0"/>
          </a:p>
          <a:p>
            <a:pPr lvl="2"/>
            <a:r>
              <a:rPr lang="en-US" sz="2400" b="1" dirty="0"/>
              <a:t>Do this for every weight in the network</a:t>
            </a:r>
          </a:p>
          <a:p>
            <a:pPr lvl="2"/>
            <a:r>
              <a:rPr lang="en-US" sz="2400" b="1" dirty="0"/>
              <a:t>Let </a:t>
            </a:r>
            <a:r>
              <a:rPr lang="en-US" sz="2400" b="1" dirty="0">
                <a:solidFill>
                  <a:srgbClr val="FF0000"/>
                </a:solidFill>
              </a:rPr>
              <a:t>ɳ=0.1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446664" y="3835025"/>
            <a:ext cx="340110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/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sz="2000" b="1" dirty="0">
                <a:solidFill>
                  <a:schemeClr val="tx1"/>
                </a:solidFill>
              </a:rPr>
              <a:t> = ɳ (t(E) – o(E) )* x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</a:p>
          <a:p>
            <a:pPr marL="115888"/>
            <a:r>
              <a:rPr lang="en-US" sz="2000" b="1" dirty="0">
                <a:solidFill>
                  <a:schemeClr val="tx1"/>
                </a:solidFill>
              </a:rPr>
              <a:t>     = 0.1 ( -1 – (+1)) * 1 = -0.2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453924" y="4553481"/>
            <a:ext cx="340110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/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 = ɳ (t(E) – o(E) )* x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</a:p>
          <a:p>
            <a:pPr marL="115888"/>
            <a:r>
              <a:rPr lang="en-US" sz="2000" b="1" dirty="0">
                <a:solidFill>
                  <a:schemeClr val="tx1"/>
                </a:solidFill>
              </a:rPr>
              <a:t>     = 0.1 ( -1-1) * 0 = 0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453923" y="5264677"/>
            <a:ext cx="340110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/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  <a:r>
              <a:rPr lang="en-US" sz="2000" b="1" dirty="0">
                <a:solidFill>
                  <a:schemeClr val="tx1"/>
                </a:solidFill>
              </a:rPr>
              <a:t> = ɳ (t(E) – o(E) )* x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</a:p>
          <a:p>
            <a:pPr marL="115888"/>
            <a:r>
              <a:rPr lang="en-US" sz="2000" b="1" dirty="0">
                <a:solidFill>
                  <a:schemeClr val="tx1"/>
                </a:solidFill>
              </a:rPr>
              <a:t>     = 0.1 ( -1-1) * 0 = 0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439408" y="5990388"/>
            <a:ext cx="340110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/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  <a:r>
              <a:rPr lang="en-US" sz="2000" b="1" dirty="0">
                <a:solidFill>
                  <a:schemeClr val="tx1"/>
                </a:solidFill>
              </a:rPr>
              <a:t> = ɳ (t(E) – o(E) )* x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</a:p>
          <a:p>
            <a:pPr marL="115888"/>
            <a:r>
              <a:rPr lang="en-US" sz="2000" b="1" dirty="0">
                <a:solidFill>
                  <a:schemeClr val="tx1"/>
                </a:solidFill>
              </a:rPr>
              <a:t>     = 0.1 ( -1-1) * 0 = 0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715029" y="3840553"/>
            <a:ext cx="393087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algn="ctr"/>
            <a:r>
              <a:rPr lang="en-US" sz="2000" b="1" dirty="0">
                <a:solidFill>
                  <a:schemeClr val="tx1"/>
                </a:solidFill>
              </a:rPr>
              <a:t>wʹ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sz="2000" b="1" dirty="0">
                <a:solidFill>
                  <a:schemeClr val="tx1"/>
                </a:solidFill>
              </a:rPr>
              <a:t> = w</a:t>
            </a:r>
            <a:r>
              <a:rPr lang="en-US" sz="2000" b="1" baseline="-25000" dirty="0">
                <a:solidFill>
                  <a:schemeClr val="tx1"/>
                </a:solidFill>
              </a:rPr>
              <a:t>1 </a:t>
            </a:r>
            <a:r>
              <a:rPr lang="en-US" sz="2000" b="1" dirty="0">
                <a:solidFill>
                  <a:schemeClr val="tx1"/>
                </a:solidFill>
              </a:rPr>
              <a:t>+</a:t>
            </a:r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sz="2000" b="1" dirty="0">
                <a:solidFill>
                  <a:schemeClr val="tx1"/>
                </a:solidFill>
              </a:rPr>
              <a:t> = 0.25 + (-0.2) = 0.05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707773" y="4573523"/>
            <a:ext cx="393087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algn="ctr"/>
            <a:r>
              <a:rPr lang="en-US" sz="2000" b="1" dirty="0">
                <a:solidFill>
                  <a:schemeClr val="tx1"/>
                </a:solidFill>
              </a:rPr>
              <a:t>wʹ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 = w</a:t>
            </a:r>
            <a:r>
              <a:rPr lang="en-US" sz="2000" b="1" baseline="-25000" dirty="0">
                <a:solidFill>
                  <a:schemeClr val="tx1"/>
                </a:solidFill>
              </a:rPr>
              <a:t>2 </a:t>
            </a:r>
            <a:r>
              <a:rPr lang="en-US" sz="2000" b="1" dirty="0">
                <a:solidFill>
                  <a:schemeClr val="tx1"/>
                </a:solidFill>
              </a:rPr>
              <a:t>+</a:t>
            </a:r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 = 0.25 + 0 = 0.25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715030" y="5291979"/>
            <a:ext cx="393087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algn="ctr"/>
            <a:r>
              <a:rPr lang="en-US" sz="2000" b="1" dirty="0">
                <a:solidFill>
                  <a:schemeClr val="tx1"/>
                </a:solidFill>
              </a:rPr>
              <a:t>wʹ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  <a:r>
              <a:rPr lang="en-US" sz="2000" b="1" dirty="0">
                <a:solidFill>
                  <a:schemeClr val="tx1"/>
                </a:solidFill>
              </a:rPr>
              <a:t> = w</a:t>
            </a:r>
            <a:r>
              <a:rPr lang="en-US" sz="2000" b="1" baseline="-25000" dirty="0">
                <a:solidFill>
                  <a:schemeClr val="tx1"/>
                </a:solidFill>
              </a:rPr>
              <a:t>3 </a:t>
            </a:r>
            <a:r>
              <a:rPr lang="en-US" sz="2000" b="1" dirty="0">
                <a:solidFill>
                  <a:schemeClr val="tx1"/>
                </a:solidFill>
              </a:rPr>
              <a:t>+</a:t>
            </a:r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  <a:r>
              <a:rPr lang="en-US" sz="2000" b="1" dirty="0">
                <a:solidFill>
                  <a:schemeClr val="tx1"/>
                </a:solidFill>
              </a:rPr>
              <a:t> = 0.25 + 0 = 0.25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715030" y="6032205"/>
            <a:ext cx="393087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algn="ctr"/>
            <a:r>
              <a:rPr lang="en-US" sz="2000" b="1" dirty="0">
                <a:solidFill>
                  <a:schemeClr val="tx1"/>
                </a:solidFill>
              </a:rPr>
              <a:t>wʹ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  <a:r>
              <a:rPr lang="en-US" sz="2000" b="1" dirty="0">
                <a:solidFill>
                  <a:schemeClr val="tx1"/>
                </a:solidFill>
              </a:rPr>
              <a:t> = w</a:t>
            </a:r>
            <a:r>
              <a:rPr lang="en-US" sz="2000" b="1" baseline="-25000" dirty="0">
                <a:solidFill>
                  <a:schemeClr val="tx1"/>
                </a:solidFill>
              </a:rPr>
              <a:t>4 </a:t>
            </a:r>
            <a:r>
              <a:rPr lang="en-US" sz="2000" b="1" dirty="0">
                <a:solidFill>
                  <a:schemeClr val="tx1"/>
                </a:solidFill>
              </a:rPr>
              <a:t>+</a:t>
            </a:r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  <a:r>
              <a:rPr lang="en-US" sz="2000" b="1" dirty="0">
                <a:solidFill>
                  <a:schemeClr val="tx1"/>
                </a:solidFill>
              </a:rPr>
              <a:t> = 0.25 + 0 = 0.25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114716" y="3229164"/>
            <a:ext cx="4221561" cy="4532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Calculating the error values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6589753" y="3217789"/>
            <a:ext cx="4246571" cy="4532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Calculating the New Weights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732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524" y="1665027"/>
            <a:ext cx="5706231" cy="4572000"/>
          </a:xfrm>
        </p:spPr>
        <p:txBody>
          <a:bodyPr>
            <a:noAutofit/>
          </a:bodyPr>
          <a:lstStyle/>
          <a:p>
            <a:r>
              <a:rPr lang="en-US" sz="2400" b="1" dirty="0"/>
              <a:t>Calculation (Step-2):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1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1 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2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0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3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0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4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0 </a:t>
            </a:r>
          </a:p>
          <a:p>
            <a:pPr marL="457200" lvl="1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175" lvl="1" indent="0">
              <a:buNone/>
            </a:pPr>
            <a:r>
              <a:rPr lang="en-US" sz="1800" b="1" dirty="0">
                <a:solidFill>
                  <a:srgbClr val="0070C0"/>
                </a:solidFill>
              </a:rPr>
              <a:t>S= 0.05*(1) + 0.25* (0) + 0.25*(0) + 0.25* (0) = 0.05</a:t>
            </a:r>
          </a:p>
          <a:p>
            <a:pPr marL="457200" lvl="1" indent="0">
              <a:buNone/>
            </a:pPr>
            <a:endParaRPr lang="en-US" sz="2000" baseline="-25000" dirty="0"/>
          </a:p>
          <a:p>
            <a:pPr marL="228600" lvl="1">
              <a:spcBef>
                <a:spcPts val="0"/>
              </a:spcBef>
            </a:pPr>
            <a:r>
              <a:rPr lang="en-US" b="1" dirty="0"/>
              <a:t>0.05 &gt; 0, so the output of ANN is +1</a:t>
            </a:r>
          </a:p>
          <a:p>
            <a:pPr marL="0" lvl="1" indent="0">
              <a:spcBef>
                <a:spcPts val="0"/>
              </a:spcBef>
              <a:buNone/>
            </a:pPr>
            <a:endParaRPr lang="en-US" b="1" dirty="0"/>
          </a:p>
          <a:p>
            <a:pPr marL="519113" lvl="2">
              <a:spcBef>
                <a:spcPts val="0"/>
              </a:spcBef>
              <a:tabLst>
                <a:tab pos="231775" algn="l"/>
              </a:tabLst>
            </a:pPr>
            <a:r>
              <a:rPr lang="en-US" sz="2400" dirty="0"/>
              <a:t>So the image is categorized as </a:t>
            </a:r>
            <a:r>
              <a:rPr lang="en-US" sz="2400" dirty="0">
                <a:solidFill>
                  <a:srgbClr val="FF0000"/>
                </a:solidFill>
              </a:rPr>
              <a:t>“Pos” </a:t>
            </a:r>
          </a:p>
          <a:p>
            <a:pPr marL="519113" lvl="2">
              <a:spcBef>
                <a:spcPts val="0"/>
              </a:spcBef>
              <a:tabLst>
                <a:tab pos="231775" algn="l"/>
              </a:tabLst>
            </a:pPr>
            <a:r>
              <a:rPr lang="en-US" sz="2400" dirty="0"/>
              <a:t>Target : </a:t>
            </a:r>
            <a:r>
              <a:rPr lang="en-US" sz="2400" dirty="0">
                <a:solidFill>
                  <a:srgbClr val="FF0000"/>
                </a:solidFill>
              </a:rPr>
              <a:t>“Neg”</a:t>
            </a:r>
          </a:p>
          <a:p>
            <a:pPr marL="0" lvl="1" indent="0">
              <a:buNone/>
              <a:tabLst>
                <a:tab pos="231775" algn="l"/>
              </a:tabLst>
            </a:pPr>
            <a:r>
              <a:rPr lang="en-US" dirty="0"/>
              <a:t> </a:t>
            </a:r>
          </a:p>
          <a:p>
            <a:pPr marL="228600" lvl="1"/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937291" y="497938"/>
            <a:ext cx="5804704" cy="61373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Perceptron Example</a:t>
            </a:r>
            <a:endParaRPr lang="en-US" sz="3800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175189" y="2248882"/>
            <a:ext cx="4617705" cy="3129001"/>
            <a:chOff x="6005015" y="2129051"/>
            <a:chExt cx="4617705" cy="3129001"/>
          </a:xfrm>
        </p:grpSpPr>
        <p:sp>
          <p:nvSpPr>
            <p:cNvPr id="6" name="Oval 5"/>
            <p:cNvSpPr/>
            <p:nvPr/>
          </p:nvSpPr>
          <p:spPr>
            <a:xfrm>
              <a:off x="6005015" y="2129051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012272" y="3007153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077588" y="3914307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080896" y="4780381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09212" y="2164688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09865" y="3000021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62562" y="3880336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78210" y="4765986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4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345715" y="3048001"/>
              <a:ext cx="1016000" cy="100008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6515509" y="2475964"/>
              <a:ext cx="1873755" cy="8637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6"/>
              <a:endCxn id="14" idx="2"/>
            </p:cNvCxnSpPr>
            <p:nvPr/>
          </p:nvCxnSpPr>
          <p:spPr>
            <a:xfrm>
              <a:off x="6544535" y="3245989"/>
              <a:ext cx="1801180" cy="302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8" idx="6"/>
            </p:cNvCxnSpPr>
            <p:nvPr/>
          </p:nvCxnSpPr>
          <p:spPr>
            <a:xfrm flipV="1">
              <a:off x="6609851" y="3708321"/>
              <a:ext cx="1779413" cy="4448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6"/>
              <a:endCxn id="14" idx="3"/>
            </p:cNvCxnSpPr>
            <p:nvPr/>
          </p:nvCxnSpPr>
          <p:spPr>
            <a:xfrm flipV="1">
              <a:off x="6613159" y="3901623"/>
              <a:ext cx="1881346" cy="11175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0138230" y="3231482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9353041" y="3764623"/>
              <a:ext cx="1269679" cy="5349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6994338" y="2393656"/>
              <a:ext cx="5469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0.05</a:t>
              </a:r>
              <a:endParaRPr lang="en-US" sz="1600" b="1" baseline="-25000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208478" y="3118475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7251783" y="3692296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24" name="TextBox 23"/>
          <p:cNvSpPr txBox="1"/>
          <p:nvPr/>
        </p:nvSpPr>
        <p:spPr>
          <a:xfrm>
            <a:off x="7391329" y="4238386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25" name="TextBox 24"/>
          <p:cNvSpPr txBox="1"/>
          <p:nvPr/>
        </p:nvSpPr>
        <p:spPr>
          <a:xfrm>
            <a:off x="5718129" y="2248882"/>
            <a:ext cx="67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1004" y="5001409"/>
            <a:ext cx="594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3682" y="4078719"/>
            <a:ext cx="664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54692" y="3141508"/>
            <a:ext cx="713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 flipH="1">
            <a:off x="10843468" y="2592794"/>
            <a:ext cx="145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Pos</a:t>
            </a:r>
            <a:endParaRPr lang="en-US" b="1" baseline="-25000" dirty="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9501315" y="2866337"/>
            <a:ext cx="1291579" cy="61180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297126" y="2761518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S&gt; 0</a:t>
            </a:r>
            <a:endParaRPr lang="en-US" sz="1600" b="1" baseline="-25000" dirty="0"/>
          </a:p>
        </p:txBody>
      </p:sp>
      <p:sp>
        <p:nvSpPr>
          <p:cNvPr id="32" name="TextBox 31"/>
          <p:cNvSpPr txBox="1"/>
          <p:nvPr/>
        </p:nvSpPr>
        <p:spPr>
          <a:xfrm flipH="1">
            <a:off x="10990526" y="4238881"/>
            <a:ext cx="112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-1    Neg</a:t>
            </a:r>
            <a:endParaRPr lang="en-US" b="1" baseline="-25000" dirty="0"/>
          </a:p>
        </p:txBody>
      </p:sp>
      <p:sp>
        <p:nvSpPr>
          <p:cNvPr id="34" name="TextBox 33"/>
          <p:cNvSpPr txBox="1"/>
          <p:nvPr/>
        </p:nvSpPr>
        <p:spPr>
          <a:xfrm>
            <a:off x="9175144" y="4183162"/>
            <a:ext cx="1104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Otherwise</a:t>
            </a:r>
            <a:endParaRPr lang="en-US" sz="1600" b="1" baseline="-25000" dirty="0"/>
          </a:p>
        </p:txBody>
      </p:sp>
    </p:spTree>
    <p:extLst>
      <p:ext uri="{BB962C8B-B14F-4D97-AF65-F5344CB8AC3E}">
        <p14:creationId xmlns:p14="http://schemas.microsoft.com/office/powerpoint/2010/main" val="454981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878" y="1825625"/>
            <a:ext cx="10630582" cy="157316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0" lvl="1" indent="0">
              <a:buNone/>
            </a:pPr>
            <a:r>
              <a:rPr lang="en-US" sz="2800" dirty="0"/>
              <a:t> </a:t>
            </a:r>
          </a:p>
          <a:p>
            <a:pPr marL="228600" lvl="1"/>
            <a:endParaRPr lang="en-US"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502951" y="402402"/>
            <a:ext cx="10688210" cy="5370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Perceptron Training Rule (How to update weights)</a:t>
            </a:r>
            <a:endParaRPr lang="en-US" sz="330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71018" y="1323577"/>
            <a:ext cx="10920142" cy="19252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When t(E) is different from o(E)</a:t>
            </a:r>
          </a:p>
          <a:p>
            <a:pPr lvl="2"/>
            <a:r>
              <a:rPr lang="en-US" b="1" dirty="0"/>
              <a:t>Add </a:t>
            </a:r>
            <a:r>
              <a:rPr lang="el-GR" b="1" dirty="0"/>
              <a:t>∆</a:t>
            </a:r>
            <a:r>
              <a:rPr lang="en-US" b="1" baseline="-25000" dirty="0" err="1"/>
              <a:t>i</a:t>
            </a:r>
            <a:r>
              <a:rPr lang="en-US" b="1" dirty="0"/>
              <a:t> to weight </a:t>
            </a:r>
            <a:r>
              <a:rPr lang="en-US" b="1" dirty="0" err="1"/>
              <a:t>w</a:t>
            </a:r>
            <a:r>
              <a:rPr lang="en-US" b="1" baseline="-25000" dirty="0" err="1"/>
              <a:t>i</a:t>
            </a:r>
            <a:endParaRPr lang="en-US" b="1" baseline="-25000" dirty="0"/>
          </a:p>
          <a:p>
            <a:pPr lvl="2"/>
            <a:r>
              <a:rPr lang="en-US" b="1" dirty="0"/>
              <a:t>Where </a:t>
            </a:r>
            <a:r>
              <a:rPr lang="el-GR" b="1" dirty="0">
                <a:solidFill>
                  <a:srgbClr val="FF0000"/>
                </a:solidFill>
              </a:rPr>
              <a:t>∆</a:t>
            </a:r>
            <a:r>
              <a:rPr lang="en-US" b="1" baseline="-25000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 = ɳ(t(E) – o(E) ) x</a:t>
            </a:r>
            <a:r>
              <a:rPr lang="en-US" b="1" baseline="-25000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b="1" dirty="0"/>
              <a:t>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ɳ</a:t>
            </a:r>
            <a:r>
              <a:rPr lang="en-US" b="1" dirty="0">
                <a:sym typeface="Wingdings" panose="05000000000000000000" pitchFamily="2" charset="2"/>
              </a:rPr>
              <a:t> is learning rate (Usually very small value)</a:t>
            </a:r>
            <a:endParaRPr lang="en-US" b="1" dirty="0"/>
          </a:p>
          <a:p>
            <a:pPr lvl="2"/>
            <a:r>
              <a:rPr lang="en-US" b="1" dirty="0"/>
              <a:t>Do this for every weight in the network</a:t>
            </a:r>
          </a:p>
          <a:p>
            <a:pPr lvl="2"/>
            <a:r>
              <a:rPr lang="en-US" b="1" dirty="0"/>
              <a:t>Let </a:t>
            </a:r>
            <a:r>
              <a:rPr lang="en-US" b="1" dirty="0">
                <a:solidFill>
                  <a:srgbClr val="FF0000"/>
                </a:solidFill>
              </a:rPr>
              <a:t>ɳ=0.1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446664" y="3835021"/>
            <a:ext cx="340110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/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sz="2000" b="1" dirty="0">
                <a:solidFill>
                  <a:schemeClr val="tx1"/>
                </a:solidFill>
              </a:rPr>
              <a:t> = ɳ (t(E) – o(E) )* x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</a:p>
          <a:p>
            <a:pPr marL="115888"/>
            <a:r>
              <a:rPr lang="en-US" sz="2000" b="1" dirty="0">
                <a:solidFill>
                  <a:schemeClr val="tx1"/>
                </a:solidFill>
              </a:rPr>
              <a:t>     = 0.1 ( -1 -1 ) * 1 = -0.2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453924" y="4553477"/>
            <a:ext cx="340110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/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 = ɳ (t(E) – o(E) )* x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</a:p>
          <a:p>
            <a:pPr marL="115888"/>
            <a:r>
              <a:rPr lang="en-US" sz="2000" b="1" dirty="0">
                <a:solidFill>
                  <a:schemeClr val="tx1"/>
                </a:solidFill>
              </a:rPr>
              <a:t>     = 0.1 </a:t>
            </a:r>
            <a:r>
              <a:rPr lang="en-US" sz="2000" b="1">
                <a:solidFill>
                  <a:schemeClr val="tx1"/>
                </a:solidFill>
              </a:rPr>
              <a:t>( -1-1) </a:t>
            </a:r>
            <a:r>
              <a:rPr lang="en-US" sz="2000" b="1" dirty="0">
                <a:solidFill>
                  <a:schemeClr val="tx1"/>
                </a:solidFill>
              </a:rPr>
              <a:t>* 0 = 0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453923" y="5264673"/>
            <a:ext cx="340110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/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  <a:r>
              <a:rPr lang="en-US" sz="2000" b="1" dirty="0">
                <a:solidFill>
                  <a:schemeClr val="tx1"/>
                </a:solidFill>
              </a:rPr>
              <a:t> = ɳ (t(E) – o(E) )* x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</a:p>
          <a:p>
            <a:pPr marL="115888"/>
            <a:r>
              <a:rPr lang="en-US" sz="2000" b="1" dirty="0">
                <a:solidFill>
                  <a:schemeClr val="tx1"/>
                </a:solidFill>
              </a:rPr>
              <a:t>     = 0.1 ( -1-1) * 0 = 0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439408" y="5990384"/>
            <a:ext cx="340110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/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  <a:r>
              <a:rPr lang="en-US" sz="2000" b="1" dirty="0">
                <a:solidFill>
                  <a:schemeClr val="tx1"/>
                </a:solidFill>
              </a:rPr>
              <a:t> = ɳ (t(E) – o(E) )* x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</a:p>
          <a:p>
            <a:pPr marL="115888"/>
            <a:r>
              <a:rPr lang="en-US" sz="2000" b="1" dirty="0">
                <a:solidFill>
                  <a:schemeClr val="tx1"/>
                </a:solidFill>
              </a:rPr>
              <a:t>     = 0.1 ( -1-1) * 0 = 0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537606" y="3826905"/>
            <a:ext cx="393087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algn="ctr"/>
            <a:r>
              <a:rPr lang="en-US" sz="2000" b="1" dirty="0">
                <a:solidFill>
                  <a:schemeClr val="tx1"/>
                </a:solidFill>
              </a:rPr>
              <a:t>wʹ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sz="2000" b="1" dirty="0">
                <a:solidFill>
                  <a:schemeClr val="tx1"/>
                </a:solidFill>
              </a:rPr>
              <a:t> = w</a:t>
            </a:r>
            <a:r>
              <a:rPr lang="en-US" sz="2000" b="1" baseline="-25000" dirty="0">
                <a:solidFill>
                  <a:schemeClr val="tx1"/>
                </a:solidFill>
              </a:rPr>
              <a:t>1 </a:t>
            </a:r>
            <a:r>
              <a:rPr lang="en-US" sz="2000" b="1" dirty="0">
                <a:solidFill>
                  <a:schemeClr val="tx1"/>
                </a:solidFill>
              </a:rPr>
              <a:t>+</a:t>
            </a:r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sz="2000" b="1" dirty="0">
                <a:solidFill>
                  <a:schemeClr val="tx1"/>
                </a:solidFill>
              </a:rPr>
              <a:t> = 0.05 - 0.2 = - 0.15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530350" y="4559875"/>
            <a:ext cx="393087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algn="ctr"/>
            <a:r>
              <a:rPr lang="en-US" sz="2000" b="1" dirty="0">
                <a:solidFill>
                  <a:schemeClr val="tx1"/>
                </a:solidFill>
              </a:rPr>
              <a:t>wʹ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 = w</a:t>
            </a:r>
            <a:r>
              <a:rPr lang="en-US" sz="2000" b="1" baseline="-25000" dirty="0">
                <a:solidFill>
                  <a:schemeClr val="tx1"/>
                </a:solidFill>
              </a:rPr>
              <a:t>2 </a:t>
            </a:r>
            <a:r>
              <a:rPr lang="en-US" sz="2000" b="1" dirty="0">
                <a:solidFill>
                  <a:schemeClr val="tx1"/>
                </a:solidFill>
              </a:rPr>
              <a:t>+</a:t>
            </a:r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 = 0.25 + 0 = 0.25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537607" y="5278331"/>
            <a:ext cx="393087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algn="ctr"/>
            <a:r>
              <a:rPr lang="en-US" sz="2000" b="1" dirty="0">
                <a:solidFill>
                  <a:schemeClr val="tx1"/>
                </a:solidFill>
              </a:rPr>
              <a:t>wʹ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  <a:r>
              <a:rPr lang="en-US" sz="2000" b="1" dirty="0">
                <a:solidFill>
                  <a:schemeClr val="tx1"/>
                </a:solidFill>
              </a:rPr>
              <a:t> = w</a:t>
            </a:r>
            <a:r>
              <a:rPr lang="en-US" sz="2000" b="1" baseline="-25000" dirty="0">
                <a:solidFill>
                  <a:schemeClr val="tx1"/>
                </a:solidFill>
              </a:rPr>
              <a:t>3 </a:t>
            </a:r>
            <a:r>
              <a:rPr lang="en-US" sz="2000" b="1" dirty="0">
                <a:solidFill>
                  <a:schemeClr val="tx1"/>
                </a:solidFill>
              </a:rPr>
              <a:t>+</a:t>
            </a:r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  <a:r>
              <a:rPr lang="en-US" sz="2000" b="1" dirty="0">
                <a:solidFill>
                  <a:schemeClr val="tx1"/>
                </a:solidFill>
              </a:rPr>
              <a:t> = 0.25 + 0 = 0.25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537607" y="6018557"/>
            <a:ext cx="3930878" cy="570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algn="ctr"/>
            <a:r>
              <a:rPr lang="en-US" sz="2000" b="1" dirty="0">
                <a:solidFill>
                  <a:schemeClr val="tx1"/>
                </a:solidFill>
              </a:rPr>
              <a:t>wʹ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  <a:r>
              <a:rPr lang="en-US" sz="2000" b="1" dirty="0">
                <a:solidFill>
                  <a:schemeClr val="tx1"/>
                </a:solidFill>
              </a:rPr>
              <a:t> = w</a:t>
            </a:r>
            <a:r>
              <a:rPr lang="en-US" sz="2000" b="1" baseline="-25000" dirty="0">
                <a:solidFill>
                  <a:schemeClr val="tx1"/>
                </a:solidFill>
              </a:rPr>
              <a:t>4 </a:t>
            </a:r>
            <a:r>
              <a:rPr lang="en-US" sz="2000" b="1" dirty="0">
                <a:solidFill>
                  <a:schemeClr val="tx1"/>
                </a:solidFill>
              </a:rPr>
              <a:t>+</a:t>
            </a:r>
            <a:r>
              <a:rPr lang="el-GR" sz="2000" b="1" dirty="0">
                <a:solidFill>
                  <a:schemeClr val="tx1"/>
                </a:solidFill>
              </a:rPr>
              <a:t>∆</a:t>
            </a:r>
            <a:r>
              <a:rPr lang="en-US" sz="2000" b="1" baseline="-25000" dirty="0">
                <a:solidFill>
                  <a:schemeClr val="tx1"/>
                </a:solidFill>
              </a:rPr>
              <a:t>4</a:t>
            </a:r>
            <a:r>
              <a:rPr lang="en-US" sz="2000" b="1" dirty="0">
                <a:solidFill>
                  <a:schemeClr val="tx1"/>
                </a:solidFill>
              </a:rPr>
              <a:t> = 0.25 + 0 = 0.25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14716" y="3229164"/>
            <a:ext cx="4221561" cy="4532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Calculating the error values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12330" y="3217789"/>
            <a:ext cx="4246571" cy="4532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Calculating the New Weights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404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524" y="1665027"/>
            <a:ext cx="5502707" cy="4572000"/>
          </a:xfrm>
        </p:spPr>
        <p:txBody>
          <a:bodyPr>
            <a:noAutofit/>
          </a:bodyPr>
          <a:lstStyle/>
          <a:p>
            <a:r>
              <a:rPr lang="en-US" sz="2400" b="1" dirty="0"/>
              <a:t>Calculation (Step-3):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1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1 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2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0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3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0</a:t>
            </a:r>
          </a:p>
          <a:p>
            <a:pPr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4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= 0 </a:t>
            </a:r>
          </a:p>
          <a:p>
            <a:pPr marL="457200" lvl="1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175" lvl="1" indent="0">
              <a:buNone/>
            </a:pPr>
            <a:r>
              <a:rPr lang="en-US" sz="1800" b="1" dirty="0">
                <a:solidFill>
                  <a:srgbClr val="0070C0"/>
                </a:solidFill>
              </a:rPr>
              <a:t>S= - 0.15*(1) + 0.25* (0) + 0.25*(0) + 0.25* (0) = - 0.15</a:t>
            </a:r>
          </a:p>
          <a:p>
            <a:pPr marL="457200" lvl="1" indent="0">
              <a:buNone/>
            </a:pPr>
            <a:endParaRPr lang="en-US" sz="2000" baseline="-25000" dirty="0"/>
          </a:p>
          <a:p>
            <a:pPr marL="228600" lvl="1">
              <a:spcBef>
                <a:spcPts val="0"/>
              </a:spcBef>
            </a:pPr>
            <a:r>
              <a:rPr lang="en-US" b="1" dirty="0"/>
              <a:t>- 0.15 &lt; 0, so the output of ANN is -1</a:t>
            </a:r>
          </a:p>
          <a:p>
            <a:pPr marL="0" lvl="1" indent="0">
              <a:spcBef>
                <a:spcPts val="0"/>
              </a:spcBef>
              <a:buNone/>
            </a:pPr>
            <a:endParaRPr lang="en-US" b="1" dirty="0"/>
          </a:p>
          <a:p>
            <a:pPr marL="519113" lvl="2">
              <a:spcBef>
                <a:spcPts val="0"/>
              </a:spcBef>
              <a:tabLst>
                <a:tab pos="231775" algn="l"/>
              </a:tabLst>
            </a:pPr>
            <a:r>
              <a:rPr lang="en-US" sz="2400" dirty="0"/>
              <a:t>So the image is categorized as </a:t>
            </a:r>
            <a:r>
              <a:rPr lang="en-US" sz="2400" dirty="0">
                <a:solidFill>
                  <a:srgbClr val="FF0000"/>
                </a:solidFill>
              </a:rPr>
              <a:t>“Neg” </a:t>
            </a:r>
          </a:p>
          <a:p>
            <a:pPr marL="519113" lvl="2">
              <a:spcBef>
                <a:spcPts val="0"/>
              </a:spcBef>
              <a:tabLst>
                <a:tab pos="231775" algn="l"/>
              </a:tabLst>
            </a:pPr>
            <a:r>
              <a:rPr lang="en-US" sz="2400" dirty="0"/>
              <a:t>Target : </a:t>
            </a:r>
            <a:r>
              <a:rPr lang="en-US" sz="2400" dirty="0">
                <a:solidFill>
                  <a:srgbClr val="FF0000"/>
                </a:solidFill>
              </a:rPr>
              <a:t>“Neg”</a:t>
            </a:r>
          </a:p>
          <a:p>
            <a:pPr marL="0" lvl="1" indent="0">
              <a:buNone/>
              <a:tabLst>
                <a:tab pos="231775" algn="l"/>
              </a:tabLst>
            </a:pPr>
            <a:r>
              <a:rPr lang="en-US" dirty="0"/>
              <a:t> </a:t>
            </a:r>
          </a:p>
          <a:p>
            <a:pPr marL="228600" lvl="1"/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937291" y="497938"/>
            <a:ext cx="5400585" cy="62150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Perceptron Example</a:t>
            </a:r>
            <a:endParaRPr lang="en-US" sz="3500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100545" y="2248882"/>
            <a:ext cx="4617705" cy="3129001"/>
            <a:chOff x="6005015" y="2129051"/>
            <a:chExt cx="4617705" cy="3129001"/>
          </a:xfrm>
        </p:grpSpPr>
        <p:sp>
          <p:nvSpPr>
            <p:cNvPr id="6" name="Oval 5"/>
            <p:cNvSpPr/>
            <p:nvPr/>
          </p:nvSpPr>
          <p:spPr>
            <a:xfrm>
              <a:off x="6005015" y="2129051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012272" y="3007153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077588" y="3914307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080896" y="4780381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09212" y="2164688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09865" y="3000021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62562" y="3880336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78210" y="4765986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4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345715" y="3048001"/>
              <a:ext cx="1016000" cy="100008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6515509" y="2475964"/>
              <a:ext cx="1873755" cy="8637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6"/>
              <a:endCxn id="14" idx="2"/>
            </p:cNvCxnSpPr>
            <p:nvPr/>
          </p:nvCxnSpPr>
          <p:spPr>
            <a:xfrm>
              <a:off x="6544535" y="3245989"/>
              <a:ext cx="1801180" cy="302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8" idx="6"/>
            </p:cNvCxnSpPr>
            <p:nvPr/>
          </p:nvCxnSpPr>
          <p:spPr>
            <a:xfrm flipV="1">
              <a:off x="6609851" y="3708321"/>
              <a:ext cx="1779413" cy="4448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6"/>
              <a:endCxn id="14" idx="3"/>
            </p:cNvCxnSpPr>
            <p:nvPr/>
          </p:nvCxnSpPr>
          <p:spPr>
            <a:xfrm flipV="1">
              <a:off x="6613159" y="3901623"/>
              <a:ext cx="1881346" cy="11175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0138230" y="3231482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9353041" y="3764623"/>
              <a:ext cx="1269679" cy="5349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6994338" y="2393656"/>
              <a:ext cx="9090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-0.15</a:t>
              </a:r>
              <a:endParaRPr lang="en-US" sz="1600" b="1" baseline="-25000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133834" y="3118475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7177139" y="3692296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6685" y="4238386"/>
            <a:ext cx="5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0.25</a:t>
            </a:r>
            <a:endParaRPr lang="en-US" sz="1600" b="1" baseline="-25000" dirty="0"/>
          </a:p>
        </p:txBody>
      </p:sp>
      <p:sp>
        <p:nvSpPr>
          <p:cNvPr id="25" name="TextBox 24"/>
          <p:cNvSpPr txBox="1"/>
          <p:nvPr/>
        </p:nvSpPr>
        <p:spPr>
          <a:xfrm>
            <a:off x="5614673" y="2248882"/>
            <a:ext cx="701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231" y="5057392"/>
            <a:ext cx="62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231" y="4041398"/>
            <a:ext cx="641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2919" y="3141508"/>
            <a:ext cx="68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 flipH="1">
            <a:off x="10787485" y="2592794"/>
            <a:ext cx="145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Pos</a:t>
            </a:r>
            <a:endParaRPr lang="en-US" b="1" baseline="-25000" dirty="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9426671" y="2866337"/>
            <a:ext cx="1291579" cy="61180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222482" y="2761518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S&gt; 0</a:t>
            </a:r>
            <a:endParaRPr lang="en-US" sz="1600" b="1" baseline="-25000" dirty="0"/>
          </a:p>
        </p:txBody>
      </p:sp>
      <p:sp>
        <p:nvSpPr>
          <p:cNvPr id="32" name="TextBox 31"/>
          <p:cNvSpPr txBox="1"/>
          <p:nvPr/>
        </p:nvSpPr>
        <p:spPr>
          <a:xfrm flipH="1">
            <a:off x="10915882" y="4238881"/>
            <a:ext cx="112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-1    Neg</a:t>
            </a:r>
            <a:endParaRPr lang="en-US" b="1" baseline="-25000" dirty="0"/>
          </a:p>
        </p:txBody>
      </p:sp>
      <p:sp>
        <p:nvSpPr>
          <p:cNvPr id="34" name="TextBox 33"/>
          <p:cNvSpPr txBox="1"/>
          <p:nvPr/>
        </p:nvSpPr>
        <p:spPr>
          <a:xfrm>
            <a:off x="9100500" y="4183162"/>
            <a:ext cx="1104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Otherwise</a:t>
            </a:r>
            <a:endParaRPr lang="en-US" sz="1600" b="1" baseline="-25000" dirty="0"/>
          </a:p>
        </p:txBody>
      </p:sp>
    </p:spTree>
    <p:extLst>
      <p:ext uri="{BB962C8B-B14F-4D97-AF65-F5344CB8AC3E}">
        <p14:creationId xmlns:p14="http://schemas.microsoft.com/office/powerpoint/2010/main" val="2480073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02951" y="338281"/>
            <a:ext cx="5387828" cy="6483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Example (AND) </a:t>
            </a:r>
            <a:endParaRPr lang="en-US" sz="3400" dirty="0">
              <a:solidFill>
                <a:schemeClr val="tx1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6194066" y="1828861"/>
            <a:ext cx="4206842" cy="1232841"/>
            <a:chOff x="7284577" y="4471325"/>
            <a:chExt cx="4206842" cy="1232841"/>
          </a:xfrm>
        </p:grpSpPr>
        <p:sp>
          <p:nvSpPr>
            <p:cNvPr id="8" name="Oval 7"/>
            <p:cNvSpPr/>
            <p:nvPr/>
          </p:nvSpPr>
          <p:spPr>
            <a:xfrm>
              <a:off x="7284577" y="4471325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7317021" y="5316169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61155" y="4506173"/>
              <a:ext cx="433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372740" y="5328052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9418808" y="4622398"/>
              <a:ext cx="929261" cy="81233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6" name="Straight Arrow Connector 15"/>
            <p:cNvCxnSpPr>
              <a:stCxn id="8" idx="6"/>
              <a:endCxn id="14" idx="2"/>
            </p:cNvCxnSpPr>
            <p:nvPr/>
          </p:nvCxnSpPr>
          <p:spPr>
            <a:xfrm>
              <a:off x="7771400" y="4665324"/>
              <a:ext cx="1647409" cy="36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6"/>
            </p:cNvCxnSpPr>
            <p:nvPr/>
          </p:nvCxnSpPr>
          <p:spPr>
            <a:xfrm flipV="1">
              <a:off x="7803843" y="5176504"/>
              <a:ext cx="1640776" cy="3336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1058292" y="4771434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10340136" y="4622398"/>
              <a:ext cx="790105" cy="3778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197315" y="4471773"/>
              <a:ext cx="941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</a:t>
              </a:r>
              <a:r>
                <a:rPr lang="en-US" b="1" baseline="-25000" dirty="0"/>
                <a:t>1</a:t>
              </a:r>
              <a:r>
                <a:rPr lang="en-US" b="1" dirty="0"/>
                <a:t>=0.5</a:t>
              </a:r>
              <a:endParaRPr lang="en-US" b="1" baseline="-250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74675" y="4980847"/>
              <a:ext cx="95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</a:t>
              </a:r>
              <a:r>
                <a:rPr lang="en-US" b="1" baseline="-25000" dirty="0"/>
                <a:t>2</a:t>
              </a:r>
              <a:r>
                <a:rPr lang="en-US" b="1" dirty="0"/>
                <a:t>=0.5</a:t>
              </a:r>
              <a:endParaRPr lang="en-US" b="1" baseline="-25000" dirty="0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10315113" y="5152636"/>
              <a:ext cx="889700" cy="290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9990168" y="1516873"/>
            <a:ext cx="109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ON</a:t>
            </a:r>
            <a:endParaRPr lang="en-US" b="1" baseline="-25000" dirty="0"/>
          </a:p>
        </p:txBody>
      </p:sp>
      <p:sp>
        <p:nvSpPr>
          <p:cNvPr id="47" name="TextBox 46"/>
          <p:cNvSpPr txBox="1"/>
          <p:nvPr/>
        </p:nvSpPr>
        <p:spPr>
          <a:xfrm>
            <a:off x="10087980" y="2562065"/>
            <a:ext cx="100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-1  </a:t>
            </a:r>
            <a:r>
              <a:rPr lang="en-US" b="1" dirty="0"/>
              <a:t>OFF</a:t>
            </a:r>
            <a:endParaRPr lang="en-US" b="1" baseline="-25000" dirty="0"/>
          </a:p>
        </p:txBody>
      </p:sp>
      <p:sp>
        <p:nvSpPr>
          <p:cNvPr id="49" name="TextBox 48"/>
          <p:cNvSpPr txBox="1"/>
          <p:nvPr/>
        </p:nvSpPr>
        <p:spPr>
          <a:xfrm>
            <a:off x="8409070" y="1592153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 &gt; 0</a:t>
            </a:r>
            <a:endParaRPr lang="en-US" sz="1600" b="1" baseline="-25000" dirty="0"/>
          </a:p>
        </p:txBody>
      </p:sp>
      <p:sp>
        <p:nvSpPr>
          <p:cNvPr id="50" name="TextBox 49"/>
          <p:cNvSpPr txBox="1"/>
          <p:nvPr/>
        </p:nvSpPr>
        <p:spPr>
          <a:xfrm>
            <a:off x="5890778" y="1838686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b="1" baseline="-25000" dirty="0"/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33994" y="2689945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-25000" dirty="0"/>
              <a:t>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158137"/>
              </p:ext>
            </p:extLst>
          </p:nvPr>
        </p:nvGraphicFramePr>
        <p:xfrm>
          <a:off x="1178265" y="1459000"/>
          <a:ext cx="31760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026">
                  <a:extLst>
                    <a:ext uri="{9D8B030D-6E8A-4147-A177-3AD203B41FA5}">
                      <a16:colId xmlns:a16="http://schemas.microsoft.com/office/drawing/2014/main" val="940719695"/>
                    </a:ext>
                  </a:extLst>
                </a:gridCol>
                <a:gridCol w="763516">
                  <a:extLst>
                    <a:ext uri="{9D8B030D-6E8A-4147-A177-3AD203B41FA5}">
                      <a16:colId xmlns:a16="http://schemas.microsoft.com/office/drawing/2014/main" val="3363300399"/>
                    </a:ext>
                  </a:extLst>
                </a:gridCol>
                <a:gridCol w="1671480">
                  <a:extLst>
                    <a:ext uri="{9D8B030D-6E8A-4147-A177-3AD203B41FA5}">
                      <a16:colId xmlns:a16="http://schemas.microsoft.com/office/drawing/2014/main" val="452001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47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5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68603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18627"/>
              </p:ext>
            </p:extLst>
          </p:nvPr>
        </p:nvGraphicFramePr>
        <p:xfrm>
          <a:off x="5648116" y="4330525"/>
          <a:ext cx="521062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285">
                  <a:extLst>
                    <a:ext uri="{9D8B030D-6E8A-4147-A177-3AD203B41FA5}">
                      <a16:colId xmlns:a16="http://schemas.microsoft.com/office/drawing/2014/main" val="1310300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4122444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1527485606"/>
                    </a:ext>
                  </a:extLst>
                </a:gridCol>
                <a:gridCol w="841828">
                  <a:extLst>
                    <a:ext uri="{9D8B030D-6E8A-4147-A177-3AD203B41FA5}">
                      <a16:colId xmlns:a16="http://schemas.microsoft.com/office/drawing/2014/main" val="276202432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47881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Step-1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8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32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0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Weighted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02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Observed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88182"/>
                  </a:ext>
                </a:extLst>
              </a:tr>
            </a:tbl>
          </a:graphicData>
        </a:graphic>
      </p:graphicFrame>
      <p:sp>
        <p:nvSpPr>
          <p:cNvPr id="48" name="Content Placeholder 2"/>
          <p:cNvSpPr txBox="1">
            <a:spLocks/>
          </p:cNvSpPr>
          <p:nvPr/>
        </p:nvSpPr>
        <p:spPr>
          <a:xfrm>
            <a:off x="1944913" y="4339767"/>
            <a:ext cx="2888343" cy="188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  = 0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  = 1,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ɳ = 0.1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t(E) </a:t>
            </a:r>
            <a:r>
              <a:rPr lang="en-US" sz="20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-1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rved Right Arrow 24"/>
          <p:cNvSpPr/>
          <p:nvPr/>
        </p:nvSpPr>
        <p:spPr>
          <a:xfrm rot="20950944">
            <a:off x="600538" y="2359811"/>
            <a:ext cx="803879" cy="276771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矩形 8"/>
          <p:cNvSpPr/>
          <p:nvPr/>
        </p:nvSpPr>
        <p:spPr>
          <a:xfrm>
            <a:off x="1198230" y="2179478"/>
            <a:ext cx="3137396" cy="382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8"/>
          <p:cNvSpPr/>
          <p:nvPr/>
        </p:nvSpPr>
        <p:spPr>
          <a:xfrm>
            <a:off x="7492620" y="4694830"/>
            <a:ext cx="764275" cy="14523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8"/>
          <p:cNvSpPr/>
          <p:nvPr/>
        </p:nvSpPr>
        <p:spPr>
          <a:xfrm>
            <a:off x="8313765" y="4683454"/>
            <a:ext cx="764275" cy="14523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8"/>
          <p:cNvSpPr/>
          <p:nvPr/>
        </p:nvSpPr>
        <p:spPr>
          <a:xfrm>
            <a:off x="9124013" y="4696791"/>
            <a:ext cx="813019" cy="14475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8"/>
          <p:cNvSpPr/>
          <p:nvPr/>
        </p:nvSpPr>
        <p:spPr>
          <a:xfrm>
            <a:off x="9986101" y="4685416"/>
            <a:ext cx="813019" cy="14475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21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5" grpId="0" animBg="1"/>
      <p:bldP spid="56" grpId="0" animBg="1"/>
      <p:bldP spid="56" grpId="1" animBg="1"/>
      <p:bldP spid="58" grpId="0" animBg="1"/>
      <p:bldP spid="58" grpId="1" animBg="1"/>
      <p:bldP spid="62" grpId="0" animBg="1"/>
      <p:bldP spid="62" grpId="1" animBg="1"/>
      <p:bldP spid="6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02951" y="338281"/>
            <a:ext cx="5691116" cy="6483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Example (AND) </a:t>
            </a:r>
            <a:endParaRPr lang="en-US" sz="3400" dirty="0">
              <a:solidFill>
                <a:schemeClr val="tx1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6194066" y="1828861"/>
            <a:ext cx="4206842" cy="1232841"/>
            <a:chOff x="7284577" y="4471325"/>
            <a:chExt cx="4206842" cy="1232841"/>
          </a:xfrm>
        </p:grpSpPr>
        <p:sp>
          <p:nvSpPr>
            <p:cNvPr id="8" name="Oval 7"/>
            <p:cNvSpPr/>
            <p:nvPr/>
          </p:nvSpPr>
          <p:spPr>
            <a:xfrm>
              <a:off x="7284577" y="4471325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7317021" y="5316169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61155" y="4506173"/>
              <a:ext cx="433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372740" y="5328052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9418808" y="4622398"/>
              <a:ext cx="929261" cy="81233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6" name="Straight Arrow Connector 15"/>
            <p:cNvCxnSpPr>
              <a:stCxn id="8" idx="6"/>
              <a:endCxn id="14" idx="2"/>
            </p:cNvCxnSpPr>
            <p:nvPr/>
          </p:nvCxnSpPr>
          <p:spPr>
            <a:xfrm>
              <a:off x="7771400" y="4665324"/>
              <a:ext cx="1647409" cy="36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6"/>
            </p:cNvCxnSpPr>
            <p:nvPr/>
          </p:nvCxnSpPr>
          <p:spPr>
            <a:xfrm flipV="1">
              <a:off x="7803843" y="5176504"/>
              <a:ext cx="1640776" cy="3336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1058292" y="4771434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10340136" y="4622398"/>
              <a:ext cx="790105" cy="3778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197315" y="4471773"/>
              <a:ext cx="660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0.5</a:t>
              </a:r>
              <a:endParaRPr lang="en-US" b="1" baseline="-250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88323" y="5008143"/>
              <a:ext cx="805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-0.1</a:t>
              </a:r>
              <a:endParaRPr lang="en-US" b="1" baseline="-25000" dirty="0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10315113" y="5152636"/>
              <a:ext cx="889700" cy="290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9990168" y="1516873"/>
            <a:ext cx="109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ON</a:t>
            </a:r>
            <a:endParaRPr lang="en-US" b="1" baseline="-25000" dirty="0"/>
          </a:p>
        </p:txBody>
      </p:sp>
      <p:sp>
        <p:nvSpPr>
          <p:cNvPr id="47" name="TextBox 46"/>
          <p:cNvSpPr txBox="1"/>
          <p:nvPr/>
        </p:nvSpPr>
        <p:spPr>
          <a:xfrm>
            <a:off x="10087980" y="2562065"/>
            <a:ext cx="100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-1  </a:t>
            </a:r>
            <a:r>
              <a:rPr lang="en-US" b="1" dirty="0"/>
              <a:t>OFF</a:t>
            </a:r>
            <a:endParaRPr lang="en-US" b="1" baseline="-25000" dirty="0"/>
          </a:p>
        </p:txBody>
      </p:sp>
      <p:sp>
        <p:nvSpPr>
          <p:cNvPr id="49" name="TextBox 48"/>
          <p:cNvSpPr txBox="1"/>
          <p:nvPr/>
        </p:nvSpPr>
        <p:spPr>
          <a:xfrm>
            <a:off x="8409070" y="1592153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 &gt; 0</a:t>
            </a:r>
            <a:endParaRPr lang="en-US" sz="1600" b="1" baseline="-25000" dirty="0"/>
          </a:p>
        </p:txBody>
      </p:sp>
      <p:sp>
        <p:nvSpPr>
          <p:cNvPr id="50" name="TextBox 49"/>
          <p:cNvSpPr txBox="1"/>
          <p:nvPr/>
        </p:nvSpPr>
        <p:spPr>
          <a:xfrm>
            <a:off x="5890778" y="1838686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b="1" baseline="-25000" dirty="0"/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33994" y="2689945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-25000" dirty="0"/>
              <a:t>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78265" y="1459000"/>
          <a:ext cx="31760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026">
                  <a:extLst>
                    <a:ext uri="{9D8B030D-6E8A-4147-A177-3AD203B41FA5}">
                      <a16:colId xmlns:a16="http://schemas.microsoft.com/office/drawing/2014/main" val="940719695"/>
                    </a:ext>
                  </a:extLst>
                </a:gridCol>
                <a:gridCol w="763516">
                  <a:extLst>
                    <a:ext uri="{9D8B030D-6E8A-4147-A177-3AD203B41FA5}">
                      <a16:colId xmlns:a16="http://schemas.microsoft.com/office/drawing/2014/main" val="3363300399"/>
                    </a:ext>
                  </a:extLst>
                </a:gridCol>
                <a:gridCol w="1671480">
                  <a:extLst>
                    <a:ext uri="{9D8B030D-6E8A-4147-A177-3AD203B41FA5}">
                      <a16:colId xmlns:a16="http://schemas.microsoft.com/office/drawing/2014/main" val="452001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47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5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68603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142761"/>
              </p:ext>
            </p:extLst>
          </p:nvPr>
        </p:nvGraphicFramePr>
        <p:xfrm>
          <a:off x="5648116" y="4330525"/>
          <a:ext cx="521062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285">
                  <a:extLst>
                    <a:ext uri="{9D8B030D-6E8A-4147-A177-3AD203B41FA5}">
                      <a16:colId xmlns:a16="http://schemas.microsoft.com/office/drawing/2014/main" val="1310300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4122444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1527485606"/>
                    </a:ext>
                  </a:extLst>
                </a:gridCol>
                <a:gridCol w="841828">
                  <a:extLst>
                    <a:ext uri="{9D8B030D-6E8A-4147-A177-3AD203B41FA5}">
                      <a16:colId xmlns:a16="http://schemas.microsoft.com/office/drawing/2014/main" val="276202432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47881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Step-1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8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32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0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Weighted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02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Observed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88182"/>
                  </a:ext>
                </a:extLst>
              </a:tr>
            </a:tbl>
          </a:graphicData>
        </a:graphic>
      </p:graphicFrame>
      <p:sp>
        <p:nvSpPr>
          <p:cNvPr id="48" name="Content Placeholder 2"/>
          <p:cNvSpPr txBox="1">
            <a:spLocks/>
          </p:cNvSpPr>
          <p:nvPr/>
        </p:nvSpPr>
        <p:spPr>
          <a:xfrm>
            <a:off x="1944913" y="4339767"/>
            <a:ext cx="2888343" cy="188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  = 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  = 0,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ɳ = 0.1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t(E) </a:t>
            </a:r>
            <a:r>
              <a:rPr lang="en-US" sz="20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-1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rved Right Arrow 24"/>
          <p:cNvSpPr/>
          <p:nvPr/>
        </p:nvSpPr>
        <p:spPr>
          <a:xfrm rot="20950944">
            <a:off x="703848" y="2724470"/>
            <a:ext cx="646484" cy="245196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矩形 8"/>
          <p:cNvSpPr/>
          <p:nvPr/>
        </p:nvSpPr>
        <p:spPr>
          <a:xfrm>
            <a:off x="1198230" y="2571362"/>
            <a:ext cx="3137396" cy="382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8"/>
          <p:cNvSpPr/>
          <p:nvPr/>
        </p:nvSpPr>
        <p:spPr>
          <a:xfrm>
            <a:off x="7492620" y="4694830"/>
            <a:ext cx="764275" cy="14523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8"/>
          <p:cNvSpPr/>
          <p:nvPr/>
        </p:nvSpPr>
        <p:spPr>
          <a:xfrm>
            <a:off x="8313765" y="4683454"/>
            <a:ext cx="764275" cy="14523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8"/>
          <p:cNvSpPr/>
          <p:nvPr/>
        </p:nvSpPr>
        <p:spPr>
          <a:xfrm>
            <a:off x="9124013" y="4696791"/>
            <a:ext cx="813019" cy="14475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8"/>
          <p:cNvSpPr/>
          <p:nvPr/>
        </p:nvSpPr>
        <p:spPr>
          <a:xfrm>
            <a:off x="9986101" y="4685416"/>
            <a:ext cx="813019" cy="14475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680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02951" y="338281"/>
            <a:ext cx="5431044" cy="6483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Example (AND) </a:t>
            </a:r>
            <a:endParaRPr lang="en-US" sz="3400" dirty="0">
              <a:solidFill>
                <a:schemeClr val="tx1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6194066" y="1828861"/>
            <a:ext cx="4206842" cy="1232841"/>
            <a:chOff x="7284577" y="4471325"/>
            <a:chExt cx="4206842" cy="1232841"/>
          </a:xfrm>
        </p:grpSpPr>
        <p:sp>
          <p:nvSpPr>
            <p:cNvPr id="8" name="Oval 7"/>
            <p:cNvSpPr/>
            <p:nvPr/>
          </p:nvSpPr>
          <p:spPr>
            <a:xfrm>
              <a:off x="7284577" y="4471325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7317021" y="5316169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61155" y="4506173"/>
              <a:ext cx="433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372740" y="5328052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9418808" y="4622398"/>
              <a:ext cx="929261" cy="81233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6" name="Straight Arrow Connector 15"/>
            <p:cNvCxnSpPr>
              <a:stCxn id="8" idx="6"/>
              <a:endCxn id="14" idx="2"/>
            </p:cNvCxnSpPr>
            <p:nvPr/>
          </p:nvCxnSpPr>
          <p:spPr>
            <a:xfrm>
              <a:off x="7771400" y="4665324"/>
              <a:ext cx="1647409" cy="36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6"/>
            </p:cNvCxnSpPr>
            <p:nvPr/>
          </p:nvCxnSpPr>
          <p:spPr>
            <a:xfrm flipV="1">
              <a:off x="7803843" y="5176504"/>
              <a:ext cx="1640776" cy="3336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1058292" y="4771434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10340136" y="4622398"/>
              <a:ext cx="790105" cy="3778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197315" y="4471773"/>
              <a:ext cx="660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-0.1</a:t>
              </a:r>
              <a:endParaRPr lang="en-US" b="1" baseline="-250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88323" y="5008143"/>
              <a:ext cx="805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-0.1</a:t>
              </a:r>
              <a:endParaRPr lang="en-US" b="1" baseline="-25000" dirty="0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10315113" y="5152636"/>
              <a:ext cx="889700" cy="290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9990168" y="1516873"/>
            <a:ext cx="109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ON</a:t>
            </a:r>
            <a:endParaRPr lang="en-US" b="1" baseline="-25000" dirty="0"/>
          </a:p>
        </p:txBody>
      </p:sp>
      <p:sp>
        <p:nvSpPr>
          <p:cNvPr id="47" name="TextBox 46"/>
          <p:cNvSpPr txBox="1"/>
          <p:nvPr/>
        </p:nvSpPr>
        <p:spPr>
          <a:xfrm>
            <a:off x="10087980" y="2562065"/>
            <a:ext cx="100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-1  </a:t>
            </a:r>
            <a:r>
              <a:rPr lang="en-US" b="1" dirty="0"/>
              <a:t>OFF</a:t>
            </a:r>
            <a:endParaRPr lang="en-US" b="1" baseline="-25000" dirty="0"/>
          </a:p>
        </p:txBody>
      </p:sp>
      <p:sp>
        <p:nvSpPr>
          <p:cNvPr id="49" name="TextBox 48"/>
          <p:cNvSpPr txBox="1"/>
          <p:nvPr/>
        </p:nvSpPr>
        <p:spPr>
          <a:xfrm>
            <a:off x="8409070" y="1592153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 &gt; 0</a:t>
            </a:r>
            <a:endParaRPr lang="en-US" sz="1600" b="1" baseline="-25000" dirty="0"/>
          </a:p>
        </p:txBody>
      </p:sp>
      <p:sp>
        <p:nvSpPr>
          <p:cNvPr id="50" name="TextBox 49"/>
          <p:cNvSpPr txBox="1"/>
          <p:nvPr/>
        </p:nvSpPr>
        <p:spPr>
          <a:xfrm>
            <a:off x="5890778" y="1838686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b="1" baseline="-25000" dirty="0"/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33994" y="2689945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-25000" dirty="0"/>
              <a:t>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78265" y="1459000"/>
          <a:ext cx="31760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026">
                  <a:extLst>
                    <a:ext uri="{9D8B030D-6E8A-4147-A177-3AD203B41FA5}">
                      <a16:colId xmlns:a16="http://schemas.microsoft.com/office/drawing/2014/main" val="940719695"/>
                    </a:ext>
                  </a:extLst>
                </a:gridCol>
                <a:gridCol w="763516">
                  <a:extLst>
                    <a:ext uri="{9D8B030D-6E8A-4147-A177-3AD203B41FA5}">
                      <a16:colId xmlns:a16="http://schemas.microsoft.com/office/drawing/2014/main" val="3363300399"/>
                    </a:ext>
                  </a:extLst>
                </a:gridCol>
                <a:gridCol w="1671480">
                  <a:extLst>
                    <a:ext uri="{9D8B030D-6E8A-4147-A177-3AD203B41FA5}">
                      <a16:colId xmlns:a16="http://schemas.microsoft.com/office/drawing/2014/main" val="452001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47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5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68603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470842"/>
              </p:ext>
            </p:extLst>
          </p:nvPr>
        </p:nvGraphicFramePr>
        <p:xfrm>
          <a:off x="5648116" y="4330525"/>
          <a:ext cx="34543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285">
                  <a:extLst>
                    <a:ext uri="{9D8B030D-6E8A-4147-A177-3AD203B41FA5}">
                      <a16:colId xmlns:a16="http://schemas.microsoft.com/office/drawing/2014/main" val="1310300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4122444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1527485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Step-1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8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32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0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Weighted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02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Observed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88182"/>
                  </a:ext>
                </a:extLst>
              </a:tr>
            </a:tbl>
          </a:graphicData>
        </a:graphic>
      </p:graphicFrame>
      <p:sp>
        <p:nvSpPr>
          <p:cNvPr id="48" name="Content Placeholder 2"/>
          <p:cNvSpPr txBox="1">
            <a:spLocks/>
          </p:cNvSpPr>
          <p:nvPr/>
        </p:nvSpPr>
        <p:spPr>
          <a:xfrm>
            <a:off x="1944913" y="4339767"/>
            <a:ext cx="2888343" cy="188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  = 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  = 1,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ɳ = 0.1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t(E) =  +1</a:t>
            </a:r>
          </a:p>
        </p:txBody>
      </p:sp>
      <p:sp>
        <p:nvSpPr>
          <p:cNvPr id="25" name="Curved Right Arrow 24"/>
          <p:cNvSpPr/>
          <p:nvPr/>
        </p:nvSpPr>
        <p:spPr>
          <a:xfrm rot="20950944">
            <a:off x="730824" y="3065363"/>
            <a:ext cx="646484" cy="216450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矩形 8"/>
          <p:cNvSpPr/>
          <p:nvPr/>
        </p:nvSpPr>
        <p:spPr>
          <a:xfrm>
            <a:off x="1198230" y="2925924"/>
            <a:ext cx="3137396" cy="382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8"/>
          <p:cNvSpPr/>
          <p:nvPr/>
        </p:nvSpPr>
        <p:spPr>
          <a:xfrm>
            <a:off x="7492620" y="4694830"/>
            <a:ext cx="764275" cy="14523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8"/>
          <p:cNvSpPr/>
          <p:nvPr/>
        </p:nvSpPr>
        <p:spPr>
          <a:xfrm>
            <a:off x="8313765" y="4683454"/>
            <a:ext cx="764275" cy="14523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02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7" grpId="1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409739" y="595423"/>
            <a:ext cx="9372521" cy="58479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Why Bias is Required….?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Improves model performance and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Bias helps the model better fit the training data.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It often helps the model converge faster during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   Technically, it lets the model learn more complex patterns.</a:t>
            </a:r>
          </a:p>
        </p:txBody>
      </p:sp>
    </p:spTree>
    <p:extLst>
      <p:ext uri="{BB962C8B-B14F-4D97-AF65-F5344CB8AC3E}">
        <p14:creationId xmlns:p14="http://schemas.microsoft.com/office/powerpoint/2010/main" val="1137172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96094" y="484290"/>
            <a:ext cx="8053371" cy="64865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Representation for Perceptron</a:t>
            </a:r>
            <a:endParaRPr lang="en-US" sz="350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92035" y="1978025"/>
            <a:ext cx="2898432" cy="6399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Special input, which is always 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770462" y="2205742"/>
            <a:ext cx="4606771" cy="3416805"/>
            <a:chOff x="6005015" y="2129051"/>
            <a:chExt cx="4606771" cy="3416805"/>
          </a:xfrm>
        </p:grpSpPr>
        <p:sp>
          <p:nvSpPr>
            <p:cNvPr id="7" name="Oval 6"/>
            <p:cNvSpPr/>
            <p:nvPr/>
          </p:nvSpPr>
          <p:spPr>
            <a:xfrm>
              <a:off x="6005015" y="2129051"/>
              <a:ext cx="532263" cy="47767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012272" y="2862012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077588" y="3580479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070330" y="5068185"/>
              <a:ext cx="532263" cy="47767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95997" y="2904914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68351" y="3595108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182973" y="5107840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n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8345715" y="3048001"/>
              <a:ext cx="1016000" cy="100008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6515509" y="2475964"/>
              <a:ext cx="1873755" cy="8637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8" idx="6"/>
              <a:endCxn id="15" idx="2"/>
            </p:cNvCxnSpPr>
            <p:nvPr/>
          </p:nvCxnSpPr>
          <p:spPr>
            <a:xfrm>
              <a:off x="6544535" y="3100848"/>
              <a:ext cx="1801180" cy="4471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6"/>
            </p:cNvCxnSpPr>
            <p:nvPr/>
          </p:nvCxnSpPr>
          <p:spPr>
            <a:xfrm flipV="1">
              <a:off x="6609851" y="3730171"/>
              <a:ext cx="1793927" cy="891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6"/>
              <a:endCxn id="15" idx="3"/>
            </p:cNvCxnSpPr>
            <p:nvPr/>
          </p:nvCxnSpPr>
          <p:spPr>
            <a:xfrm flipV="1">
              <a:off x="6602593" y="3901623"/>
              <a:ext cx="1891912" cy="14053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0138230" y="3231482"/>
              <a:ext cx="47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9353041" y="3048001"/>
              <a:ext cx="863855" cy="4651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6994338" y="2916168"/>
              <a:ext cx="496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45140" y="3431425"/>
              <a:ext cx="496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016112" y="4389361"/>
              <a:ext cx="496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</a:t>
              </a:r>
              <a:r>
                <a:rPr lang="en-US" b="1" baseline="-25000" dirty="0"/>
                <a:t>n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879072" y="2248637"/>
            <a:ext cx="47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endParaRPr lang="en-US" b="1" baseline="-25000" dirty="0"/>
          </a:p>
        </p:txBody>
      </p:sp>
      <p:sp>
        <p:nvSpPr>
          <p:cNvPr id="28" name="TextBox 27"/>
          <p:cNvSpPr txBox="1"/>
          <p:nvPr/>
        </p:nvSpPr>
        <p:spPr>
          <a:xfrm>
            <a:off x="4752531" y="2521147"/>
            <a:ext cx="49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</a:t>
            </a:r>
            <a:r>
              <a:rPr lang="en-US" b="1" baseline="-25000" dirty="0"/>
              <a:t>0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7125745" y="3742255"/>
            <a:ext cx="935387" cy="298876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65206" y="2673329"/>
            <a:ext cx="142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 S &gt; 0</a:t>
            </a:r>
            <a:endParaRPr lang="en-US" b="1" baseline="-25000" dirty="0"/>
          </a:p>
        </p:txBody>
      </p:sp>
      <p:sp>
        <p:nvSpPr>
          <p:cNvPr id="33" name="TextBox 32"/>
          <p:cNvSpPr txBox="1"/>
          <p:nvPr/>
        </p:nvSpPr>
        <p:spPr>
          <a:xfrm flipH="1">
            <a:off x="8047655" y="2861451"/>
            <a:ext cx="60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</a:t>
            </a:r>
            <a:endParaRPr lang="en-US" b="1" baseline="-25000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8092727" y="3865627"/>
            <a:ext cx="50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-1 </a:t>
            </a:r>
            <a:endParaRPr lang="en-US" b="1" baseline="-25000" dirty="0"/>
          </a:p>
        </p:txBody>
      </p:sp>
      <p:sp>
        <p:nvSpPr>
          <p:cNvPr id="37" name="TextBox 36"/>
          <p:cNvSpPr txBox="1"/>
          <p:nvPr/>
        </p:nvSpPr>
        <p:spPr>
          <a:xfrm>
            <a:off x="6872433" y="4201796"/>
            <a:ext cx="1104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Otherwise</a:t>
            </a:r>
            <a:endParaRPr lang="en-US" sz="1600" b="1" baseline="-25000" dirty="0"/>
          </a:p>
        </p:txBody>
      </p:sp>
      <p:sp>
        <p:nvSpPr>
          <p:cNvPr id="38" name="TextBox 37"/>
          <p:cNvSpPr txBox="1"/>
          <p:nvPr/>
        </p:nvSpPr>
        <p:spPr>
          <a:xfrm>
            <a:off x="5427574" y="1599813"/>
            <a:ext cx="2486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Threshold function has become this</a:t>
            </a:r>
          </a:p>
        </p:txBody>
      </p:sp>
      <p:cxnSp>
        <p:nvCxnSpPr>
          <p:cNvPr id="41" name="Straight Arrow Connector 40"/>
          <p:cNvCxnSpPr>
            <a:endCxn id="28" idx="0"/>
          </p:cNvCxnSpPr>
          <p:nvPr/>
        </p:nvCxnSpPr>
        <p:spPr>
          <a:xfrm flipH="1">
            <a:off x="5000629" y="2000542"/>
            <a:ext cx="426945" cy="52060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784819" y="5821201"/>
            <a:ext cx="5592413" cy="5725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S= w</a:t>
            </a:r>
            <a:r>
              <a:rPr lang="en-US" sz="2400" b="1" baseline="-25000" dirty="0">
                <a:solidFill>
                  <a:schemeClr val="tx1"/>
                </a:solidFill>
              </a:rPr>
              <a:t>0</a:t>
            </a:r>
            <a:r>
              <a:rPr lang="en-US" sz="2400" b="1" dirty="0">
                <a:solidFill>
                  <a:schemeClr val="tx1"/>
                </a:solidFill>
              </a:rPr>
              <a:t> + w</a:t>
            </a:r>
            <a:r>
              <a:rPr lang="en-US" sz="2400" b="1" baseline="-25000" dirty="0">
                <a:solidFill>
                  <a:schemeClr val="tx1"/>
                </a:solidFill>
              </a:rPr>
              <a:t>1</a:t>
            </a:r>
            <a:r>
              <a:rPr lang="en-US" sz="2400" b="1" dirty="0">
                <a:solidFill>
                  <a:schemeClr val="tx1"/>
                </a:solidFill>
              </a:rPr>
              <a:t>*x</a:t>
            </a:r>
            <a:r>
              <a:rPr lang="en-US" sz="2400" b="1" baseline="-25000" dirty="0">
                <a:solidFill>
                  <a:schemeClr val="tx1"/>
                </a:solidFill>
              </a:rPr>
              <a:t>1</a:t>
            </a:r>
            <a:r>
              <a:rPr lang="en-US" sz="2400" b="1" dirty="0">
                <a:solidFill>
                  <a:schemeClr val="tx1"/>
                </a:solidFill>
              </a:rPr>
              <a:t> + w</a:t>
            </a:r>
            <a:r>
              <a:rPr lang="en-US" sz="2400" b="1" baseline="-25000" dirty="0">
                <a:solidFill>
                  <a:schemeClr val="tx1"/>
                </a:solidFill>
              </a:rPr>
              <a:t>2</a:t>
            </a:r>
            <a:r>
              <a:rPr lang="en-US" sz="2400" b="1" dirty="0">
                <a:solidFill>
                  <a:schemeClr val="tx1"/>
                </a:solidFill>
              </a:rPr>
              <a:t>*x</a:t>
            </a:r>
            <a:r>
              <a:rPr lang="en-US" sz="2400" b="1" baseline="-25000" dirty="0">
                <a:solidFill>
                  <a:schemeClr val="tx1"/>
                </a:solidFill>
              </a:rPr>
              <a:t>2</a:t>
            </a:r>
            <a:r>
              <a:rPr lang="en-US" sz="2400" b="1" dirty="0">
                <a:solidFill>
                  <a:schemeClr val="tx1"/>
                </a:solidFill>
              </a:rPr>
              <a:t> . . . . . . .  w</a:t>
            </a:r>
            <a:r>
              <a:rPr lang="en-US" sz="2400" b="1" baseline="-25000" dirty="0">
                <a:solidFill>
                  <a:schemeClr val="tx1"/>
                </a:solidFill>
              </a:rPr>
              <a:t>n</a:t>
            </a:r>
            <a:r>
              <a:rPr lang="en-US" sz="2400" b="1" dirty="0">
                <a:solidFill>
                  <a:schemeClr val="tx1"/>
                </a:solidFill>
              </a:rPr>
              <a:t>*x</a:t>
            </a:r>
            <a:r>
              <a:rPr lang="en-US" sz="2400" b="1" baseline="-25000" dirty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3212668" y="2260844"/>
            <a:ext cx="528810" cy="18446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16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8" presetClass="emph" presetSubtype="0" repeatCount="5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94825"/>
                                      </p:to>
                                    </p:animClr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94825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1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02951" y="338281"/>
            <a:ext cx="3168298" cy="6483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Bias </a:t>
            </a:r>
            <a:endParaRPr lang="en-US" sz="3500" dirty="0">
              <a:solidFill>
                <a:schemeClr val="tx1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6921850" y="2034132"/>
            <a:ext cx="4206842" cy="1232841"/>
            <a:chOff x="7284577" y="4471325"/>
            <a:chExt cx="4206842" cy="1232841"/>
          </a:xfrm>
        </p:grpSpPr>
        <p:sp>
          <p:nvSpPr>
            <p:cNvPr id="8" name="Oval 7"/>
            <p:cNvSpPr/>
            <p:nvPr/>
          </p:nvSpPr>
          <p:spPr>
            <a:xfrm>
              <a:off x="7284577" y="4471325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7317021" y="5316169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61155" y="4506173"/>
              <a:ext cx="433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372740" y="5328052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9418808" y="4622398"/>
              <a:ext cx="929261" cy="81233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6" name="Straight Arrow Connector 15"/>
            <p:cNvCxnSpPr>
              <a:stCxn id="8" idx="6"/>
              <a:endCxn id="14" idx="2"/>
            </p:cNvCxnSpPr>
            <p:nvPr/>
          </p:nvCxnSpPr>
          <p:spPr>
            <a:xfrm>
              <a:off x="7771400" y="4665324"/>
              <a:ext cx="1647409" cy="36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6"/>
            </p:cNvCxnSpPr>
            <p:nvPr/>
          </p:nvCxnSpPr>
          <p:spPr>
            <a:xfrm flipV="1">
              <a:off x="7803843" y="5176504"/>
              <a:ext cx="1640776" cy="3336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1058292" y="4771434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10340136" y="4622398"/>
              <a:ext cx="790105" cy="3778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197315" y="4471773"/>
              <a:ext cx="660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0.5</a:t>
              </a:r>
              <a:endParaRPr lang="en-US" b="1" baseline="-250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88323" y="5008143"/>
              <a:ext cx="805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0.5</a:t>
              </a:r>
              <a:endParaRPr lang="en-US" b="1" baseline="-25000" dirty="0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10315113" y="5152636"/>
              <a:ext cx="889700" cy="290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10717952" y="1722144"/>
            <a:ext cx="109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ON</a:t>
            </a:r>
            <a:endParaRPr lang="en-US" b="1" baseline="-25000" dirty="0"/>
          </a:p>
        </p:txBody>
      </p:sp>
      <p:sp>
        <p:nvSpPr>
          <p:cNvPr id="47" name="TextBox 46"/>
          <p:cNvSpPr txBox="1"/>
          <p:nvPr/>
        </p:nvSpPr>
        <p:spPr>
          <a:xfrm>
            <a:off x="10815764" y="2767336"/>
            <a:ext cx="100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-1  </a:t>
            </a:r>
            <a:r>
              <a:rPr lang="en-US" b="1" dirty="0"/>
              <a:t>OFF</a:t>
            </a:r>
            <a:endParaRPr lang="en-US" b="1" baseline="-25000" dirty="0"/>
          </a:p>
        </p:txBody>
      </p:sp>
      <p:sp>
        <p:nvSpPr>
          <p:cNvPr id="49" name="TextBox 48"/>
          <p:cNvSpPr txBox="1"/>
          <p:nvPr/>
        </p:nvSpPr>
        <p:spPr>
          <a:xfrm>
            <a:off x="9136854" y="1797424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 &gt; 0</a:t>
            </a:r>
            <a:endParaRPr lang="en-US" sz="1600" b="1" baseline="-25000" dirty="0"/>
          </a:p>
        </p:txBody>
      </p:sp>
      <p:sp>
        <p:nvSpPr>
          <p:cNvPr id="50" name="TextBox 49"/>
          <p:cNvSpPr txBox="1"/>
          <p:nvPr/>
        </p:nvSpPr>
        <p:spPr>
          <a:xfrm>
            <a:off x="6618562" y="2043957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b="1" baseline="-25000" dirty="0"/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1778" y="2895216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-25000" dirty="0"/>
              <a:t> </a:t>
            </a: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354838" y="1419361"/>
            <a:ext cx="5118554" cy="1248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defRPr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Bias is just like an intercept added in a linear equation.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4838" y="2762645"/>
            <a:ext cx="5487191" cy="4873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  =  sum (weights * inputs) + bias </a:t>
            </a: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354838" y="3703683"/>
            <a:ext cx="11082966" cy="2174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defRPr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The output is calculated by multiplying the inputs with their weights and then passing it through an activation function like the Sigmoid function, etc. Here, bias acts like a constant which helps the model to fit the given data.  </a:t>
            </a:r>
          </a:p>
          <a:p>
            <a:pPr algn="just">
              <a:lnSpc>
                <a:spcPct val="120000"/>
              </a:lnSpc>
              <a:defRPr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662951" y="1142053"/>
            <a:ext cx="671077" cy="4776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248089" y="1526288"/>
            <a:ext cx="1873755" cy="86371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144578" y="1169349"/>
            <a:ext cx="62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Bias</a:t>
            </a:r>
          </a:p>
        </p:txBody>
      </p:sp>
    </p:spTree>
    <p:extLst>
      <p:ext uri="{BB962C8B-B14F-4D97-AF65-F5344CB8AC3E}">
        <p14:creationId xmlns:p14="http://schemas.microsoft.com/office/powerpoint/2010/main" val="3837441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50955" y="329370"/>
            <a:ext cx="3199952" cy="6483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Bias </a:t>
            </a:r>
            <a:endParaRPr lang="en-US" sz="3500" dirty="0">
              <a:solidFill>
                <a:schemeClr val="tx1"/>
              </a:solidFill>
            </a:endParaRP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354838" y="1419361"/>
            <a:ext cx="11588346" cy="931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simpler way to understand bias is through a constant c of a linear function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287" y="2090059"/>
            <a:ext cx="2649619" cy="4873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y =mx + 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260" y="4223069"/>
            <a:ext cx="6059442" cy="2308359"/>
          </a:xfrm>
          <a:prstGeom prst="rect">
            <a:avLst/>
          </a:prstGeom>
        </p:spPr>
      </p:pic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354837" y="2691440"/>
            <a:ext cx="11327089" cy="1693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defRPr/>
            </a:pPr>
            <a:r>
              <a:rPr lang="en-US" dirty="0"/>
              <a:t>It allows us to move the line down and up fitting the prediction with the data better. If the constant c is absent then the line will pass through the origin (0, 0) and we will get a poorer fit.</a:t>
            </a:r>
          </a:p>
          <a:p>
            <a:pPr algn="just">
              <a:lnSpc>
                <a:spcPct val="120000"/>
              </a:lnSpc>
              <a:defRPr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513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02951" y="338281"/>
            <a:ext cx="5515712" cy="6483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(AND) with Bias </a:t>
            </a:r>
            <a:endParaRPr lang="en-US" sz="34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78265" y="1459000"/>
          <a:ext cx="31760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026">
                  <a:extLst>
                    <a:ext uri="{9D8B030D-6E8A-4147-A177-3AD203B41FA5}">
                      <a16:colId xmlns:a16="http://schemas.microsoft.com/office/drawing/2014/main" val="940719695"/>
                    </a:ext>
                  </a:extLst>
                </a:gridCol>
                <a:gridCol w="763516">
                  <a:extLst>
                    <a:ext uri="{9D8B030D-6E8A-4147-A177-3AD203B41FA5}">
                      <a16:colId xmlns:a16="http://schemas.microsoft.com/office/drawing/2014/main" val="3363300399"/>
                    </a:ext>
                  </a:extLst>
                </a:gridCol>
                <a:gridCol w="1671480">
                  <a:extLst>
                    <a:ext uri="{9D8B030D-6E8A-4147-A177-3AD203B41FA5}">
                      <a16:colId xmlns:a16="http://schemas.microsoft.com/office/drawing/2014/main" val="452001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47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5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68603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293453"/>
              </p:ext>
            </p:extLst>
          </p:nvPr>
        </p:nvGraphicFramePr>
        <p:xfrm>
          <a:off x="5648116" y="4330525"/>
          <a:ext cx="521062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285">
                  <a:extLst>
                    <a:ext uri="{9D8B030D-6E8A-4147-A177-3AD203B41FA5}">
                      <a16:colId xmlns:a16="http://schemas.microsoft.com/office/drawing/2014/main" val="1310300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4122444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1527485606"/>
                    </a:ext>
                  </a:extLst>
                </a:gridCol>
                <a:gridCol w="841828">
                  <a:extLst>
                    <a:ext uri="{9D8B030D-6E8A-4147-A177-3AD203B41FA5}">
                      <a16:colId xmlns:a16="http://schemas.microsoft.com/office/drawing/2014/main" val="276202432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47881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Step-1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8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14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32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0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Weighted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02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Observed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88182"/>
                  </a:ext>
                </a:extLst>
              </a:tr>
            </a:tbl>
          </a:graphicData>
        </a:graphic>
      </p:graphicFrame>
      <p:sp>
        <p:nvSpPr>
          <p:cNvPr id="48" name="Content Placeholder 2"/>
          <p:cNvSpPr txBox="1">
            <a:spLocks/>
          </p:cNvSpPr>
          <p:nvPr/>
        </p:nvSpPr>
        <p:spPr>
          <a:xfrm>
            <a:off x="1944913" y="4339767"/>
            <a:ext cx="2888343" cy="188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  = 0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  = 1,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ɳ = 0.1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t(E) </a:t>
            </a:r>
            <a:r>
              <a:rPr lang="en-US" sz="20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-1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rved Right Arrow 24"/>
          <p:cNvSpPr/>
          <p:nvPr/>
        </p:nvSpPr>
        <p:spPr>
          <a:xfrm rot="20950944">
            <a:off x="600538" y="2359811"/>
            <a:ext cx="803879" cy="276771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矩形 8"/>
          <p:cNvSpPr/>
          <p:nvPr/>
        </p:nvSpPr>
        <p:spPr>
          <a:xfrm>
            <a:off x="1198230" y="2179478"/>
            <a:ext cx="3137396" cy="382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6" name="Group 25"/>
          <p:cNvGrpSpPr/>
          <p:nvPr/>
        </p:nvGrpSpPr>
        <p:grpSpPr>
          <a:xfrm>
            <a:off x="6921850" y="2034132"/>
            <a:ext cx="4206842" cy="1232841"/>
            <a:chOff x="7284577" y="4471325"/>
            <a:chExt cx="4206842" cy="1232841"/>
          </a:xfrm>
        </p:grpSpPr>
        <p:sp>
          <p:nvSpPr>
            <p:cNvPr id="27" name="Oval 26"/>
            <p:cNvSpPr/>
            <p:nvPr/>
          </p:nvSpPr>
          <p:spPr>
            <a:xfrm>
              <a:off x="7284577" y="4471325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7317021" y="5316169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61155" y="4506173"/>
              <a:ext cx="433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 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2740" y="5328052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9418808" y="4622398"/>
              <a:ext cx="929261" cy="81233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32" name="Straight Arrow Connector 31"/>
            <p:cNvCxnSpPr>
              <a:stCxn id="27" idx="6"/>
              <a:endCxn id="31" idx="2"/>
            </p:cNvCxnSpPr>
            <p:nvPr/>
          </p:nvCxnSpPr>
          <p:spPr>
            <a:xfrm>
              <a:off x="7771400" y="4665324"/>
              <a:ext cx="1647409" cy="36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8" idx="6"/>
            </p:cNvCxnSpPr>
            <p:nvPr/>
          </p:nvCxnSpPr>
          <p:spPr>
            <a:xfrm flipV="1">
              <a:off x="7803843" y="5176504"/>
              <a:ext cx="1640776" cy="3336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1058292" y="4771434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10340136" y="4622398"/>
              <a:ext cx="790105" cy="3778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8197315" y="4526365"/>
              <a:ext cx="830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</a:t>
              </a:r>
              <a:r>
                <a:rPr lang="en-US" sz="1600" b="1" baseline="-25000" dirty="0"/>
                <a:t>1</a:t>
              </a:r>
              <a:r>
                <a:rPr lang="en-US" sz="1600" b="1" dirty="0"/>
                <a:t>=0.5</a:t>
              </a:r>
              <a:endParaRPr lang="en-US" sz="1600" b="1" baseline="-250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188323" y="5008143"/>
              <a:ext cx="805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</a:t>
              </a:r>
              <a:r>
                <a:rPr lang="en-US" sz="1600" b="1" baseline="-25000" dirty="0"/>
                <a:t>2</a:t>
              </a:r>
              <a:r>
                <a:rPr lang="en-US" sz="1600" b="1" dirty="0"/>
                <a:t>=0.5</a:t>
              </a:r>
              <a:endParaRPr lang="en-US" sz="1600" b="1" baseline="-2500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0315113" y="5152636"/>
              <a:ext cx="889700" cy="290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10717952" y="1722144"/>
            <a:ext cx="109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ON</a:t>
            </a:r>
            <a:endParaRPr lang="en-US" b="1" baseline="-25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815764" y="2767336"/>
            <a:ext cx="100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-1  </a:t>
            </a:r>
            <a:r>
              <a:rPr lang="en-US" b="1" dirty="0"/>
              <a:t>OFF</a:t>
            </a:r>
            <a:endParaRPr lang="en-US" b="1" baseline="-25000" dirty="0"/>
          </a:p>
        </p:txBody>
      </p:sp>
      <p:sp>
        <p:nvSpPr>
          <p:cNvPr id="42" name="TextBox 41"/>
          <p:cNvSpPr txBox="1"/>
          <p:nvPr/>
        </p:nvSpPr>
        <p:spPr>
          <a:xfrm>
            <a:off x="9136854" y="1797424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 &gt; 0</a:t>
            </a:r>
            <a:endParaRPr lang="en-US" sz="1600" b="1" baseline="-25000" dirty="0"/>
          </a:p>
        </p:txBody>
      </p:sp>
      <p:sp>
        <p:nvSpPr>
          <p:cNvPr id="43" name="TextBox 42"/>
          <p:cNvSpPr txBox="1"/>
          <p:nvPr/>
        </p:nvSpPr>
        <p:spPr>
          <a:xfrm>
            <a:off x="6618562" y="2043957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b="1" baseline="-25000" dirty="0"/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1778" y="2895216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-25000" dirty="0"/>
              <a:t> </a:t>
            </a:r>
          </a:p>
        </p:txBody>
      </p:sp>
      <p:sp>
        <p:nvSpPr>
          <p:cNvPr id="45" name="Oval 44"/>
          <p:cNvSpPr/>
          <p:nvPr/>
        </p:nvSpPr>
        <p:spPr>
          <a:xfrm>
            <a:off x="6662951" y="1145786"/>
            <a:ext cx="745721" cy="47393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</a:rPr>
              <a:t>0</a:t>
            </a:r>
            <a:r>
              <a:rPr lang="en-US" sz="1400" dirty="0">
                <a:solidFill>
                  <a:schemeClr val="tx1"/>
                </a:solidFill>
              </a:rPr>
              <a:t>=1</a:t>
            </a:r>
          </a:p>
        </p:txBody>
      </p:sp>
      <p:cxnSp>
        <p:nvCxnSpPr>
          <p:cNvPr id="52" name="Straight Arrow Connector 51"/>
          <p:cNvCxnSpPr>
            <a:stCxn id="45" idx="5"/>
          </p:cNvCxnSpPr>
          <p:nvPr/>
        </p:nvCxnSpPr>
        <p:spPr>
          <a:xfrm>
            <a:off x="7299464" y="1550317"/>
            <a:ext cx="1822380" cy="8396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144578" y="1169349"/>
            <a:ext cx="62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77804" y="1559180"/>
            <a:ext cx="952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</a:t>
            </a:r>
            <a:r>
              <a:rPr lang="en-US" sz="1600" b="1" baseline="-25000" dirty="0"/>
              <a:t>0</a:t>
            </a:r>
            <a:r>
              <a:rPr lang="en-US" sz="1600" b="1" dirty="0"/>
              <a:t>=0.5</a:t>
            </a:r>
            <a:endParaRPr lang="en-US" sz="1600" b="1" baseline="-25000" dirty="0"/>
          </a:p>
        </p:txBody>
      </p:sp>
      <p:sp>
        <p:nvSpPr>
          <p:cNvPr id="56" name="矩形 8"/>
          <p:cNvSpPr/>
          <p:nvPr/>
        </p:nvSpPr>
        <p:spPr>
          <a:xfrm>
            <a:off x="7492620" y="4694830"/>
            <a:ext cx="764275" cy="1860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8"/>
          <p:cNvSpPr/>
          <p:nvPr/>
        </p:nvSpPr>
        <p:spPr>
          <a:xfrm>
            <a:off x="8313765" y="4683454"/>
            <a:ext cx="764275" cy="1860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8"/>
          <p:cNvSpPr/>
          <p:nvPr/>
        </p:nvSpPr>
        <p:spPr>
          <a:xfrm>
            <a:off x="9124013" y="4696791"/>
            <a:ext cx="813019" cy="18546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8"/>
          <p:cNvSpPr/>
          <p:nvPr/>
        </p:nvSpPr>
        <p:spPr>
          <a:xfrm>
            <a:off x="9986101" y="4685416"/>
            <a:ext cx="813019" cy="18546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230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5" grpId="0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78265" y="1459000"/>
          <a:ext cx="31760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026">
                  <a:extLst>
                    <a:ext uri="{9D8B030D-6E8A-4147-A177-3AD203B41FA5}">
                      <a16:colId xmlns:a16="http://schemas.microsoft.com/office/drawing/2014/main" val="940719695"/>
                    </a:ext>
                  </a:extLst>
                </a:gridCol>
                <a:gridCol w="763516">
                  <a:extLst>
                    <a:ext uri="{9D8B030D-6E8A-4147-A177-3AD203B41FA5}">
                      <a16:colId xmlns:a16="http://schemas.microsoft.com/office/drawing/2014/main" val="3363300399"/>
                    </a:ext>
                  </a:extLst>
                </a:gridCol>
                <a:gridCol w="1671480">
                  <a:extLst>
                    <a:ext uri="{9D8B030D-6E8A-4147-A177-3AD203B41FA5}">
                      <a16:colId xmlns:a16="http://schemas.microsoft.com/office/drawing/2014/main" val="452001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47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5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68603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55952"/>
              </p:ext>
            </p:extLst>
          </p:nvPr>
        </p:nvGraphicFramePr>
        <p:xfrm>
          <a:off x="5648116" y="4330525"/>
          <a:ext cx="34543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285">
                  <a:extLst>
                    <a:ext uri="{9D8B030D-6E8A-4147-A177-3AD203B41FA5}">
                      <a16:colId xmlns:a16="http://schemas.microsoft.com/office/drawing/2014/main" val="1310300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4122444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1527485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Step-1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8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14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32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0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Weighted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02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Observed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88182"/>
                  </a:ext>
                </a:extLst>
              </a:tr>
            </a:tbl>
          </a:graphicData>
        </a:graphic>
      </p:graphicFrame>
      <p:sp>
        <p:nvSpPr>
          <p:cNvPr id="48" name="Content Placeholder 2"/>
          <p:cNvSpPr txBox="1">
            <a:spLocks/>
          </p:cNvSpPr>
          <p:nvPr/>
        </p:nvSpPr>
        <p:spPr>
          <a:xfrm>
            <a:off x="1944913" y="4339767"/>
            <a:ext cx="2888343" cy="188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  = 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  = 0,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ɳ = 0.1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t(E) </a:t>
            </a:r>
            <a:r>
              <a:rPr lang="en-US" sz="20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-1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rved Right Arrow 24"/>
          <p:cNvSpPr/>
          <p:nvPr/>
        </p:nvSpPr>
        <p:spPr>
          <a:xfrm rot="20950944">
            <a:off x="626835" y="2637544"/>
            <a:ext cx="728229" cy="249465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矩形 8"/>
          <p:cNvSpPr/>
          <p:nvPr/>
        </p:nvSpPr>
        <p:spPr>
          <a:xfrm>
            <a:off x="1191608" y="2533040"/>
            <a:ext cx="3137396" cy="382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6" name="Group 25"/>
          <p:cNvGrpSpPr/>
          <p:nvPr/>
        </p:nvGrpSpPr>
        <p:grpSpPr>
          <a:xfrm>
            <a:off x="6921850" y="2034132"/>
            <a:ext cx="4206842" cy="1232841"/>
            <a:chOff x="7284577" y="4471325"/>
            <a:chExt cx="4206842" cy="1232841"/>
          </a:xfrm>
        </p:grpSpPr>
        <p:sp>
          <p:nvSpPr>
            <p:cNvPr id="27" name="Oval 26"/>
            <p:cNvSpPr/>
            <p:nvPr/>
          </p:nvSpPr>
          <p:spPr>
            <a:xfrm>
              <a:off x="7284577" y="4471325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7317021" y="5316169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61155" y="4506173"/>
              <a:ext cx="433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 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2740" y="5328052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9418808" y="4622398"/>
              <a:ext cx="929261" cy="81233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32" name="Straight Arrow Connector 31"/>
            <p:cNvCxnSpPr>
              <a:stCxn id="27" idx="6"/>
              <a:endCxn id="31" idx="2"/>
            </p:cNvCxnSpPr>
            <p:nvPr/>
          </p:nvCxnSpPr>
          <p:spPr>
            <a:xfrm>
              <a:off x="7771400" y="4665324"/>
              <a:ext cx="1647409" cy="36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8" idx="6"/>
            </p:cNvCxnSpPr>
            <p:nvPr/>
          </p:nvCxnSpPr>
          <p:spPr>
            <a:xfrm flipV="1">
              <a:off x="7803843" y="5176504"/>
              <a:ext cx="1640776" cy="3336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1058292" y="4771434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10340136" y="4622398"/>
              <a:ext cx="790105" cy="3778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8197315" y="4526365"/>
              <a:ext cx="830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</a:t>
              </a:r>
              <a:r>
                <a:rPr lang="en-US" sz="1600" b="1" baseline="-25000" dirty="0"/>
                <a:t>1</a:t>
              </a:r>
              <a:r>
                <a:rPr lang="en-US" sz="1600" b="1" dirty="0"/>
                <a:t>=0.5</a:t>
              </a:r>
              <a:endParaRPr lang="en-US" sz="1600" b="1" baseline="-250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188323" y="5008143"/>
              <a:ext cx="8822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</a:t>
              </a:r>
              <a:r>
                <a:rPr lang="en-US" sz="1600" b="1" baseline="-25000" dirty="0"/>
                <a:t>2</a:t>
              </a:r>
              <a:r>
                <a:rPr lang="en-US" sz="1600" b="1" dirty="0"/>
                <a:t>=-0.1</a:t>
              </a:r>
              <a:endParaRPr lang="en-US" sz="1600" b="1" baseline="-2500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0315113" y="5152636"/>
              <a:ext cx="889700" cy="290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10717952" y="1722144"/>
            <a:ext cx="109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ON</a:t>
            </a:r>
            <a:endParaRPr lang="en-US" b="1" baseline="-25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815764" y="2767336"/>
            <a:ext cx="100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-1  </a:t>
            </a:r>
            <a:r>
              <a:rPr lang="en-US" b="1" dirty="0"/>
              <a:t>OFF</a:t>
            </a:r>
            <a:endParaRPr lang="en-US" b="1" baseline="-25000" dirty="0"/>
          </a:p>
        </p:txBody>
      </p:sp>
      <p:sp>
        <p:nvSpPr>
          <p:cNvPr id="42" name="TextBox 41"/>
          <p:cNvSpPr txBox="1"/>
          <p:nvPr/>
        </p:nvSpPr>
        <p:spPr>
          <a:xfrm>
            <a:off x="9136854" y="1797424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 &gt; 0</a:t>
            </a:r>
            <a:endParaRPr lang="en-US" sz="1600" b="1" baseline="-25000" dirty="0"/>
          </a:p>
        </p:txBody>
      </p:sp>
      <p:sp>
        <p:nvSpPr>
          <p:cNvPr id="43" name="TextBox 42"/>
          <p:cNvSpPr txBox="1"/>
          <p:nvPr/>
        </p:nvSpPr>
        <p:spPr>
          <a:xfrm>
            <a:off x="6618562" y="2043957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b="1" baseline="-25000" dirty="0"/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1778" y="2895216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-25000" dirty="0"/>
              <a:t> </a:t>
            </a:r>
          </a:p>
        </p:txBody>
      </p:sp>
      <p:sp>
        <p:nvSpPr>
          <p:cNvPr id="45" name="Oval 44"/>
          <p:cNvSpPr/>
          <p:nvPr/>
        </p:nvSpPr>
        <p:spPr>
          <a:xfrm>
            <a:off x="6662951" y="1145786"/>
            <a:ext cx="745721" cy="47393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</a:rPr>
              <a:t>0</a:t>
            </a:r>
            <a:r>
              <a:rPr lang="en-US" sz="1400" dirty="0">
                <a:solidFill>
                  <a:schemeClr val="tx1"/>
                </a:solidFill>
              </a:rPr>
              <a:t>=1</a:t>
            </a:r>
          </a:p>
        </p:txBody>
      </p:sp>
      <p:cxnSp>
        <p:nvCxnSpPr>
          <p:cNvPr id="52" name="Straight Arrow Connector 51"/>
          <p:cNvCxnSpPr>
            <a:stCxn id="45" idx="5"/>
          </p:cNvCxnSpPr>
          <p:nvPr/>
        </p:nvCxnSpPr>
        <p:spPr>
          <a:xfrm>
            <a:off x="7299464" y="1550317"/>
            <a:ext cx="1822380" cy="8396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144578" y="1169349"/>
            <a:ext cx="62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77804" y="1559180"/>
            <a:ext cx="952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</a:t>
            </a:r>
            <a:r>
              <a:rPr lang="en-US" sz="1600" b="1" baseline="-25000" dirty="0"/>
              <a:t>0</a:t>
            </a:r>
            <a:r>
              <a:rPr lang="en-US" sz="1600" b="1" dirty="0"/>
              <a:t>=-0.1</a:t>
            </a:r>
            <a:endParaRPr lang="en-US" sz="1600" b="1" baseline="-25000" dirty="0"/>
          </a:p>
        </p:txBody>
      </p:sp>
      <p:sp>
        <p:nvSpPr>
          <p:cNvPr id="40" name="Rounded Rectangle 39"/>
          <p:cNvSpPr/>
          <p:nvPr/>
        </p:nvSpPr>
        <p:spPr>
          <a:xfrm>
            <a:off x="502951" y="338281"/>
            <a:ext cx="5515712" cy="6483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(AND) with Bias 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46" name="矩形 8"/>
          <p:cNvSpPr/>
          <p:nvPr/>
        </p:nvSpPr>
        <p:spPr>
          <a:xfrm>
            <a:off x="7492620" y="4694830"/>
            <a:ext cx="764275" cy="1860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8"/>
          <p:cNvSpPr/>
          <p:nvPr/>
        </p:nvSpPr>
        <p:spPr>
          <a:xfrm>
            <a:off x="8313765" y="4683454"/>
            <a:ext cx="764275" cy="1860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474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5" grpId="0" animBg="1"/>
      <p:bldP spid="46" grpId="0" animBg="1"/>
      <p:bldP spid="46" grpId="1" animBg="1"/>
      <p:bldP spid="4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78265" y="1459000"/>
          <a:ext cx="31760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026">
                  <a:extLst>
                    <a:ext uri="{9D8B030D-6E8A-4147-A177-3AD203B41FA5}">
                      <a16:colId xmlns:a16="http://schemas.microsoft.com/office/drawing/2014/main" val="940719695"/>
                    </a:ext>
                  </a:extLst>
                </a:gridCol>
                <a:gridCol w="763516">
                  <a:extLst>
                    <a:ext uri="{9D8B030D-6E8A-4147-A177-3AD203B41FA5}">
                      <a16:colId xmlns:a16="http://schemas.microsoft.com/office/drawing/2014/main" val="3363300399"/>
                    </a:ext>
                  </a:extLst>
                </a:gridCol>
                <a:gridCol w="1671480">
                  <a:extLst>
                    <a:ext uri="{9D8B030D-6E8A-4147-A177-3AD203B41FA5}">
                      <a16:colId xmlns:a16="http://schemas.microsoft.com/office/drawing/2014/main" val="452001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47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5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68603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039380"/>
              </p:ext>
            </p:extLst>
          </p:nvPr>
        </p:nvGraphicFramePr>
        <p:xfrm>
          <a:off x="5648116" y="4330525"/>
          <a:ext cx="34543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285">
                  <a:extLst>
                    <a:ext uri="{9D8B030D-6E8A-4147-A177-3AD203B41FA5}">
                      <a16:colId xmlns:a16="http://schemas.microsoft.com/office/drawing/2014/main" val="1310300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4122444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1527485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Step-1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8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14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32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0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Weighted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02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Observed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88182"/>
                  </a:ext>
                </a:extLst>
              </a:tr>
            </a:tbl>
          </a:graphicData>
        </a:graphic>
      </p:graphicFrame>
      <p:sp>
        <p:nvSpPr>
          <p:cNvPr id="48" name="Content Placeholder 2"/>
          <p:cNvSpPr txBox="1">
            <a:spLocks/>
          </p:cNvSpPr>
          <p:nvPr/>
        </p:nvSpPr>
        <p:spPr>
          <a:xfrm>
            <a:off x="1944913" y="4339767"/>
            <a:ext cx="2888343" cy="188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  = 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  = 1,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ɳ = 0.1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t(E) =  +1</a:t>
            </a:r>
          </a:p>
        </p:txBody>
      </p:sp>
      <p:sp>
        <p:nvSpPr>
          <p:cNvPr id="25" name="Curved Right Arrow 24"/>
          <p:cNvSpPr/>
          <p:nvPr/>
        </p:nvSpPr>
        <p:spPr>
          <a:xfrm rot="20950944">
            <a:off x="665856" y="3049669"/>
            <a:ext cx="665749" cy="208475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矩形 8"/>
          <p:cNvSpPr/>
          <p:nvPr/>
        </p:nvSpPr>
        <p:spPr>
          <a:xfrm>
            <a:off x="1191608" y="2928828"/>
            <a:ext cx="3137396" cy="382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6" name="Group 25"/>
          <p:cNvGrpSpPr/>
          <p:nvPr/>
        </p:nvGrpSpPr>
        <p:grpSpPr>
          <a:xfrm>
            <a:off x="6921850" y="2034132"/>
            <a:ext cx="4206842" cy="1232841"/>
            <a:chOff x="7284577" y="4471325"/>
            <a:chExt cx="4206842" cy="1232841"/>
          </a:xfrm>
        </p:grpSpPr>
        <p:sp>
          <p:nvSpPr>
            <p:cNvPr id="27" name="Oval 26"/>
            <p:cNvSpPr/>
            <p:nvPr/>
          </p:nvSpPr>
          <p:spPr>
            <a:xfrm>
              <a:off x="7284577" y="4471325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7317021" y="5316169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61155" y="4506173"/>
              <a:ext cx="433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 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2740" y="5328052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9418808" y="4622398"/>
              <a:ext cx="929261" cy="81233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32" name="Straight Arrow Connector 31"/>
            <p:cNvCxnSpPr>
              <a:stCxn id="27" idx="6"/>
              <a:endCxn id="31" idx="2"/>
            </p:cNvCxnSpPr>
            <p:nvPr/>
          </p:nvCxnSpPr>
          <p:spPr>
            <a:xfrm>
              <a:off x="7771400" y="4665324"/>
              <a:ext cx="1647409" cy="36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8" idx="6"/>
            </p:cNvCxnSpPr>
            <p:nvPr/>
          </p:nvCxnSpPr>
          <p:spPr>
            <a:xfrm flipV="1">
              <a:off x="7803843" y="5176504"/>
              <a:ext cx="1640776" cy="3336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1058292" y="4771434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10340136" y="4622398"/>
              <a:ext cx="790105" cy="3778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8197315" y="4526365"/>
              <a:ext cx="830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</a:t>
              </a:r>
              <a:r>
                <a:rPr lang="en-US" sz="1600" b="1" baseline="-25000" dirty="0"/>
                <a:t>1</a:t>
              </a:r>
              <a:r>
                <a:rPr lang="en-US" sz="1600" b="1" dirty="0"/>
                <a:t>=0.3</a:t>
              </a:r>
              <a:endParaRPr lang="en-US" sz="1600" b="1" baseline="-250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188323" y="5008143"/>
              <a:ext cx="8822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</a:t>
              </a:r>
              <a:r>
                <a:rPr lang="en-US" sz="1600" b="1" baseline="-25000" dirty="0"/>
                <a:t>2</a:t>
              </a:r>
              <a:r>
                <a:rPr lang="en-US" sz="1600" b="1" dirty="0"/>
                <a:t>=-0.1</a:t>
              </a:r>
              <a:endParaRPr lang="en-US" sz="1600" b="1" baseline="-2500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0315113" y="5152636"/>
              <a:ext cx="889700" cy="290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10717952" y="1722144"/>
            <a:ext cx="109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ON</a:t>
            </a:r>
            <a:endParaRPr lang="en-US" b="1" baseline="-25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815764" y="2767336"/>
            <a:ext cx="100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-1  </a:t>
            </a:r>
            <a:r>
              <a:rPr lang="en-US" b="1" dirty="0"/>
              <a:t>OFF</a:t>
            </a:r>
            <a:endParaRPr lang="en-US" b="1" baseline="-25000" dirty="0"/>
          </a:p>
        </p:txBody>
      </p:sp>
      <p:sp>
        <p:nvSpPr>
          <p:cNvPr id="42" name="TextBox 41"/>
          <p:cNvSpPr txBox="1"/>
          <p:nvPr/>
        </p:nvSpPr>
        <p:spPr>
          <a:xfrm>
            <a:off x="9136854" y="1797424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 &gt; 0</a:t>
            </a:r>
            <a:endParaRPr lang="en-US" sz="1600" b="1" baseline="-25000" dirty="0"/>
          </a:p>
        </p:txBody>
      </p:sp>
      <p:sp>
        <p:nvSpPr>
          <p:cNvPr id="43" name="TextBox 42"/>
          <p:cNvSpPr txBox="1"/>
          <p:nvPr/>
        </p:nvSpPr>
        <p:spPr>
          <a:xfrm>
            <a:off x="6618562" y="2043957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b="1" baseline="-25000" dirty="0"/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1778" y="2895216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-25000" dirty="0"/>
              <a:t> </a:t>
            </a:r>
          </a:p>
        </p:txBody>
      </p:sp>
      <p:sp>
        <p:nvSpPr>
          <p:cNvPr id="45" name="Oval 44"/>
          <p:cNvSpPr/>
          <p:nvPr/>
        </p:nvSpPr>
        <p:spPr>
          <a:xfrm>
            <a:off x="6662951" y="1145786"/>
            <a:ext cx="745721" cy="47393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</a:rPr>
              <a:t>0</a:t>
            </a:r>
            <a:r>
              <a:rPr lang="en-US" sz="1400" dirty="0">
                <a:solidFill>
                  <a:schemeClr val="tx1"/>
                </a:solidFill>
              </a:rPr>
              <a:t>=1</a:t>
            </a:r>
          </a:p>
        </p:txBody>
      </p:sp>
      <p:cxnSp>
        <p:nvCxnSpPr>
          <p:cNvPr id="52" name="Straight Arrow Connector 51"/>
          <p:cNvCxnSpPr>
            <a:stCxn id="45" idx="5"/>
          </p:cNvCxnSpPr>
          <p:nvPr/>
        </p:nvCxnSpPr>
        <p:spPr>
          <a:xfrm>
            <a:off x="7299464" y="1550317"/>
            <a:ext cx="1822380" cy="8396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144578" y="1169349"/>
            <a:ext cx="62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77804" y="1559180"/>
            <a:ext cx="952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</a:t>
            </a:r>
            <a:r>
              <a:rPr lang="en-US" sz="1600" b="1" baseline="-25000" dirty="0"/>
              <a:t>0</a:t>
            </a:r>
            <a:r>
              <a:rPr lang="en-US" sz="1600" b="1" dirty="0"/>
              <a:t>=-0.3</a:t>
            </a:r>
            <a:endParaRPr lang="en-US" sz="1600" b="1" baseline="-25000" dirty="0"/>
          </a:p>
        </p:txBody>
      </p:sp>
      <p:sp>
        <p:nvSpPr>
          <p:cNvPr id="40" name="Rounded Rectangle 39"/>
          <p:cNvSpPr/>
          <p:nvPr/>
        </p:nvSpPr>
        <p:spPr>
          <a:xfrm>
            <a:off x="502951" y="338281"/>
            <a:ext cx="5515712" cy="6483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(AND) with Bias 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46" name="矩形 8"/>
          <p:cNvSpPr/>
          <p:nvPr/>
        </p:nvSpPr>
        <p:spPr>
          <a:xfrm>
            <a:off x="7492620" y="4694830"/>
            <a:ext cx="764275" cy="1860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8"/>
          <p:cNvSpPr/>
          <p:nvPr/>
        </p:nvSpPr>
        <p:spPr>
          <a:xfrm>
            <a:off x="8313765" y="4683454"/>
            <a:ext cx="764275" cy="1860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253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5" grpId="0" animBg="1"/>
      <p:bldP spid="46" grpId="0" animBg="1"/>
      <p:bldP spid="46" grpId="1" animBg="1"/>
      <p:bldP spid="4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551195"/>
              </p:ext>
            </p:extLst>
          </p:nvPr>
        </p:nvGraphicFramePr>
        <p:xfrm>
          <a:off x="1157899" y="1862147"/>
          <a:ext cx="31760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026">
                  <a:extLst>
                    <a:ext uri="{9D8B030D-6E8A-4147-A177-3AD203B41FA5}">
                      <a16:colId xmlns:a16="http://schemas.microsoft.com/office/drawing/2014/main" val="940719695"/>
                    </a:ext>
                  </a:extLst>
                </a:gridCol>
                <a:gridCol w="763516">
                  <a:extLst>
                    <a:ext uri="{9D8B030D-6E8A-4147-A177-3AD203B41FA5}">
                      <a16:colId xmlns:a16="http://schemas.microsoft.com/office/drawing/2014/main" val="3363300399"/>
                    </a:ext>
                  </a:extLst>
                </a:gridCol>
                <a:gridCol w="1671480">
                  <a:extLst>
                    <a:ext uri="{9D8B030D-6E8A-4147-A177-3AD203B41FA5}">
                      <a16:colId xmlns:a16="http://schemas.microsoft.com/office/drawing/2014/main" val="452001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47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5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68603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380161"/>
              </p:ext>
            </p:extLst>
          </p:nvPr>
        </p:nvGraphicFramePr>
        <p:xfrm>
          <a:off x="5648116" y="4330525"/>
          <a:ext cx="26415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481">
                  <a:extLst>
                    <a:ext uri="{9D8B030D-6E8A-4147-A177-3AD203B41FA5}">
                      <a16:colId xmlns:a16="http://schemas.microsoft.com/office/drawing/2014/main" val="1310300667"/>
                    </a:ext>
                  </a:extLst>
                </a:gridCol>
                <a:gridCol w="1261118">
                  <a:extLst>
                    <a:ext uri="{9D8B030D-6E8A-4147-A177-3AD203B41FA5}">
                      <a16:colId xmlns:a16="http://schemas.microsoft.com/office/drawing/2014/main" val="152748560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8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- 0.3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14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32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06254"/>
                  </a:ext>
                </a:extLst>
              </a:tr>
            </a:tbl>
          </a:graphicData>
        </a:graphic>
      </p:graphicFrame>
      <p:sp>
        <p:nvSpPr>
          <p:cNvPr id="48" name="Content Placeholder 2"/>
          <p:cNvSpPr txBox="1">
            <a:spLocks/>
          </p:cNvSpPr>
          <p:nvPr/>
        </p:nvSpPr>
        <p:spPr>
          <a:xfrm>
            <a:off x="1944913" y="4339767"/>
            <a:ext cx="2888343" cy="188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  = 0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  = 1,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ɳ = 0.1</a:t>
            </a:r>
          </a:p>
          <a:p>
            <a:pPr marL="231775" lvl="1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t(E) </a:t>
            </a:r>
            <a:r>
              <a:rPr lang="en-US" sz="20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-1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rved Right Arrow 24"/>
          <p:cNvSpPr/>
          <p:nvPr/>
        </p:nvSpPr>
        <p:spPr>
          <a:xfrm rot="21267735">
            <a:off x="617284" y="2699172"/>
            <a:ext cx="665749" cy="244054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矩形 8"/>
          <p:cNvSpPr/>
          <p:nvPr/>
        </p:nvSpPr>
        <p:spPr>
          <a:xfrm>
            <a:off x="1165203" y="2576042"/>
            <a:ext cx="3137396" cy="382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6" name="Group 25"/>
          <p:cNvGrpSpPr/>
          <p:nvPr/>
        </p:nvGrpSpPr>
        <p:grpSpPr>
          <a:xfrm>
            <a:off x="6921850" y="2034132"/>
            <a:ext cx="4206842" cy="1232841"/>
            <a:chOff x="7284577" y="4471325"/>
            <a:chExt cx="4206842" cy="1232841"/>
          </a:xfrm>
        </p:grpSpPr>
        <p:sp>
          <p:nvSpPr>
            <p:cNvPr id="27" name="Oval 26"/>
            <p:cNvSpPr/>
            <p:nvPr/>
          </p:nvSpPr>
          <p:spPr>
            <a:xfrm>
              <a:off x="7284577" y="4471325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7317021" y="5316169"/>
              <a:ext cx="486822" cy="38799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61155" y="4506173"/>
              <a:ext cx="433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 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2740" y="5328052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9418808" y="4622398"/>
              <a:ext cx="929261" cy="81233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32" name="Straight Arrow Connector 31"/>
            <p:cNvCxnSpPr>
              <a:stCxn id="27" idx="6"/>
              <a:endCxn id="31" idx="2"/>
            </p:cNvCxnSpPr>
            <p:nvPr/>
          </p:nvCxnSpPr>
          <p:spPr>
            <a:xfrm>
              <a:off x="7771400" y="4665324"/>
              <a:ext cx="1647409" cy="36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8" idx="6"/>
            </p:cNvCxnSpPr>
            <p:nvPr/>
          </p:nvCxnSpPr>
          <p:spPr>
            <a:xfrm flipV="1">
              <a:off x="7803843" y="5176504"/>
              <a:ext cx="1640776" cy="3336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1058292" y="4771434"/>
              <a:ext cx="433127" cy="29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y-GB" b="1" dirty="0"/>
                <a:t>ŷ</a:t>
              </a:r>
              <a:endParaRPr lang="en-US" b="1" baseline="-25000" dirty="0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10340136" y="4622398"/>
              <a:ext cx="790105" cy="3778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8155879" y="4526365"/>
              <a:ext cx="8714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</a:t>
              </a:r>
              <a:r>
                <a:rPr lang="en-US" sz="1600" b="1" baseline="-25000" dirty="0"/>
                <a:t>1</a:t>
              </a:r>
              <a:r>
                <a:rPr lang="en-US" sz="1600" b="1" dirty="0"/>
                <a:t>= 0.3</a:t>
              </a:r>
              <a:endParaRPr lang="en-US" sz="1600" b="1" baseline="-250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188323" y="5008143"/>
              <a:ext cx="8822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</a:t>
              </a:r>
              <a:r>
                <a:rPr lang="en-US" sz="1600" b="1" baseline="-25000" dirty="0"/>
                <a:t>2</a:t>
              </a:r>
              <a:r>
                <a:rPr lang="en-US" sz="1600" b="1" dirty="0"/>
                <a:t>= 0.1</a:t>
              </a:r>
              <a:endParaRPr lang="en-US" sz="1600" b="1" baseline="-2500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0315113" y="5152636"/>
              <a:ext cx="889700" cy="290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10717952" y="1722144"/>
            <a:ext cx="109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    ON</a:t>
            </a:r>
            <a:endParaRPr lang="en-US" b="1" baseline="-25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815764" y="2767336"/>
            <a:ext cx="100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-1  </a:t>
            </a:r>
            <a:r>
              <a:rPr lang="en-US" b="1" dirty="0"/>
              <a:t>OFF</a:t>
            </a:r>
            <a:endParaRPr lang="en-US" b="1" baseline="-25000" dirty="0"/>
          </a:p>
        </p:txBody>
      </p:sp>
      <p:sp>
        <p:nvSpPr>
          <p:cNvPr id="42" name="TextBox 41"/>
          <p:cNvSpPr txBox="1"/>
          <p:nvPr/>
        </p:nvSpPr>
        <p:spPr>
          <a:xfrm>
            <a:off x="9136854" y="1797424"/>
            <a:ext cx="95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S &gt; 0</a:t>
            </a:r>
            <a:endParaRPr lang="en-US" sz="1600" b="1" baseline="-25000" dirty="0"/>
          </a:p>
        </p:txBody>
      </p:sp>
      <p:sp>
        <p:nvSpPr>
          <p:cNvPr id="43" name="TextBox 42"/>
          <p:cNvSpPr txBox="1"/>
          <p:nvPr/>
        </p:nvSpPr>
        <p:spPr>
          <a:xfrm>
            <a:off x="6618562" y="2043957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b="1" baseline="-25000" dirty="0"/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1778" y="2895216"/>
            <a:ext cx="43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-25000" dirty="0"/>
              <a:t> </a:t>
            </a:r>
          </a:p>
        </p:txBody>
      </p:sp>
      <p:sp>
        <p:nvSpPr>
          <p:cNvPr id="45" name="Oval 44"/>
          <p:cNvSpPr/>
          <p:nvPr/>
        </p:nvSpPr>
        <p:spPr>
          <a:xfrm>
            <a:off x="6662951" y="1145786"/>
            <a:ext cx="745721" cy="47393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</a:rPr>
              <a:t>0</a:t>
            </a:r>
            <a:r>
              <a:rPr lang="en-US" sz="1400" dirty="0">
                <a:solidFill>
                  <a:schemeClr val="tx1"/>
                </a:solidFill>
              </a:rPr>
              <a:t>=1</a:t>
            </a:r>
          </a:p>
        </p:txBody>
      </p:sp>
      <p:cxnSp>
        <p:nvCxnSpPr>
          <p:cNvPr id="52" name="Straight Arrow Connector 51"/>
          <p:cNvCxnSpPr>
            <a:stCxn id="45" idx="5"/>
          </p:cNvCxnSpPr>
          <p:nvPr/>
        </p:nvCxnSpPr>
        <p:spPr>
          <a:xfrm>
            <a:off x="7299464" y="1550317"/>
            <a:ext cx="1822380" cy="8396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144578" y="1169349"/>
            <a:ext cx="62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77804" y="1559180"/>
            <a:ext cx="952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</a:t>
            </a:r>
            <a:r>
              <a:rPr lang="en-US" sz="1600" b="1" baseline="-25000" dirty="0"/>
              <a:t>0</a:t>
            </a:r>
            <a:r>
              <a:rPr lang="en-US" sz="1600" b="1" dirty="0"/>
              <a:t>= - 0.3</a:t>
            </a:r>
            <a:endParaRPr lang="en-US" sz="1600" b="1" baseline="-25000" dirty="0"/>
          </a:p>
        </p:txBody>
      </p:sp>
      <p:sp>
        <p:nvSpPr>
          <p:cNvPr id="3" name="TextBox 2"/>
          <p:cNvSpPr txBox="1"/>
          <p:nvPr/>
        </p:nvSpPr>
        <p:spPr>
          <a:xfrm>
            <a:off x="1157898" y="1320534"/>
            <a:ext cx="32735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After 2 Epochs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0236" y="3737635"/>
            <a:ext cx="3084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Final Weights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51" y="338281"/>
            <a:ext cx="5515712" cy="64835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(AND) with Bias 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47" name="矩形 8"/>
          <p:cNvSpPr/>
          <p:nvPr/>
        </p:nvSpPr>
        <p:spPr>
          <a:xfrm>
            <a:off x="7010745" y="4694830"/>
            <a:ext cx="1251674" cy="11190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811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5" grpId="0" animBg="1"/>
      <p:bldP spid="4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878" y="1825625"/>
            <a:ext cx="8079474" cy="359253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0" lvl="1" indent="0">
              <a:buNone/>
            </a:pPr>
            <a:r>
              <a:rPr lang="en-US" sz="2800" dirty="0"/>
              <a:t> </a:t>
            </a:r>
          </a:p>
          <a:p>
            <a:pPr marL="228600" lvl="1"/>
            <a:endParaRPr lang="en-US"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937291" y="497938"/>
            <a:ext cx="5956996" cy="9516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in Perceptron</a:t>
            </a:r>
            <a:endParaRPr lang="en-US" sz="3800" dirty="0">
              <a:solidFill>
                <a:schemeClr val="tx1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754742" y="1951847"/>
            <a:ext cx="10462850" cy="458564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Need To Learn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Both the </a:t>
            </a:r>
            <a:r>
              <a:rPr lang="en-US" sz="2800" b="1" dirty="0">
                <a:solidFill>
                  <a:schemeClr val="accent4"/>
                </a:solidFill>
              </a:rPr>
              <a:t>weights</a:t>
            </a:r>
            <a:r>
              <a:rPr lang="en-US" sz="2800" dirty="0">
                <a:solidFill>
                  <a:schemeClr val="bg1"/>
                </a:solidFill>
              </a:rPr>
              <a:t> between input and output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And the value for the </a:t>
            </a:r>
            <a:r>
              <a:rPr lang="en-US" sz="2800" b="1" dirty="0">
                <a:solidFill>
                  <a:schemeClr val="accent4"/>
                </a:solidFill>
              </a:rPr>
              <a:t>threshold</a:t>
            </a:r>
          </a:p>
          <a:p>
            <a:pPr lvl="1"/>
            <a:endParaRPr lang="en-US" sz="2800" dirty="0">
              <a:solidFill>
                <a:schemeClr val="bg1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Make Calculations easier by: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Thinking of the threshold as a weight from a special input unit where the output from the unit is always 1</a:t>
            </a:r>
          </a:p>
          <a:p>
            <a:pPr marL="457200" lvl="2"/>
            <a:endParaRPr lang="en-US" sz="2800" dirty="0">
              <a:solidFill>
                <a:schemeClr val="bg1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 Exactly the same result: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But we only have to worry about learning weights </a:t>
            </a:r>
          </a:p>
          <a:p>
            <a:endParaRPr lang="en-US" dirty="0"/>
          </a:p>
        </p:txBody>
      </p:sp>
      <p:sp>
        <p:nvSpPr>
          <p:cNvPr id="6" name="Cloud 5"/>
          <p:cNvSpPr/>
          <p:nvPr/>
        </p:nvSpPr>
        <p:spPr>
          <a:xfrm>
            <a:off x="314984" y="1666570"/>
            <a:ext cx="972457" cy="83048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279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878" y="1825625"/>
            <a:ext cx="8079474" cy="359253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0" lvl="1" indent="0">
              <a:buNone/>
            </a:pPr>
            <a:r>
              <a:rPr lang="en-US" sz="2800" dirty="0"/>
              <a:t> </a:t>
            </a:r>
          </a:p>
          <a:p>
            <a:pPr marL="228600" lvl="1"/>
            <a:endParaRPr lang="en-US"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937291" y="497938"/>
            <a:ext cx="6077658" cy="74400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 of Perceptron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39502" y="1636828"/>
            <a:ext cx="8745940" cy="1120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Cannot learn some simple Boolean functions</a:t>
            </a:r>
          </a:p>
          <a:p>
            <a:r>
              <a:rPr lang="en-US" b="1" dirty="0"/>
              <a:t>Can only learn linearly separable Boolean functions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51" y="3982485"/>
            <a:ext cx="8850400" cy="24370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228" y="2721563"/>
            <a:ext cx="4082983" cy="126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99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451398" y="1948275"/>
            <a:ext cx="6881287" cy="275435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637953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9899</TotalTime>
  <Words>2819</Words>
  <Application>Microsoft Office PowerPoint</Application>
  <PresentationFormat>Widescreen</PresentationFormat>
  <Paragraphs>790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Calibri Light</vt:lpstr>
      <vt:lpstr>Open Sans Semibold</vt:lpstr>
      <vt:lpstr>Raleway</vt:lpstr>
      <vt:lpstr>Raleway SemiBold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General Architecture - Artificial Neural Networks</vt:lpstr>
      <vt:lpstr>General Architecture - Artificial Neural Networks (Cont.) </vt:lpstr>
      <vt:lpstr>Number of Units at each Layer (Cont.) </vt:lpstr>
      <vt:lpstr>SoftMax Layer - ANN</vt:lpstr>
      <vt:lpstr>SoftMax Layer – ANN (Cont.) </vt:lpstr>
      <vt:lpstr>Mathematical Functions – ANNs</vt:lpstr>
      <vt:lpstr>Fully Connected ANN vs Partially Connected ANN</vt:lpstr>
      <vt:lpstr>Example – Fully Connected ANN</vt:lpstr>
      <vt:lpstr>Example – Partially Connected ANN</vt:lpstr>
      <vt:lpstr>Feed Forward Network</vt:lpstr>
      <vt:lpstr>Weights – ANN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Data (Cont.)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Neural Network</dc:title>
  <dc:creator>Naheed</dc:creator>
  <cp:lastModifiedBy>Waqar Ashiq</cp:lastModifiedBy>
  <cp:revision>143</cp:revision>
  <dcterms:created xsi:type="dcterms:W3CDTF">2020-01-19T09:41:10Z</dcterms:created>
  <dcterms:modified xsi:type="dcterms:W3CDTF">2025-11-19T08:59:09Z</dcterms:modified>
</cp:coreProperties>
</file>