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11" r:id="rId10"/>
    <p:sldId id="316" r:id="rId11"/>
    <p:sldId id="264" r:id="rId12"/>
    <p:sldId id="315" r:id="rId13"/>
    <p:sldId id="265" r:id="rId14"/>
    <p:sldId id="317" r:id="rId15"/>
    <p:sldId id="266" r:id="rId16"/>
    <p:sldId id="268" r:id="rId17"/>
    <p:sldId id="269" r:id="rId18"/>
    <p:sldId id="270" r:id="rId19"/>
    <p:sldId id="276" r:id="rId20"/>
    <p:sldId id="319" r:id="rId21"/>
    <p:sldId id="318" r:id="rId22"/>
    <p:sldId id="278" r:id="rId23"/>
    <p:sldId id="279" r:id="rId24"/>
    <p:sldId id="280" r:id="rId25"/>
    <p:sldId id="281" r:id="rId26"/>
    <p:sldId id="320" r:id="rId27"/>
    <p:sldId id="321" r:id="rId28"/>
    <p:sldId id="322" r:id="rId29"/>
    <p:sldId id="324" r:id="rId30"/>
    <p:sldId id="325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976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F7B666-FF2F-4447-A58F-04E6E3409BA9}" type="datetimeFigureOut">
              <a:rPr lang="en-PK" smtClean="0"/>
              <a:t>12/01/2026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800D12-0D71-43F7-864C-678D5DBBC42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89859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00D12-0D71-43F7-864C-678D5DBBC42A}" type="slidenum">
              <a:rPr lang="en-PK" smtClean="0"/>
              <a:t>16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87366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63397" y="164718"/>
            <a:ext cx="5807075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230111"/>
            <a:ext cx="12187555" cy="628015"/>
          </a:xfrm>
          <a:custGeom>
            <a:avLst/>
            <a:gdLst/>
            <a:ahLst/>
            <a:cxnLst/>
            <a:rect l="l" t="t" r="r" b="b"/>
            <a:pathLst>
              <a:path w="12187555" h="628015">
                <a:moveTo>
                  <a:pt x="12187428" y="627888"/>
                </a:moveTo>
                <a:lnTo>
                  <a:pt x="12187428" y="0"/>
                </a:lnTo>
                <a:lnTo>
                  <a:pt x="0" y="0"/>
                </a:lnTo>
                <a:lnTo>
                  <a:pt x="0" y="627888"/>
                </a:lnTo>
                <a:lnTo>
                  <a:pt x="12187428" y="627888"/>
                </a:lnTo>
                <a:close/>
              </a:path>
            </a:pathLst>
          </a:custGeom>
          <a:solidFill>
            <a:srgbClr val="718F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3397" y="164718"/>
            <a:ext cx="6585584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227581"/>
            <a:ext cx="10908030" cy="4330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97589" y="6440373"/>
            <a:ext cx="28257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7.png"/><Relationship Id="rId21" Type="http://schemas.openxmlformats.org/officeDocument/2006/relationships/image" Target="../media/image62.png"/><Relationship Id="rId42" Type="http://schemas.openxmlformats.org/officeDocument/2006/relationships/image" Target="../media/image83.png"/><Relationship Id="rId47" Type="http://schemas.openxmlformats.org/officeDocument/2006/relationships/image" Target="../media/image88.png"/><Relationship Id="rId63" Type="http://schemas.openxmlformats.org/officeDocument/2006/relationships/image" Target="../media/image104.png"/><Relationship Id="rId68" Type="http://schemas.openxmlformats.org/officeDocument/2006/relationships/image" Target="../media/image108.png"/><Relationship Id="rId84" Type="http://schemas.openxmlformats.org/officeDocument/2006/relationships/image" Target="../media/image124.png"/><Relationship Id="rId16" Type="http://schemas.openxmlformats.org/officeDocument/2006/relationships/image" Target="../media/image57.png"/><Relationship Id="rId11" Type="http://schemas.openxmlformats.org/officeDocument/2006/relationships/image" Target="../media/image7.png"/><Relationship Id="rId32" Type="http://schemas.openxmlformats.org/officeDocument/2006/relationships/image" Target="../media/image73.png"/><Relationship Id="rId37" Type="http://schemas.openxmlformats.org/officeDocument/2006/relationships/image" Target="../media/image78.png"/><Relationship Id="rId53" Type="http://schemas.openxmlformats.org/officeDocument/2006/relationships/image" Target="../media/image94.png"/><Relationship Id="rId58" Type="http://schemas.openxmlformats.org/officeDocument/2006/relationships/image" Target="../media/image99.png"/><Relationship Id="rId74" Type="http://schemas.openxmlformats.org/officeDocument/2006/relationships/image" Target="../media/image114.png"/><Relationship Id="rId79" Type="http://schemas.openxmlformats.org/officeDocument/2006/relationships/image" Target="../media/image119.png"/><Relationship Id="rId5" Type="http://schemas.openxmlformats.org/officeDocument/2006/relationships/image" Target="../media/image47.png"/><Relationship Id="rId19" Type="http://schemas.openxmlformats.org/officeDocument/2006/relationships/image" Target="../media/image60.png"/><Relationship Id="rId14" Type="http://schemas.openxmlformats.org/officeDocument/2006/relationships/image" Target="../media/image55.png"/><Relationship Id="rId22" Type="http://schemas.openxmlformats.org/officeDocument/2006/relationships/image" Target="../media/image63.png"/><Relationship Id="rId27" Type="http://schemas.openxmlformats.org/officeDocument/2006/relationships/image" Target="../media/image68.png"/><Relationship Id="rId30" Type="http://schemas.openxmlformats.org/officeDocument/2006/relationships/image" Target="../media/image71.png"/><Relationship Id="rId35" Type="http://schemas.openxmlformats.org/officeDocument/2006/relationships/image" Target="../media/image76.png"/><Relationship Id="rId43" Type="http://schemas.openxmlformats.org/officeDocument/2006/relationships/image" Target="../media/image84.png"/><Relationship Id="rId48" Type="http://schemas.openxmlformats.org/officeDocument/2006/relationships/image" Target="../media/image89.png"/><Relationship Id="rId56" Type="http://schemas.openxmlformats.org/officeDocument/2006/relationships/image" Target="../media/image97.png"/><Relationship Id="rId64" Type="http://schemas.openxmlformats.org/officeDocument/2006/relationships/image" Target="../media/image15.png"/><Relationship Id="rId69" Type="http://schemas.openxmlformats.org/officeDocument/2006/relationships/image" Target="../media/image109.png"/><Relationship Id="rId77" Type="http://schemas.openxmlformats.org/officeDocument/2006/relationships/image" Target="../media/image117.png"/><Relationship Id="rId8" Type="http://schemas.openxmlformats.org/officeDocument/2006/relationships/image" Target="../media/image50.png"/><Relationship Id="rId51" Type="http://schemas.openxmlformats.org/officeDocument/2006/relationships/image" Target="../media/image92.png"/><Relationship Id="rId72" Type="http://schemas.openxmlformats.org/officeDocument/2006/relationships/image" Target="../media/image112.png"/><Relationship Id="rId80" Type="http://schemas.openxmlformats.org/officeDocument/2006/relationships/image" Target="../media/image120.png"/><Relationship Id="rId85" Type="http://schemas.openxmlformats.org/officeDocument/2006/relationships/image" Target="../media/image125.png"/><Relationship Id="rId3" Type="http://schemas.openxmlformats.org/officeDocument/2006/relationships/image" Target="../media/image46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5" Type="http://schemas.openxmlformats.org/officeDocument/2006/relationships/image" Target="../media/image66.png"/><Relationship Id="rId33" Type="http://schemas.openxmlformats.org/officeDocument/2006/relationships/image" Target="../media/image74.png"/><Relationship Id="rId38" Type="http://schemas.openxmlformats.org/officeDocument/2006/relationships/image" Target="../media/image79.png"/><Relationship Id="rId46" Type="http://schemas.openxmlformats.org/officeDocument/2006/relationships/image" Target="../media/image87.png"/><Relationship Id="rId59" Type="http://schemas.openxmlformats.org/officeDocument/2006/relationships/image" Target="../media/image100.png"/><Relationship Id="rId67" Type="http://schemas.openxmlformats.org/officeDocument/2006/relationships/image" Target="../media/image107.png"/><Relationship Id="rId20" Type="http://schemas.openxmlformats.org/officeDocument/2006/relationships/image" Target="../media/image61.png"/><Relationship Id="rId41" Type="http://schemas.openxmlformats.org/officeDocument/2006/relationships/image" Target="../media/image82.png"/><Relationship Id="rId54" Type="http://schemas.openxmlformats.org/officeDocument/2006/relationships/image" Target="../media/image95.png"/><Relationship Id="rId62" Type="http://schemas.openxmlformats.org/officeDocument/2006/relationships/image" Target="../media/image103.png"/><Relationship Id="rId70" Type="http://schemas.openxmlformats.org/officeDocument/2006/relationships/image" Target="../media/image110.png"/><Relationship Id="rId75" Type="http://schemas.openxmlformats.org/officeDocument/2006/relationships/image" Target="../media/image115.png"/><Relationship Id="rId83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5" Type="http://schemas.openxmlformats.org/officeDocument/2006/relationships/image" Target="../media/image56.png"/><Relationship Id="rId23" Type="http://schemas.openxmlformats.org/officeDocument/2006/relationships/image" Target="../media/image64.png"/><Relationship Id="rId28" Type="http://schemas.openxmlformats.org/officeDocument/2006/relationships/image" Target="../media/image69.png"/><Relationship Id="rId36" Type="http://schemas.openxmlformats.org/officeDocument/2006/relationships/image" Target="../media/image77.png"/><Relationship Id="rId49" Type="http://schemas.openxmlformats.org/officeDocument/2006/relationships/image" Target="../media/image90.png"/><Relationship Id="rId57" Type="http://schemas.openxmlformats.org/officeDocument/2006/relationships/image" Target="../media/image98.png"/><Relationship Id="rId10" Type="http://schemas.openxmlformats.org/officeDocument/2006/relationships/image" Target="../media/image52.png"/><Relationship Id="rId31" Type="http://schemas.openxmlformats.org/officeDocument/2006/relationships/image" Target="../media/image72.png"/><Relationship Id="rId44" Type="http://schemas.openxmlformats.org/officeDocument/2006/relationships/image" Target="../media/image85.png"/><Relationship Id="rId52" Type="http://schemas.openxmlformats.org/officeDocument/2006/relationships/image" Target="../media/image93.png"/><Relationship Id="rId60" Type="http://schemas.openxmlformats.org/officeDocument/2006/relationships/image" Target="../media/image101.png"/><Relationship Id="rId65" Type="http://schemas.openxmlformats.org/officeDocument/2006/relationships/image" Target="../media/image105.png"/><Relationship Id="rId73" Type="http://schemas.openxmlformats.org/officeDocument/2006/relationships/image" Target="../media/image113.png"/><Relationship Id="rId78" Type="http://schemas.openxmlformats.org/officeDocument/2006/relationships/image" Target="../media/image118.png"/><Relationship Id="rId81" Type="http://schemas.openxmlformats.org/officeDocument/2006/relationships/image" Target="../media/image121.png"/><Relationship Id="rId86" Type="http://schemas.openxmlformats.org/officeDocument/2006/relationships/image" Target="../media/image126.png"/><Relationship Id="rId4" Type="http://schemas.openxmlformats.org/officeDocument/2006/relationships/image" Target="../media/image2.png"/><Relationship Id="rId9" Type="http://schemas.openxmlformats.org/officeDocument/2006/relationships/image" Target="../media/image51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39" Type="http://schemas.openxmlformats.org/officeDocument/2006/relationships/image" Target="../media/image80.png"/><Relationship Id="rId34" Type="http://schemas.openxmlformats.org/officeDocument/2006/relationships/image" Target="../media/image75.png"/><Relationship Id="rId50" Type="http://schemas.openxmlformats.org/officeDocument/2006/relationships/image" Target="../media/image91.png"/><Relationship Id="rId55" Type="http://schemas.openxmlformats.org/officeDocument/2006/relationships/image" Target="../media/image96.png"/><Relationship Id="rId76" Type="http://schemas.openxmlformats.org/officeDocument/2006/relationships/image" Target="../media/image116.png"/><Relationship Id="rId7" Type="http://schemas.openxmlformats.org/officeDocument/2006/relationships/image" Target="../media/image49.png"/><Relationship Id="rId71" Type="http://schemas.openxmlformats.org/officeDocument/2006/relationships/image" Target="../media/image111.png"/><Relationship Id="rId2" Type="http://schemas.openxmlformats.org/officeDocument/2006/relationships/image" Target="../media/image45.png"/><Relationship Id="rId29" Type="http://schemas.openxmlformats.org/officeDocument/2006/relationships/image" Target="../media/image70.png"/><Relationship Id="rId24" Type="http://schemas.openxmlformats.org/officeDocument/2006/relationships/image" Target="../media/image65.png"/><Relationship Id="rId40" Type="http://schemas.openxmlformats.org/officeDocument/2006/relationships/image" Target="../media/image81.png"/><Relationship Id="rId45" Type="http://schemas.openxmlformats.org/officeDocument/2006/relationships/image" Target="../media/image86.png"/><Relationship Id="rId66" Type="http://schemas.openxmlformats.org/officeDocument/2006/relationships/image" Target="../media/image106.png"/><Relationship Id="rId87" Type="http://schemas.openxmlformats.org/officeDocument/2006/relationships/image" Target="../media/image127.png"/><Relationship Id="rId61" Type="http://schemas.openxmlformats.org/officeDocument/2006/relationships/image" Target="../media/image102.png"/><Relationship Id="rId82" Type="http://schemas.openxmlformats.org/officeDocument/2006/relationships/image" Target="../media/image1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11" Type="http://schemas.openxmlformats.org/officeDocument/2006/relationships/image" Target="../media/image142.png"/><Relationship Id="rId5" Type="http://schemas.openxmlformats.org/officeDocument/2006/relationships/image" Target="../media/image136.png"/><Relationship Id="rId10" Type="http://schemas.openxmlformats.org/officeDocument/2006/relationships/image" Target="../media/image141.png"/><Relationship Id="rId4" Type="http://schemas.openxmlformats.org/officeDocument/2006/relationships/image" Target="../media/image135.jpg"/><Relationship Id="rId9" Type="http://schemas.openxmlformats.org/officeDocument/2006/relationships/image" Target="../media/image1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jpg"/><Relationship Id="rId2" Type="http://schemas.openxmlformats.org/officeDocument/2006/relationships/image" Target="../media/image14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jpg"/><Relationship Id="rId3" Type="http://schemas.openxmlformats.org/officeDocument/2006/relationships/image" Target="../media/image145.png"/><Relationship Id="rId7" Type="http://schemas.openxmlformats.org/officeDocument/2006/relationships/image" Target="../media/image149.png"/><Relationship Id="rId2" Type="http://schemas.openxmlformats.org/officeDocument/2006/relationships/image" Target="../media/image14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png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jpg"/><Relationship Id="rId3" Type="http://schemas.openxmlformats.org/officeDocument/2006/relationships/image" Target="../media/image145.png"/><Relationship Id="rId7" Type="http://schemas.openxmlformats.org/officeDocument/2006/relationships/image" Target="../media/image149.png"/><Relationship Id="rId2" Type="http://schemas.openxmlformats.org/officeDocument/2006/relationships/image" Target="../media/image14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png"/><Relationship Id="rId5" Type="http://schemas.openxmlformats.org/officeDocument/2006/relationships/image" Target="../media/image147.png"/><Relationship Id="rId10" Type="http://schemas.openxmlformats.org/officeDocument/2006/relationships/image" Target="../media/image153.png"/><Relationship Id="rId4" Type="http://schemas.openxmlformats.org/officeDocument/2006/relationships/image" Target="../media/image146.png"/><Relationship Id="rId9" Type="http://schemas.openxmlformats.org/officeDocument/2006/relationships/image" Target="../media/image15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13" Type="http://schemas.openxmlformats.org/officeDocument/2006/relationships/image" Target="../media/image157.jpg"/><Relationship Id="rId3" Type="http://schemas.openxmlformats.org/officeDocument/2006/relationships/image" Target="../media/image145.png"/><Relationship Id="rId7" Type="http://schemas.openxmlformats.org/officeDocument/2006/relationships/image" Target="../media/image149.png"/><Relationship Id="rId12" Type="http://schemas.openxmlformats.org/officeDocument/2006/relationships/image" Target="../media/image156.png"/><Relationship Id="rId2" Type="http://schemas.openxmlformats.org/officeDocument/2006/relationships/image" Target="../media/image14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png"/><Relationship Id="rId11" Type="http://schemas.openxmlformats.org/officeDocument/2006/relationships/image" Target="../media/image155.png"/><Relationship Id="rId5" Type="http://schemas.openxmlformats.org/officeDocument/2006/relationships/image" Target="../media/image147.png"/><Relationship Id="rId10" Type="http://schemas.openxmlformats.org/officeDocument/2006/relationships/image" Target="../media/image154.png"/><Relationship Id="rId4" Type="http://schemas.openxmlformats.org/officeDocument/2006/relationships/image" Target="../media/image146.png"/><Relationship Id="rId9" Type="http://schemas.openxmlformats.org/officeDocument/2006/relationships/image" Target="../media/image15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13" Type="http://schemas.openxmlformats.org/officeDocument/2006/relationships/image" Target="../media/image156.png"/><Relationship Id="rId3" Type="http://schemas.openxmlformats.org/officeDocument/2006/relationships/image" Target="../media/image158.png"/><Relationship Id="rId7" Type="http://schemas.openxmlformats.org/officeDocument/2006/relationships/image" Target="../media/image148.png"/><Relationship Id="rId12" Type="http://schemas.openxmlformats.org/officeDocument/2006/relationships/image" Target="../media/image155.png"/><Relationship Id="rId2" Type="http://schemas.openxmlformats.org/officeDocument/2006/relationships/image" Target="../media/image14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7.png"/><Relationship Id="rId11" Type="http://schemas.openxmlformats.org/officeDocument/2006/relationships/image" Target="../media/image154.png"/><Relationship Id="rId5" Type="http://schemas.openxmlformats.org/officeDocument/2006/relationships/image" Target="../media/image146.png"/><Relationship Id="rId10" Type="http://schemas.openxmlformats.org/officeDocument/2006/relationships/image" Target="../media/image153.png"/><Relationship Id="rId4" Type="http://schemas.openxmlformats.org/officeDocument/2006/relationships/image" Target="../media/image145.png"/><Relationship Id="rId9" Type="http://schemas.openxmlformats.org/officeDocument/2006/relationships/image" Target="../media/image15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13" Type="http://schemas.openxmlformats.org/officeDocument/2006/relationships/image" Target="../media/image156.png"/><Relationship Id="rId3" Type="http://schemas.openxmlformats.org/officeDocument/2006/relationships/image" Target="../media/image159.png"/><Relationship Id="rId7" Type="http://schemas.openxmlformats.org/officeDocument/2006/relationships/image" Target="../media/image148.png"/><Relationship Id="rId12" Type="http://schemas.openxmlformats.org/officeDocument/2006/relationships/image" Target="../media/image155.png"/><Relationship Id="rId2" Type="http://schemas.openxmlformats.org/officeDocument/2006/relationships/image" Target="../media/image14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7.png"/><Relationship Id="rId11" Type="http://schemas.openxmlformats.org/officeDocument/2006/relationships/image" Target="../media/image154.png"/><Relationship Id="rId5" Type="http://schemas.openxmlformats.org/officeDocument/2006/relationships/image" Target="../media/image146.png"/><Relationship Id="rId10" Type="http://schemas.openxmlformats.org/officeDocument/2006/relationships/image" Target="../media/image153.png"/><Relationship Id="rId4" Type="http://schemas.openxmlformats.org/officeDocument/2006/relationships/image" Target="../media/image145.png"/><Relationship Id="rId9" Type="http://schemas.openxmlformats.org/officeDocument/2006/relationships/image" Target="../media/image15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13" Type="http://schemas.openxmlformats.org/officeDocument/2006/relationships/image" Target="../media/image156.png"/><Relationship Id="rId3" Type="http://schemas.openxmlformats.org/officeDocument/2006/relationships/image" Target="../media/image160.png"/><Relationship Id="rId7" Type="http://schemas.openxmlformats.org/officeDocument/2006/relationships/image" Target="../media/image148.png"/><Relationship Id="rId12" Type="http://schemas.openxmlformats.org/officeDocument/2006/relationships/image" Target="../media/image155.png"/><Relationship Id="rId2" Type="http://schemas.openxmlformats.org/officeDocument/2006/relationships/image" Target="../media/image14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7.png"/><Relationship Id="rId11" Type="http://schemas.openxmlformats.org/officeDocument/2006/relationships/image" Target="../media/image154.png"/><Relationship Id="rId5" Type="http://schemas.openxmlformats.org/officeDocument/2006/relationships/image" Target="../media/image146.png"/><Relationship Id="rId10" Type="http://schemas.openxmlformats.org/officeDocument/2006/relationships/image" Target="../media/image153.png"/><Relationship Id="rId4" Type="http://schemas.openxmlformats.org/officeDocument/2006/relationships/image" Target="../media/image145.png"/><Relationship Id="rId9" Type="http://schemas.openxmlformats.org/officeDocument/2006/relationships/image" Target="../media/image15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13" Type="http://schemas.openxmlformats.org/officeDocument/2006/relationships/image" Target="../media/image156.png"/><Relationship Id="rId3" Type="http://schemas.openxmlformats.org/officeDocument/2006/relationships/image" Target="../media/image161.png"/><Relationship Id="rId7" Type="http://schemas.openxmlformats.org/officeDocument/2006/relationships/image" Target="../media/image148.png"/><Relationship Id="rId12" Type="http://schemas.openxmlformats.org/officeDocument/2006/relationships/image" Target="../media/image155.png"/><Relationship Id="rId2" Type="http://schemas.openxmlformats.org/officeDocument/2006/relationships/image" Target="../media/image14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7.png"/><Relationship Id="rId11" Type="http://schemas.openxmlformats.org/officeDocument/2006/relationships/image" Target="../media/image154.png"/><Relationship Id="rId5" Type="http://schemas.openxmlformats.org/officeDocument/2006/relationships/image" Target="../media/image146.png"/><Relationship Id="rId10" Type="http://schemas.openxmlformats.org/officeDocument/2006/relationships/image" Target="../media/image153.png"/><Relationship Id="rId4" Type="http://schemas.openxmlformats.org/officeDocument/2006/relationships/image" Target="../media/image145.png"/><Relationship Id="rId9" Type="http://schemas.openxmlformats.org/officeDocument/2006/relationships/image" Target="../media/image15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13" Type="http://schemas.openxmlformats.org/officeDocument/2006/relationships/image" Target="../media/image156.png"/><Relationship Id="rId3" Type="http://schemas.openxmlformats.org/officeDocument/2006/relationships/image" Target="../media/image162.png"/><Relationship Id="rId7" Type="http://schemas.openxmlformats.org/officeDocument/2006/relationships/image" Target="../media/image148.png"/><Relationship Id="rId12" Type="http://schemas.openxmlformats.org/officeDocument/2006/relationships/image" Target="../media/image155.png"/><Relationship Id="rId2" Type="http://schemas.openxmlformats.org/officeDocument/2006/relationships/image" Target="../media/image14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7.png"/><Relationship Id="rId11" Type="http://schemas.openxmlformats.org/officeDocument/2006/relationships/image" Target="../media/image154.png"/><Relationship Id="rId5" Type="http://schemas.openxmlformats.org/officeDocument/2006/relationships/image" Target="../media/image146.png"/><Relationship Id="rId10" Type="http://schemas.openxmlformats.org/officeDocument/2006/relationships/image" Target="../media/image153.png"/><Relationship Id="rId4" Type="http://schemas.openxmlformats.org/officeDocument/2006/relationships/image" Target="../media/image145.png"/><Relationship Id="rId9" Type="http://schemas.openxmlformats.org/officeDocument/2006/relationships/image" Target="../media/image15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5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7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7" Type="http://schemas.openxmlformats.org/officeDocument/2006/relationships/image" Target="../media/image173.png"/><Relationship Id="rId2" Type="http://schemas.openxmlformats.org/officeDocument/2006/relationships/image" Target="../media/image16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2.png"/><Relationship Id="rId5" Type="http://schemas.openxmlformats.org/officeDocument/2006/relationships/image" Target="../media/image171.png"/><Relationship Id="rId4" Type="http://schemas.openxmlformats.org/officeDocument/2006/relationships/image" Target="../media/image17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7" Type="http://schemas.openxmlformats.org/officeDocument/2006/relationships/image" Target="../media/image173.png"/><Relationship Id="rId2" Type="http://schemas.openxmlformats.org/officeDocument/2006/relationships/image" Target="../media/image17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2.png"/><Relationship Id="rId5" Type="http://schemas.openxmlformats.org/officeDocument/2006/relationships/image" Target="../media/image171.png"/><Relationship Id="rId4" Type="http://schemas.openxmlformats.org/officeDocument/2006/relationships/image" Target="../media/image17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jp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8.jp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7048" y="468398"/>
            <a:ext cx="1820551" cy="101021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1834895"/>
            <a:ext cx="12192000" cy="5023485"/>
            <a:chOff x="0" y="1834895"/>
            <a:chExt cx="12192000" cy="5023485"/>
          </a:xfrm>
        </p:grpSpPr>
        <p:sp>
          <p:nvSpPr>
            <p:cNvPr id="4" name="object 4"/>
            <p:cNvSpPr/>
            <p:nvPr/>
          </p:nvSpPr>
          <p:spPr>
            <a:xfrm>
              <a:off x="0" y="1834895"/>
              <a:ext cx="12192000" cy="5023485"/>
            </a:xfrm>
            <a:custGeom>
              <a:avLst/>
              <a:gdLst/>
              <a:ahLst/>
              <a:cxnLst/>
              <a:rect l="l" t="t" r="r" b="b"/>
              <a:pathLst>
                <a:path w="12192000" h="5023484">
                  <a:moveTo>
                    <a:pt x="12192000" y="0"/>
                  </a:moveTo>
                  <a:lnTo>
                    <a:pt x="0" y="0"/>
                  </a:lnTo>
                  <a:lnTo>
                    <a:pt x="0" y="5023104"/>
                  </a:lnTo>
                  <a:lnTo>
                    <a:pt x="12192000" y="502310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1A41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815" y="1834895"/>
              <a:ext cx="12049125" cy="180340"/>
            </a:xfrm>
            <a:custGeom>
              <a:avLst/>
              <a:gdLst/>
              <a:ahLst/>
              <a:cxnLst/>
              <a:rect l="l" t="t" r="r" b="b"/>
              <a:pathLst>
                <a:path w="12049125" h="180339">
                  <a:moveTo>
                    <a:pt x="0" y="0"/>
                  </a:moveTo>
                  <a:lnTo>
                    <a:pt x="1" y="179958"/>
                  </a:lnTo>
                </a:path>
                <a:path w="12049125" h="180339">
                  <a:moveTo>
                    <a:pt x="100584" y="0"/>
                  </a:moveTo>
                  <a:lnTo>
                    <a:pt x="100584" y="179958"/>
                  </a:lnTo>
                </a:path>
                <a:path w="12049125" h="180339">
                  <a:moveTo>
                    <a:pt x="202692" y="0"/>
                  </a:moveTo>
                  <a:lnTo>
                    <a:pt x="202692" y="179958"/>
                  </a:lnTo>
                </a:path>
                <a:path w="12049125" h="180339">
                  <a:moveTo>
                    <a:pt x="303276" y="0"/>
                  </a:moveTo>
                  <a:lnTo>
                    <a:pt x="303276" y="179958"/>
                  </a:lnTo>
                </a:path>
                <a:path w="12049125" h="180339">
                  <a:moveTo>
                    <a:pt x="403860" y="0"/>
                  </a:moveTo>
                  <a:lnTo>
                    <a:pt x="403860" y="179958"/>
                  </a:lnTo>
                </a:path>
                <a:path w="12049125" h="180339">
                  <a:moveTo>
                    <a:pt x="505968" y="0"/>
                  </a:moveTo>
                  <a:lnTo>
                    <a:pt x="505968" y="179958"/>
                  </a:lnTo>
                </a:path>
                <a:path w="12049125" h="180339">
                  <a:moveTo>
                    <a:pt x="606552" y="0"/>
                  </a:moveTo>
                  <a:lnTo>
                    <a:pt x="606552" y="179958"/>
                  </a:lnTo>
                </a:path>
                <a:path w="12049125" h="180339">
                  <a:moveTo>
                    <a:pt x="708660" y="0"/>
                  </a:moveTo>
                  <a:lnTo>
                    <a:pt x="708660" y="179958"/>
                  </a:lnTo>
                </a:path>
                <a:path w="12049125" h="180339">
                  <a:moveTo>
                    <a:pt x="809244" y="0"/>
                  </a:moveTo>
                  <a:lnTo>
                    <a:pt x="809244" y="179958"/>
                  </a:lnTo>
                </a:path>
                <a:path w="12049125" h="180339">
                  <a:moveTo>
                    <a:pt x="911352" y="0"/>
                  </a:moveTo>
                  <a:lnTo>
                    <a:pt x="911352" y="179958"/>
                  </a:lnTo>
                </a:path>
                <a:path w="12049125" h="180339">
                  <a:moveTo>
                    <a:pt x="1011936" y="0"/>
                  </a:moveTo>
                  <a:lnTo>
                    <a:pt x="1011936" y="179958"/>
                  </a:lnTo>
                </a:path>
                <a:path w="12049125" h="180339">
                  <a:moveTo>
                    <a:pt x="1112520" y="0"/>
                  </a:moveTo>
                  <a:lnTo>
                    <a:pt x="1112520" y="179958"/>
                  </a:lnTo>
                </a:path>
                <a:path w="12049125" h="180339">
                  <a:moveTo>
                    <a:pt x="1214628" y="0"/>
                  </a:moveTo>
                  <a:lnTo>
                    <a:pt x="1214628" y="179958"/>
                  </a:lnTo>
                </a:path>
                <a:path w="12049125" h="180339">
                  <a:moveTo>
                    <a:pt x="1315212" y="0"/>
                  </a:moveTo>
                  <a:lnTo>
                    <a:pt x="1315212" y="179958"/>
                  </a:lnTo>
                </a:path>
                <a:path w="12049125" h="180339">
                  <a:moveTo>
                    <a:pt x="1417320" y="0"/>
                  </a:moveTo>
                  <a:lnTo>
                    <a:pt x="1417320" y="179958"/>
                  </a:lnTo>
                </a:path>
                <a:path w="12049125" h="180339">
                  <a:moveTo>
                    <a:pt x="1517904" y="0"/>
                  </a:moveTo>
                  <a:lnTo>
                    <a:pt x="1517904" y="179958"/>
                  </a:lnTo>
                </a:path>
                <a:path w="12049125" h="180339">
                  <a:moveTo>
                    <a:pt x="1620011" y="0"/>
                  </a:moveTo>
                  <a:lnTo>
                    <a:pt x="1620011" y="179958"/>
                  </a:lnTo>
                </a:path>
                <a:path w="12049125" h="180339">
                  <a:moveTo>
                    <a:pt x="1720595" y="0"/>
                  </a:moveTo>
                  <a:lnTo>
                    <a:pt x="1720595" y="179958"/>
                  </a:lnTo>
                </a:path>
                <a:path w="12049125" h="180339">
                  <a:moveTo>
                    <a:pt x="1822703" y="0"/>
                  </a:moveTo>
                  <a:lnTo>
                    <a:pt x="1822703" y="179958"/>
                  </a:lnTo>
                </a:path>
                <a:path w="12049125" h="180339">
                  <a:moveTo>
                    <a:pt x="1923288" y="0"/>
                  </a:moveTo>
                  <a:lnTo>
                    <a:pt x="1923288" y="179958"/>
                  </a:lnTo>
                </a:path>
                <a:path w="12049125" h="180339">
                  <a:moveTo>
                    <a:pt x="2023871" y="0"/>
                  </a:moveTo>
                  <a:lnTo>
                    <a:pt x="2023871" y="179958"/>
                  </a:lnTo>
                </a:path>
                <a:path w="12049125" h="180339">
                  <a:moveTo>
                    <a:pt x="2125979" y="0"/>
                  </a:moveTo>
                  <a:lnTo>
                    <a:pt x="2125979" y="179958"/>
                  </a:lnTo>
                </a:path>
                <a:path w="12049125" h="180339">
                  <a:moveTo>
                    <a:pt x="2226564" y="0"/>
                  </a:moveTo>
                  <a:lnTo>
                    <a:pt x="2226564" y="179958"/>
                  </a:lnTo>
                </a:path>
                <a:path w="12049125" h="180339">
                  <a:moveTo>
                    <a:pt x="2328672" y="0"/>
                  </a:moveTo>
                  <a:lnTo>
                    <a:pt x="2328672" y="179958"/>
                  </a:lnTo>
                </a:path>
                <a:path w="12049125" h="180339">
                  <a:moveTo>
                    <a:pt x="2429256" y="0"/>
                  </a:moveTo>
                  <a:lnTo>
                    <a:pt x="2429256" y="179958"/>
                  </a:lnTo>
                </a:path>
                <a:path w="12049125" h="180339">
                  <a:moveTo>
                    <a:pt x="2531364" y="0"/>
                  </a:moveTo>
                  <a:lnTo>
                    <a:pt x="2531364" y="179958"/>
                  </a:lnTo>
                </a:path>
                <a:path w="12049125" h="180339">
                  <a:moveTo>
                    <a:pt x="2631947" y="0"/>
                  </a:moveTo>
                  <a:lnTo>
                    <a:pt x="2631947" y="179958"/>
                  </a:lnTo>
                </a:path>
                <a:path w="12049125" h="180339">
                  <a:moveTo>
                    <a:pt x="2732532" y="0"/>
                  </a:moveTo>
                  <a:lnTo>
                    <a:pt x="2732532" y="179958"/>
                  </a:lnTo>
                </a:path>
                <a:path w="12049125" h="180339">
                  <a:moveTo>
                    <a:pt x="2834640" y="0"/>
                  </a:moveTo>
                  <a:lnTo>
                    <a:pt x="2834640" y="179958"/>
                  </a:lnTo>
                </a:path>
                <a:path w="12049125" h="180339">
                  <a:moveTo>
                    <a:pt x="2935223" y="0"/>
                  </a:moveTo>
                  <a:lnTo>
                    <a:pt x="2935223" y="179958"/>
                  </a:lnTo>
                </a:path>
                <a:path w="12049125" h="180339">
                  <a:moveTo>
                    <a:pt x="3037332" y="0"/>
                  </a:moveTo>
                  <a:lnTo>
                    <a:pt x="3037332" y="179958"/>
                  </a:lnTo>
                </a:path>
                <a:path w="12049125" h="180339">
                  <a:moveTo>
                    <a:pt x="3137916" y="0"/>
                  </a:moveTo>
                  <a:lnTo>
                    <a:pt x="3137916" y="179958"/>
                  </a:lnTo>
                </a:path>
                <a:path w="12049125" h="180339">
                  <a:moveTo>
                    <a:pt x="3240023" y="0"/>
                  </a:moveTo>
                  <a:lnTo>
                    <a:pt x="3240023" y="179958"/>
                  </a:lnTo>
                </a:path>
                <a:path w="12049125" h="180339">
                  <a:moveTo>
                    <a:pt x="3340608" y="0"/>
                  </a:moveTo>
                  <a:lnTo>
                    <a:pt x="3340608" y="179958"/>
                  </a:lnTo>
                </a:path>
                <a:path w="12049125" h="180339">
                  <a:moveTo>
                    <a:pt x="3442716" y="0"/>
                  </a:moveTo>
                  <a:lnTo>
                    <a:pt x="3442716" y="179958"/>
                  </a:lnTo>
                </a:path>
                <a:path w="12049125" h="180339">
                  <a:moveTo>
                    <a:pt x="3543300" y="0"/>
                  </a:moveTo>
                  <a:lnTo>
                    <a:pt x="3543300" y="179958"/>
                  </a:lnTo>
                </a:path>
                <a:path w="12049125" h="180339">
                  <a:moveTo>
                    <a:pt x="3643884" y="0"/>
                  </a:moveTo>
                  <a:lnTo>
                    <a:pt x="3643884" y="179958"/>
                  </a:lnTo>
                </a:path>
                <a:path w="12049125" h="180339">
                  <a:moveTo>
                    <a:pt x="3745992" y="0"/>
                  </a:moveTo>
                  <a:lnTo>
                    <a:pt x="3745992" y="179958"/>
                  </a:lnTo>
                </a:path>
                <a:path w="12049125" h="180339">
                  <a:moveTo>
                    <a:pt x="3846576" y="0"/>
                  </a:moveTo>
                  <a:lnTo>
                    <a:pt x="3846576" y="179958"/>
                  </a:lnTo>
                </a:path>
                <a:path w="12049125" h="180339">
                  <a:moveTo>
                    <a:pt x="3948684" y="0"/>
                  </a:moveTo>
                  <a:lnTo>
                    <a:pt x="3948684" y="179958"/>
                  </a:lnTo>
                </a:path>
                <a:path w="12049125" h="180339">
                  <a:moveTo>
                    <a:pt x="4049268" y="0"/>
                  </a:moveTo>
                  <a:lnTo>
                    <a:pt x="4049268" y="179958"/>
                  </a:lnTo>
                </a:path>
                <a:path w="12049125" h="180339">
                  <a:moveTo>
                    <a:pt x="4151376" y="0"/>
                  </a:moveTo>
                  <a:lnTo>
                    <a:pt x="4151376" y="179958"/>
                  </a:lnTo>
                </a:path>
                <a:path w="12049125" h="180339">
                  <a:moveTo>
                    <a:pt x="4251960" y="0"/>
                  </a:moveTo>
                  <a:lnTo>
                    <a:pt x="4251960" y="179958"/>
                  </a:lnTo>
                </a:path>
                <a:path w="12049125" h="180339">
                  <a:moveTo>
                    <a:pt x="4352544" y="0"/>
                  </a:moveTo>
                  <a:lnTo>
                    <a:pt x="4352544" y="179958"/>
                  </a:lnTo>
                </a:path>
                <a:path w="12049125" h="180339">
                  <a:moveTo>
                    <a:pt x="4454652" y="0"/>
                  </a:moveTo>
                  <a:lnTo>
                    <a:pt x="4454652" y="179958"/>
                  </a:lnTo>
                </a:path>
                <a:path w="12049125" h="180339">
                  <a:moveTo>
                    <a:pt x="4555236" y="0"/>
                  </a:moveTo>
                  <a:lnTo>
                    <a:pt x="4555236" y="179958"/>
                  </a:lnTo>
                </a:path>
                <a:path w="12049125" h="180339">
                  <a:moveTo>
                    <a:pt x="4657344" y="0"/>
                  </a:moveTo>
                  <a:lnTo>
                    <a:pt x="4657344" y="179958"/>
                  </a:lnTo>
                </a:path>
                <a:path w="12049125" h="180339">
                  <a:moveTo>
                    <a:pt x="4757928" y="0"/>
                  </a:moveTo>
                  <a:lnTo>
                    <a:pt x="4757928" y="179958"/>
                  </a:lnTo>
                </a:path>
                <a:path w="12049125" h="180339">
                  <a:moveTo>
                    <a:pt x="4860036" y="0"/>
                  </a:moveTo>
                  <a:lnTo>
                    <a:pt x="4860036" y="179958"/>
                  </a:lnTo>
                </a:path>
                <a:path w="12049125" h="180339">
                  <a:moveTo>
                    <a:pt x="4960620" y="0"/>
                  </a:moveTo>
                  <a:lnTo>
                    <a:pt x="4960620" y="179958"/>
                  </a:lnTo>
                </a:path>
                <a:path w="12049125" h="180339">
                  <a:moveTo>
                    <a:pt x="5062728" y="0"/>
                  </a:moveTo>
                  <a:lnTo>
                    <a:pt x="5062728" y="179958"/>
                  </a:lnTo>
                </a:path>
                <a:path w="12049125" h="180339">
                  <a:moveTo>
                    <a:pt x="5163312" y="0"/>
                  </a:moveTo>
                  <a:lnTo>
                    <a:pt x="5163312" y="179958"/>
                  </a:lnTo>
                </a:path>
                <a:path w="12049125" h="180339">
                  <a:moveTo>
                    <a:pt x="5263896" y="0"/>
                  </a:moveTo>
                  <a:lnTo>
                    <a:pt x="5263896" y="179958"/>
                  </a:lnTo>
                </a:path>
                <a:path w="12049125" h="180339">
                  <a:moveTo>
                    <a:pt x="5366004" y="0"/>
                  </a:moveTo>
                  <a:lnTo>
                    <a:pt x="5366004" y="179958"/>
                  </a:lnTo>
                </a:path>
                <a:path w="12049125" h="180339">
                  <a:moveTo>
                    <a:pt x="5466588" y="0"/>
                  </a:moveTo>
                  <a:lnTo>
                    <a:pt x="5466588" y="179958"/>
                  </a:lnTo>
                </a:path>
                <a:path w="12049125" h="180339">
                  <a:moveTo>
                    <a:pt x="5568696" y="0"/>
                  </a:moveTo>
                  <a:lnTo>
                    <a:pt x="5568696" y="179958"/>
                  </a:lnTo>
                </a:path>
                <a:path w="12049125" h="180339">
                  <a:moveTo>
                    <a:pt x="5669280" y="0"/>
                  </a:moveTo>
                  <a:lnTo>
                    <a:pt x="5669280" y="179958"/>
                  </a:lnTo>
                </a:path>
                <a:path w="12049125" h="180339">
                  <a:moveTo>
                    <a:pt x="5771388" y="0"/>
                  </a:moveTo>
                  <a:lnTo>
                    <a:pt x="5771388" y="179958"/>
                  </a:lnTo>
                </a:path>
                <a:path w="12049125" h="180339">
                  <a:moveTo>
                    <a:pt x="5871972" y="0"/>
                  </a:moveTo>
                  <a:lnTo>
                    <a:pt x="5871972" y="179958"/>
                  </a:lnTo>
                </a:path>
                <a:path w="12049125" h="180339">
                  <a:moveTo>
                    <a:pt x="5974080" y="0"/>
                  </a:moveTo>
                  <a:lnTo>
                    <a:pt x="5974080" y="179958"/>
                  </a:lnTo>
                </a:path>
                <a:path w="12049125" h="180339">
                  <a:moveTo>
                    <a:pt x="6074664" y="0"/>
                  </a:moveTo>
                  <a:lnTo>
                    <a:pt x="6074664" y="179958"/>
                  </a:lnTo>
                </a:path>
                <a:path w="12049125" h="180339">
                  <a:moveTo>
                    <a:pt x="6175248" y="0"/>
                  </a:moveTo>
                  <a:lnTo>
                    <a:pt x="6175248" y="179958"/>
                  </a:lnTo>
                </a:path>
                <a:path w="12049125" h="180339">
                  <a:moveTo>
                    <a:pt x="6277356" y="0"/>
                  </a:moveTo>
                  <a:lnTo>
                    <a:pt x="6277356" y="179958"/>
                  </a:lnTo>
                </a:path>
                <a:path w="12049125" h="180339">
                  <a:moveTo>
                    <a:pt x="6377940" y="0"/>
                  </a:moveTo>
                  <a:lnTo>
                    <a:pt x="6377940" y="179958"/>
                  </a:lnTo>
                </a:path>
                <a:path w="12049125" h="180339">
                  <a:moveTo>
                    <a:pt x="6480048" y="0"/>
                  </a:moveTo>
                  <a:lnTo>
                    <a:pt x="6480048" y="179958"/>
                  </a:lnTo>
                </a:path>
                <a:path w="12049125" h="180339">
                  <a:moveTo>
                    <a:pt x="6580632" y="0"/>
                  </a:moveTo>
                  <a:lnTo>
                    <a:pt x="6580632" y="179958"/>
                  </a:lnTo>
                </a:path>
                <a:path w="12049125" h="180339">
                  <a:moveTo>
                    <a:pt x="6682739" y="0"/>
                  </a:moveTo>
                  <a:lnTo>
                    <a:pt x="6682739" y="179958"/>
                  </a:lnTo>
                </a:path>
                <a:path w="12049125" h="180339">
                  <a:moveTo>
                    <a:pt x="6783324" y="0"/>
                  </a:moveTo>
                  <a:lnTo>
                    <a:pt x="6783324" y="179958"/>
                  </a:lnTo>
                </a:path>
                <a:path w="12049125" h="180339">
                  <a:moveTo>
                    <a:pt x="6883908" y="0"/>
                  </a:moveTo>
                  <a:lnTo>
                    <a:pt x="6883908" y="179958"/>
                  </a:lnTo>
                </a:path>
                <a:path w="12049125" h="180339">
                  <a:moveTo>
                    <a:pt x="6986015" y="0"/>
                  </a:moveTo>
                  <a:lnTo>
                    <a:pt x="6986015" y="179958"/>
                  </a:lnTo>
                </a:path>
                <a:path w="12049125" h="180339">
                  <a:moveTo>
                    <a:pt x="7086600" y="0"/>
                  </a:moveTo>
                  <a:lnTo>
                    <a:pt x="7086600" y="179958"/>
                  </a:lnTo>
                </a:path>
                <a:path w="12049125" h="180339">
                  <a:moveTo>
                    <a:pt x="7188708" y="0"/>
                  </a:moveTo>
                  <a:lnTo>
                    <a:pt x="7188708" y="179958"/>
                  </a:lnTo>
                </a:path>
                <a:path w="12049125" h="180339">
                  <a:moveTo>
                    <a:pt x="7289291" y="0"/>
                  </a:moveTo>
                  <a:lnTo>
                    <a:pt x="7289291" y="179958"/>
                  </a:lnTo>
                </a:path>
                <a:path w="12049125" h="180339">
                  <a:moveTo>
                    <a:pt x="7391400" y="0"/>
                  </a:moveTo>
                  <a:lnTo>
                    <a:pt x="7391400" y="179958"/>
                  </a:lnTo>
                </a:path>
                <a:path w="12049125" h="180339">
                  <a:moveTo>
                    <a:pt x="7491983" y="0"/>
                  </a:moveTo>
                  <a:lnTo>
                    <a:pt x="7491983" y="179958"/>
                  </a:lnTo>
                </a:path>
                <a:path w="12049125" h="180339">
                  <a:moveTo>
                    <a:pt x="7594091" y="0"/>
                  </a:moveTo>
                  <a:lnTo>
                    <a:pt x="7594091" y="179958"/>
                  </a:lnTo>
                </a:path>
                <a:path w="12049125" h="180339">
                  <a:moveTo>
                    <a:pt x="7694676" y="0"/>
                  </a:moveTo>
                  <a:lnTo>
                    <a:pt x="7694676" y="179958"/>
                  </a:lnTo>
                </a:path>
                <a:path w="12049125" h="180339">
                  <a:moveTo>
                    <a:pt x="7795259" y="0"/>
                  </a:moveTo>
                  <a:lnTo>
                    <a:pt x="7795259" y="179958"/>
                  </a:lnTo>
                </a:path>
                <a:path w="12049125" h="180339">
                  <a:moveTo>
                    <a:pt x="7897367" y="0"/>
                  </a:moveTo>
                  <a:lnTo>
                    <a:pt x="7897367" y="179958"/>
                  </a:lnTo>
                </a:path>
                <a:path w="12049125" h="180339">
                  <a:moveTo>
                    <a:pt x="7997952" y="0"/>
                  </a:moveTo>
                  <a:lnTo>
                    <a:pt x="7997952" y="179958"/>
                  </a:lnTo>
                </a:path>
                <a:path w="12049125" h="180339">
                  <a:moveTo>
                    <a:pt x="8100059" y="0"/>
                  </a:moveTo>
                  <a:lnTo>
                    <a:pt x="8100059" y="179958"/>
                  </a:lnTo>
                </a:path>
                <a:path w="12049125" h="180339">
                  <a:moveTo>
                    <a:pt x="8200643" y="0"/>
                  </a:moveTo>
                  <a:lnTo>
                    <a:pt x="8200643" y="179958"/>
                  </a:lnTo>
                </a:path>
                <a:path w="12049125" h="180339">
                  <a:moveTo>
                    <a:pt x="8302752" y="0"/>
                  </a:moveTo>
                  <a:lnTo>
                    <a:pt x="8302752" y="179958"/>
                  </a:lnTo>
                </a:path>
                <a:path w="12049125" h="180339">
                  <a:moveTo>
                    <a:pt x="8403336" y="0"/>
                  </a:moveTo>
                  <a:lnTo>
                    <a:pt x="8403336" y="179958"/>
                  </a:lnTo>
                </a:path>
                <a:path w="12049125" h="180339">
                  <a:moveTo>
                    <a:pt x="8503919" y="0"/>
                  </a:moveTo>
                  <a:lnTo>
                    <a:pt x="8503919" y="179958"/>
                  </a:lnTo>
                </a:path>
                <a:path w="12049125" h="180339">
                  <a:moveTo>
                    <a:pt x="8606028" y="0"/>
                  </a:moveTo>
                  <a:lnTo>
                    <a:pt x="8606028" y="179958"/>
                  </a:lnTo>
                </a:path>
                <a:path w="12049125" h="180339">
                  <a:moveTo>
                    <a:pt x="8706612" y="0"/>
                  </a:moveTo>
                  <a:lnTo>
                    <a:pt x="8706612" y="179958"/>
                  </a:lnTo>
                </a:path>
                <a:path w="12049125" h="180339">
                  <a:moveTo>
                    <a:pt x="8808719" y="0"/>
                  </a:moveTo>
                  <a:lnTo>
                    <a:pt x="8808719" y="179958"/>
                  </a:lnTo>
                </a:path>
                <a:path w="12049125" h="180339">
                  <a:moveTo>
                    <a:pt x="8909304" y="0"/>
                  </a:moveTo>
                  <a:lnTo>
                    <a:pt x="8909304" y="179958"/>
                  </a:lnTo>
                </a:path>
                <a:path w="12049125" h="180339">
                  <a:moveTo>
                    <a:pt x="9011412" y="0"/>
                  </a:moveTo>
                  <a:lnTo>
                    <a:pt x="9011412" y="179958"/>
                  </a:lnTo>
                </a:path>
                <a:path w="12049125" h="180339">
                  <a:moveTo>
                    <a:pt x="9111995" y="0"/>
                  </a:moveTo>
                  <a:lnTo>
                    <a:pt x="9111995" y="179958"/>
                  </a:lnTo>
                </a:path>
                <a:path w="12049125" h="180339">
                  <a:moveTo>
                    <a:pt x="9214104" y="0"/>
                  </a:moveTo>
                  <a:lnTo>
                    <a:pt x="9214104" y="179958"/>
                  </a:lnTo>
                </a:path>
                <a:path w="12049125" h="180339">
                  <a:moveTo>
                    <a:pt x="9314688" y="0"/>
                  </a:moveTo>
                  <a:lnTo>
                    <a:pt x="9314688" y="179958"/>
                  </a:lnTo>
                </a:path>
                <a:path w="12049125" h="180339">
                  <a:moveTo>
                    <a:pt x="9415272" y="0"/>
                  </a:moveTo>
                  <a:lnTo>
                    <a:pt x="9415272" y="179958"/>
                  </a:lnTo>
                </a:path>
                <a:path w="12049125" h="180339">
                  <a:moveTo>
                    <a:pt x="9517380" y="0"/>
                  </a:moveTo>
                  <a:lnTo>
                    <a:pt x="9517380" y="179958"/>
                  </a:lnTo>
                </a:path>
                <a:path w="12049125" h="180339">
                  <a:moveTo>
                    <a:pt x="9617964" y="0"/>
                  </a:moveTo>
                  <a:lnTo>
                    <a:pt x="9617964" y="179958"/>
                  </a:lnTo>
                </a:path>
                <a:path w="12049125" h="180339">
                  <a:moveTo>
                    <a:pt x="9720072" y="0"/>
                  </a:moveTo>
                  <a:lnTo>
                    <a:pt x="9720072" y="179958"/>
                  </a:lnTo>
                </a:path>
                <a:path w="12049125" h="180339">
                  <a:moveTo>
                    <a:pt x="9820656" y="0"/>
                  </a:moveTo>
                  <a:lnTo>
                    <a:pt x="9820656" y="179958"/>
                  </a:lnTo>
                </a:path>
                <a:path w="12049125" h="180339">
                  <a:moveTo>
                    <a:pt x="9922764" y="0"/>
                  </a:moveTo>
                  <a:lnTo>
                    <a:pt x="9922764" y="179958"/>
                  </a:lnTo>
                </a:path>
                <a:path w="12049125" h="180339">
                  <a:moveTo>
                    <a:pt x="10023348" y="0"/>
                  </a:moveTo>
                  <a:lnTo>
                    <a:pt x="10023348" y="179958"/>
                  </a:lnTo>
                </a:path>
                <a:path w="12049125" h="180339">
                  <a:moveTo>
                    <a:pt x="10123932" y="0"/>
                  </a:moveTo>
                  <a:lnTo>
                    <a:pt x="10123932" y="179958"/>
                  </a:lnTo>
                </a:path>
                <a:path w="12049125" h="180339">
                  <a:moveTo>
                    <a:pt x="10226040" y="0"/>
                  </a:moveTo>
                  <a:lnTo>
                    <a:pt x="10226040" y="179958"/>
                  </a:lnTo>
                </a:path>
                <a:path w="12049125" h="180339">
                  <a:moveTo>
                    <a:pt x="10326624" y="0"/>
                  </a:moveTo>
                  <a:lnTo>
                    <a:pt x="10326624" y="179958"/>
                  </a:lnTo>
                </a:path>
                <a:path w="12049125" h="180339">
                  <a:moveTo>
                    <a:pt x="10428732" y="0"/>
                  </a:moveTo>
                  <a:lnTo>
                    <a:pt x="10428732" y="179958"/>
                  </a:lnTo>
                </a:path>
                <a:path w="12049125" h="180339">
                  <a:moveTo>
                    <a:pt x="10529316" y="0"/>
                  </a:moveTo>
                  <a:lnTo>
                    <a:pt x="10529316" y="179958"/>
                  </a:lnTo>
                </a:path>
                <a:path w="12049125" h="180339">
                  <a:moveTo>
                    <a:pt x="10631424" y="0"/>
                  </a:moveTo>
                  <a:lnTo>
                    <a:pt x="10631424" y="179958"/>
                  </a:lnTo>
                </a:path>
                <a:path w="12049125" h="180339">
                  <a:moveTo>
                    <a:pt x="10732008" y="0"/>
                  </a:moveTo>
                  <a:lnTo>
                    <a:pt x="10732008" y="179958"/>
                  </a:lnTo>
                </a:path>
                <a:path w="12049125" h="180339">
                  <a:moveTo>
                    <a:pt x="10834116" y="0"/>
                  </a:moveTo>
                  <a:lnTo>
                    <a:pt x="10834116" y="179958"/>
                  </a:lnTo>
                </a:path>
                <a:path w="12049125" h="180339">
                  <a:moveTo>
                    <a:pt x="10934700" y="0"/>
                  </a:moveTo>
                  <a:lnTo>
                    <a:pt x="10934700" y="179958"/>
                  </a:lnTo>
                </a:path>
                <a:path w="12049125" h="180339">
                  <a:moveTo>
                    <a:pt x="11035284" y="0"/>
                  </a:moveTo>
                  <a:lnTo>
                    <a:pt x="11035284" y="179958"/>
                  </a:lnTo>
                </a:path>
                <a:path w="12049125" h="180339">
                  <a:moveTo>
                    <a:pt x="11137391" y="0"/>
                  </a:moveTo>
                  <a:lnTo>
                    <a:pt x="11137391" y="179958"/>
                  </a:lnTo>
                </a:path>
                <a:path w="12049125" h="180339">
                  <a:moveTo>
                    <a:pt x="11237976" y="0"/>
                  </a:moveTo>
                  <a:lnTo>
                    <a:pt x="11237976" y="179958"/>
                  </a:lnTo>
                </a:path>
                <a:path w="12049125" h="180339">
                  <a:moveTo>
                    <a:pt x="11340084" y="0"/>
                  </a:moveTo>
                  <a:lnTo>
                    <a:pt x="11340084" y="179958"/>
                  </a:lnTo>
                </a:path>
                <a:path w="12049125" h="180339">
                  <a:moveTo>
                    <a:pt x="11440667" y="0"/>
                  </a:moveTo>
                  <a:lnTo>
                    <a:pt x="11440667" y="179958"/>
                  </a:lnTo>
                </a:path>
                <a:path w="12049125" h="180339">
                  <a:moveTo>
                    <a:pt x="11542776" y="0"/>
                  </a:moveTo>
                  <a:lnTo>
                    <a:pt x="11542776" y="179958"/>
                  </a:lnTo>
                </a:path>
                <a:path w="12049125" h="180339">
                  <a:moveTo>
                    <a:pt x="11643360" y="0"/>
                  </a:moveTo>
                  <a:lnTo>
                    <a:pt x="11643360" y="179958"/>
                  </a:lnTo>
                </a:path>
                <a:path w="12049125" h="180339">
                  <a:moveTo>
                    <a:pt x="11743943" y="0"/>
                  </a:moveTo>
                  <a:lnTo>
                    <a:pt x="11743943" y="179958"/>
                  </a:lnTo>
                </a:path>
                <a:path w="12049125" h="180339">
                  <a:moveTo>
                    <a:pt x="11846052" y="0"/>
                  </a:moveTo>
                  <a:lnTo>
                    <a:pt x="11846052" y="179958"/>
                  </a:lnTo>
                </a:path>
                <a:path w="12049125" h="180339">
                  <a:moveTo>
                    <a:pt x="11946636" y="0"/>
                  </a:moveTo>
                  <a:lnTo>
                    <a:pt x="11946636" y="179958"/>
                  </a:lnTo>
                </a:path>
                <a:path w="12049125" h="180339">
                  <a:moveTo>
                    <a:pt x="12048743" y="0"/>
                  </a:moveTo>
                  <a:lnTo>
                    <a:pt x="12048743" y="179958"/>
                  </a:lnTo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37971" y="2663444"/>
            <a:ext cx="10446385" cy="23160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Advances</a:t>
            </a:r>
            <a:r>
              <a:rPr sz="3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3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Deep</a:t>
            </a:r>
            <a:r>
              <a:rPr sz="3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Learning</a:t>
            </a:r>
            <a:r>
              <a:rPr sz="3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3600" b="1" spc="-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Applications</a:t>
            </a:r>
            <a:r>
              <a:rPr sz="3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25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3600" b="1" spc="-10" dirty="0">
                <a:solidFill>
                  <a:srgbClr val="FFFFFF"/>
                </a:solidFill>
                <a:latin typeface="Arial"/>
                <a:cs typeface="Arial"/>
              </a:rPr>
              <a:t>Text</a:t>
            </a:r>
            <a:r>
              <a:rPr sz="36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3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Image</a:t>
            </a:r>
            <a:r>
              <a:rPr sz="36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FFFFFF"/>
                </a:solidFill>
                <a:latin typeface="Arial"/>
                <a:cs typeface="Arial"/>
              </a:rPr>
              <a:t>Processing</a:t>
            </a:r>
            <a:endParaRPr sz="3600" dirty="0">
              <a:latin typeface="Arial"/>
              <a:cs typeface="Arial"/>
            </a:endParaRPr>
          </a:p>
          <a:p>
            <a:pPr marR="6350" algn="ctr">
              <a:lnSpc>
                <a:spcPct val="100000"/>
              </a:lnSpc>
              <a:spcBef>
                <a:spcPts val="20"/>
              </a:spcBef>
            </a:pP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28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Seq2Seq</a:t>
            </a:r>
            <a:r>
              <a:rPr sz="28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Learning</a:t>
            </a:r>
            <a:r>
              <a:rPr sz="2800" spc="-1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Architectures</a:t>
            </a:r>
            <a:r>
              <a:rPr sz="28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endParaRPr sz="2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2800" dirty="0">
              <a:latin typeface="Arial MT"/>
              <a:cs typeface="Arial MT"/>
            </a:endParaRPr>
          </a:p>
          <a:p>
            <a:pPr marR="106680" algn="ctr">
              <a:lnSpc>
                <a:spcPct val="100000"/>
              </a:lnSpc>
            </a:pP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671823"/>
            <a:ext cx="12187555" cy="3186430"/>
            <a:chOff x="0" y="3671823"/>
            <a:chExt cx="12187555" cy="31864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4215" y="3671823"/>
              <a:ext cx="542065" cy="1346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458461" y="3680459"/>
              <a:ext cx="479425" cy="78105"/>
            </a:xfrm>
            <a:custGeom>
              <a:avLst/>
              <a:gdLst/>
              <a:ahLst/>
              <a:cxnLst/>
              <a:rect l="l" t="t" r="r" b="b"/>
              <a:pathLst>
                <a:path w="479425" h="78104">
                  <a:moveTo>
                    <a:pt x="401574" y="0"/>
                  </a:moveTo>
                  <a:lnTo>
                    <a:pt x="401574" y="77723"/>
                  </a:lnTo>
                  <a:lnTo>
                    <a:pt x="453390" y="51815"/>
                  </a:lnTo>
                  <a:lnTo>
                    <a:pt x="414527" y="51815"/>
                  </a:lnTo>
                  <a:lnTo>
                    <a:pt x="414527" y="25907"/>
                  </a:lnTo>
                  <a:lnTo>
                    <a:pt x="453389" y="25907"/>
                  </a:lnTo>
                  <a:lnTo>
                    <a:pt x="401574" y="0"/>
                  </a:lnTo>
                  <a:close/>
                </a:path>
                <a:path w="479425" h="78104">
                  <a:moveTo>
                    <a:pt x="401574" y="25907"/>
                  </a:moveTo>
                  <a:lnTo>
                    <a:pt x="0" y="25907"/>
                  </a:lnTo>
                  <a:lnTo>
                    <a:pt x="0" y="51815"/>
                  </a:lnTo>
                  <a:lnTo>
                    <a:pt x="401574" y="51815"/>
                  </a:lnTo>
                  <a:lnTo>
                    <a:pt x="401574" y="25907"/>
                  </a:lnTo>
                  <a:close/>
                </a:path>
                <a:path w="479425" h="78104">
                  <a:moveTo>
                    <a:pt x="453389" y="25907"/>
                  </a:moveTo>
                  <a:lnTo>
                    <a:pt x="414527" y="25907"/>
                  </a:lnTo>
                  <a:lnTo>
                    <a:pt x="414527" y="51815"/>
                  </a:lnTo>
                  <a:lnTo>
                    <a:pt x="453390" y="51815"/>
                  </a:lnTo>
                  <a:lnTo>
                    <a:pt x="479298" y="38862"/>
                  </a:lnTo>
                  <a:lnTo>
                    <a:pt x="453389" y="25907"/>
                  </a:lnTo>
                  <a:close/>
                </a:path>
              </a:pathLst>
            </a:custGeom>
            <a:solidFill>
              <a:srgbClr val="6E85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031" y="3671823"/>
              <a:ext cx="542065" cy="13461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796278" y="3680459"/>
              <a:ext cx="479425" cy="78105"/>
            </a:xfrm>
            <a:custGeom>
              <a:avLst/>
              <a:gdLst/>
              <a:ahLst/>
              <a:cxnLst/>
              <a:rect l="l" t="t" r="r" b="b"/>
              <a:pathLst>
                <a:path w="479425" h="78104">
                  <a:moveTo>
                    <a:pt x="401574" y="0"/>
                  </a:moveTo>
                  <a:lnTo>
                    <a:pt x="401574" y="77723"/>
                  </a:lnTo>
                  <a:lnTo>
                    <a:pt x="453390" y="51815"/>
                  </a:lnTo>
                  <a:lnTo>
                    <a:pt x="414527" y="51815"/>
                  </a:lnTo>
                  <a:lnTo>
                    <a:pt x="414527" y="25907"/>
                  </a:lnTo>
                  <a:lnTo>
                    <a:pt x="453389" y="25907"/>
                  </a:lnTo>
                  <a:lnTo>
                    <a:pt x="401574" y="0"/>
                  </a:lnTo>
                  <a:close/>
                </a:path>
                <a:path w="479425" h="78104">
                  <a:moveTo>
                    <a:pt x="401574" y="25907"/>
                  </a:moveTo>
                  <a:lnTo>
                    <a:pt x="0" y="25907"/>
                  </a:lnTo>
                  <a:lnTo>
                    <a:pt x="0" y="51815"/>
                  </a:lnTo>
                  <a:lnTo>
                    <a:pt x="401574" y="51815"/>
                  </a:lnTo>
                  <a:lnTo>
                    <a:pt x="401574" y="25907"/>
                  </a:lnTo>
                  <a:close/>
                </a:path>
                <a:path w="479425" h="78104">
                  <a:moveTo>
                    <a:pt x="453389" y="25907"/>
                  </a:moveTo>
                  <a:lnTo>
                    <a:pt x="414527" y="25907"/>
                  </a:lnTo>
                  <a:lnTo>
                    <a:pt x="414527" y="51815"/>
                  </a:lnTo>
                  <a:lnTo>
                    <a:pt x="453390" y="51815"/>
                  </a:lnTo>
                  <a:lnTo>
                    <a:pt x="479298" y="38862"/>
                  </a:lnTo>
                  <a:lnTo>
                    <a:pt x="453389" y="25907"/>
                  </a:lnTo>
                  <a:close/>
                </a:path>
              </a:pathLst>
            </a:custGeom>
            <a:solidFill>
              <a:srgbClr val="6E85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8747" y="5146534"/>
              <a:ext cx="804671" cy="104091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22191" y="5152643"/>
              <a:ext cx="510539" cy="56540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736847" y="5161787"/>
              <a:ext cx="728980" cy="965200"/>
            </a:xfrm>
            <a:custGeom>
              <a:avLst/>
              <a:gdLst/>
              <a:ahLst/>
              <a:cxnLst/>
              <a:rect l="l" t="t" r="r" b="b"/>
              <a:pathLst>
                <a:path w="728979" h="965200">
                  <a:moveTo>
                    <a:pt x="607060" y="0"/>
                  </a:moveTo>
                  <a:lnTo>
                    <a:pt x="121412" y="0"/>
                  </a:lnTo>
                  <a:lnTo>
                    <a:pt x="74152" y="9540"/>
                  </a:lnTo>
                  <a:lnTo>
                    <a:pt x="35559" y="35560"/>
                  </a:lnTo>
                  <a:lnTo>
                    <a:pt x="9540" y="74152"/>
                  </a:lnTo>
                  <a:lnTo>
                    <a:pt x="0" y="121412"/>
                  </a:lnTo>
                  <a:lnTo>
                    <a:pt x="0" y="843280"/>
                  </a:lnTo>
                  <a:lnTo>
                    <a:pt x="9540" y="890539"/>
                  </a:lnTo>
                  <a:lnTo>
                    <a:pt x="35560" y="929132"/>
                  </a:lnTo>
                  <a:lnTo>
                    <a:pt x="74152" y="955151"/>
                  </a:lnTo>
                  <a:lnTo>
                    <a:pt x="121412" y="964692"/>
                  </a:lnTo>
                  <a:lnTo>
                    <a:pt x="607060" y="964692"/>
                  </a:lnTo>
                  <a:lnTo>
                    <a:pt x="654319" y="955151"/>
                  </a:lnTo>
                  <a:lnTo>
                    <a:pt x="692912" y="929132"/>
                  </a:lnTo>
                  <a:lnTo>
                    <a:pt x="718931" y="890539"/>
                  </a:lnTo>
                  <a:lnTo>
                    <a:pt x="728472" y="843280"/>
                  </a:lnTo>
                  <a:lnTo>
                    <a:pt x="728472" y="121412"/>
                  </a:lnTo>
                  <a:lnTo>
                    <a:pt x="718931" y="74152"/>
                  </a:lnTo>
                  <a:lnTo>
                    <a:pt x="692912" y="35560"/>
                  </a:lnTo>
                  <a:lnTo>
                    <a:pt x="654319" y="9540"/>
                  </a:lnTo>
                  <a:lnTo>
                    <a:pt x="607060" y="0"/>
                  </a:lnTo>
                  <a:close/>
                </a:path>
              </a:pathLst>
            </a:custGeom>
            <a:solidFill>
              <a:srgbClr val="F4C9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36847" y="5161787"/>
              <a:ext cx="728980" cy="965200"/>
            </a:xfrm>
            <a:custGeom>
              <a:avLst/>
              <a:gdLst/>
              <a:ahLst/>
              <a:cxnLst/>
              <a:rect l="l" t="t" r="r" b="b"/>
              <a:pathLst>
                <a:path w="728979" h="965200">
                  <a:moveTo>
                    <a:pt x="0" y="121412"/>
                  </a:moveTo>
                  <a:lnTo>
                    <a:pt x="9540" y="74152"/>
                  </a:lnTo>
                  <a:lnTo>
                    <a:pt x="35559" y="35560"/>
                  </a:lnTo>
                  <a:lnTo>
                    <a:pt x="74152" y="9540"/>
                  </a:lnTo>
                  <a:lnTo>
                    <a:pt x="121412" y="0"/>
                  </a:lnTo>
                  <a:lnTo>
                    <a:pt x="607060" y="0"/>
                  </a:lnTo>
                  <a:lnTo>
                    <a:pt x="654319" y="9540"/>
                  </a:lnTo>
                  <a:lnTo>
                    <a:pt x="692912" y="35560"/>
                  </a:lnTo>
                  <a:lnTo>
                    <a:pt x="718931" y="74152"/>
                  </a:lnTo>
                  <a:lnTo>
                    <a:pt x="728472" y="121412"/>
                  </a:lnTo>
                  <a:lnTo>
                    <a:pt x="728472" y="843280"/>
                  </a:lnTo>
                  <a:lnTo>
                    <a:pt x="718931" y="890539"/>
                  </a:lnTo>
                  <a:lnTo>
                    <a:pt x="692912" y="929132"/>
                  </a:lnTo>
                  <a:lnTo>
                    <a:pt x="654319" y="955151"/>
                  </a:lnTo>
                  <a:lnTo>
                    <a:pt x="607060" y="964692"/>
                  </a:lnTo>
                  <a:lnTo>
                    <a:pt x="121412" y="964692"/>
                  </a:lnTo>
                  <a:lnTo>
                    <a:pt x="74152" y="955151"/>
                  </a:lnTo>
                  <a:lnTo>
                    <a:pt x="35560" y="929132"/>
                  </a:lnTo>
                  <a:lnTo>
                    <a:pt x="9540" y="890539"/>
                  </a:lnTo>
                  <a:lnTo>
                    <a:pt x="0" y="843280"/>
                  </a:lnTo>
                  <a:lnTo>
                    <a:pt x="0" y="121412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Let’s</a:t>
            </a:r>
            <a:r>
              <a:rPr spc="-80" dirty="0"/>
              <a:t> </a:t>
            </a:r>
            <a:r>
              <a:rPr dirty="0"/>
              <a:t>Recall</a:t>
            </a:r>
            <a:r>
              <a:rPr spc="-80" dirty="0"/>
              <a:t> </a:t>
            </a:r>
            <a:r>
              <a:rPr dirty="0"/>
              <a:t>LSTM</a:t>
            </a:r>
            <a:r>
              <a:rPr spc="-70" dirty="0"/>
              <a:t> </a:t>
            </a:r>
            <a:r>
              <a:rPr spc="-10" dirty="0"/>
              <a:t>Networks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88340" y="1227581"/>
            <a:ext cx="59010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feed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forward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architecture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recurrent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one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63923" y="5215890"/>
            <a:ext cx="272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718FA4"/>
                </a:solidFill>
                <a:latin typeface="Calibri"/>
                <a:cs typeface="Calibri"/>
              </a:rPr>
              <a:t>X</a:t>
            </a:r>
            <a:r>
              <a:rPr sz="1800" spc="-37" baseline="-20833" dirty="0">
                <a:solidFill>
                  <a:srgbClr val="718FA4"/>
                </a:solidFill>
                <a:latin typeface="Calibri"/>
                <a:cs typeface="Calibri"/>
              </a:rPr>
              <a:t>0</a:t>
            </a:r>
            <a:endParaRPr sz="1800" baseline="-20833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695700" y="2708148"/>
            <a:ext cx="809625" cy="2065020"/>
            <a:chOff x="3695700" y="2708148"/>
            <a:chExt cx="809625" cy="2065020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95700" y="2708148"/>
              <a:ext cx="809244" cy="206502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742944" y="2732532"/>
              <a:ext cx="715010" cy="1971039"/>
            </a:xfrm>
            <a:custGeom>
              <a:avLst/>
              <a:gdLst/>
              <a:ahLst/>
              <a:cxnLst/>
              <a:rect l="l" t="t" r="r" b="b"/>
              <a:pathLst>
                <a:path w="715010" h="1971039">
                  <a:moveTo>
                    <a:pt x="595629" y="0"/>
                  </a:moveTo>
                  <a:lnTo>
                    <a:pt x="119125" y="0"/>
                  </a:lnTo>
                  <a:lnTo>
                    <a:pt x="72759" y="9362"/>
                  </a:lnTo>
                  <a:lnTo>
                    <a:pt x="34893" y="34893"/>
                  </a:lnTo>
                  <a:lnTo>
                    <a:pt x="9362" y="72759"/>
                  </a:lnTo>
                  <a:lnTo>
                    <a:pt x="0" y="119125"/>
                  </a:lnTo>
                  <a:lnTo>
                    <a:pt x="0" y="1851405"/>
                  </a:lnTo>
                  <a:lnTo>
                    <a:pt x="9362" y="1897772"/>
                  </a:lnTo>
                  <a:lnTo>
                    <a:pt x="34893" y="1935638"/>
                  </a:lnTo>
                  <a:lnTo>
                    <a:pt x="72759" y="1961169"/>
                  </a:lnTo>
                  <a:lnTo>
                    <a:pt x="119125" y="1970531"/>
                  </a:lnTo>
                  <a:lnTo>
                    <a:pt x="595629" y="1970531"/>
                  </a:lnTo>
                  <a:lnTo>
                    <a:pt x="641996" y="1961169"/>
                  </a:lnTo>
                  <a:lnTo>
                    <a:pt x="679862" y="1935638"/>
                  </a:lnTo>
                  <a:lnTo>
                    <a:pt x="705393" y="1897772"/>
                  </a:lnTo>
                  <a:lnTo>
                    <a:pt x="714755" y="1851405"/>
                  </a:lnTo>
                  <a:lnTo>
                    <a:pt x="714755" y="119125"/>
                  </a:lnTo>
                  <a:lnTo>
                    <a:pt x="705393" y="72759"/>
                  </a:lnTo>
                  <a:lnTo>
                    <a:pt x="679862" y="34893"/>
                  </a:lnTo>
                  <a:lnTo>
                    <a:pt x="641996" y="9362"/>
                  </a:lnTo>
                  <a:lnTo>
                    <a:pt x="595629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42944" y="2732532"/>
              <a:ext cx="715010" cy="1971039"/>
            </a:xfrm>
            <a:custGeom>
              <a:avLst/>
              <a:gdLst/>
              <a:ahLst/>
              <a:cxnLst/>
              <a:rect l="l" t="t" r="r" b="b"/>
              <a:pathLst>
                <a:path w="715010" h="1971039">
                  <a:moveTo>
                    <a:pt x="0" y="119125"/>
                  </a:moveTo>
                  <a:lnTo>
                    <a:pt x="9362" y="72759"/>
                  </a:lnTo>
                  <a:lnTo>
                    <a:pt x="34893" y="34893"/>
                  </a:lnTo>
                  <a:lnTo>
                    <a:pt x="72759" y="9362"/>
                  </a:lnTo>
                  <a:lnTo>
                    <a:pt x="119125" y="0"/>
                  </a:lnTo>
                  <a:lnTo>
                    <a:pt x="595629" y="0"/>
                  </a:lnTo>
                  <a:lnTo>
                    <a:pt x="641996" y="9362"/>
                  </a:lnTo>
                  <a:lnTo>
                    <a:pt x="679862" y="34893"/>
                  </a:lnTo>
                  <a:lnTo>
                    <a:pt x="705393" y="72759"/>
                  </a:lnTo>
                  <a:lnTo>
                    <a:pt x="714755" y="119125"/>
                  </a:lnTo>
                  <a:lnTo>
                    <a:pt x="714755" y="1851405"/>
                  </a:lnTo>
                  <a:lnTo>
                    <a:pt x="705393" y="1897772"/>
                  </a:lnTo>
                  <a:lnTo>
                    <a:pt x="679862" y="1935638"/>
                  </a:lnTo>
                  <a:lnTo>
                    <a:pt x="641996" y="1961169"/>
                  </a:lnTo>
                  <a:lnTo>
                    <a:pt x="595629" y="1970531"/>
                  </a:lnTo>
                  <a:lnTo>
                    <a:pt x="119125" y="1970531"/>
                  </a:lnTo>
                  <a:lnTo>
                    <a:pt x="72759" y="1961169"/>
                  </a:lnTo>
                  <a:lnTo>
                    <a:pt x="34893" y="1935638"/>
                  </a:lnTo>
                  <a:lnTo>
                    <a:pt x="9362" y="1897772"/>
                  </a:lnTo>
                  <a:lnTo>
                    <a:pt x="0" y="1851405"/>
                  </a:lnTo>
                  <a:lnTo>
                    <a:pt x="0" y="119125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993388" y="3373995"/>
            <a:ext cx="254000" cy="6934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10" dirty="0">
                <a:solidFill>
                  <a:srgbClr val="718FA4"/>
                </a:solidFill>
                <a:latin typeface="Calibri"/>
                <a:cs typeface="Calibri"/>
              </a:rPr>
              <a:t>Hidden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704844" y="1837944"/>
            <a:ext cx="1986280" cy="4349750"/>
            <a:chOff x="3704844" y="1837944"/>
            <a:chExt cx="1986280" cy="4349750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80688" y="4602479"/>
              <a:ext cx="242315" cy="62179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062984" y="4703826"/>
              <a:ext cx="78105" cy="458470"/>
            </a:xfrm>
            <a:custGeom>
              <a:avLst/>
              <a:gdLst/>
              <a:ahLst/>
              <a:cxnLst/>
              <a:rect l="l" t="t" r="r" b="b"/>
              <a:pathLst>
                <a:path w="78104" h="458470">
                  <a:moveTo>
                    <a:pt x="51815" y="64769"/>
                  </a:moveTo>
                  <a:lnTo>
                    <a:pt x="25907" y="64769"/>
                  </a:lnTo>
                  <a:lnTo>
                    <a:pt x="25907" y="458216"/>
                  </a:lnTo>
                  <a:lnTo>
                    <a:pt x="51815" y="458216"/>
                  </a:lnTo>
                  <a:lnTo>
                    <a:pt x="51815" y="64769"/>
                  </a:lnTo>
                  <a:close/>
                </a:path>
                <a:path w="78104" h="458470">
                  <a:moveTo>
                    <a:pt x="38862" y="0"/>
                  </a:moveTo>
                  <a:lnTo>
                    <a:pt x="0" y="77724"/>
                  </a:lnTo>
                  <a:lnTo>
                    <a:pt x="25907" y="77724"/>
                  </a:lnTo>
                  <a:lnTo>
                    <a:pt x="25907" y="64769"/>
                  </a:lnTo>
                  <a:lnTo>
                    <a:pt x="71247" y="64769"/>
                  </a:lnTo>
                  <a:lnTo>
                    <a:pt x="38862" y="0"/>
                  </a:lnTo>
                  <a:close/>
                </a:path>
                <a:path w="78104" h="458470">
                  <a:moveTo>
                    <a:pt x="71247" y="64769"/>
                  </a:moveTo>
                  <a:lnTo>
                    <a:pt x="51815" y="64769"/>
                  </a:lnTo>
                  <a:lnTo>
                    <a:pt x="51815" y="77724"/>
                  </a:lnTo>
                  <a:lnTo>
                    <a:pt x="77724" y="77724"/>
                  </a:lnTo>
                  <a:lnTo>
                    <a:pt x="71247" y="64769"/>
                  </a:lnTo>
                  <a:close/>
                </a:path>
              </a:pathLst>
            </a:custGeom>
            <a:solidFill>
              <a:srgbClr val="B903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04844" y="1842492"/>
              <a:ext cx="804671" cy="56545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32860" y="1837944"/>
              <a:ext cx="502920" cy="56540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742944" y="1857756"/>
              <a:ext cx="728980" cy="489584"/>
            </a:xfrm>
            <a:custGeom>
              <a:avLst/>
              <a:gdLst/>
              <a:ahLst/>
              <a:cxnLst/>
              <a:rect l="l" t="t" r="r" b="b"/>
              <a:pathLst>
                <a:path w="728979" h="489585">
                  <a:moveTo>
                    <a:pt x="646938" y="0"/>
                  </a:moveTo>
                  <a:lnTo>
                    <a:pt x="81533" y="0"/>
                  </a:lnTo>
                  <a:lnTo>
                    <a:pt x="49774" y="6399"/>
                  </a:lnTo>
                  <a:lnTo>
                    <a:pt x="23860" y="23860"/>
                  </a:lnTo>
                  <a:lnTo>
                    <a:pt x="6399" y="49774"/>
                  </a:lnTo>
                  <a:lnTo>
                    <a:pt x="0" y="81534"/>
                  </a:lnTo>
                  <a:lnTo>
                    <a:pt x="0" y="407670"/>
                  </a:lnTo>
                  <a:lnTo>
                    <a:pt x="6399" y="439429"/>
                  </a:lnTo>
                  <a:lnTo>
                    <a:pt x="23860" y="465343"/>
                  </a:lnTo>
                  <a:lnTo>
                    <a:pt x="49774" y="482804"/>
                  </a:lnTo>
                  <a:lnTo>
                    <a:pt x="81533" y="489204"/>
                  </a:lnTo>
                  <a:lnTo>
                    <a:pt x="646938" y="489204"/>
                  </a:lnTo>
                  <a:lnTo>
                    <a:pt x="678697" y="482804"/>
                  </a:lnTo>
                  <a:lnTo>
                    <a:pt x="704611" y="465343"/>
                  </a:lnTo>
                  <a:lnTo>
                    <a:pt x="722072" y="439429"/>
                  </a:lnTo>
                  <a:lnTo>
                    <a:pt x="728471" y="407670"/>
                  </a:lnTo>
                  <a:lnTo>
                    <a:pt x="728471" y="81534"/>
                  </a:lnTo>
                  <a:lnTo>
                    <a:pt x="722072" y="49774"/>
                  </a:lnTo>
                  <a:lnTo>
                    <a:pt x="704611" y="23860"/>
                  </a:lnTo>
                  <a:lnTo>
                    <a:pt x="678697" y="6399"/>
                  </a:lnTo>
                  <a:lnTo>
                    <a:pt x="646938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742944" y="1857756"/>
              <a:ext cx="728980" cy="489584"/>
            </a:xfrm>
            <a:custGeom>
              <a:avLst/>
              <a:gdLst/>
              <a:ahLst/>
              <a:cxnLst/>
              <a:rect l="l" t="t" r="r" b="b"/>
              <a:pathLst>
                <a:path w="728979" h="489585">
                  <a:moveTo>
                    <a:pt x="0" y="81534"/>
                  </a:moveTo>
                  <a:lnTo>
                    <a:pt x="6399" y="49774"/>
                  </a:lnTo>
                  <a:lnTo>
                    <a:pt x="23860" y="23860"/>
                  </a:lnTo>
                  <a:lnTo>
                    <a:pt x="49774" y="6399"/>
                  </a:lnTo>
                  <a:lnTo>
                    <a:pt x="81533" y="0"/>
                  </a:lnTo>
                  <a:lnTo>
                    <a:pt x="646938" y="0"/>
                  </a:lnTo>
                  <a:lnTo>
                    <a:pt x="678697" y="6399"/>
                  </a:lnTo>
                  <a:lnTo>
                    <a:pt x="704611" y="23860"/>
                  </a:lnTo>
                  <a:lnTo>
                    <a:pt x="722072" y="49774"/>
                  </a:lnTo>
                  <a:lnTo>
                    <a:pt x="728471" y="81534"/>
                  </a:lnTo>
                  <a:lnTo>
                    <a:pt x="728471" y="407670"/>
                  </a:lnTo>
                  <a:lnTo>
                    <a:pt x="722072" y="439429"/>
                  </a:lnTo>
                  <a:lnTo>
                    <a:pt x="704611" y="465343"/>
                  </a:lnTo>
                  <a:lnTo>
                    <a:pt x="678697" y="482804"/>
                  </a:lnTo>
                  <a:lnTo>
                    <a:pt x="646938" y="489204"/>
                  </a:lnTo>
                  <a:lnTo>
                    <a:pt x="81533" y="489204"/>
                  </a:lnTo>
                  <a:lnTo>
                    <a:pt x="49774" y="482804"/>
                  </a:lnTo>
                  <a:lnTo>
                    <a:pt x="23860" y="465343"/>
                  </a:lnTo>
                  <a:lnTo>
                    <a:pt x="6399" y="439429"/>
                  </a:lnTo>
                  <a:lnTo>
                    <a:pt x="0" y="407670"/>
                  </a:lnTo>
                  <a:lnTo>
                    <a:pt x="0" y="8153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86784" y="2246376"/>
              <a:ext cx="242315" cy="55016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069080" y="2347722"/>
              <a:ext cx="78105" cy="386080"/>
            </a:xfrm>
            <a:custGeom>
              <a:avLst/>
              <a:gdLst/>
              <a:ahLst/>
              <a:cxnLst/>
              <a:rect l="l" t="t" r="r" b="b"/>
              <a:pathLst>
                <a:path w="78104" h="386080">
                  <a:moveTo>
                    <a:pt x="51816" y="64769"/>
                  </a:moveTo>
                  <a:lnTo>
                    <a:pt x="25908" y="64769"/>
                  </a:lnTo>
                  <a:lnTo>
                    <a:pt x="25908" y="385572"/>
                  </a:lnTo>
                  <a:lnTo>
                    <a:pt x="51816" y="385572"/>
                  </a:lnTo>
                  <a:lnTo>
                    <a:pt x="51816" y="64769"/>
                  </a:lnTo>
                  <a:close/>
                </a:path>
                <a:path w="78104" h="386080">
                  <a:moveTo>
                    <a:pt x="38862" y="0"/>
                  </a:moveTo>
                  <a:lnTo>
                    <a:pt x="0" y="77724"/>
                  </a:lnTo>
                  <a:lnTo>
                    <a:pt x="25908" y="77724"/>
                  </a:lnTo>
                  <a:lnTo>
                    <a:pt x="25908" y="64769"/>
                  </a:lnTo>
                  <a:lnTo>
                    <a:pt x="71247" y="64769"/>
                  </a:lnTo>
                  <a:lnTo>
                    <a:pt x="38862" y="0"/>
                  </a:lnTo>
                  <a:close/>
                </a:path>
                <a:path w="78104" h="386080">
                  <a:moveTo>
                    <a:pt x="71247" y="64769"/>
                  </a:moveTo>
                  <a:lnTo>
                    <a:pt x="51816" y="64769"/>
                  </a:lnTo>
                  <a:lnTo>
                    <a:pt x="51816" y="77724"/>
                  </a:lnTo>
                  <a:lnTo>
                    <a:pt x="77724" y="77724"/>
                  </a:lnTo>
                  <a:lnTo>
                    <a:pt x="71247" y="64769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85944" y="5146534"/>
              <a:ext cx="804671" cy="104091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09388" y="5152644"/>
              <a:ext cx="510539" cy="56540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924044" y="5161788"/>
              <a:ext cx="728980" cy="965200"/>
            </a:xfrm>
            <a:custGeom>
              <a:avLst/>
              <a:gdLst/>
              <a:ahLst/>
              <a:cxnLst/>
              <a:rect l="l" t="t" r="r" b="b"/>
              <a:pathLst>
                <a:path w="728979" h="965200">
                  <a:moveTo>
                    <a:pt x="607059" y="0"/>
                  </a:moveTo>
                  <a:lnTo>
                    <a:pt x="121411" y="0"/>
                  </a:lnTo>
                  <a:lnTo>
                    <a:pt x="74152" y="9540"/>
                  </a:lnTo>
                  <a:lnTo>
                    <a:pt x="35559" y="35560"/>
                  </a:lnTo>
                  <a:lnTo>
                    <a:pt x="9540" y="74152"/>
                  </a:lnTo>
                  <a:lnTo>
                    <a:pt x="0" y="121412"/>
                  </a:lnTo>
                  <a:lnTo>
                    <a:pt x="0" y="843280"/>
                  </a:lnTo>
                  <a:lnTo>
                    <a:pt x="9540" y="890539"/>
                  </a:lnTo>
                  <a:lnTo>
                    <a:pt x="35559" y="929132"/>
                  </a:lnTo>
                  <a:lnTo>
                    <a:pt x="74152" y="955151"/>
                  </a:lnTo>
                  <a:lnTo>
                    <a:pt x="121411" y="964692"/>
                  </a:lnTo>
                  <a:lnTo>
                    <a:pt x="607059" y="964692"/>
                  </a:lnTo>
                  <a:lnTo>
                    <a:pt x="654319" y="955151"/>
                  </a:lnTo>
                  <a:lnTo>
                    <a:pt x="692912" y="929132"/>
                  </a:lnTo>
                  <a:lnTo>
                    <a:pt x="718931" y="890539"/>
                  </a:lnTo>
                  <a:lnTo>
                    <a:pt x="728471" y="843280"/>
                  </a:lnTo>
                  <a:lnTo>
                    <a:pt x="728471" y="121412"/>
                  </a:lnTo>
                  <a:lnTo>
                    <a:pt x="718931" y="74152"/>
                  </a:lnTo>
                  <a:lnTo>
                    <a:pt x="692911" y="35560"/>
                  </a:lnTo>
                  <a:lnTo>
                    <a:pt x="654319" y="9540"/>
                  </a:lnTo>
                  <a:lnTo>
                    <a:pt x="607059" y="0"/>
                  </a:lnTo>
                  <a:close/>
                </a:path>
              </a:pathLst>
            </a:custGeom>
            <a:solidFill>
              <a:srgbClr val="F4C9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924044" y="5161788"/>
              <a:ext cx="728980" cy="965200"/>
            </a:xfrm>
            <a:custGeom>
              <a:avLst/>
              <a:gdLst/>
              <a:ahLst/>
              <a:cxnLst/>
              <a:rect l="l" t="t" r="r" b="b"/>
              <a:pathLst>
                <a:path w="728979" h="965200">
                  <a:moveTo>
                    <a:pt x="0" y="121412"/>
                  </a:moveTo>
                  <a:lnTo>
                    <a:pt x="9540" y="74152"/>
                  </a:lnTo>
                  <a:lnTo>
                    <a:pt x="35559" y="35560"/>
                  </a:lnTo>
                  <a:lnTo>
                    <a:pt x="74152" y="9540"/>
                  </a:lnTo>
                  <a:lnTo>
                    <a:pt x="121411" y="0"/>
                  </a:lnTo>
                  <a:lnTo>
                    <a:pt x="607059" y="0"/>
                  </a:lnTo>
                  <a:lnTo>
                    <a:pt x="654319" y="9540"/>
                  </a:lnTo>
                  <a:lnTo>
                    <a:pt x="692911" y="35560"/>
                  </a:lnTo>
                  <a:lnTo>
                    <a:pt x="718931" y="74152"/>
                  </a:lnTo>
                  <a:lnTo>
                    <a:pt x="728471" y="121412"/>
                  </a:lnTo>
                  <a:lnTo>
                    <a:pt x="728471" y="843280"/>
                  </a:lnTo>
                  <a:lnTo>
                    <a:pt x="718931" y="890539"/>
                  </a:lnTo>
                  <a:lnTo>
                    <a:pt x="692912" y="929132"/>
                  </a:lnTo>
                  <a:lnTo>
                    <a:pt x="654319" y="955151"/>
                  </a:lnTo>
                  <a:lnTo>
                    <a:pt x="607059" y="964692"/>
                  </a:lnTo>
                  <a:lnTo>
                    <a:pt x="121411" y="964692"/>
                  </a:lnTo>
                  <a:lnTo>
                    <a:pt x="74152" y="955151"/>
                  </a:lnTo>
                  <a:lnTo>
                    <a:pt x="35559" y="929132"/>
                  </a:lnTo>
                  <a:lnTo>
                    <a:pt x="9540" y="890539"/>
                  </a:lnTo>
                  <a:lnTo>
                    <a:pt x="0" y="843280"/>
                  </a:lnTo>
                  <a:lnTo>
                    <a:pt x="0" y="121412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151120" y="5216144"/>
            <a:ext cx="272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718FA4"/>
                </a:solidFill>
                <a:latin typeface="Calibri"/>
                <a:cs typeface="Calibri"/>
              </a:rPr>
              <a:t>X</a:t>
            </a:r>
            <a:r>
              <a:rPr sz="1800" spc="-37" baseline="-20833" dirty="0">
                <a:solidFill>
                  <a:srgbClr val="718FA4"/>
                </a:solidFill>
                <a:latin typeface="Calibri"/>
                <a:cs typeface="Calibri"/>
              </a:rPr>
              <a:t>1</a:t>
            </a:r>
            <a:endParaRPr sz="1800" baseline="-20833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890515" y="2708148"/>
            <a:ext cx="809625" cy="2065020"/>
            <a:chOff x="4890515" y="2708148"/>
            <a:chExt cx="809625" cy="2065020"/>
          </a:xfrm>
        </p:grpSpPr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90515" y="2708148"/>
              <a:ext cx="809243" cy="206502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937759" y="2732532"/>
              <a:ext cx="715010" cy="1971039"/>
            </a:xfrm>
            <a:custGeom>
              <a:avLst/>
              <a:gdLst/>
              <a:ahLst/>
              <a:cxnLst/>
              <a:rect l="l" t="t" r="r" b="b"/>
              <a:pathLst>
                <a:path w="715010" h="1971039">
                  <a:moveTo>
                    <a:pt x="595629" y="0"/>
                  </a:moveTo>
                  <a:lnTo>
                    <a:pt x="119125" y="0"/>
                  </a:lnTo>
                  <a:lnTo>
                    <a:pt x="72759" y="9362"/>
                  </a:lnTo>
                  <a:lnTo>
                    <a:pt x="34893" y="34893"/>
                  </a:lnTo>
                  <a:lnTo>
                    <a:pt x="9362" y="72759"/>
                  </a:lnTo>
                  <a:lnTo>
                    <a:pt x="0" y="119125"/>
                  </a:lnTo>
                  <a:lnTo>
                    <a:pt x="0" y="1851405"/>
                  </a:lnTo>
                  <a:lnTo>
                    <a:pt x="9362" y="1897772"/>
                  </a:lnTo>
                  <a:lnTo>
                    <a:pt x="34893" y="1935638"/>
                  </a:lnTo>
                  <a:lnTo>
                    <a:pt x="72759" y="1961169"/>
                  </a:lnTo>
                  <a:lnTo>
                    <a:pt x="119125" y="1970531"/>
                  </a:lnTo>
                  <a:lnTo>
                    <a:pt x="595629" y="1970531"/>
                  </a:lnTo>
                  <a:lnTo>
                    <a:pt x="641996" y="1961169"/>
                  </a:lnTo>
                  <a:lnTo>
                    <a:pt x="679862" y="1935638"/>
                  </a:lnTo>
                  <a:lnTo>
                    <a:pt x="705393" y="1897772"/>
                  </a:lnTo>
                  <a:lnTo>
                    <a:pt x="714755" y="1851405"/>
                  </a:lnTo>
                  <a:lnTo>
                    <a:pt x="714755" y="119125"/>
                  </a:lnTo>
                  <a:lnTo>
                    <a:pt x="705393" y="72759"/>
                  </a:lnTo>
                  <a:lnTo>
                    <a:pt x="679862" y="34893"/>
                  </a:lnTo>
                  <a:lnTo>
                    <a:pt x="641996" y="9362"/>
                  </a:lnTo>
                  <a:lnTo>
                    <a:pt x="595629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37759" y="2732532"/>
              <a:ext cx="715010" cy="1971039"/>
            </a:xfrm>
            <a:custGeom>
              <a:avLst/>
              <a:gdLst/>
              <a:ahLst/>
              <a:cxnLst/>
              <a:rect l="l" t="t" r="r" b="b"/>
              <a:pathLst>
                <a:path w="715010" h="1971039">
                  <a:moveTo>
                    <a:pt x="0" y="119125"/>
                  </a:moveTo>
                  <a:lnTo>
                    <a:pt x="9362" y="72759"/>
                  </a:lnTo>
                  <a:lnTo>
                    <a:pt x="34893" y="34893"/>
                  </a:lnTo>
                  <a:lnTo>
                    <a:pt x="72759" y="9362"/>
                  </a:lnTo>
                  <a:lnTo>
                    <a:pt x="119125" y="0"/>
                  </a:lnTo>
                  <a:lnTo>
                    <a:pt x="595629" y="0"/>
                  </a:lnTo>
                  <a:lnTo>
                    <a:pt x="641996" y="9362"/>
                  </a:lnTo>
                  <a:lnTo>
                    <a:pt x="679862" y="34893"/>
                  </a:lnTo>
                  <a:lnTo>
                    <a:pt x="705393" y="72759"/>
                  </a:lnTo>
                  <a:lnTo>
                    <a:pt x="714755" y="119125"/>
                  </a:lnTo>
                  <a:lnTo>
                    <a:pt x="714755" y="1851405"/>
                  </a:lnTo>
                  <a:lnTo>
                    <a:pt x="705393" y="1897772"/>
                  </a:lnTo>
                  <a:lnTo>
                    <a:pt x="679862" y="1935638"/>
                  </a:lnTo>
                  <a:lnTo>
                    <a:pt x="641996" y="1961169"/>
                  </a:lnTo>
                  <a:lnTo>
                    <a:pt x="595629" y="1970531"/>
                  </a:lnTo>
                  <a:lnTo>
                    <a:pt x="119125" y="1970531"/>
                  </a:lnTo>
                  <a:lnTo>
                    <a:pt x="72759" y="1961169"/>
                  </a:lnTo>
                  <a:lnTo>
                    <a:pt x="34893" y="1935638"/>
                  </a:lnTo>
                  <a:lnTo>
                    <a:pt x="9362" y="1897772"/>
                  </a:lnTo>
                  <a:lnTo>
                    <a:pt x="0" y="1851405"/>
                  </a:lnTo>
                  <a:lnTo>
                    <a:pt x="0" y="119125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187696" y="3373995"/>
            <a:ext cx="254000" cy="6934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10" dirty="0">
                <a:solidFill>
                  <a:srgbClr val="718FA4"/>
                </a:solidFill>
                <a:latin typeface="Calibri"/>
                <a:cs typeface="Calibri"/>
              </a:rPr>
              <a:t>Hidden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881371" y="1837944"/>
            <a:ext cx="805180" cy="3388360"/>
            <a:chOff x="4881371" y="1837944"/>
            <a:chExt cx="805180" cy="3388360"/>
          </a:xfrm>
        </p:grpSpPr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75503" y="4602479"/>
              <a:ext cx="240791" cy="62331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255894" y="4703826"/>
              <a:ext cx="78105" cy="459105"/>
            </a:xfrm>
            <a:custGeom>
              <a:avLst/>
              <a:gdLst/>
              <a:ahLst/>
              <a:cxnLst/>
              <a:rect l="l" t="t" r="r" b="b"/>
              <a:pathLst>
                <a:path w="78104" h="459104">
                  <a:moveTo>
                    <a:pt x="25842" y="77511"/>
                  </a:moveTo>
                  <a:lnTo>
                    <a:pt x="20192" y="458343"/>
                  </a:lnTo>
                  <a:lnTo>
                    <a:pt x="46100" y="458724"/>
                  </a:lnTo>
                  <a:lnTo>
                    <a:pt x="51743" y="78359"/>
                  </a:lnTo>
                  <a:lnTo>
                    <a:pt x="51749" y="77934"/>
                  </a:lnTo>
                  <a:lnTo>
                    <a:pt x="25842" y="77511"/>
                  </a:lnTo>
                  <a:close/>
                </a:path>
                <a:path w="78104" h="459104">
                  <a:moveTo>
                    <a:pt x="71060" y="64516"/>
                  </a:moveTo>
                  <a:lnTo>
                    <a:pt x="26034" y="64516"/>
                  </a:lnTo>
                  <a:lnTo>
                    <a:pt x="51942" y="64897"/>
                  </a:lnTo>
                  <a:lnTo>
                    <a:pt x="51762" y="77088"/>
                  </a:lnTo>
                  <a:lnTo>
                    <a:pt x="51749" y="77934"/>
                  </a:lnTo>
                  <a:lnTo>
                    <a:pt x="77724" y="78359"/>
                  </a:lnTo>
                  <a:lnTo>
                    <a:pt x="71060" y="64516"/>
                  </a:lnTo>
                  <a:close/>
                </a:path>
                <a:path w="78104" h="459104">
                  <a:moveTo>
                    <a:pt x="26034" y="64516"/>
                  </a:moveTo>
                  <a:lnTo>
                    <a:pt x="25848" y="77088"/>
                  </a:lnTo>
                  <a:lnTo>
                    <a:pt x="25842" y="77511"/>
                  </a:lnTo>
                  <a:lnTo>
                    <a:pt x="51749" y="77934"/>
                  </a:lnTo>
                  <a:lnTo>
                    <a:pt x="51942" y="64897"/>
                  </a:lnTo>
                  <a:lnTo>
                    <a:pt x="26034" y="64516"/>
                  </a:lnTo>
                  <a:close/>
                </a:path>
                <a:path w="78104" h="459104">
                  <a:moveTo>
                    <a:pt x="40004" y="0"/>
                  </a:moveTo>
                  <a:lnTo>
                    <a:pt x="0" y="77088"/>
                  </a:lnTo>
                  <a:lnTo>
                    <a:pt x="25842" y="77511"/>
                  </a:lnTo>
                  <a:lnTo>
                    <a:pt x="26029" y="64897"/>
                  </a:lnTo>
                  <a:lnTo>
                    <a:pt x="26034" y="64516"/>
                  </a:lnTo>
                  <a:lnTo>
                    <a:pt x="71060" y="64516"/>
                  </a:lnTo>
                  <a:lnTo>
                    <a:pt x="40004" y="0"/>
                  </a:lnTo>
                  <a:close/>
                </a:path>
              </a:pathLst>
            </a:custGeom>
            <a:solidFill>
              <a:srgbClr val="B903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81371" y="1842492"/>
              <a:ext cx="804671" cy="56545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09387" y="1837944"/>
              <a:ext cx="502920" cy="565403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919471" y="1857756"/>
              <a:ext cx="728980" cy="489584"/>
            </a:xfrm>
            <a:custGeom>
              <a:avLst/>
              <a:gdLst/>
              <a:ahLst/>
              <a:cxnLst/>
              <a:rect l="l" t="t" r="r" b="b"/>
              <a:pathLst>
                <a:path w="728979" h="489585">
                  <a:moveTo>
                    <a:pt x="646938" y="0"/>
                  </a:moveTo>
                  <a:lnTo>
                    <a:pt x="81533" y="0"/>
                  </a:lnTo>
                  <a:lnTo>
                    <a:pt x="49774" y="6399"/>
                  </a:lnTo>
                  <a:lnTo>
                    <a:pt x="23860" y="23860"/>
                  </a:lnTo>
                  <a:lnTo>
                    <a:pt x="6399" y="49774"/>
                  </a:lnTo>
                  <a:lnTo>
                    <a:pt x="0" y="81534"/>
                  </a:lnTo>
                  <a:lnTo>
                    <a:pt x="0" y="407670"/>
                  </a:lnTo>
                  <a:lnTo>
                    <a:pt x="6399" y="439429"/>
                  </a:lnTo>
                  <a:lnTo>
                    <a:pt x="23860" y="465343"/>
                  </a:lnTo>
                  <a:lnTo>
                    <a:pt x="49774" y="482804"/>
                  </a:lnTo>
                  <a:lnTo>
                    <a:pt x="81533" y="489204"/>
                  </a:lnTo>
                  <a:lnTo>
                    <a:pt x="646938" y="489204"/>
                  </a:lnTo>
                  <a:lnTo>
                    <a:pt x="678697" y="482804"/>
                  </a:lnTo>
                  <a:lnTo>
                    <a:pt x="704611" y="465343"/>
                  </a:lnTo>
                  <a:lnTo>
                    <a:pt x="722072" y="439429"/>
                  </a:lnTo>
                  <a:lnTo>
                    <a:pt x="728472" y="407670"/>
                  </a:lnTo>
                  <a:lnTo>
                    <a:pt x="728472" y="81534"/>
                  </a:lnTo>
                  <a:lnTo>
                    <a:pt x="722072" y="49774"/>
                  </a:lnTo>
                  <a:lnTo>
                    <a:pt x="704611" y="23860"/>
                  </a:lnTo>
                  <a:lnTo>
                    <a:pt x="678697" y="6399"/>
                  </a:lnTo>
                  <a:lnTo>
                    <a:pt x="646938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919471" y="1857756"/>
              <a:ext cx="728980" cy="489584"/>
            </a:xfrm>
            <a:custGeom>
              <a:avLst/>
              <a:gdLst/>
              <a:ahLst/>
              <a:cxnLst/>
              <a:rect l="l" t="t" r="r" b="b"/>
              <a:pathLst>
                <a:path w="728979" h="489585">
                  <a:moveTo>
                    <a:pt x="0" y="81534"/>
                  </a:moveTo>
                  <a:lnTo>
                    <a:pt x="6399" y="49774"/>
                  </a:lnTo>
                  <a:lnTo>
                    <a:pt x="23860" y="23860"/>
                  </a:lnTo>
                  <a:lnTo>
                    <a:pt x="49774" y="6399"/>
                  </a:lnTo>
                  <a:lnTo>
                    <a:pt x="81533" y="0"/>
                  </a:lnTo>
                  <a:lnTo>
                    <a:pt x="646938" y="0"/>
                  </a:lnTo>
                  <a:lnTo>
                    <a:pt x="678697" y="6399"/>
                  </a:lnTo>
                  <a:lnTo>
                    <a:pt x="704611" y="23860"/>
                  </a:lnTo>
                  <a:lnTo>
                    <a:pt x="722072" y="49774"/>
                  </a:lnTo>
                  <a:lnTo>
                    <a:pt x="728472" y="81534"/>
                  </a:lnTo>
                  <a:lnTo>
                    <a:pt x="728472" y="407670"/>
                  </a:lnTo>
                  <a:lnTo>
                    <a:pt x="722072" y="439429"/>
                  </a:lnTo>
                  <a:lnTo>
                    <a:pt x="704611" y="465343"/>
                  </a:lnTo>
                  <a:lnTo>
                    <a:pt x="678697" y="482804"/>
                  </a:lnTo>
                  <a:lnTo>
                    <a:pt x="646938" y="489204"/>
                  </a:lnTo>
                  <a:lnTo>
                    <a:pt x="81533" y="489204"/>
                  </a:lnTo>
                  <a:lnTo>
                    <a:pt x="49774" y="482804"/>
                  </a:lnTo>
                  <a:lnTo>
                    <a:pt x="23860" y="465343"/>
                  </a:lnTo>
                  <a:lnTo>
                    <a:pt x="6399" y="439429"/>
                  </a:lnTo>
                  <a:lnTo>
                    <a:pt x="0" y="407670"/>
                  </a:lnTo>
                  <a:lnTo>
                    <a:pt x="0" y="8153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963161" y="1899920"/>
            <a:ext cx="1466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226820" algn="l"/>
              </a:tabLst>
            </a:pPr>
            <a:r>
              <a:rPr sz="1800" spc="-25" dirty="0">
                <a:solidFill>
                  <a:srgbClr val="718FA4"/>
                </a:solidFill>
                <a:latin typeface="Calibri"/>
                <a:cs typeface="Calibri"/>
              </a:rPr>
              <a:t>Y</a:t>
            </a:r>
            <a:r>
              <a:rPr sz="1800" spc="-37" baseline="-20833" dirty="0">
                <a:solidFill>
                  <a:srgbClr val="718FA4"/>
                </a:solidFill>
                <a:latin typeface="Calibri"/>
                <a:cs typeface="Calibri"/>
              </a:rPr>
              <a:t>0</a:t>
            </a:r>
            <a:r>
              <a:rPr sz="1800" baseline="-20833" dirty="0">
                <a:solidFill>
                  <a:srgbClr val="718FA4"/>
                </a:solidFill>
                <a:latin typeface="Calibri"/>
                <a:cs typeface="Calibri"/>
              </a:rPr>
              <a:t>	</a:t>
            </a:r>
            <a:r>
              <a:rPr sz="1800" spc="-25" dirty="0">
                <a:solidFill>
                  <a:srgbClr val="718FA4"/>
                </a:solidFill>
                <a:latin typeface="Calibri"/>
                <a:cs typeface="Calibri"/>
              </a:rPr>
              <a:t>Y</a:t>
            </a:r>
            <a:r>
              <a:rPr sz="1800" spc="-37" baseline="-20833" dirty="0">
                <a:solidFill>
                  <a:srgbClr val="718FA4"/>
                </a:solidFill>
                <a:latin typeface="Calibri"/>
                <a:cs typeface="Calibri"/>
              </a:rPr>
              <a:t>1</a:t>
            </a:r>
            <a:endParaRPr sz="1800" baseline="-20833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163311" y="2246376"/>
            <a:ext cx="2877820" cy="3941445"/>
            <a:chOff x="5163311" y="2246376"/>
            <a:chExt cx="2877820" cy="3941445"/>
          </a:xfrm>
        </p:grpSpPr>
        <p:pic>
          <p:nvPicPr>
            <p:cNvPr id="47" name="object 4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63311" y="2246376"/>
              <a:ext cx="242315" cy="550163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245607" y="2347722"/>
              <a:ext cx="78105" cy="386080"/>
            </a:xfrm>
            <a:custGeom>
              <a:avLst/>
              <a:gdLst/>
              <a:ahLst/>
              <a:cxnLst/>
              <a:rect l="l" t="t" r="r" b="b"/>
              <a:pathLst>
                <a:path w="78104" h="386080">
                  <a:moveTo>
                    <a:pt x="51815" y="64769"/>
                  </a:moveTo>
                  <a:lnTo>
                    <a:pt x="25907" y="64769"/>
                  </a:lnTo>
                  <a:lnTo>
                    <a:pt x="25907" y="385572"/>
                  </a:lnTo>
                  <a:lnTo>
                    <a:pt x="51815" y="385572"/>
                  </a:lnTo>
                  <a:lnTo>
                    <a:pt x="51815" y="64769"/>
                  </a:lnTo>
                  <a:close/>
                </a:path>
                <a:path w="78104" h="386080">
                  <a:moveTo>
                    <a:pt x="38862" y="0"/>
                  </a:moveTo>
                  <a:lnTo>
                    <a:pt x="0" y="77724"/>
                  </a:lnTo>
                  <a:lnTo>
                    <a:pt x="25907" y="77724"/>
                  </a:lnTo>
                  <a:lnTo>
                    <a:pt x="25907" y="64769"/>
                  </a:lnTo>
                  <a:lnTo>
                    <a:pt x="71246" y="64769"/>
                  </a:lnTo>
                  <a:lnTo>
                    <a:pt x="38862" y="0"/>
                  </a:lnTo>
                  <a:close/>
                </a:path>
                <a:path w="78104" h="386080">
                  <a:moveTo>
                    <a:pt x="71246" y="64769"/>
                  </a:moveTo>
                  <a:lnTo>
                    <a:pt x="51815" y="64769"/>
                  </a:lnTo>
                  <a:lnTo>
                    <a:pt x="51815" y="77724"/>
                  </a:lnTo>
                  <a:lnTo>
                    <a:pt x="77724" y="77724"/>
                  </a:lnTo>
                  <a:lnTo>
                    <a:pt x="71246" y="64769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5951" y="5146534"/>
              <a:ext cx="804671" cy="1040918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74635" y="5152644"/>
              <a:ext cx="481583" cy="565404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7274051" y="5161788"/>
              <a:ext cx="728980" cy="965200"/>
            </a:xfrm>
            <a:custGeom>
              <a:avLst/>
              <a:gdLst/>
              <a:ahLst/>
              <a:cxnLst/>
              <a:rect l="l" t="t" r="r" b="b"/>
              <a:pathLst>
                <a:path w="728979" h="965200">
                  <a:moveTo>
                    <a:pt x="607059" y="0"/>
                  </a:moveTo>
                  <a:lnTo>
                    <a:pt x="121412" y="0"/>
                  </a:lnTo>
                  <a:lnTo>
                    <a:pt x="74152" y="9540"/>
                  </a:lnTo>
                  <a:lnTo>
                    <a:pt x="35560" y="35560"/>
                  </a:lnTo>
                  <a:lnTo>
                    <a:pt x="9540" y="74152"/>
                  </a:lnTo>
                  <a:lnTo>
                    <a:pt x="0" y="121412"/>
                  </a:lnTo>
                  <a:lnTo>
                    <a:pt x="0" y="843280"/>
                  </a:lnTo>
                  <a:lnTo>
                    <a:pt x="9540" y="890539"/>
                  </a:lnTo>
                  <a:lnTo>
                    <a:pt x="35559" y="929132"/>
                  </a:lnTo>
                  <a:lnTo>
                    <a:pt x="74152" y="955151"/>
                  </a:lnTo>
                  <a:lnTo>
                    <a:pt x="121412" y="964692"/>
                  </a:lnTo>
                  <a:lnTo>
                    <a:pt x="607059" y="964692"/>
                  </a:lnTo>
                  <a:lnTo>
                    <a:pt x="654319" y="955151"/>
                  </a:lnTo>
                  <a:lnTo>
                    <a:pt x="692911" y="929132"/>
                  </a:lnTo>
                  <a:lnTo>
                    <a:pt x="718931" y="890539"/>
                  </a:lnTo>
                  <a:lnTo>
                    <a:pt x="728472" y="843280"/>
                  </a:lnTo>
                  <a:lnTo>
                    <a:pt x="728472" y="121412"/>
                  </a:lnTo>
                  <a:lnTo>
                    <a:pt x="718931" y="74152"/>
                  </a:lnTo>
                  <a:lnTo>
                    <a:pt x="692912" y="35560"/>
                  </a:lnTo>
                  <a:lnTo>
                    <a:pt x="654319" y="9540"/>
                  </a:lnTo>
                  <a:lnTo>
                    <a:pt x="607059" y="0"/>
                  </a:lnTo>
                  <a:close/>
                </a:path>
              </a:pathLst>
            </a:custGeom>
            <a:solidFill>
              <a:srgbClr val="F4C9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274051" y="5161788"/>
              <a:ext cx="728980" cy="965200"/>
            </a:xfrm>
            <a:custGeom>
              <a:avLst/>
              <a:gdLst/>
              <a:ahLst/>
              <a:cxnLst/>
              <a:rect l="l" t="t" r="r" b="b"/>
              <a:pathLst>
                <a:path w="728979" h="965200">
                  <a:moveTo>
                    <a:pt x="0" y="121412"/>
                  </a:moveTo>
                  <a:lnTo>
                    <a:pt x="9540" y="74152"/>
                  </a:lnTo>
                  <a:lnTo>
                    <a:pt x="35560" y="35560"/>
                  </a:lnTo>
                  <a:lnTo>
                    <a:pt x="74152" y="9540"/>
                  </a:lnTo>
                  <a:lnTo>
                    <a:pt x="121412" y="0"/>
                  </a:lnTo>
                  <a:lnTo>
                    <a:pt x="607059" y="0"/>
                  </a:lnTo>
                  <a:lnTo>
                    <a:pt x="654319" y="9540"/>
                  </a:lnTo>
                  <a:lnTo>
                    <a:pt x="692912" y="35560"/>
                  </a:lnTo>
                  <a:lnTo>
                    <a:pt x="718931" y="74152"/>
                  </a:lnTo>
                  <a:lnTo>
                    <a:pt x="728472" y="121412"/>
                  </a:lnTo>
                  <a:lnTo>
                    <a:pt x="728472" y="843280"/>
                  </a:lnTo>
                  <a:lnTo>
                    <a:pt x="718931" y="890539"/>
                  </a:lnTo>
                  <a:lnTo>
                    <a:pt x="692911" y="929132"/>
                  </a:lnTo>
                  <a:lnTo>
                    <a:pt x="654319" y="955151"/>
                  </a:lnTo>
                  <a:lnTo>
                    <a:pt x="607059" y="964692"/>
                  </a:lnTo>
                  <a:lnTo>
                    <a:pt x="121412" y="964692"/>
                  </a:lnTo>
                  <a:lnTo>
                    <a:pt x="74152" y="955151"/>
                  </a:lnTo>
                  <a:lnTo>
                    <a:pt x="35559" y="929132"/>
                  </a:lnTo>
                  <a:lnTo>
                    <a:pt x="9540" y="890539"/>
                  </a:lnTo>
                  <a:lnTo>
                    <a:pt x="0" y="843280"/>
                  </a:lnTo>
                  <a:lnTo>
                    <a:pt x="0" y="121412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7517892" y="5216144"/>
            <a:ext cx="2432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718FA4"/>
                </a:solidFill>
                <a:latin typeface="Calibri"/>
                <a:cs typeface="Calibri"/>
              </a:rPr>
              <a:t>X</a:t>
            </a:r>
            <a:r>
              <a:rPr sz="1800" spc="-37" baseline="-20833" dirty="0">
                <a:solidFill>
                  <a:srgbClr val="718FA4"/>
                </a:solidFill>
                <a:latin typeface="Calibri"/>
                <a:cs typeface="Calibri"/>
              </a:rPr>
              <a:t>t</a:t>
            </a:r>
            <a:endParaRPr sz="1800" baseline="-20833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7226807" y="2708148"/>
            <a:ext cx="809625" cy="2065020"/>
            <a:chOff x="7226807" y="2708148"/>
            <a:chExt cx="809625" cy="2065020"/>
          </a:xfrm>
        </p:grpSpPr>
        <p:pic>
          <p:nvPicPr>
            <p:cNvPr id="55" name="object 5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26807" y="2708148"/>
              <a:ext cx="809244" cy="206502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274051" y="2732532"/>
              <a:ext cx="715010" cy="1971039"/>
            </a:xfrm>
            <a:custGeom>
              <a:avLst/>
              <a:gdLst/>
              <a:ahLst/>
              <a:cxnLst/>
              <a:rect l="l" t="t" r="r" b="b"/>
              <a:pathLst>
                <a:path w="715009" h="1971039">
                  <a:moveTo>
                    <a:pt x="595629" y="0"/>
                  </a:moveTo>
                  <a:lnTo>
                    <a:pt x="119125" y="0"/>
                  </a:lnTo>
                  <a:lnTo>
                    <a:pt x="72759" y="9362"/>
                  </a:lnTo>
                  <a:lnTo>
                    <a:pt x="34893" y="34893"/>
                  </a:lnTo>
                  <a:lnTo>
                    <a:pt x="9362" y="72759"/>
                  </a:lnTo>
                  <a:lnTo>
                    <a:pt x="0" y="119125"/>
                  </a:lnTo>
                  <a:lnTo>
                    <a:pt x="0" y="1851405"/>
                  </a:lnTo>
                  <a:lnTo>
                    <a:pt x="9362" y="1897772"/>
                  </a:lnTo>
                  <a:lnTo>
                    <a:pt x="34893" y="1935638"/>
                  </a:lnTo>
                  <a:lnTo>
                    <a:pt x="72759" y="1961169"/>
                  </a:lnTo>
                  <a:lnTo>
                    <a:pt x="119125" y="1970531"/>
                  </a:lnTo>
                  <a:lnTo>
                    <a:pt x="595629" y="1970531"/>
                  </a:lnTo>
                  <a:lnTo>
                    <a:pt x="641996" y="1961169"/>
                  </a:lnTo>
                  <a:lnTo>
                    <a:pt x="679862" y="1935638"/>
                  </a:lnTo>
                  <a:lnTo>
                    <a:pt x="705393" y="1897772"/>
                  </a:lnTo>
                  <a:lnTo>
                    <a:pt x="714755" y="1851405"/>
                  </a:lnTo>
                  <a:lnTo>
                    <a:pt x="714755" y="119125"/>
                  </a:lnTo>
                  <a:lnTo>
                    <a:pt x="705393" y="72759"/>
                  </a:lnTo>
                  <a:lnTo>
                    <a:pt x="679862" y="34893"/>
                  </a:lnTo>
                  <a:lnTo>
                    <a:pt x="641996" y="9362"/>
                  </a:lnTo>
                  <a:lnTo>
                    <a:pt x="595629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274051" y="2732532"/>
              <a:ext cx="715010" cy="1971039"/>
            </a:xfrm>
            <a:custGeom>
              <a:avLst/>
              <a:gdLst/>
              <a:ahLst/>
              <a:cxnLst/>
              <a:rect l="l" t="t" r="r" b="b"/>
              <a:pathLst>
                <a:path w="715009" h="1971039">
                  <a:moveTo>
                    <a:pt x="0" y="119125"/>
                  </a:moveTo>
                  <a:lnTo>
                    <a:pt x="9362" y="72759"/>
                  </a:lnTo>
                  <a:lnTo>
                    <a:pt x="34893" y="34893"/>
                  </a:lnTo>
                  <a:lnTo>
                    <a:pt x="72759" y="9362"/>
                  </a:lnTo>
                  <a:lnTo>
                    <a:pt x="119125" y="0"/>
                  </a:lnTo>
                  <a:lnTo>
                    <a:pt x="595629" y="0"/>
                  </a:lnTo>
                  <a:lnTo>
                    <a:pt x="641996" y="9362"/>
                  </a:lnTo>
                  <a:lnTo>
                    <a:pt x="679862" y="34893"/>
                  </a:lnTo>
                  <a:lnTo>
                    <a:pt x="705393" y="72759"/>
                  </a:lnTo>
                  <a:lnTo>
                    <a:pt x="714755" y="119125"/>
                  </a:lnTo>
                  <a:lnTo>
                    <a:pt x="714755" y="1851405"/>
                  </a:lnTo>
                  <a:lnTo>
                    <a:pt x="705393" y="1897772"/>
                  </a:lnTo>
                  <a:lnTo>
                    <a:pt x="679862" y="1935638"/>
                  </a:lnTo>
                  <a:lnTo>
                    <a:pt x="641996" y="1961169"/>
                  </a:lnTo>
                  <a:lnTo>
                    <a:pt x="595629" y="1970531"/>
                  </a:lnTo>
                  <a:lnTo>
                    <a:pt x="119125" y="1970531"/>
                  </a:lnTo>
                  <a:lnTo>
                    <a:pt x="72759" y="1961169"/>
                  </a:lnTo>
                  <a:lnTo>
                    <a:pt x="34893" y="1935638"/>
                  </a:lnTo>
                  <a:lnTo>
                    <a:pt x="9362" y="1897772"/>
                  </a:lnTo>
                  <a:lnTo>
                    <a:pt x="0" y="1851405"/>
                  </a:lnTo>
                  <a:lnTo>
                    <a:pt x="0" y="119125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7525130" y="3374249"/>
            <a:ext cx="254000" cy="6934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10" dirty="0">
                <a:solidFill>
                  <a:srgbClr val="718FA4"/>
                </a:solidFill>
                <a:latin typeface="Calibri"/>
                <a:cs typeface="Calibri"/>
              </a:rPr>
              <a:t>Hidden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7240523" y="1837944"/>
            <a:ext cx="805180" cy="3386454"/>
            <a:chOff x="7240523" y="1837944"/>
            <a:chExt cx="805180" cy="3386454"/>
          </a:xfrm>
        </p:grpSpPr>
        <p:pic>
          <p:nvPicPr>
            <p:cNvPr id="60" name="object 6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11795" y="4602479"/>
              <a:ext cx="242316" cy="621792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7594091" y="4703826"/>
              <a:ext cx="78105" cy="458470"/>
            </a:xfrm>
            <a:custGeom>
              <a:avLst/>
              <a:gdLst/>
              <a:ahLst/>
              <a:cxnLst/>
              <a:rect l="l" t="t" r="r" b="b"/>
              <a:pathLst>
                <a:path w="78104" h="458470">
                  <a:moveTo>
                    <a:pt x="51815" y="64769"/>
                  </a:moveTo>
                  <a:lnTo>
                    <a:pt x="25907" y="64769"/>
                  </a:lnTo>
                  <a:lnTo>
                    <a:pt x="25907" y="458216"/>
                  </a:lnTo>
                  <a:lnTo>
                    <a:pt x="51815" y="458216"/>
                  </a:lnTo>
                  <a:lnTo>
                    <a:pt x="51815" y="64769"/>
                  </a:lnTo>
                  <a:close/>
                </a:path>
                <a:path w="78104" h="458470">
                  <a:moveTo>
                    <a:pt x="38861" y="0"/>
                  </a:moveTo>
                  <a:lnTo>
                    <a:pt x="0" y="77724"/>
                  </a:lnTo>
                  <a:lnTo>
                    <a:pt x="25907" y="77724"/>
                  </a:lnTo>
                  <a:lnTo>
                    <a:pt x="25907" y="64769"/>
                  </a:lnTo>
                  <a:lnTo>
                    <a:pt x="71247" y="64769"/>
                  </a:lnTo>
                  <a:lnTo>
                    <a:pt x="38861" y="0"/>
                  </a:lnTo>
                  <a:close/>
                </a:path>
                <a:path w="78104" h="458470">
                  <a:moveTo>
                    <a:pt x="71247" y="64769"/>
                  </a:moveTo>
                  <a:lnTo>
                    <a:pt x="51815" y="64769"/>
                  </a:lnTo>
                  <a:lnTo>
                    <a:pt x="51815" y="77724"/>
                  </a:lnTo>
                  <a:lnTo>
                    <a:pt x="77724" y="77724"/>
                  </a:lnTo>
                  <a:lnTo>
                    <a:pt x="71247" y="64769"/>
                  </a:lnTo>
                  <a:close/>
                </a:path>
              </a:pathLst>
            </a:custGeom>
            <a:solidFill>
              <a:srgbClr val="B903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0523" y="1842492"/>
              <a:ext cx="804671" cy="565451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383779" y="1837944"/>
              <a:ext cx="472440" cy="565403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7278623" y="1857756"/>
              <a:ext cx="728980" cy="489584"/>
            </a:xfrm>
            <a:custGeom>
              <a:avLst/>
              <a:gdLst/>
              <a:ahLst/>
              <a:cxnLst/>
              <a:rect l="l" t="t" r="r" b="b"/>
              <a:pathLst>
                <a:path w="728979" h="489585">
                  <a:moveTo>
                    <a:pt x="646937" y="0"/>
                  </a:moveTo>
                  <a:lnTo>
                    <a:pt x="81533" y="0"/>
                  </a:lnTo>
                  <a:lnTo>
                    <a:pt x="49774" y="6399"/>
                  </a:lnTo>
                  <a:lnTo>
                    <a:pt x="23860" y="23860"/>
                  </a:lnTo>
                  <a:lnTo>
                    <a:pt x="6399" y="49774"/>
                  </a:lnTo>
                  <a:lnTo>
                    <a:pt x="0" y="81534"/>
                  </a:lnTo>
                  <a:lnTo>
                    <a:pt x="0" y="407670"/>
                  </a:lnTo>
                  <a:lnTo>
                    <a:pt x="6399" y="439429"/>
                  </a:lnTo>
                  <a:lnTo>
                    <a:pt x="23860" y="465343"/>
                  </a:lnTo>
                  <a:lnTo>
                    <a:pt x="49774" y="482804"/>
                  </a:lnTo>
                  <a:lnTo>
                    <a:pt x="81533" y="489204"/>
                  </a:lnTo>
                  <a:lnTo>
                    <a:pt x="646937" y="489204"/>
                  </a:lnTo>
                  <a:lnTo>
                    <a:pt x="678697" y="482804"/>
                  </a:lnTo>
                  <a:lnTo>
                    <a:pt x="704611" y="465343"/>
                  </a:lnTo>
                  <a:lnTo>
                    <a:pt x="722072" y="439429"/>
                  </a:lnTo>
                  <a:lnTo>
                    <a:pt x="728472" y="407670"/>
                  </a:lnTo>
                  <a:lnTo>
                    <a:pt x="728472" y="81534"/>
                  </a:lnTo>
                  <a:lnTo>
                    <a:pt x="722072" y="49774"/>
                  </a:lnTo>
                  <a:lnTo>
                    <a:pt x="704611" y="23860"/>
                  </a:lnTo>
                  <a:lnTo>
                    <a:pt x="678697" y="6399"/>
                  </a:lnTo>
                  <a:lnTo>
                    <a:pt x="646937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278623" y="1857756"/>
              <a:ext cx="728980" cy="489584"/>
            </a:xfrm>
            <a:custGeom>
              <a:avLst/>
              <a:gdLst/>
              <a:ahLst/>
              <a:cxnLst/>
              <a:rect l="l" t="t" r="r" b="b"/>
              <a:pathLst>
                <a:path w="728979" h="489585">
                  <a:moveTo>
                    <a:pt x="0" y="81534"/>
                  </a:moveTo>
                  <a:lnTo>
                    <a:pt x="6399" y="49774"/>
                  </a:lnTo>
                  <a:lnTo>
                    <a:pt x="23860" y="23860"/>
                  </a:lnTo>
                  <a:lnTo>
                    <a:pt x="49774" y="6399"/>
                  </a:lnTo>
                  <a:lnTo>
                    <a:pt x="81533" y="0"/>
                  </a:lnTo>
                  <a:lnTo>
                    <a:pt x="646937" y="0"/>
                  </a:lnTo>
                  <a:lnTo>
                    <a:pt x="678697" y="6399"/>
                  </a:lnTo>
                  <a:lnTo>
                    <a:pt x="704611" y="23860"/>
                  </a:lnTo>
                  <a:lnTo>
                    <a:pt x="722072" y="49774"/>
                  </a:lnTo>
                  <a:lnTo>
                    <a:pt x="728472" y="81534"/>
                  </a:lnTo>
                  <a:lnTo>
                    <a:pt x="728472" y="407670"/>
                  </a:lnTo>
                  <a:lnTo>
                    <a:pt x="722072" y="439429"/>
                  </a:lnTo>
                  <a:lnTo>
                    <a:pt x="704611" y="465343"/>
                  </a:lnTo>
                  <a:lnTo>
                    <a:pt x="678697" y="482804"/>
                  </a:lnTo>
                  <a:lnTo>
                    <a:pt x="646937" y="489204"/>
                  </a:lnTo>
                  <a:lnTo>
                    <a:pt x="81533" y="489204"/>
                  </a:lnTo>
                  <a:lnTo>
                    <a:pt x="49774" y="482804"/>
                  </a:lnTo>
                  <a:lnTo>
                    <a:pt x="23860" y="465343"/>
                  </a:lnTo>
                  <a:lnTo>
                    <a:pt x="6399" y="439429"/>
                  </a:lnTo>
                  <a:lnTo>
                    <a:pt x="0" y="407670"/>
                  </a:lnTo>
                  <a:lnTo>
                    <a:pt x="0" y="8153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7525766" y="1900173"/>
            <a:ext cx="2343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718FA4"/>
                </a:solidFill>
                <a:latin typeface="Calibri"/>
                <a:cs typeface="Calibri"/>
              </a:rPr>
              <a:t>Y</a:t>
            </a:r>
            <a:r>
              <a:rPr sz="1800" spc="-37" baseline="-20833" dirty="0">
                <a:solidFill>
                  <a:srgbClr val="718FA4"/>
                </a:solidFill>
                <a:latin typeface="Calibri"/>
                <a:cs typeface="Calibri"/>
              </a:rPr>
              <a:t>t</a:t>
            </a:r>
            <a:endParaRPr sz="1800" baseline="-20833">
              <a:latin typeface="Calibri"/>
              <a:cs typeface="Calibri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5605271" y="2246376"/>
            <a:ext cx="2976880" cy="1614170"/>
            <a:chOff x="5605271" y="2246376"/>
            <a:chExt cx="2976880" cy="1614170"/>
          </a:xfrm>
        </p:grpSpPr>
        <p:pic>
          <p:nvPicPr>
            <p:cNvPr id="68" name="object 6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22463" y="2246376"/>
              <a:ext cx="242316" cy="550163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7604759" y="2347722"/>
              <a:ext cx="78105" cy="386080"/>
            </a:xfrm>
            <a:custGeom>
              <a:avLst/>
              <a:gdLst/>
              <a:ahLst/>
              <a:cxnLst/>
              <a:rect l="l" t="t" r="r" b="b"/>
              <a:pathLst>
                <a:path w="78104" h="386080">
                  <a:moveTo>
                    <a:pt x="51816" y="64769"/>
                  </a:moveTo>
                  <a:lnTo>
                    <a:pt x="25908" y="64769"/>
                  </a:lnTo>
                  <a:lnTo>
                    <a:pt x="25908" y="385572"/>
                  </a:lnTo>
                  <a:lnTo>
                    <a:pt x="51816" y="385572"/>
                  </a:lnTo>
                  <a:lnTo>
                    <a:pt x="51816" y="64769"/>
                  </a:lnTo>
                  <a:close/>
                </a:path>
                <a:path w="78104" h="386080">
                  <a:moveTo>
                    <a:pt x="38862" y="0"/>
                  </a:moveTo>
                  <a:lnTo>
                    <a:pt x="0" y="77724"/>
                  </a:lnTo>
                  <a:lnTo>
                    <a:pt x="25908" y="77724"/>
                  </a:lnTo>
                  <a:lnTo>
                    <a:pt x="25908" y="64769"/>
                  </a:lnTo>
                  <a:lnTo>
                    <a:pt x="71247" y="64769"/>
                  </a:lnTo>
                  <a:lnTo>
                    <a:pt x="38862" y="0"/>
                  </a:lnTo>
                  <a:close/>
                </a:path>
                <a:path w="78104" h="386080">
                  <a:moveTo>
                    <a:pt x="71247" y="64769"/>
                  </a:moveTo>
                  <a:lnTo>
                    <a:pt x="51816" y="64769"/>
                  </a:lnTo>
                  <a:lnTo>
                    <a:pt x="51816" y="77724"/>
                  </a:lnTo>
                  <a:lnTo>
                    <a:pt x="77724" y="77724"/>
                  </a:lnTo>
                  <a:lnTo>
                    <a:pt x="71247" y="64769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605271" y="3617976"/>
              <a:ext cx="643127" cy="242316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5648705" y="3680460"/>
              <a:ext cx="479425" cy="78105"/>
            </a:xfrm>
            <a:custGeom>
              <a:avLst/>
              <a:gdLst/>
              <a:ahLst/>
              <a:cxnLst/>
              <a:rect l="l" t="t" r="r" b="b"/>
              <a:pathLst>
                <a:path w="479425" h="78104">
                  <a:moveTo>
                    <a:pt x="401574" y="0"/>
                  </a:moveTo>
                  <a:lnTo>
                    <a:pt x="401574" y="77723"/>
                  </a:lnTo>
                  <a:lnTo>
                    <a:pt x="453390" y="51815"/>
                  </a:lnTo>
                  <a:lnTo>
                    <a:pt x="414528" y="51815"/>
                  </a:lnTo>
                  <a:lnTo>
                    <a:pt x="414528" y="25907"/>
                  </a:lnTo>
                  <a:lnTo>
                    <a:pt x="453389" y="25907"/>
                  </a:lnTo>
                  <a:lnTo>
                    <a:pt x="401574" y="0"/>
                  </a:lnTo>
                  <a:close/>
                </a:path>
                <a:path w="479425" h="78104">
                  <a:moveTo>
                    <a:pt x="401574" y="25907"/>
                  </a:moveTo>
                  <a:lnTo>
                    <a:pt x="0" y="25907"/>
                  </a:lnTo>
                  <a:lnTo>
                    <a:pt x="0" y="51815"/>
                  </a:lnTo>
                  <a:lnTo>
                    <a:pt x="401574" y="51815"/>
                  </a:lnTo>
                  <a:lnTo>
                    <a:pt x="401574" y="25907"/>
                  </a:lnTo>
                  <a:close/>
                </a:path>
                <a:path w="479425" h="78104">
                  <a:moveTo>
                    <a:pt x="453389" y="25907"/>
                  </a:moveTo>
                  <a:lnTo>
                    <a:pt x="414528" y="25907"/>
                  </a:lnTo>
                  <a:lnTo>
                    <a:pt x="414528" y="51815"/>
                  </a:lnTo>
                  <a:lnTo>
                    <a:pt x="453390" y="51815"/>
                  </a:lnTo>
                  <a:lnTo>
                    <a:pt x="479298" y="38862"/>
                  </a:lnTo>
                  <a:lnTo>
                    <a:pt x="453389" y="25907"/>
                  </a:lnTo>
                  <a:close/>
                </a:path>
              </a:pathLst>
            </a:custGeom>
            <a:solidFill>
              <a:srgbClr val="6E85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938515" y="3617976"/>
              <a:ext cx="643127" cy="242316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7981949" y="3680460"/>
              <a:ext cx="479425" cy="78105"/>
            </a:xfrm>
            <a:custGeom>
              <a:avLst/>
              <a:gdLst/>
              <a:ahLst/>
              <a:cxnLst/>
              <a:rect l="l" t="t" r="r" b="b"/>
              <a:pathLst>
                <a:path w="479425" h="78104">
                  <a:moveTo>
                    <a:pt x="401574" y="0"/>
                  </a:moveTo>
                  <a:lnTo>
                    <a:pt x="401574" y="77723"/>
                  </a:lnTo>
                  <a:lnTo>
                    <a:pt x="453390" y="51815"/>
                  </a:lnTo>
                  <a:lnTo>
                    <a:pt x="414527" y="51815"/>
                  </a:lnTo>
                  <a:lnTo>
                    <a:pt x="414527" y="25907"/>
                  </a:lnTo>
                  <a:lnTo>
                    <a:pt x="453390" y="25907"/>
                  </a:lnTo>
                  <a:lnTo>
                    <a:pt x="401574" y="0"/>
                  </a:lnTo>
                  <a:close/>
                </a:path>
                <a:path w="479425" h="78104">
                  <a:moveTo>
                    <a:pt x="401574" y="25907"/>
                  </a:moveTo>
                  <a:lnTo>
                    <a:pt x="0" y="25907"/>
                  </a:lnTo>
                  <a:lnTo>
                    <a:pt x="0" y="51815"/>
                  </a:lnTo>
                  <a:lnTo>
                    <a:pt x="401574" y="51815"/>
                  </a:lnTo>
                  <a:lnTo>
                    <a:pt x="401574" y="25907"/>
                  </a:lnTo>
                  <a:close/>
                </a:path>
                <a:path w="479425" h="78104">
                  <a:moveTo>
                    <a:pt x="453390" y="25907"/>
                  </a:moveTo>
                  <a:lnTo>
                    <a:pt x="414527" y="25907"/>
                  </a:lnTo>
                  <a:lnTo>
                    <a:pt x="414527" y="51815"/>
                  </a:lnTo>
                  <a:lnTo>
                    <a:pt x="453390" y="51815"/>
                  </a:lnTo>
                  <a:lnTo>
                    <a:pt x="479298" y="38862"/>
                  </a:lnTo>
                  <a:lnTo>
                    <a:pt x="453390" y="25907"/>
                  </a:lnTo>
                  <a:close/>
                </a:path>
              </a:pathLst>
            </a:custGeom>
            <a:solidFill>
              <a:srgbClr val="6E85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6367653" y="5497169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0" name="object 8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75" name="object 75"/>
          <p:cNvSpPr txBox="1"/>
          <p:nvPr/>
        </p:nvSpPr>
        <p:spPr>
          <a:xfrm>
            <a:off x="6367653" y="3543680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367653" y="2044649"/>
            <a:ext cx="1835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700007" y="5497779"/>
            <a:ext cx="1835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8700007" y="3544265"/>
            <a:ext cx="1835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8700007" y="2045919"/>
            <a:ext cx="1835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671823"/>
            <a:ext cx="12187555" cy="3186430"/>
            <a:chOff x="0" y="3671823"/>
            <a:chExt cx="12187555" cy="31864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4215" y="3671823"/>
              <a:ext cx="542065" cy="1346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458461" y="3680459"/>
              <a:ext cx="479425" cy="78105"/>
            </a:xfrm>
            <a:custGeom>
              <a:avLst/>
              <a:gdLst/>
              <a:ahLst/>
              <a:cxnLst/>
              <a:rect l="l" t="t" r="r" b="b"/>
              <a:pathLst>
                <a:path w="479425" h="78104">
                  <a:moveTo>
                    <a:pt x="401574" y="0"/>
                  </a:moveTo>
                  <a:lnTo>
                    <a:pt x="401574" y="77723"/>
                  </a:lnTo>
                  <a:lnTo>
                    <a:pt x="453390" y="51815"/>
                  </a:lnTo>
                  <a:lnTo>
                    <a:pt x="414527" y="51815"/>
                  </a:lnTo>
                  <a:lnTo>
                    <a:pt x="414527" y="25907"/>
                  </a:lnTo>
                  <a:lnTo>
                    <a:pt x="453389" y="25907"/>
                  </a:lnTo>
                  <a:lnTo>
                    <a:pt x="401574" y="0"/>
                  </a:lnTo>
                  <a:close/>
                </a:path>
                <a:path w="479425" h="78104">
                  <a:moveTo>
                    <a:pt x="401574" y="25907"/>
                  </a:moveTo>
                  <a:lnTo>
                    <a:pt x="0" y="25907"/>
                  </a:lnTo>
                  <a:lnTo>
                    <a:pt x="0" y="51815"/>
                  </a:lnTo>
                  <a:lnTo>
                    <a:pt x="401574" y="51815"/>
                  </a:lnTo>
                  <a:lnTo>
                    <a:pt x="401574" y="25907"/>
                  </a:lnTo>
                  <a:close/>
                </a:path>
                <a:path w="479425" h="78104">
                  <a:moveTo>
                    <a:pt x="453389" y="25907"/>
                  </a:moveTo>
                  <a:lnTo>
                    <a:pt x="414527" y="25907"/>
                  </a:lnTo>
                  <a:lnTo>
                    <a:pt x="414527" y="51815"/>
                  </a:lnTo>
                  <a:lnTo>
                    <a:pt x="453390" y="51815"/>
                  </a:lnTo>
                  <a:lnTo>
                    <a:pt x="479298" y="38862"/>
                  </a:lnTo>
                  <a:lnTo>
                    <a:pt x="453389" y="25907"/>
                  </a:lnTo>
                  <a:close/>
                </a:path>
              </a:pathLst>
            </a:custGeom>
            <a:solidFill>
              <a:srgbClr val="6E85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031" y="3671823"/>
              <a:ext cx="542065" cy="13461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796278" y="3680459"/>
              <a:ext cx="479425" cy="78105"/>
            </a:xfrm>
            <a:custGeom>
              <a:avLst/>
              <a:gdLst/>
              <a:ahLst/>
              <a:cxnLst/>
              <a:rect l="l" t="t" r="r" b="b"/>
              <a:pathLst>
                <a:path w="479425" h="78104">
                  <a:moveTo>
                    <a:pt x="401574" y="0"/>
                  </a:moveTo>
                  <a:lnTo>
                    <a:pt x="401574" y="77723"/>
                  </a:lnTo>
                  <a:lnTo>
                    <a:pt x="453390" y="51815"/>
                  </a:lnTo>
                  <a:lnTo>
                    <a:pt x="414527" y="51815"/>
                  </a:lnTo>
                  <a:lnTo>
                    <a:pt x="414527" y="25907"/>
                  </a:lnTo>
                  <a:lnTo>
                    <a:pt x="453389" y="25907"/>
                  </a:lnTo>
                  <a:lnTo>
                    <a:pt x="401574" y="0"/>
                  </a:lnTo>
                  <a:close/>
                </a:path>
                <a:path w="479425" h="78104">
                  <a:moveTo>
                    <a:pt x="401574" y="25907"/>
                  </a:moveTo>
                  <a:lnTo>
                    <a:pt x="0" y="25907"/>
                  </a:lnTo>
                  <a:lnTo>
                    <a:pt x="0" y="51815"/>
                  </a:lnTo>
                  <a:lnTo>
                    <a:pt x="401574" y="51815"/>
                  </a:lnTo>
                  <a:lnTo>
                    <a:pt x="401574" y="25907"/>
                  </a:lnTo>
                  <a:close/>
                </a:path>
                <a:path w="479425" h="78104">
                  <a:moveTo>
                    <a:pt x="453389" y="25907"/>
                  </a:moveTo>
                  <a:lnTo>
                    <a:pt x="414527" y="25907"/>
                  </a:lnTo>
                  <a:lnTo>
                    <a:pt x="414527" y="51815"/>
                  </a:lnTo>
                  <a:lnTo>
                    <a:pt x="453390" y="51815"/>
                  </a:lnTo>
                  <a:lnTo>
                    <a:pt x="479298" y="38862"/>
                  </a:lnTo>
                  <a:lnTo>
                    <a:pt x="453389" y="25907"/>
                  </a:lnTo>
                  <a:close/>
                </a:path>
              </a:pathLst>
            </a:custGeom>
            <a:solidFill>
              <a:srgbClr val="6E85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8747" y="5146534"/>
              <a:ext cx="804671" cy="104091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22191" y="5152643"/>
              <a:ext cx="510539" cy="56540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736847" y="5161787"/>
              <a:ext cx="728980" cy="965200"/>
            </a:xfrm>
            <a:custGeom>
              <a:avLst/>
              <a:gdLst/>
              <a:ahLst/>
              <a:cxnLst/>
              <a:rect l="l" t="t" r="r" b="b"/>
              <a:pathLst>
                <a:path w="728979" h="965200">
                  <a:moveTo>
                    <a:pt x="607060" y="0"/>
                  </a:moveTo>
                  <a:lnTo>
                    <a:pt x="121412" y="0"/>
                  </a:lnTo>
                  <a:lnTo>
                    <a:pt x="74152" y="9540"/>
                  </a:lnTo>
                  <a:lnTo>
                    <a:pt x="35559" y="35560"/>
                  </a:lnTo>
                  <a:lnTo>
                    <a:pt x="9540" y="74152"/>
                  </a:lnTo>
                  <a:lnTo>
                    <a:pt x="0" y="121412"/>
                  </a:lnTo>
                  <a:lnTo>
                    <a:pt x="0" y="843280"/>
                  </a:lnTo>
                  <a:lnTo>
                    <a:pt x="9540" y="890539"/>
                  </a:lnTo>
                  <a:lnTo>
                    <a:pt x="35560" y="929132"/>
                  </a:lnTo>
                  <a:lnTo>
                    <a:pt x="74152" y="955151"/>
                  </a:lnTo>
                  <a:lnTo>
                    <a:pt x="121412" y="964692"/>
                  </a:lnTo>
                  <a:lnTo>
                    <a:pt x="607060" y="964692"/>
                  </a:lnTo>
                  <a:lnTo>
                    <a:pt x="654319" y="955151"/>
                  </a:lnTo>
                  <a:lnTo>
                    <a:pt x="692912" y="929132"/>
                  </a:lnTo>
                  <a:lnTo>
                    <a:pt x="718931" y="890539"/>
                  </a:lnTo>
                  <a:lnTo>
                    <a:pt x="728472" y="843280"/>
                  </a:lnTo>
                  <a:lnTo>
                    <a:pt x="728472" y="121412"/>
                  </a:lnTo>
                  <a:lnTo>
                    <a:pt x="718931" y="74152"/>
                  </a:lnTo>
                  <a:lnTo>
                    <a:pt x="692912" y="35560"/>
                  </a:lnTo>
                  <a:lnTo>
                    <a:pt x="654319" y="9540"/>
                  </a:lnTo>
                  <a:lnTo>
                    <a:pt x="607060" y="0"/>
                  </a:lnTo>
                  <a:close/>
                </a:path>
              </a:pathLst>
            </a:custGeom>
            <a:solidFill>
              <a:srgbClr val="F4C9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36847" y="5161787"/>
              <a:ext cx="728980" cy="965200"/>
            </a:xfrm>
            <a:custGeom>
              <a:avLst/>
              <a:gdLst/>
              <a:ahLst/>
              <a:cxnLst/>
              <a:rect l="l" t="t" r="r" b="b"/>
              <a:pathLst>
                <a:path w="728979" h="965200">
                  <a:moveTo>
                    <a:pt x="0" y="121412"/>
                  </a:moveTo>
                  <a:lnTo>
                    <a:pt x="9540" y="74152"/>
                  </a:lnTo>
                  <a:lnTo>
                    <a:pt x="35559" y="35560"/>
                  </a:lnTo>
                  <a:lnTo>
                    <a:pt x="74152" y="9540"/>
                  </a:lnTo>
                  <a:lnTo>
                    <a:pt x="121412" y="0"/>
                  </a:lnTo>
                  <a:lnTo>
                    <a:pt x="607060" y="0"/>
                  </a:lnTo>
                  <a:lnTo>
                    <a:pt x="654319" y="9540"/>
                  </a:lnTo>
                  <a:lnTo>
                    <a:pt x="692912" y="35560"/>
                  </a:lnTo>
                  <a:lnTo>
                    <a:pt x="718931" y="74152"/>
                  </a:lnTo>
                  <a:lnTo>
                    <a:pt x="728472" y="121412"/>
                  </a:lnTo>
                  <a:lnTo>
                    <a:pt x="728472" y="843280"/>
                  </a:lnTo>
                  <a:lnTo>
                    <a:pt x="718931" y="890539"/>
                  </a:lnTo>
                  <a:lnTo>
                    <a:pt x="692912" y="929132"/>
                  </a:lnTo>
                  <a:lnTo>
                    <a:pt x="654319" y="955151"/>
                  </a:lnTo>
                  <a:lnTo>
                    <a:pt x="607060" y="964692"/>
                  </a:lnTo>
                  <a:lnTo>
                    <a:pt x="121412" y="964692"/>
                  </a:lnTo>
                  <a:lnTo>
                    <a:pt x="74152" y="955151"/>
                  </a:lnTo>
                  <a:lnTo>
                    <a:pt x="35560" y="929132"/>
                  </a:lnTo>
                  <a:lnTo>
                    <a:pt x="9540" y="890539"/>
                  </a:lnTo>
                  <a:lnTo>
                    <a:pt x="0" y="843280"/>
                  </a:lnTo>
                  <a:lnTo>
                    <a:pt x="0" y="121412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Let’s</a:t>
            </a:r>
            <a:r>
              <a:rPr spc="-80" dirty="0"/>
              <a:t> </a:t>
            </a:r>
            <a:r>
              <a:rPr dirty="0"/>
              <a:t>Recall</a:t>
            </a:r>
            <a:r>
              <a:rPr spc="-80" dirty="0"/>
              <a:t> </a:t>
            </a:r>
            <a:r>
              <a:rPr dirty="0"/>
              <a:t>LSTM</a:t>
            </a:r>
            <a:r>
              <a:rPr spc="-70" dirty="0"/>
              <a:t> </a:t>
            </a:r>
            <a:r>
              <a:rPr spc="-10" dirty="0"/>
              <a:t>Networks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88340" y="1227581"/>
            <a:ext cx="59010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feed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forward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architecture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recurrent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one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63923" y="5215890"/>
            <a:ext cx="272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718FA4"/>
                </a:solidFill>
                <a:latin typeface="Calibri"/>
                <a:cs typeface="Calibri"/>
              </a:rPr>
              <a:t>X</a:t>
            </a:r>
            <a:r>
              <a:rPr sz="1800" spc="-37" baseline="-20833" dirty="0">
                <a:solidFill>
                  <a:srgbClr val="718FA4"/>
                </a:solidFill>
                <a:latin typeface="Calibri"/>
                <a:cs typeface="Calibri"/>
              </a:rPr>
              <a:t>0</a:t>
            </a:r>
            <a:endParaRPr sz="1800" baseline="-20833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695700" y="2708148"/>
            <a:ext cx="809625" cy="2065020"/>
            <a:chOff x="3695700" y="2708148"/>
            <a:chExt cx="809625" cy="2065020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95700" y="2708148"/>
              <a:ext cx="809244" cy="206502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742944" y="2732532"/>
              <a:ext cx="715010" cy="1971039"/>
            </a:xfrm>
            <a:custGeom>
              <a:avLst/>
              <a:gdLst/>
              <a:ahLst/>
              <a:cxnLst/>
              <a:rect l="l" t="t" r="r" b="b"/>
              <a:pathLst>
                <a:path w="715010" h="1971039">
                  <a:moveTo>
                    <a:pt x="595629" y="0"/>
                  </a:moveTo>
                  <a:lnTo>
                    <a:pt x="119125" y="0"/>
                  </a:lnTo>
                  <a:lnTo>
                    <a:pt x="72759" y="9362"/>
                  </a:lnTo>
                  <a:lnTo>
                    <a:pt x="34893" y="34893"/>
                  </a:lnTo>
                  <a:lnTo>
                    <a:pt x="9362" y="72759"/>
                  </a:lnTo>
                  <a:lnTo>
                    <a:pt x="0" y="119125"/>
                  </a:lnTo>
                  <a:lnTo>
                    <a:pt x="0" y="1851405"/>
                  </a:lnTo>
                  <a:lnTo>
                    <a:pt x="9362" y="1897772"/>
                  </a:lnTo>
                  <a:lnTo>
                    <a:pt x="34893" y="1935638"/>
                  </a:lnTo>
                  <a:lnTo>
                    <a:pt x="72759" y="1961169"/>
                  </a:lnTo>
                  <a:lnTo>
                    <a:pt x="119125" y="1970531"/>
                  </a:lnTo>
                  <a:lnTo>
                    <a:pt x="595629" y="1970531"/>
                  </a:lnTo>
                  <a:lnTo>
                    <a:pt x="641996" y="1961169"/>
                  </a:lnTo>
                  <a:lnTo>
                    <a:pt x="679862" y="1935638"/>
                  </a:lnTo>
                  <a:lnTo>
                    <a:pt x="705393" y="1897772"/>
                  </a:lnTo>
                  <a:lnTo>
                    <a:pt x="714755" y="1851405"/>
                  </a:lnTo>
                  <a:lnTo>
                    <a:pt x="714755" y="119125"/>
                  </a:lnTo>
                  <a:lnTo>
                    <a:pt x="705393" y="72759"/>
                  </a:lnTo>
                  <a:lnTo>
                    <a:pt x="679862" y="34893"/>
                  </a:lnTo>
                  <a:lnTo>
                    <a:pt x="641996" y="9362"/>
                  </a:lnTo>
                  <a:lnTo>
                    <a:pt x="595629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42944" y="2732532"/>
              <a:ext cx="715010" cy="1971039"/>
            </a:xfrm>
            <a:custGeom>
              <a:avLst/>
              <a:gdLst/>
              <a:ahLst/>
              <a:cxnLst/>
              <a:rect l="l" t="t" r="r" b="b"/>
              <a:pathLst>
                <a:path w="715010" h="1971039">
                  <a:moveTo>
                    <a:pt x="0" y="119125"/>
                  </a:moveTo>
                  <a:lnTo>
                    <a:pt x="9362" y="72759"/>
                  </a:lnTo>
                  <a:lnTo>
                    <a:pt x="34893" y="34893"/>
                  </a:lnTo>
                  <a:lnTo>
                    <a:pt x="72759" y="9362"/>
                  </a:lnTo>
                  <a:lnTo>
                    <a:pt x="119125" y="0"/>
                  </a:lnTo>
                  <a:lnTo>
                    <a:pt x="595629" y="0"/>
                  </a:lnTo>
                  <a:lnTo>
                    <a:pt x="641996" y="9362"/>
                  </a:lnTo>
                  <a:lnTo>
                    <a:pt x="679862" y="34893"/>
                  </a:lnTo>
                  <a:lnTo>
                    <a:pt x="705393" y="72759"/>
                  </a:lnTo>
                  <a:lnTo>
                    <a:pt x="714755" y="119125"/>
                  </a:lnTo>
                  <a:lnTo>
                    <a:pt x="714755" y="1851405"/>
                  </a:lnTo>
                  <a:lnTo>
                    <a:pt x="705393" y="1897772"/>
                  </a:lnTo>
                  <a:lnTo>
                    <a:pt x="679862" y="1935638"/>
                  </a:lnTo>
                  <a:lnTo>
                    <a:pt x="641996" y="1961169"/>
                  </a:lnTo>
                  <a:lnTo>
                    <a:pt x="595629" y="1970531"/>
                  </a:lnTo>
                  <a:lnTo>
                    <a:pt x="119125" y="1970531"/>
                  </a:lnTo>
                  <a:lnTo>
                    <a:pt x="72759" y="1961169"/>
                  </a:lnTo>
                  <a:lnTo>
                    <a:pt x="34893" y="1935638"/>
                  </a:lnTo>
                  <a:lnTo>
                    <a:pt x="9362" y="1897772"/>
                  </a:lnTo>
                  <a:lnTo>
                    <a:pt x="0" y="1851405"/>
                  </a:lnTo>
                  <a:lnTo>
                    <a:pt x="0" y="119125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993388" y="3149481"/>
            <a:ext cx="254000" cy="11404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solidFill>
                  <a:srgbClr val="718FA4"/>
                </a:solidFill>
                <a:latin typeface="Calibri"/>
                <a:cs typeface="Calibri"/>
              </a:rPr>
              <a:t>LSTM</a:t>
            </a:r>
            <a:r>
              <a:rPr sz="1800" spc="-20" dirty="0">
                <a:solidFill>
                  <a:srgbClr val="718FA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18FA4"/>
                </a:solidFill>
                <a:latin typeface="Calibri"/>
                <a:cs typeface="Calibri"/>
              </a:rPr>
              <a:t>/</a:t>
            </a:r>
            <a:r>
              <a:rPr sz="1800" spc="-25" dirty="0">
                <a:solidFill>
                  <a:srgbClr val="718FA4"/>
                </a:solidFill>
                <a:latin typeface="Calibri"/>
                <a:cs typeface="Calibri"/>
              </a:rPr>
              <a:t> GRU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704844" y="1837944"/>
            <a:ext cx="1986280" cy="4349750"/>
            <a:chOff x="3704844" y="1837944"/>
            <a:chExt cx="1986280" cy="4349750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80688" y="4602479"/>
              <a:ext cx="242315" cy="62179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062984" y="4703826"/>
              <a:ext cx="78105" cy="458470"/>
            </a:xfrm>
            <a:custGeom>
              <a:avLst/>
              <a:gdLst/>
              <a:ahLst/>
              <a:cxnLst/>
              <a:rect l="l" t="t" r="r" b="b"/>
              <a:pathLst>
                <a:path w="78104" h="458470">
                  <a:moveTo>
                    <a:pt x="51815" y="64769"/>
                  </a:moveTo>
                  <a:lnTo>
                    <a:pt x="25907" y="64769"/>
                  </a:lnTo>
                  <a:lnTo>
                    <a:pt x="25907" y="458216"/>
                  </a:lnTo>
                  <a:lnTo>
                    <a:pt x="51815" y="458216"/>
                  </a:lnTo>
                  <a:lnTo>
                    <a:pt x="51815" y="64769"/>
                  </a:lnTo>
                  <a:close/>
                </a:path>
                <a:path w="78104" h="458470">
                  <a:moveTo>
                    <a:pt x="38862" y="0"/>
                  </a:moveTo>
                  <a:lnTo>
                    <a:pt x="0" y="77724"/>
                  </a:lnTo>
                  <a:lnTo>
                    <a:pt x="25907" y="77724"/>
                  </a:lnTo>
                  <a:lnTo>
                    <a:pt x="25907" y="64769"/>
                  </a:lnTo>
                  <a:lnTo>
                    <a:pt x="71247" y="64769"/>
                  </a:lnTo>
                  <a:lnTo>
                    <a:pt x="38862" y="0"/>
                  </a:lnTo>
                  <a:close/>
                </a:path>
                <a:path w="78104" h="458470">
                  <a:moveTo>
                    <a:pt x="71247" y="64769"/>
                  </a:moveTo>
                  <a:lnTo>
                    <a:pt x="51815" y="64769"/>
                  </a:lnTo>
                  <a:lnTo>
                    <a:pt x="51815" y="77724"/>
                  </a:lnTo>
                  <a:lnTo>
                    <a:pt x="77724" y="77724"/>
                  </a:lnTo>
                  <a:lnTo>
                    <a:pt x="71247" y="64769"/>
                  </a:lnTo>
                  <a:close/>
                </a:path>
              </a:pathLst>
            </a:custGeom>
            <a:solidFill>
              <a:srgbClr val="B903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04844" y="1842492"/>
              <a:ext cx="804671" cy="56545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32860" y="1837944"/>
              <a:ext cx="502920" cy="56540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742944" y="1857756"/>
              <a:ext cx="728980" cy="489584"/>
            </a:xfrm>
            <a:custGeom>
              <a:avLst/>
              <a:gdLst/>
              <a:ahLst/>
              <a:cxnLst/>
              <a:rect l="l" t="t" r="r" b="b"/>
              <a:pathLst>
                <a:path w="728979" h="489585">
                  <a:moveTo>
                    <a:pt x="646938" y="0"/>
                  </a:moveTo>
                  <a:lnTo>
                    <a:pt x="81533" y="0"/>
                  </a:lnTo>
                  <a:lnTo>
                    <a:pt x="49774" y="6399"/>
                  </a:lnTo>
                  <a:lnTo>
                    <a:pt x="23860" y="23860"/>
                  </a:lnTo>
                  <a:lnTo>
                    <a:pt x="6399" y="49774"/>
                  </a:lnTo>
                  <a:lnTo>
                    <a:pt x="0" y="81534"/>
                  </a:lnTo>
                  <a:lnTo>
                    <a:pt x="0" y="407670"/>
                  </a:lnTo>
                  <a:lnTo>
                    <a:pt x="6399" y="439429"/>
                  </a:lnTo>
                  <a:lnTo>
                    <a:pt x="23860" y="465343"/>
                  </a:lnTo>
                  <a:lnTo>
                    <a:pt x="49774" y="482804"/>
                  </a:lnTo>
                  <a:lnTo>
                    <a:pt x="81533" y="489204"/>
                  </a:lnTo>
                  <a:lnTo>
                    <a:pt x="646938" y="489204"/>
                  </a:lnTo>
                  <a:lnTo>
                    <a:pt x="678697" y="482804"/>
                  </a:lnTo>
                  <a:lnTo>
                    <a:pt x="704611" y="465343"/>
                  </a:lnTo>
                  <a:lnTo>
                    <a:pt x="722072" y="439429"/>
                  </a:lnTo>
                  <a:lnTo>
                    <a:pt x="728471" y="407670"/>
                  </a:lnTo>
                  <a:lnTo>
                    <a:pt x="728471" y="81534"/>
                  </a:lnTo>
                  <a:lnTo>
                    <a:pt x="722072" y="49774"/>
                  </a:lnTo>
                  <a:lnTo>
                    <a:pt x="704611" y="23860"/>
                  </a:lnTo>
                  <a:lnTo>
                    <a:pt x="678697" y="6399"/>
                  </a:lnTo>
                  <a:lnTo>
                    <a:pt x="646938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742944" y="1857756"/>
              <a:ext cx="728980" cy="489584"/>
            </a:xfrm>
            <a:custGeom>
              <a:avLst/>
              <a:gdLst/>
              <a:ahLst/>
              <a:cxnLst/>
              <a:rect l="l" t="t" r="r" b="b"/>
              <a:pathLst>
                <a:path w="728979" h="489585">
                  <a:moveTo>
                    <a:pt x="0" y="81534"/>
                  </a:moveTo>
                  <a:lnTo>
                    <a:pt x="6399" y="49774"/>
                  </a:lnTo>
                  <a:lnTo>
                    <a:pt x="23860" y="23860"/>
                  </a:lnTo>
                  <a:lnTo>
                    <a:pt x="49774" y="6399"/>
                  </a:lnTo>
                  <a:lnTo>
                    <a:pt x="81533" y="0"/>
                  </a:lnTo>
                  <a:lnTo>
                    <a:pt x="646938" y="0"/>
                  </a:lnTo>
                  <a:lnTo>
                    <a:pt x="678697" y="6399"/>
                  </a:lnTo>
                  <a:lnTo>
                    <a:pt x="704611" y="23860"/>
                  </a:lnTo>
                  <a:lnTo>
                    <a:pt x="722072" y="49774"/>
                  </a:lnTo>
                  <a:lnTo>
                    <a:pt x="728471" y="81534"/>
                  </a:lnTo>
                  <a:lnTo>
                    <a:pt x="728471" y="407670"/>
                  </a:lnTo>
                  <a:lnTo>
                    <a:pt x="722072" y="439429"/>
                  </a:lnTo>
                  <a:lnTo>
                    <a:pt x="704611" y="465343"/>
                  </a:lnTo>
                  <a:lnTo>
                    <a:pt x="678697" y="482804"/>
                  </a:lnTo>
                  <a:lnTo>
                    <a:pt x="646938" y="489204"/>
                  </a:lnTo>
                  <a:lnTo>
                    <a:pt x="81533" y="489204"/>
                  </a:lnTo>
                  <a:lnTo>
                    <a:pt x="49774" y="482804"/>
                  </a:lnTo>
                  <a:lnTo>
                    <a:pt x="23860" y="465343"/>
                  </a:lnTo>
                  <a:lnTo>
                    <a:pt x="6399" y="439429"/>
                  </a:lnTo>
                  <a:lnTo>
                    <a:pt x="0" y="407670"/>
                  </a:lnTo>
                  <a:lnTo>
                    <a:pt x="0" y="8153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86784" y="2246376"/>
              <a:ext cx="242315" cy="55016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069080" y="2347722"/>
              <a:ext cx="78105" cy="386080"/>
            </a:xfrm>
            <a:custGeom>
              <a:avLst/>
              <a:gdLst/>
              <a:ahLst/>
              <a:cxnLst/>
              <a:rect l="l" t="t" r="r" b="b"/>
              <a:pathLst>
                <a:path w="78104" h="386080">
                  <a:moveTo>
                    <a:pt x="51816" y="64769"/>
                  </a:moveTo>
                  <a:lnTo>
                    <a:pt x="25908" y="64769"/>
                  </a:lnTo>
                  <a:lnTo>
                    <a:pt x="25908" y="385572"/>
                  </a:lnTo>
                  <a:lnTo>
                    <a:pt x="51816" y="385572"/>
                  </a:lnTo>
                  <a:lnTo>
                    <a:pt x="51816" y="64769"/>
                  </a:lnTo>
                  <a:close/>
                </a:path>
                <a:path w="78104" h="386080">
                  <a:moveTo>
                    <a:pt x="38862" y="0"/>
                  </a:moveTo>
                  <a:lnTo>
                    <a:pt x="0" y="77724"/>
                  </a:lnTo>
                  <a:lnTo>
                    <a:pt x="25908" y="77724"/>
                  </a:lnTo>
                  <a:lnTo>
                    <a:pt x="25908" y="64769"/>
                  </a:lnTo>
                  <a:lnTo>
                    <a:pt x="71247" y="64769"/>
                  </a:lnTo>
                  <a:lnTo>
                    <a:pt x="38862" y="0"/>
                  </a:lnTo>
                  <a:close/>
                </a:path>
                <a:path w="78104" h="386080">
                  <a:moveTo>
                    <a:pt x="71247" y="64769"/>
                  </a:moveTo>
                  <a:lnTo>
                    <a:pt x="51816" y="64769"/>
                  </a:lnTo>
                  <a:lnTo>
                    <a:pt x="51816" y="77724"/>
                  </a:lnTo>
                  <a:lnTo>
                    <a:pt x="77724" y="77724"/>
                  </a:lnTo>
                  <a:lnTo>
                    <a:pt x="71247" y="64769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85944" y="5146534"/>
              <a:ext cx="804671" cy="104091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09388" y="5152644"/>
              <a:ext cx="510539" cy="56540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924044" y="5161788"/>
              <a:ext cx="728980" cy="965200"/>
            </a:xfrm>
            <a:custGeom>
              <a:avLst/>
              <a:gdLst/>
              <a:ahLst/>
              <a:cxnLst/>
              <a:rect l="l" t="t" r="r" b="b"/>
              <a:pathLst>
                <a:path w="728979" h="965200">
                  <a:moveTo>
                    <a:pt x="607059" y="0"/>
                  </a:moveTo>
                  <a:lnTo>
                    <a:pt x="121411" y="0"/>
                  </a:lnTo>
                  <a:lnTo>
                    <a:pt x="74152" y="9540"/>
                  </a:lnTo>
                  <a:lnTo>
                    <a:pt x="35559" y="35560"/>
                  </a:lnTo>
                  <a:lnTo>
                    <a:pt x="9540" y="74152"/>
                  </a:lnTo>
                  <a:lnTo>
                    <a:pt x="0" y="121412"/>
                  </a:lnTo>
                  <a:lnTo>
                    <a:pt x="0" y="843280"/>
                  </a:lnTo>
                  <a:lnTo>
                    <a:pt x="9540" y="890539"/>
                  </a:lnTo>
                  <a:lnTo>
                    <a:pt x="35559" y="929132"/>
                  </a:lnTo>
                  <a:lnTo>
                    <a:pt x="74152" y="955151"/>
                  </a:lnTo>
                  <a:lnTo>
                    <a:pt x="121411" y="964692"/>
                  </a:lnTo>
                  <a:lnTo>
                    <a:pt x="607059" y="964692"/>
                  </a:lnTo>
                  <a:lnTo>
                    <a:pt x="654319" y="955151"/>
                  </a:lnTo>
                  <a:lnTo>
                    <a:pt x="692912" y="929132"/>
                  </a:lnTo>
                  <a:lnTo>
                    <a:pt x="718931" y="890539"/>
                  </a:lnTo>
                  <a:lnTo>
                    <a:pt x="728471" y="843280"/>
                  </a:lnTo>
                  <a:lnTo>
                    <a:pt x="728471" y="121412"/>
                  </a:lnTo>
                  <a:lnTo>
                    <a:pt x="718931" y="74152"/>
                  </a:lnTo>
                  <a:lnTo>
                    <a:pt x="692911" y="35560"/>
                  </a:lnTo>
                  <a:lnTo>
                    <a:pt x="654319" y="9540"/>
                  </a:lnTo>
                  <a:lnTo>
                    <a:pt x="607059" y="0"/>
                  </a:lnTo>
                  <a:close/>
                </a:path>
              </a:pathLst>
            </a:custGeom>
            <a:solidFill>
              <a:srgbClr val="F4C9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924044" y="5161788"/>
              <a:ext cx="728980" cy="965200"/>
            </a:xfrm>
            <a:custGeom>
              <a:avLst/>
              <a:gdLst/>
              <a:ahLst/>
              <a:cxnLst/>
              <a:rect l="l" t="t" r="r" b="b"/>
              <a:pathLst>
                <a:path w="728979" h="965200">
                  <a:moveTo>
                    <a:pt x="0" y="121412"/>
                  </a:moveTo>
                  <a:lnTo>
                    <a:pt x="9540" y="74152"/>
                  </a:lnTo>
                  <a:lnTo>
                    <a:pt x="35559" y="35560"/>
                  </a:lnTo>
                  <a:lnTo>
                    <a:pt x="74152" y="9540"/>
                  </a:lnTo>
                  <a:lnTo>
                    <a:pt x="121411" y="0"/>
                  </a:lnTo>
                  <a:lnTo>
                    <a:pt x="607059" y="0"/>
                  </a:lnTo>
                  <a:lnTo>
                    <a:pt x="654319" y="9540"/>
                  </a:lnTo>
                  <a:lnTo>
                    <a:pt x="692911" y="35560"/>
                  </a:lnTo>
                  <a:lnTo>
                    <a:pt x="718931" y="74152"/>
                  </a:lnTo>
                  <a:lnTo>
                    <a:pt x="728471" y="121412"/>
                  </a:lnTo>
                  <a:lnTo>
                    <a:pt x="728471" y="843280"/>
                  </a:lnTo>
                  <a:lnTo>
                    <a:pt x="718931" y="890539"/>
                  </a:lnTo>
                  <a:lnTo>
                    <a:pt x="692912" y="929132"/>
                  </a:lnTo>
                  <a:lnTo>
                    <a:pt x="654319" y="955151"/>
                  </a:lnTo>
                  <a:lnTo>
                    <a:pt x="607059" y="964692"/>
                  </a:lnTo>
                  <a:lnTo>
                    <a:pt x="121411" y="964692"/>
                  </a:lnTo>
                  <a:lnTo>
                    <a:pt x="74152" y="955151"/>
                  </a:lnTo>
                  <a:lnTo>
                    <a:pt x="35559" y="929132"/>
                  </a:lnTo>
                  <a:lnTo>
                    <a:pt x="9540" y="890539"/>
                  </a:lnTo>
                  <a:lnTo>
                    <a:pt x="0" y="843280"/>
                  </a:lnTo>
                  <a:lnTo>
                    <a:pt x="0" y="121412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151120" y="5216144"/>
            <a:ext cx="272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718FA4"/>
                </a:solidFill>
                <a:latin typeface="Calibri"/>
                <a:cs typeface="Calibri"/>
              </a:rPr>
              <a:t>X</a:t>
            </a:r>
            <a:r>
              <a:rPr sz="1800" spc="-37" baseline="-20833" dirty="0">
                <a:solidFill>
                  <a:srgbClr val="718FA4"/>
                </a:solidFill>
                <a:latin typeface="Calibri"/>
                <a:cs typeface="Calibri"/>
              </a:rPr>
              <a:t>1</a:t>
            </a:r>
            <a:endParaRPr sz="1800" baseline="-20833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890515" y="2708148"/>
            <a:ext cx="809625" cy="2065020"/>
            <a:chOff x="4890515" y="2708148"/>
            <a:chExt cx="809625" cy="2065020"/>
          </a:xfrm>
        </p:grpSpPr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90515" y="2708148"/>
              <a:ext cx="809243" cy="206502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937759" y="2732532"/>
              <a:ext cx="715010" cy="1971039"/>
            </a:xfrm>
            <a:custGeom>
              <a:avLst/>
              <a:gdLst/>
              <a:ahLst/>
              <a:cxnLst/>
              <a:rect l="l" t="t" r="r" b="b"/>
              <a:pathLst>
                <a:path w="715010" h="1971039">
                  <a:moveTo>
                    <a:pt x="595629" y="0"/>
                  </a:moveTo>
                  <a:lnTo>
                    <a:pt x="119125" y="0"/>
                  </a:lnTo>
                  <a:lnTo>
                    <a:pt x="72759" y="9362"/>
                  </a:lnTo>
                  <a:lnTo>
                    <a:pt x="34893" y="34893"/>
                  </a:lnTo>
                  <a:lnTo>
                    <a:pt x="9362" y="72759"/>
                  </a:lnTo>
                  <a:lnTo>
                    <a:pt x="0" y="119125"/>
                  </a:lnTo>
                  <a:lnTo>
                    <a:pt x="0" y="1851405"/>
                  </a:lnTo>
                  <a:lnTo>
                    <a:pt x="9362" y="1897772"/>
                  </a:lnTo>
                  <a:lnTo>
                    <a:pt x="34893" y="1935638"/>
                  </a:lnTo>
                  <a:lnTo>
                    <a:pt x="72759" y="1961169"/>
                  </a:lnTo>
                  <a:lnTo>
                    <a:pt x="119125" y="1970531"/>
                  </a:lnTo>
                  <a:lnTo>
                    <a:pt x="595629" y="1970531"/>
                  </a:lnTo>
                  <a:lnTo>
                    <a:pt x="641996" y="1961169"/>
                  </a:lnTo>
                  <a:lnTo>
                    <a:pt x="679862" y="1935638"/>
                  </a:lnTo>
                  <a:lnTo>
                    <a:pt x="705393" y="1897772"/>
                  </a:lnTo>
                  <a:lnTo>
                    <a:pt x="714755" y="1851405"/>
                  </a:lnTo>
                  <a:lnTo>
                    <a:pt x="714755" y="119125"/>
                  </a:lnTo>
                  <a:lnTo>
                    <a:pt x="705393" y="72759"/>
                  </a:lnTo>
                  <a:lnTo>
                    <a:pt x="679862" y="34893"/>
                  </a:lnTo>
                  <a:lnTo>
                    <a:pt x="641996" y="9362"/>
                  </a:lnTo>
                  <a:lnTo>
                    <a:pt x="595629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37759" y="2732532"/>
              <a:ext cx="715010" cy="1971039"/>
            </a:xfrm>
            <a:custGeom>
              <a:avLst/>
              <a:gdLst/>
              <a:ahLst/>
              <a:cxnLst/>
              <a:rect l="l" t="t" r="r" b="b"/>
              <a:pathLst>
                <a:path w="715010" h="1971039">
                  <a:moveTo>
                    <a:pt x="0" y="119125"/>
                  </a:moveTo>
                  <a:lnTo>
                    <a:pt x="9362" y="72759"/>
                  </a:lnTo>
                  <a:lnTo>
                    <a:pt x="34893" y="34893"/>
                  </a:lnTo>
                  <a:lnTo>
                    <a:pt x="72759" y="9362"/>
                  </a:lnTo>
                  <a:lnTo>
                    <a:pt x="119125" y="0"/>
                  </a:lnTo>
                  <a:lnTo>
                    <a:pt x="595629" y="0"/>
                  </a:lnTo>
                  <a:lnTo>
                    <a:pt x="641996" y="9362"/>
                  </a:lnTo>
                  <a:lnTo>
                    <a:pt x="679862" y="34893"/>
                  </a:lnTo>
                  <a:lnTo>
                    <a:pt x="705393" y="72759"/>
                  </a:lnTo>
                  <a:lnTo>
                    <a:pt x="714755" y="119125"/>
                  </a:lnTo>
                  <a:lnTo>
                    <a:pt x="714755" y="1851405"/>
                  </a:lnTo>
                  <a:lnTo>
                    <a:pt x="705393" y="1897772"/>
                  </a:lnTo>
                  <a:lnTo>
                    <a:pt x="679862" y="1935638"/>
                  </a:lnTo>
                  <a:lnTo>
                    <a:pt x="641996" y="1961169"/>
                  </a:lnTo>
                  <a:lnTo>
                    <a:pt x="595629" y="1970531"/>
                  </a:lnTo>
                  <a:lnTo>
                    <a:pt x="119125" y="1970531"/>
                  </a:lnTo>
                  <a:lnTo>
                    <a:pt x="72759" y="1961169"/>
                  </a:lnTo>
                  <a:lnTo>
                    <a:pt x="34893" y="1935638"/>
                  </a:lnTo>
                  <a:lnTo>
                    <a:pt x="9362" y="1897772"/>
                  </a:lnTo>
                  <a:lnTo>
                    <a:pt x="0" y="1851405"/>
                  </a:lnTo>
                  <a:lnTo>
                    <a:pt x="0" y="119125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187696" y="3149481"/>
            <a:ext cx="254000" cy="11404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solidFill>
                  <a:srgbClr val="718FA4"/>
                </a:solidFill>
                <a:latin typeface="Calibri"/>
                <a:cs typeface="Calibri"/>
              </a:rPr>
              <a:t>LSTM</a:t>
            </a:r>
            <a:r>
              <a:rPr sz="1800" spc="-20" dirty="0">
                <a:solidFill>
                  <a:srgbClr val="718FA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18FA4"/>
                </a:solidFill>
                <a:latin typeface="Calibri"/>
                <a:cs typeface="Calibri"/>
              </a:rPr>
              <a:t>/</a:t>
            </a:r>
            <a:r>
              <a:rPr sz="1800" spc="-25" dirty="0">
                <a:solidFill>
                  <a:srgbClr val="718FA4"/>
                </a:solidFill>
                <a:latin typeface="Calibri"/>
                <a:cs typeface="Calibri"/>
              </a:rPr>
              <a:t> GRU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881371" y="1837944"/>
            <a:ext cx="805180" cy="3388360"/>
            <a:chOff x="4881371" y="1837944"/>
            <a:chExt cx="805180" cy="3388360"/>
          </a:xfrm>
        </p:grpSpPr>
        <p:pic>
          <p:nvPicPr>
            <p:cNvPr id="39" name="object 3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75503" y="4602479"/>
              <a:ext cx="240791" cy="62331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255894" y="4703826"/>
              <a:ext cx="78105" cy="459105"/>
            </a:xfrm>
            <a:custGeom>
              <a:avLst/>
              <a:gdLst/>
              <a:ahLst/>
              <a:cxnLst/>
              <a:rect l="l" t="t" r="r" b="b"/>
              <a:pathLst>
                <a:path w="78104" h="459104">
                  <a:moveTo>
                    <a:pt x="25842" y="77511"/>
                  </a:moveTo>
                  <a:lnTo>
                    <a:pt x="20192" y="458343"/>
                  </a:lnTo>
                  <a:lnTo>
                    <a:pt x="46100" y="458724"/>
                  </a:lnTo>
                  <a:lnTo>
                    <a:pt x="51743" y="78359"/>
                  </a:lnTo>
                  <a:lnTo>
                    <a:pt x="51749" y="77934"/>
                  </a:lnTo>
                  <a:lnTo>
                    <a:pt x="25842" y="77511"/>
                  </a:lnTo>
                  <a:close/>
                </a:path>
                <a:path w="78104" h="459104">
                  <a:moveTo>
                    <a:pt x="71060" y="64516"/>
                  </a:moveTo>
                  <a:lnTo>
                    <a:pt x="26034" y="64516"/>
                  </a:lnTo>
                  <a:lnTo>
                    <a:pt x="51942" y="64897"/>
                  </a:lnTo>
                  <a:lnTo>
                    <a:pt x="51762" y="77088"/>
                  </a:lnTo>
                  <a:lnTo>
                    <a:pt x="51749" y="77934"/>
                  </a:lnTo>
                  <a:lnTo>
                    <a:pt x="77724" y="78359"/>
                  </a:lnTo>
                  <a:lnTo>
                    <a:pt x="71060" y="64516"/>
                  </a:lnTo>
                  <a:close/>
                </a:path>
                <a:path w="78104" h="459104">
                  <a:moveTo>
                    <a:pt x="26034" y="64516"/>
                  </a:moveTo>
                  <a:lnTo>
                    <a:pt x="25848" y="77088"/>
                  </a:lnTo>
                  <a:lnTo>
                    <a:pt x="25842" y="77511"/>
                  </a:lnTo>
                  <a:lnTo>
                    <a:pt x="51749" y="77934"/>
                  </a:lnTo>
                  <a:lnTo>
                    <a:pt x="51942" y="64897"/>
                  </a:lnTo>
                  <a:lnTo>
                    <a:pt x="26034" y="64516"/>
                  </a:lnTo>
                  <a:close/>
                </a:path>
                <a:path w="78104" h="459104">
                  <a:moveTo>
                    <a:pt x="40004" y="0"/>
                  </a:moveTo>
                  <a:lnTo>
                    <a:pt x="0" y="77088"/>
                  </a:lnTo>
                  <a:lnTo>
                    <a:pt x="25842" y="77511"/>
                  </a:lnTo>
                  <a:lnTo>
                    <a:pt x="26029" y="64897"/>
                  </a:lnTo>
                  <a:lnTo>
                    <a:pt x="26034" y="64516"/>
                  </a:lnTo>
                  <a:lnTo>
                    <a:pt x="71060" y="64516"/>
                  </a:lnTo>
                  <a:lnTo>
                    <a:pt x="40004" y="0"/>
                  </a:lnTo>
                  <a:close/>
                </a:path>
              </a:pathLst>
            </a:custGeom>
            <a:solidFill>
              <a:srgbClr val="B903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81371" y="1842492"/>
              <a:ext cx="804671" cy="56545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09387" y="1837944"/>
              <a:ext cx="502920" cy="565403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919471" y="1857756"/>
              <a:ext cx="728980" cy="489584"/>
            </a:xfrm>
            <a:custGeom>
              <a:avLst/>
              <a:gdLst/>
              <a:ahLst/>
              <a:cxnLst/>
              <a:rect l="l" t="t" r="r" b="b"/>
              <a:pathLst>
                <a:path w="728979" h="489585">
                  <a:moveTo>
                    <a:pt x="646938" y="0"/>
                  </a:moveTo>
                  <a:lnTo>
                    <a:pt x="81533" y="0"/>
                  </a:lnTo>
                  <a:lnTo>
                    <a:pt x="49774" y="6399"/>
                  </a:lnTo>
                  <a:lnTo>
                    <a:pt x="23860" y="23860"/>
                  </a:lnTo>
                  <a:lnTo>
                    <a:pt x="6399" y="49774"/>
                  </a:lnTo>
                  <a:lnTo>
                    <a:pt x="0" y="81534"/>
                  </a:lnTo>
                  <a:lnTo>
                    <a:pt x="0" y="407670"/>
                  </a:lnTo>
                  <a:lnTo>
                    <a:pt x="6399" y="439429"/>
                  </a:lnTo>
                  <a:lnTo>
                    <a:pt x="23860" y="465343"/>
                  </a:lnTo>
                  <a:lnTo>
                    <a:pt x="49774" y="482804"/>
                  </a:lnTo>
                  <a:lnTo>
                    <a:pt x="81533" y="489204"/>
                  </a:lnTo>
                  <a:lnTo>
                    <a:pt x="646938" y="489204"/>
                  </a:lnTo>
                  <a:lnTo>
                    <a:pt x="678697" y="482804"/>
                  </a:lnTo>
                  <a:lnTo>
                    <a:pt x="704611" y="465343"/>
                  </a:lnTo>
                  <a:lnTo>
                    <a:pt x="722072" y="439429"/>
                  </a:lnTo>
                  <a:lnTo>
                    <a:pt x="728472" y="407670"/>
                  </a:lnTo>
                  <a:lnTo>
                    <a:pt x="728472" y="81534"/>
                  </a:lnTo>
                  <a:lnTo>
                    <a:pt x="722072" y="49774"/>
                  </a:lnTo>
                  <a:lnTo>
                    <a:pt x="704611" y="23860"/>
                  </a:lnTo>
                  <a:lnTo>
                    <a:pt x="678697" y="6399"/>
                  </a:lnTo>
                  <a:lnTo>
                    <a:pt x="646938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919471" y="1857756"/>
              <a:ext cx="728980" cy="489584"/>
            </a:xfrm>
            <a:custGeom>
              <a:avLst/>
              <a:gdLst/>
              <a:ahLst/>
              <a:cxnLst/>
              <a:rect l="l" t="t" r="r" b="b"/>
              <a:pathLst>
                <a:path w="728979" h="489585">
                  <a:moveTo>
                    <a:pt x="0" y="81534"/>
                  </a:moveTo>
                  <a:lnTo>
                    <a:pt x="6399" y="49774"/>
                  </a:lnTo>
                  <a:lnTo>
                    <a:pt x="23860" y="23860"/>
                  </a:lnTo>
                  <a:lnTo>
                    <a:pt x="49774" y="6399"/>
                  </a:lnTo>
                  <a:lnTo>
                    <a:pt x="81533" y="0"/>
                  </a:lnTo>
                  <a:lnTo>
                    <a:pt x="646938" y="0"/>
                  </a:lnTo>
                  <a:lnTo>
                    <a:pt x="678697" y="6399"/>
                  </a:lnTo>
                  <a:lnTo>
                    <a:pt x="704611" y="23860"/>
                  </a:lnTo>
                  <a:lnTo>
                    <a:pt x="722072" y="49774"/>
                  </a:lnTo>
                  <a:lnTo>
                    <a:pt x="728472" y="81534"/>
                  </a:lnTo>
                  <a:lnTo>
                    <a:pt x="728472" y="407670"/>
                  </a:lnTo>
                  <a:lnTo>
                    <a:pt x="722072" y="439429"/>
                  </a:lnTo>
                  <a:lnTo>
                    <a:pt x="704611" y="465343"/>
                  </a:lnTo>
                  <a:lnTo>
                    <a:pt x="678697" y="482804"/>
                  </a:lnTo>
                  <a:lnTo>
                    <a:pt x="646938" y="489204"/>
                  </a:lnTo>
                  <a:lnTo>
                    <a:pt x="81533" y="489204"/>
                  </a:lnTo>
                  <a:lnTo>
                    <a:pt x="49774" y="482804"/>
                  </a:lnTo>
                  <a:lnTo>
                    <a:pt x="23860" y="465343"/>
                  </a:lnTo>
                  <a:lnTo>
                    <a:pt x="6399" y="439429"/>
                  </a:lnTo>
                  <a:lnTo>
                    <a:pt x="0" y="407670"/>
                  </a:lnTo>
                  <a:lnTo>
                    <a:pt x="0" y="8153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963161" y="1899920"/>
            <a:ext cx="1466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226820" algn="l"/>
              </a:tabLst>
            </a:pPr>
            <a:r>
              <a:rPr sz="1800" spc="-25" dirty="0">
                <a:solidFill>
                  <a:srgbClr val="718FA4"/>
                </a:solidFill>
                <a:latin typeface="Calibri"/>
                <a:cs typeface="Calibri"/>
              </a:rPr>
              <a:t>Y</a:t>
            </a:r>
            <a:r>
              <a:rPr sz="1800" spc="-37" baseline="-20833" dirty="0">
                <a:solidFill>
                  <a:srgbClr val="718FA4"/>
                </a:solidFill>
                <a:latin typeface="Calibri"/>
                <a:cs typeface="Calibri"/>
              </a:rPr>
              <a:t>0</a:t>
            </a:r>
            <a:r>
              <a:rPr sz="1800" baseline="-20833" dirty="0">
                <a:solidFill>
                  <a:srgbClr val="718FA4"/>
                </a:solidFill>
                <a:latin typeface="Calibri"/>
                <a:cs typeface="Calibri"/>
              </a:rPr>
              <a:t>	</a:t>
            </a:r>
            <a:r>
              <a:rPr sz="1800" spc="-25" dirty="0">
                <a:solidFill>
                  <a:srgbClr val="718FA4"/>
                </a:solidFill>
                <a:latin typeface="Calibri"/>
                <a:cs typeface="Calibri"/>
              </a:rPr>
              <a:t>Y</a:t>
            </a:r>
            <a:r>
              <a:rPr sz="1800" spc="-37" baseline="-20833" dirty="0">
                <a:solidFill>
                  <a:srgbClr val="718FA4"/>
                </a:solidFill>
                <a:latin typeface="Calibri"/>
                <a:cs typeface="Calibri"/>
              </a:rPr>
              <a:t>1</a:t>
            </a:r>
            <a:endParaRPr sz="1800" baseline="-20833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163311" y="2246376"/>
            <a:ext cx="2877820" cy="3941445"/>
            <a:chOff x="5163311" y="2246376"/>
            <a:chExt cx="2877820" cy="3941445"/>
          </a:xfrm>
        </p:grpSpPr>
        <p:pic>
          <p:nvPicPr>
            <p:cNvPr id="47" name="object 4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63311" y="2246376"/>
              <a:ext cx="242315" cy="550163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245607" y="2347722"/>
              <a:ext cx="78105" cy="386080"/>
            </a:xfrm>
            <a:custGeom>
              <a:avLst/>
              <a:gdLst/>
              <a:ahLst/>
              <a:cxnLst/>
              <a:rect l="l" t="t" r="r" b="b"/>
              <a:pathLst>
                <a:path w="78104" h="386080">
                  <a:moveTo>
                    <a:pt x="51815" y="64769"/>
                  </a:moveTo>
                  <a:lnTo>
                    <a:pt x="25907" y="64769"/>
                  </a:lnTo>
                  <a:lnTo>
                    <a:pt x="25907" y="385572"/>
                  </a:lnTo>
                  <a:lnTo>
                    <a:pt x="51815" y="385572"/>
                  </a:lnTo>
                  <a:lnTo>
                    <a:pt x="51815" y="64769"/>
                  </a:lnTo>
                  <a:close/>
                </a:path>
                <a:path w="78104" h="386080">
                  <a:moveTo>
                    <a:pt x="38862" y="0"/>
                  </a:moveTo>
                  <a:lnTo>
                    <a:pt x="0" y="77724"/>
                  </a:lnTo>
                  <a:lnTo>
                    <a:pt x="25907" y="77724"/>
                  </a:lnTo>
                  <a:lnTo>
                    <a:pt x="25907" y="64769"/>
                  </a:lnTo>
                  <a:lnTo>
                    <a:pt x="71246" y="64769"/>
                  </a:lnTo>
                  <a:lnTo>
                    <a:pt x="38862" y="0"/>
                  </a:lnTo>
                  <a:close/>
                </a:path>
                <a:path w="78104" h="386080">
                  <a:moveTo>
                    <a:pt x="71246" y="64769"/>
                  </a:moveTo>
                  <a:lnTo>
                    <a:pt x="51815" y="64769"/>
                  </a:lnTo>
                  <a:lnTo>
                    <a:pt x="51815" y="77724"/>
                  </a:lnTo>
                  <a:lnTo>
                    <a:pt x="77724" y="77724"/>
                  </a:lnTo>
                  <a:lnTo>
                    <a:pt x="71246" y="64769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5951" y="5146534"/>
              <a:ext cx="804671" cy="1040918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74635" y="5152644"/>
              <a:ext cx="481583" cy="565404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7274051" y="5161788"/>
              <a:ext cx="728980" cy="965200"/>
            </a:xfrm>
            <a:custGeom>
              <a:avLst/>
              <a:gdLst/>
              <a:ahLst/>
              <a:cxnLst/>
              <a:rect l="l" t="t" r="r" b="b"/>
              <a:pathLst>
                <a:path w="728979" h="965200">
                  <a:moveTo>
                    <a:pt x="607059" y="0"/>
                  </a:moveTo>
                  <a:lnTo>
                    <a:pt x="121412" y="0"/>
                  </a:lnTo>
                  <a:lnTo>
                    <a:pt x="74152" y="9540"/>
                  </a:lnTo>
                  <a:lnTo>
                    <a:pt x="35560" y="35560"/>
                  </a:lnTo>
                  <a:lnTo>
                    <a:pt x="9540" y="74152"/>
                  </a:lnTo>
                  <a:lnTo>
                    <a:pt x="0" y="121412"/>
                  </a:lnTo>
                  <a:lnTo>
                    <a:pt x="0" y="843280"/>
                  </a:lnTo>
                  <a:lnTo>
                    <a:pt x="9540" y="890539"/>
                  </a:lnTo>
                  <a:lnTo>
                    <a:pt x="35559" y="929132"/>
                  </a:lnTo>
                  <a:lnTo>
                    <a:pt x="74152" y="955151"/>
                  </a:lnTo>
                  <a:lnTo>
                    <a:pt x="121412" y="964692"/>
                  </a:lnTo>
                  <a:lnTo>
                    <a:pt x="607059" y="964692"/>
                  </a:lnTo>
                  <a:lnTo>
                    <a:pt x="654319" y="955151"/>
                  </a:lnTo>
                  <a:lnTo>
                    <a:pt x="692911" y="929132"/>
                  </a:lnTo>
                  <a:lnTo>
                    <a:pt x="718931" y="890539"/>
                  </a:lnTo>
                  <a:lnTo>
                    <a:pt x="728472" y="843280"/>
                  </a:lnTo>
                  <a:lnTo>
                    <a:pt x="728472" y="121412"/>
                  </a:lnTo>
                  <a:lnTo>
                    <a:pt x="718931" y="74152"/>
                  </a:lnTo>
                  <a:lnTo>
                    <a:pt x="692912" y="35560"/>
                  </a:lnTo>
                  <a:lnTo>
                    <a:pt x="654319" y="9540"/>
                  </a:lnTo>
                  <a:lnTo>
                    <a:pt x="607059" y="0"/>
                  </a:lnTo>
                  <a:close/>
                </a:path>
              </a:pathLst>
            </a:custGeom>
            <a:solidFill>
              <a:srgbClr val="F4C9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274051" y="5161788"/>
              <a:ext cx="728980" cy="965200"/>
            </a:xfrm>
            <a:custGeom>
              <a:avLst/>
              <a:gdLst/>
              <a:ahLst/>
              <a:cxnLst/>
              <a:rect l="l" t="t" r="r" b="b"/>
              <a:pathLst>
                <a:path w="728979" h="965200">
                  <a:moveTo>
                    <a:pt x="0" y="121412"/>
                  </a:moveTo>
                  <a:lnTo>
                    <a:pt x="9540" y="74152"/>
                  </a:lnTo>
                  <a:lnTo>
                    <a:pt x="35560" y="35560"/>
                  </a:lnTo>
                  <a:lnTo>
                    <a:pt x="74152" y="9540"/>
                  </a:lnTo>
                  <a:lnTo>
                    <a:pt x="121412" y="0"/>
                  </a:lnTo>
                  <a:lnTo>
                    <a:pt x="607059" y="0"/>
                  </a:lnTo>
                  <a:lnTo>
                    <a:pt x="654319" y="9540"/>
                  </a:lnTo>
                  <a:lnTo>
                    <a:pt x="692912" y="35560"/>
                  </a:lnTo>
                  <a:lnTo>
                    <a:pt x="718931" y="74152"/>
                  </a:lnTo>
                  <a:lnTo>
                    <a:pt x="728472" y="121412"/>
                  </a:lnTo>
                  <a:lnTo>
                    <a:pt x="728472" y="843280"/>
                  </a:lnTo>
                  <a:lnTo>
                    <a:pt x="718931" y="890539"/>
                  </a:lnTo>
                  <a:lnTo>
                    <a:pt x="692911" y="929132"/>
                  </a:lnTo>
                  <a:lnTo>
                    <a:pt x="654319" y="955151"/>
                  </a:lnTo>
                  <a:lnTo>
                    <a:pt x="607059" y="964692"/>
                  </a:lnTo>
                  <a:lnTo>
                    <a:pt x="121412" y="964692"/>
                  </a:lnTo>
                  <a:lnTo>
                    <a:pt x="74152" y="955151"/>
                  </a:lnTo>
                  <a:lnTo>
                    <a:pt x="35559" y="929132"/>
                  </a:lnTo>
                  <a:lnTo>
                    <a:pt x="9540" y="890539"/>
                  </a:lnTo>
                  <a:lnTo>
                    <a:pt x="0" y="843280"/>
                  </a:lnTo>
                  <a:lnTo>
                    <a:pt x="0" y="121412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7517892" y="5216144"/>
            <a:ext cx="2432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718FA4"/>
                </a:solidFill>
                <a:latin typeface="Calibri"/>
                <a:cs typeface="Calibri"/>
              </a:rPr>
              <a:t>X</a:t>
            </a:r>
            <a:r>
              <a:rPr sz="1800" spc="-37" baseline="-20833" dirty="0">
                <a:solidFill>
                  <a:srgbClr val="718FA4"/>
                </a:solidFill>
                <a:latin typeface="Calibri"/>
                <a:cs typeface="Calibri"/>
              </a:rPr>
              <a:t>t</a:t>
            </a:r>
            <a:endParaRPr sz="1800" baseline="-20833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7226807" y="2708148"/>
            <a:ext cx="809625" cy="2065020"/>
            <a:chOff x="7226807" y="2708148"/>
            <a:chExt cx="809625" cy="2065020"/>
          </a:xfrm>
        </p:grpSpPr>
        <p:pic>
          <p:nvPicPr>
            <p:cNvPr id="55" name="object 5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26807" y="2708148"/>
              <a:ext cx="809244" cy="206502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274051" y="2732532"/>
              <a:ext cx="715010" cy="1971039"/>
            </a:xfrm>
            <a:custGeom>
              <a:avLst/>
              <a:gdLst/>
              <a:ahLst/>
              <a:cxnLst/>
              <a:rect l="l" t="t" r="r" b="b"/>
              <a:pathLst>
                <a:path w="715009" h="1971039">
                  <a:moveTo>
                    <a:pt x="595629" y="0"/>
                  </a:moveTo>
                  <a:lnTo>
                    <a:pt x="119125" y="0"/>
                  </a:lnTo>
                  <a:lnTo>
                    <a:pt x="72759" y="9362"/>
                  </a:lnTo>
                  <a:lnTo>
                    <a:pt x="34893" y="34893"/>
                  </a:lnTo>
                  <a:lnTo>
                    <a:pt x="9362" y="72759"/>
                  </a:lnTo>
                  <a:lnTo>
                    <a:pt x="0" y="119125"/>
                  </a:lnTo>
                  <a:lnTo>
                    <a:pt x="0" y="1851405"/>
                  </a:lnTo>
                  <a:lnTo>
                    <a:pt x="9362" y="1897772"/>
                  </a:lnTo>
                  <a:lnTo>
                    <a:pt x="34893" y="1935638"/>
                  </a:lnTo>
                  <a:lnTo>
                    <a:pt x="72759" y="1961169"/>
                  </a:lnTo>
                  <a:lnTo>
                    <a:pt x="119125" y="1970531"/>
                  </a:lnTo>
                  <a:lnTo>
                    <a:pt x="595629" y="1970531"/>
                  </a:lnTo>
                  <a:lnTo>
                    <a:pt x="641996" y="1961169"/>
                  </a:lnTo>
                  <a:lnTo>
                    <a:pt x="679862" y="1935638"/>
                  </a:lnTo>
                  <a:lnTo>
                    <a:pt x="705393" y="1897772"/>
                  </a:lnTo>
                  <a:lnTo>
                    <a:pt x="714755" y="1851405"/>
                  </a:lnTo>
                  <a:lnTo>
                    <a:pt x="714755" y="119125"/>
                  </a:lnTo>
                  <a:lnTo>
                    <a:pt x="705393" y="72759"/>
                  </a:lnTo>
                  <a:lnTo>
                    <a:pt x="679862" y="34893"/>
                  </a:lnTo>
                  <a:lnTo>
                    <a:pt x="641996" y="9362"/>
                  </a:lnTo>
                  <a:lnTo>
                    <a:pt x="595629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274051" y="2732532"/>
              <a:ext cx="715010" cy="1971039"/>
            </a:xfrm>
            <a:custGeom>
              <a:avLst/>
              <a:gdLst/>
              <a:ahLst/>
              <a:cxnLst/>
              <a:rect l="l" t="t" r="r" b="b"/>
              <a:pathLst>
                <a:path w="715009" h="1971039">
                  <a:moveTo>
                    <a:pt x="0" y="119125"/>
                  </a:moveTo>
                  <a:lnTo>
                    <a:pt x="9362" y="72759"/>
                  </a:lnTo>
                  <a:lnTo>
                    <a:pt x="34893" y="34893"/>
                  </a:lnTo>
                  <a:lnTo>
                    <a:pt x="72759" y="9362"/>
                  </a:lnTo>
                  <a:lnTo>
                    <a:pt x="119125" y="0"/>
                  </a:lnTo>
                  <a:lnTo>
                    <a:pt x="595629" y="0"/>
                  </a:lnTo>
                  <a:lnTo>
                    <a:pt x="641996" y="9362"/>
                  </a:lnTo>
                  <a:lnTo>
                    <a:pt x="679862" y="34893"/>
                  </a:lnTo>
                  <a:lnTo>
                    <a:pt x="705393" y="72759"/>
                  </a:lnTo>
                  <a:lnTo>
                    <a:pt x="714755" y="119125"/>
                  </a:lnTo>
                  <a:lnTo>
                    <a:pt x="714755" y="1851405"/>
                  </a:lnTo>
                  <a:lnTo>
                    <a:pt x="705393" y="1897772"/>
                  </a:lnTo>
                  <a:lnTo>
                    <a:pt x="679862" y="1935638"/>
                  </a:lnTo>
                  <a:lnTo>
                    <a:pt x="641996" y="1961169"/>
                  </a:lnTo>
                  <a:lnTo>
                    <a:pt x="595629" y="1970531"/>
                  </a:lnTo>
                  <a:lnTo>
                    <a:pt x="119125" y="1970531"/>
                  </a:lnTo>
                  <a:lnTo>
                    <a:pt x="72759" y="1961169"/>
                  </a:lnTo>
                  <a:lnTo>
                    <a:pt x="34893" y="1935638"/>
                  </a:lnTo>
                  <a:lnTo>
                    <a:pt x="9362" y="1897772"/>
                  </a:lnTo>
                  <a:lnTo>
                    <a:pt x="0" y="1851405"/>
                  </a:lnTo>
                  <a:lnTo>
                    <a:pt x="0" y="119125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7525130" y="3149735"/>
            <a:ext cx="254000" cy="114046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solidFill>
                  <a:srgbClr val="718FA4"/>
                </a:solidFill>
                <a:latin typeface="Calibri"/>
                <a:cs typeface="Calibri"/>
              </a:rPr>
              <a:t>LSTM</a:t>
            </a:r>
            <a:r>
              <a:rPr sz="1800" spc="-20" dirty="0">
                <a:solidFill>
                  <a:srgbClr val="718FA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18FA4"/>
                </a:solidFill>
                <a:latin typeface="Calibri"/>
                <a:cs typeface="Calibri"/>
              </a:rPr>
              <a:t>/</a:t>
            </a:r>
            <a:r>
              <a:rPr sz="1800" spc="-25" dirty="0">
                <a:solidFill>
                  <a:srgbClr val="718FA4"/>
                </a:solidFill>
                <a:latin typeface="Calibri"/>
                <a:cs typeface="Calibri"/>
              </a:rPr>
              <a:t> GRU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7240523" y="1837944"/>
            <a:ext cx="805180" cy="3386454"/>
            <a:chOff x="7240523" y="1837944"/>
            <a:chExt cx="805180" cy="3386454"/>
          </a:xfrm>
        </p:grpSpPr>
        <p:pic>
          <p:nvPicPr>
            <p:cNvPr id="60" name="object 6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11795" y="4602479"/>
              <a:ext cx="242316" cy="621792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7594091" y="4703826"/>
              <a:ext cx="78105" cy="458470"/>
            </a:xfrm>
            <a:custGeom>
              <a:avLst/>
              <a:gdLst/>
              <a:ahLst/>
              <a:cxnLst/>
              <a:rect l="l" t="t" r="r" b="b"/>
              <a:pathLst>
                <a:path w="78104" h="458470">
                  <a:moveTo>
                    <a:pt x="51815" y="64769"/>
                  </a:moveTo>
                  <a:lnTo>
                    <a:pt x="25907" y="64769"/>
                  </a:lnTo>
                  <a:lnTo>
                    <a:pt x="25907" y="458216"/>
                  </a:lnTo>
                  <a:lnTo>
                    <a:pt x="51815" y="458216"/>
                  </a:lnTo>
                  <a:lnTo>
                    <a:pt x="51815" y="64769"/>
                  </a:lnTo>
                  <a:close/>
                </a:path>
                <a:path w="78104" h="458470">
                  <a:moveTo>
                    <a:pt x="38861" y="0"/>
                  </a:moveTo>
                  <a:lnTo>
                    <a:pt x="0" y="77724"/>
                  </a:lnTo>
                  <a:lnTo>
                    <a:pt x="25907" y="77724"/>
                  </a:lnTo>
                  <a:lnTo>
                    <a:pt x="25907" y="64769"/>
                  </a:lnTo>
                  <a:lnTo>
                    <a:pt x="71247" y="64769"/>
                  </a:lnTo>
                  <a:lnTo>
                    <a:pt x="38861" y="0"/>
                  </a:lnTo>
                  <a:close/>
                </a:path>
                <a:path w="78104" h="458470">
                  <a:moveTo>
                    <a:pt x="71247" y="64769"/>
                  </a:moveTo>
                  <a:lnTo>
                    <a:pt x="51815" y="64769"/>
                  </a:lnTo>
                  <a:lnTo>
                    <a:pt x="51815" y="77724"/>
                  </a:lnTo>
                  <a:lnTo>
                    <a:pt x="77724" y="77724"/>
                  </a:lnTo>
                  <a:lnTo>
                    <a:pt x="71247" y="64769"/>
                  </a:lnTo>
                  <a:close/>
                </a:path>
              </a:pathLst>
            </a:custGeom>
            <a:solidFill>
              <a:srgbClr val="B903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0523" y="1842492"/>
              <a:ext cx="804671" cy="565451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383779" y="1837944"/>
              <a:ext cx="472440" cy="565403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7278623" y="1857756"/>
              <a:ext cx="728980" cy="489584"/>
            </a:xfrm>
            <a:custGeom>
              <a:avLst/>
              <a:gdLst/>
              <a:ahLst/>
              <a:cxnLst/>
              <a:rect l="l" t="t" r="r" b="b"/>
              <a:pathLst>
                <a:path w="728979" h="489585">
                  <a:moveTo>
                    <a:pt x="646937" y="0"/>
                  </a:moveTo>
                  <a:lnTo>
                    <a:pt x="81533" y="0"/>
                  </a:lnTo>
                  <a:lnTo>
                    <a:pt x="49774" y="6399"/>
                  </a:lnTo>
                  <a:lnTo>
                    <a:pt x="23860" y="23860"/>
                  </a:lnTo>
                  <a:lnTo>
                    <a:pt x="6399" y="49774"/>
                  </a:lnTo>
                  <a:lnTo>
                    <a:pt x="0" y="81534"/>
                  </a:lnTo>
                  <a:lnTo>
                    <a:pt x="0" y="407670"/>
                  </a:lnTo>
                  <a:lnTo>
                    <a:pt x="6399" y="439429"/>
                  </a:lnTo>
                  <a:lnTo>
                    <a:pt x="23860" y="465343"/>
                  </a:lnTo>
                  <a:lnTo>
                    <a:pt x="49774" y="482804"/>
                  </a:lnTo>
                  <a:lnTo>
                    <a:pt x="81533" y="489204"/>
                  </a:lnTo>
                  <a:lnTo>
                    <a:pt x="646937" y="489204"/>
                  </a:lnTo>
                  <a:lnTo>
                    <a:pt x="678697" y="482804"/>
                  </a:lnTo>
                  <a:lnTo>
                    <a:pt x="704611" y="465343"/>
                  </a:lnTo>
                  <a:lnTo>
                    <a:pt x="722072" y="439429"/>
                  </a:lnTo>
                  <a:lnTo>
                    <a:pt x="728472" y="407670"/>
                  </a:lnTo>
                  <a:lnTo>
                    <a:pt x="728472" y="81534"/>
                  </a:lnTo>
                  <a:lnTo>
                    <a:pt x="722072" y="49774"/>
                  </a:lnTo>
                  <a:lnTo>
                    <a:pt x="704611" y="23860"/>
                  </a:lnTo>
                  <a:lnTo>
                    <a:pt x="678697" y="6399"/>
                  </a:lnTo>
                  <a:lnTo>
                    <a:pt x="646937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278623" y="1857756"/>
              <a:ext cx="728980" cy="489584"/>
            </a:xfrm>
            <a:custGeom>
              <a:avLst/>
              <a:gdLst/>
              <a:ahLst/>
              <a:cxnLst/>
              <a:rect l="l" t="t" r="r" b="b"/>
              <a:pathLst>
                <a:path w="728979" h="489585">
                  <a:moveTo>
                    <a:pt x="0" y="81534"/>
                  </a:moveTo>
                  <a:lnTo>
                    <a:pt x="6399" y="49774"/>
                  </a:lnTo>
                  <a:lnTo>
                    <a:pt x="23860" y="23860"/>
                  </a:lnTo>
                  <a:lnTo>
                    <a:pt x="49774" y="6399"/>
                  </a:lnTo>
                  <a:lnTo>
                    <a:pt x="81533" y="0"/>
                  </a:lnTo>
                  <a:lnTo>
                    <a:pt x="646937" y="0"/>
                  </a:lnTo>
                  <a:lnTo>
                    <a:pt x="678697" y="6399"/>
                  </a:lnTo>
                  <a:lnTo>
                    <a:pt x="704611" y="23860"/>
                  </a:lnTo>
                  <a:lnTo>
                    <a:pt x="722072" y="49774"/>
                  </a:lnTo>
                  <a:lnTo>
                    <a:pt x="728472" y="81534"/>
                  </a:lnTo>
                  <a:lnTo>
                    <a:pt x="728472" y="407670"/>
                  </a:lnTo>
                  <a:lnTo>
                    <a:pt x="722072" y="439429"/>
                  </a:lnTo>
                  <a:lnTo>
                    <a:pt x="704611" y="465343"/>
                  </a:lnTo>
                  <a:lnTo>
                    <a:pt x="678697" y="482804"/>
                  </a:lnTo>
                  <a:lnTo>
                    <a:pt x="646937" y="489204"/>
                  </a:lnTo>
                  <a:lnTo>
                    <a:pt x="81533" y="489204"/>
                  </a:lnTo>
                  <a:lnTo>
                    <a:pt x="49774" y="482804"/>
                  </a:lnTo>
                  <a:lnTo>
                    <a:pt x="23860" y="465343"/>
                  </a:lnTo>
                  <a:lnTo>
                    <a:pt x="6399" y="439429"/>
                  </a:lnTo>
                  <a:lnTo>
                    <a:pt x="0" y="407670"/>
                  </a:lnTo>
                  <a:lnTo>
                    <a:pt x="0" y="8153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7525766" y="1900173"/>
            <a:ext cx="2343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718FA4"/>
                </a:solidFill>
                <a:latin typeface="Calibri"/>
                <a:cs typeface="Calibri"/>
              </a:rPr>
              <a:t>Y</a:t>
            </a:r>
            <a:r>
              <a:rPr sz="1800" spc="-37" baseline="-20833" dirty="0">
                <a:solidFill>
                  <a:srgbClr val="718FA4"/>
                </a:solidFill>
                <a:latin typeface="Calibri"/>
                <a:cs typeface="Calibri"/>
              </a:rPr>
              <a:t>t</a:t>
            </a:r>
            <a:endParaRPr sz="1800" baseline="-20833">
              <a:latin typeface="Calibri"/>
              <a:cs typeface="Calibri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5605271" y="2246376"/>
            <a:ext cx="2976880" cy="1614170"/>
            <a:chOff x="5605271" y="2246376"/>
            <a:chExt cx="2976880" cy="1614170"/>
          </a:xfrm>
        </p:grpSpPr>
        <p:pic>
          <p:nvPicPr>
            <p:cNvPr id="68" name="object 6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22463" y="2246376"/>
              <a:ext cx="242316" cy="550163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7604759" y="2347722"/>
              <a:ext cx="78105" cy="386080"/>
            </a:xfrm>
            <a:custGeom>
              <a:avLst/>
              <a:gdLst/>
              <a:ahLst/>
              <a:cxnLst/>
              <a:rect l="l" t="t" r="r" b="b"/>
              <a:pathLst>
                <a:path w="78104" h="386080">
                  <a:moveTo>
                    <a:pt x="51816" y="64769"/>
                  </a:moveTo>
                  <a:lnTo>
                    <a:pt x="25908" y="64769"/>
                  </a:lnTo>
                  <a:lnTo>
                    <a:pt x="25908" y="385572"/>
                  </a:lnTo>
                  <a:lnTo>
                    <a:pt x="51816" y="385572"/>
                  </a:lnTo>
                  <a:lnTo>
                    <a:pt x="51816" y="64769"/>
                  </a:lnTo>
                  <a:close/>
                </a:path>
                <a:path w="78104" h="386080">
                  <a:moveTo>
                    <a:pt x="38862" y="0"/>
                  </a:moveTo>
                  <a:lnTo>
                    <a:pt x="0" y="77724"/>
                  </a:lnTo>
                  <a:lnTo>
                    <a:pt x="25908" y="77724"/>
                  </a:lnTo>
                  <a:lnTo>
                    <a:pt x="25908" y="64769"/>
                  </a:lnTo>
                  <a:lnTo>
                    <a:pt x="71247" y="64769"/>
                  </a:lnTo>
                  <a:lnTo>
                    <a:pt x="38862" y="0"/>
                  </a:lnTo>
                  <a:close/>
                </a:path>
                <a:path w="78104" h="386080">
                  <a:moveTo>
                    <a:pt x="71247" y="64769"/>
                  </a:moveTo>
                  <a:lnTo>
                    <a:pt x="51816" y="64769"/>
                  </a:lnTo>
                  <a:lnTo>
                    <a:pt x="51816" y="77724"/>
                  </a:lnTo>
                  <a:lnTo>
                    <a:pt x="77724" y="77724"/>
                  </a:lnTo>
                  <a:lnTo>
                    <a:pt x="71247" y="64769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605271" y="3617976"/>
              <a:ext cx="643127" cy="242316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5648705" y="3680460"/>
              <a:ext cx="479425" cy="78105"/>
            </a:xfrm>
            <a:custGeom>
              <a:avLst/>
              <a:gdLst/>
              <a:ahLst/>
              <a:cxnLst/>
              <a:rect l="l" t="t" r="r" b="b"/>
              <a:pathLst>
                <a:path w="479425" h="78104">
                  <a:moveTo>
                    <a:pt x="401574" y="0"/>
                  </a:moveTo>
                  <a:lnTo>
                    <a:pt x="401574" y="77723"/>
                  </a:lnTo>
                  <a:lnTo>
                    <a:pt x="453390" y="51815"/>
                  </a:lnTo>
                  <a:lnTo>
                    <a:pt x="414528" y="51815"/>
                  </a:lnTo>
                  <a:lnTo>
                    <a:pt x="414528" y="25907"/>
                  </a:lnTo>
                  <a:lnTo>
                    <a:pt x="453389" y="25907"/>
                  </a:lnTo>
                  <a:lnTo>
                    <a:pt x="401574" y="0"/>
                  </a:lnTo>
                  <a:close/>
                </a:path>
                <a:path w="479425" h="78104">
                  <a:moveTo>
                    <a:pt x="401574" y="25907"/>
                  </a:moveTo>
                  <a:lnTo>
                    <a:pt x="0" y="25907"/>
                  </a:lnTo>
                  <a:lnTo>
                    <a:pt x="0" y="51815"/>
                  </a:lnTo>
                  <a:lnTo>
                    <a:pt x="401574" y="51815"/>
                  </a:lnTo>
                  <a:lnTo>
                    <a:pt x="401574" y="25907"/>
                  </a:lnTo>
                  <a:close/>
                </a:path>
                <a:path w="479425" h="78104">
                  <a:moveTo>
                    <a:pt x="453389" y="25907"/>
                  </a:moveTo>
                  <a:lnTo>
                    <a:pt x="414528" y="25907"/>
                  </a:lnTo>
                  <a:lnTo>
                    <a:pt x="414528" y="51815"/>
                  </a:lnTo>
                  <a:lnTo>
                    <a:pt x="453390" y="51815"/>
                  </a:lnTo>
                  <a:lnTo>
                    <a:pt x="479298" y="38862"/>
                  </a:lnTo>
                  <a:lnTo>
                    <a:pt x="453389" y="25907"/>
                  </a:lnTo>
                  <a:close/>
                </a:path>
              </a:pathLst>
            </a:custGeom>
            <a:solidFill>
              <a:srgbClr val="6E85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938515" y="3617976"/>
              <a:ext cx="643127" cy="242316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7981949" y="3680460"/>
              <a:ext cx="479425" cy="78105"/>
            </a:xfrm>
            <a:custGeom>
              <a:avLst/>
              <a:gdLst/>
              <a:ahLst/>
              <a:cxnLst/>
              <a:rect l="l" t="t" r="r" b="b"/>
              <a:pathLst>
                <a:path w="479425" h="78104">
                  <a:moveTo>
                    <a:pt x="401574" y="0"/>
                  </a:moveTo>
                  <a:lnTo>
                    <a:pt x="401574" y="77723"/>
                  </a:lnTo>
                  <a:lnTo>
                    <a:pt x="453390" y="51815"/>
                  </a:lnTo>
                  <a:lnTo>
                    <a:pt x="414527" y="51815"/>
                  </a:lnTo>
                  <a:lnTo>
                    <a:pt x="414527" y="25907"/>
                  </a:lnTo>
                  <a:lnTo>
                    <a:pt x="453390" y="25907"/>
                  </a:lnTo>
                  <a:lnTo>
                    <a:pt x="401574" y="0"/>
                  </a:lnTo>
                  <a:close/>
                </a:path>
                <a:path w="479425" h="78104">
                  <a:moveTo>
                    <a:pt x="401574" y="25907"/>
                  </a:moveTo>
                  <a:lnTo>
                    <a:pt x="0" y="25907"/>
                  </a:lnTo>
                  <a:lnTo>
                    <a:pt x="0" y="51815"/>
                  </a:lnTo>
                  <a:lnTo>
                    <a:pt x="401574" y="51815"/>
                  </a:lnTo>
                  <a:lnTo>
                    <a:pt x="401574" y="25907"/>
                  </a:lnTo>
                  <a:close/>
                </a:path>
                <a:path w="479425" h="78104">
                  <a:moveTo>
                    <a:pt x="453390" y="25907"/>
                  </a:moveTo>
                  <a:lnTo>
                    <a:pt x="414527" y="25907"/>
                  </a:lnTo>
                  <a:lnTo>
                    <a:pt x="414527" y="51815"/>
                  </a:lnTo>
                  <a:lnTo>
                    <a:pt x="453390" y="51815"/>
                  </a:lnTo>
                  <a:lnTo>
                    <a:pt x="479298" y="38862"/>
                  </a:lnTo>
                  <a:lnTo>
                    <a:pt x="453390" y="25907"/>
                  </a:lnTo>
                  <a:close/>
                </a:path>
              </a:pathLst>
            </a:custGeom>
            <a:solidFill>
              <a:srgbClr val="6E85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6367653" y="5497169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0" name="object 8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75" name="object 75"/>
          <p:cNvSpPr txBox="1"/>
          <p:nvPr/>
        </p:nvSpPr>
        <p:spPr>
          <a:xfrm>
            <a:off x="6367653" y="3543680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367653" y="2044649"/>
            <a:ext cx="1835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700007" y="5497779"/>
            <a:ext cx="1835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8700007" y="3544265"/>
            <a:ext cx="1835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8700007" y="2045919"/>
            <a:ext cx="1835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95"/>
              </a:spcBef>
            </a:pPr>
            <a:r>
              <a:rPr dirty="0"/>
              <a:t>Sequential</a:t>
            </a:r>
            <a:r>
              <a:rPr spc="-50" dirty="0"/>
              <a:t> </a:t>
            </a:r>
            <a:r>
              <a:rPr dirty="0"/>
              <a:t>Data</a:t>
            </a:r>
            <a:r>
              <a:rPr spc="-60" dirty="0"/>
              <a:t> </a:t>
            </a:r>
            <a:r>
              <a:rPr spc="-10" dirty="0"/>
              <a:t>Problems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4548" y="952500"/>
            <a:ext cx="11064996" cy="341985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5000" y="4564126"/>
            <a:ext cx="1162050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272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545454"/>
                </a:solidFill>
                <a:latin typeface="Arial"/>
                <a:cs typeface="Arial"/>
              </a:rPr>
              <a:t>Fixed-sized input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solidFill>
                  <a:srgbClr val="545454"/>
                </a:solidFill>
                <a:latin typeface="Arial"/>
                <a:cs typeface="Arial"/>
              </a:rPr>
              <a:t>to</a:t>
            </a:r>
            <a:r>
              <a:rPr sz="1400" b="1" spc="4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545454"/>
                </a:solidFill>
                <a:latin typeface="Arial"/>
                <a:cs typeface="Arial"/>
              </a:rPr>
              <a:t>fixed-sized output</a:t>
            </a:r>
            <a:endParaRPr sz="1400">
              <a:latin typeface="Arial"/>
              <a:cs typeface="Arial"/>
            </a:endParaRPr>
          </a:p>
          <a:p>
            <a:pPr marL="12700" marR="72390">
              <a:lnSpc>
                <a:spcPct val="100000"/>
              </a:lnSpc>
            </a:pPr>
            <a:r>
              <a:rPr sz="1400" dirty="0">
                <a:solidFill>
                  <a:srgbClr val="545454"/>
                </a:solidFill>
                <a:latin typeface="Arial MT"/>
                <a:cs typeface="Arial MT"/>
              </a:rPr>
              <a:t>(e.g.</a:t>
            </a:r>
            <a:r>
              <a:rPr sz="1400" spc="-3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45454"/>
                </a:solidFill>
                <a:latin typeface="Arial MT"/>
                <a:cs typeface="Arial MT"/>
              </a:rPr>
              <a:t>image classification)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2284602" y="4577334"/>
            <a:ext cx="1773555" cy="109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545454"/>
                </a:solidFill>
                <a:latin typeface="Arial"/>
                <a:cs typeface="Arial"/>
              </a:rPr>
              <a:t>Sequence</a:t>
            </a:r>
            <a:r>
              <a:rPr sz="1400" b="1" spc="-6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545454"/>
                </a:solidFill>
                <a:latin typeface="Arial"/>
                <a:cs typeface="Arial"/>
              </a:rPr>
              <a:t>output </a:t>
            </a:r>
            <a:r>
              <a:rPr sz="1400" dirty="0">
                <a:solidFill>
                  <a:srgbClr val="545454"/>
                </a:solidFill>
                <a:latin typeface="Arial MT"/>
                <a:cs typeface="Arial MT"/>
              </a:rPr>
              <a:t>(e.g.</a:t>
            </a:r>
            <a:r>
              <a:rPr sz="1400" spc="-4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45454"/>
                </a:solidFill>
                <a:latin typeface="Arial MT"/>
                <a:cs typeface="Arial MT"/>
              </a:rPr>
              <a:t>image</a:t>
            </a:r>
            <a:r>
              <a:rPr sz="1400" spc="-3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45454"/>
                </a:solidFill>
                <a:latin typeface="Arial MT"/>
                <a:cs typeface="Arial MT"/>
              </a:rPr>
              <a:t>captioning </a:t>
            </a:r>
            <a:r>
              <a:rPr sz="1400" dirty="0">
                <a:solidFill>
                  <a:srgbClr val="545454"/>
                </a:solidFill>
                <a:latin typeface="Arial MT"/>
                <a:cs typeface="Arial MT"/>
              </a:rPr>
              <a:t>takes</a:t>
            </a:r>
            <a:r>
              <a:rPr sz="1400" spc="-5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45454"/>
                </a:solidFill>
                <a:latin typeface="Arial MT"/>
                <a:cs typeface="Arial MT"/>
              </a:rPr>
              <a:t>an</a:t>
            </a:r>
            <a:r>
              <a:rPr sz="1400" spc="-2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45454"/>
                </a:solidFill>
                <a:latin typeface="Arial MT"/>
                <a:cs typeface="Arial MT"/>
              </a:rPr>
              <a:t>image</a:t>
            </a:r>
            <a:r>
              <a:rPr sz="1400" spc="-25" dirty="0">
                <a:solidFill>
                  <a:srgbClr val="545454"/>
                </a:solidFill>
                <a:latin typeface="Arial MT"/>
                <a:cs typeface="Arial MT"/>
              </a:rPr>
              <a:t> and </a:t>
            </a:r>
            <a:r>
              <a:rPr sz="1400" dirty="0">
                <a:solidFill>
                  <a:srgbClr val="545454"/>
                </a:solidFill>
                <a:latin typeface="Arial MT"/>
                <a:cs typeface="Arial MT"/>
              </a:rPr>
              <a:t>outputs</a:t>
            </a:r>
            <a:r>
              <a:rPr sz="1400" spc="-4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45454"/>
                </a:solidFill>
                <a:latin typeface="Arial MT"/>
                <a:cs typeface="Arial MT"/>
              </a:rPr>
              <a:t>a</a:t>
            </a:r>
            <a:r>
              <a:rPr sz="1400" spc="-2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45454"/>
                </a:solidFill>
                <a:latin typeface="Arial MT"/>
                <a:cs typeface="Arial MT"/>
              </a:rPr>
              <a:t>sentence</a:t>
            </a:r>
            <a:r>
              <a:rPr sz="1400" spc="-4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545454"/>
                </a:solidFill>
                <a:latin typeface="Arial MT"/>
                <a:cs typeface="Arial MT"/>
              </a:rPr>
              <a:t>of </a:t>
            </a:r>
            <a:r>
              <a:rPr sz="1400" spc="-10" dirty="0">
                <a:solidFill>
                  <a:srgbClr val="545454"/>
                </a:solidFill>
                <a:latin typeface="Arial MT"/>
                <a:cs typeface="Arial MT"/>
              </a:rPr>
              <a:t>words).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74007" y="4577334"/>
            <a:ext cx="1903095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545454"/>
                </a:solidFill>
                <a:latin typeface="Arial"/>
                <a:cs typeface="Arial"/>
              </a:rPr>
              <a:t>Sequence</a:t>
            </a:r>
            <a:r>
              <a:rPr sz="1400" b="1" spc="-6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545454"/>
                </a:solidFill>
                <a:latin typeface="Arial"/>
                <a:cs typeface="Arial"/>
              </a:rPr>
              <a:t>input</a:t>
            </a:r>
            <a:r>
              <a:rPr sz="1400" b="1" spc="-50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45454"/>
                </a:solidFill>
                <a:latin typeface="Arial MT"/>
                <a:cs typeface="Arial MT"/>
              </a:rPr>
              <a:t>(e.g. </a:t>
            </a:r>
            <a:r>
              <a:rPr sz="1400" dirty="0">
                <a:solidFill>
                  <a:srgbClr val="545454"/>
                </a:solidFill>
                <a:latin typeface="Arial MT"/>
                <a:cs typeface="Arial MT"/>
              </a:rPr>
              <a:t>sentiment</a:t>
            </a:r>
            <a:r>
              <a:rPr sz="1400" spc="-6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45454"/>
                </a:solidFill>
                <a:latin typeface="Arial MT"/>
                <a:cs typeface="Arial MT"/>
              </a:rPr>
              <a:t>analysis </a:t>
            </a:r>
            <a:r>
              <a:rPr sz="1400" dirty="0">
                <a:solidFill>
                  <a:srgbClr val="545454"/>
                </a:solidFill>
                <a:latin typeface="Arial MT"/>
                <a:cs typeface="Arial MT"/>
              </a:rPr>
              <a:t>where</a:t>
            </a:r>
            <a:r>
              <a:rPr sz="1400" spc="-3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45454"/>
                </a:solidFill>
                <a:latin typeface="Arial MT"/>
                <a:cs typeface="Arial MT"/>
              </a:rPr>
              <a:t>a</a:t>
            </a:r>
            <a:r>
              <a:rPr sz="1400" spc="-3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45454"/>
                </a:solidFill>
                <a:latin typeface="Arial MT"/>
                <a:cs typeface="Arial MT"/>
              </a:rPr>
              <a:t>given</a:t>
            </a:r>
            <a:r>
              <a:rPr sz="1400" spc="-3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45454"/>
                </a:solidFill>
                <a:latin typeface="Arial MT"/>
                <a:cs typeface="Arial MT"/>
              </a:rPr>
              <a:t>sentence </a:t>
            </a:r>
            <a:r>
              <a:rPr sz="1400" dirty="0">
                <a:solidFill>
                  <a:srgbClr val="545454"/>
                </a:solidFill>
                <a:latin typeface="Arial MT"/>
                <a:cs typeface="Arial MT"/>
              </a:rPr>
              <a:t>is</a:t>
            </a:r>
            <a:r>
              <a:rPr sz="1400" spc="-2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45454"/>
                </a:solidFill>
                <a:latin typeface="Arial MT"/>
                <a:cs typeface="Arial MT"/>
              </a:rPr>
              <a:t>classified</a:t>
            </a:r>
            <a:r>
              <a:rPr sz="1400" spc="-5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545454"/>
                </a:solidFill>
                <a:latin typeface="Arial MT"/>
                <a:cs typeface="Arial MT"/>
              </a:rPr>
              <a:t>as </a:t>
            </a:r>
            <a:r>
              <a:rPr sz="1400" dirty="0">
                <a:solidFill>
                  <a:srgbClr val="545454"/>
                </a:solidFill>
                <a:latin typeface="Arial MT"/>
                <a:cs typeface="Arial MT"/>
              </a:rPr>
              <a:t>expressing</a:t>
            </a:r>
            <a:r>
              <a:rPr sz="1400" spc="-6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545454"/>
                </a:solidFill>
                <a:latin typeface="Arial MT"/>
                <a:cs typeface="Arial MT"/>
              </a:rPr>
              <a:t>positive</a:t>
            </a:r>
            <a:r>
              <a:rPr sz="1400" spc="-4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545454"/>
                </a:solidFill>
                <a:latin typeface="Arial MT"/>
                <a:cs typeface="Arial MT"/>
              </a:rPr>
              <a:t>or </a:t>
            </a:r>
            <a:r>
              <a:rPr sz="1400" dirty="0">
                <a:solidFill>
                  <a:srgbClr val="545454"/>
                </a:solidFill>
                <a:latin typeface="Arial MT"/>
                <a:cs typeface="Arial MT"/>
              </a:rPr>
              <a:t>negative</a:t>
            </a:r>
            <a:r>
              <a:rPr sz="1400" spc="-35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545454"/>
                </a:solidFill>
                <a:latin typeface="Arial MT"/>
                <a:cs typeface="Arial MT"/>
              </a:rPr>
              <a:t>sentiment).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88251" y="4537709"/>
            <a:ext cx="1826895" cy="1308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100"/>
              </a:spcBef>
            </a:pPr>
            <a:r>
              <a:rPr sz="1400" b="1" dirty="0">
                <a:solidFill>
                  <a:srgbClr val="545454"/>
                </a:solidFill>
                <a:latin typeface="Calibri"/>
                <a:cs typeface="Calibri"/>
              </a:rPr>
              <a:t>Sequence</a:t>
            </a:r>
            <a:r>
              <a:rPr sz="1400" b="1" spc="-50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45454"/>
                </a:solidFill>
                <a:latin typeface="Calibri"/>
                <a:cs typeface="Calibri"/>
              </a:rPr>
              <a:t>input</a:t>
            </a:r>
            <a:r>
              <a:rPr sz="1400" b="1" spc="-35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545454"/>
                </a:solidFill>
                <a:latin typeface="Calibri"/>
                <a:cs typeface="Calibri"/>
              </a:rPr>
              <a:t>and </a:t>
            </a:r>
            <a:r>
              <a:rPr sz="1400" b="1" dirty="0">
                <a:solidFill>
                  <a:srgbClr val="545454"/>
                </a:solidFill>
                <a:latin typeface="Calibri"/>
                <a:cs typeface="Calibri"/>
              </a:rPr>
              <a:t>sequence</a:t>
            </a:r>
            <a:r>
              <a:rPr sz="1400" b="1" spc="-60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45454"/>
                </a:solidFill>
                <a:latin typeface="Calibri"/>
                <a:cs typeface="Calibri"/>
              </a:rPr>
              <a:t>output</a:t>
            </a:r>
            <a:r>
              <a:rPr sz="1400" b="1" spc="-20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45454"/>
                </a:solidFill>
                <a:latin typeface="Calibri"/>
                <a:cs typeface="Calibri"/>
              </a:rPr>
              <a:t>(e.g. </a:t>
            </a:r>
            <a:r>
              <a:rPr sz="1400" dirty="0">
                <a:solidFill>
                  <a:srgbClr val="545454"/>
                </a:solidFill>
                <a:latin typeface="Calibri"/>
                <a:cs typeface="Calibri"/>
              </a:rPr>
              <a:t>Machine</a:t>
            </a:r>
            <a:r>
              <a:rPr sz="1400" spc="10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45454"/>
                </a:solidFill>
                <a:latin typeface="Calibri"/>
                <a:cs typeface="Calibri"/>
              </a:rPr>
              <a:t>Translation:</a:t>
            </a:r>
            <a:r>
              <a:rPr sz="1400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545454"/>
                </a:solidFill>
                <a:latin typeface="Calibri"/>
                <a:cs typeface="Calibri"/>
              </a:rPr>
              <a:t>an </a:t>
            </a:r>
            <a:r>
              <a:rPr sz="1400" dirty="0">
                <a:solidFill>
                  <a:srgbClr val="545454"/>
                </a:solidFill>
                <a:latin typeface="Calibri"/>
                <a:cs typeface="Calibri"/>
              </a:rPr>
              <a:t>RNN</a:t>
            </a:r>
            <a:r>
              <a:rPr sz="1400" spc="-45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45454"/>
                </a:solidFill>
                <a:latin typeface="Calibri"/>
                <a:cs typeface="Calibri"/>
              </a:rPr>
              <a:t>reads</a:t>
            </a:r>
            <a:r>
              <a:rPr sz="1400" spc="-15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45454"/>
                </a:solidFill>
                <a:latin typeface="Calibri"/>
                <a:cs typeface="Calibri"/>
              </a:rPr>
              <a:t>a</a:t>
            </a:r>
            <a:r>
              <a:rPr sz="1400" spc="-25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45454"/>
                </a:solidFill>
                <a:latin typeface="Calibri"/>
                <a:cs typeface="Calibri"/>
              </a:rPr>
              <a:t>sentence </a:t>
            </a:r>
            <a:r>
              <a:rPr sz="1400" spc="-25" dirty="0">
                <a:solidFill>
                  <a:srgbClr val="545454"/>
                </a:solidFill>
                <a:latin typeface="Calibri"/>
                <a:cs typeface="Calibri"/>
              </a:rPr>
              <a:t>in </a:t>
            </a:r>
            <a:r>
              <a:rPr sz="1400" dirty="0">
                <a:solidFill>
                  <a:srgbClr val="545454"/>
                </a:solidFill>
                <a:latin typeface="Calibri"/>
                <a:cs typeface="Calibri"/>
              </a:rPr>
              <a:t>English</a:t>
            </a:r>
            <a:r>
              <a:rPr sz="1400" spc="-50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45454"/>
                </a:solidFill>
                <a:latin typeface="Calibri"/>
                <a:cs typeface="Calibri"/>
              </a:rPr>
              <a:t>and</a:t>
            </a:r>
            <a:r>
              <a:rPr sz="1400" spc="-45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45454"/>
                </a:solidFill>
                <a:latin typeface="Calibri"/>
                <a:cs typeface="Calibri"/>
              </a:rPr>
              <a:t>then</a:t>
            </a:r>
            <a:r>
              <a:rPr sz="1400" spc="-45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45454"/>
                </a:solidFill>
                <a:latin typeface="Calibri"/>
                <a:cs typeface="Calibri"/>
              </a:rPr>
              <a:t>outputs </a:t>
            </a:r>
            <a:r>
              <a:rPr sz="1400" dirty="0">
                <a:solidFill>
                  <a:srgbClr val="545454"/>
                </a:solidFill>
                <a:latin typeface="Calibri"/>
                <a:cs typeface="Calibri"/>
              </a:rPr>
              <a:t>a</a:t>
            </a:r>
            <a:r>
              <a:rPr sz="1400" spc="-25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45454"/>
                </a:solidFill>
                <a:latin typeface="Calibri"/>
                <a:cs typeface="Calibri"/>
              </a:rPr>
              <a:t>sentence</a:t>
            </a:r>
            <a:r>
              <a:rPr sz="1400" spc="-5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45454"/>
                </a:solidFill>
                <a:latin typeface="Calibri"/>
                <a:cs typeface="Calibri"/>
              </a:rPr>
              <a:t>in</a:t>
            </a:r>
            <a:r>
              <a:rPr sz="1400" spc="-15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45454"/>
                </a:solidFill>
                <a:latin typeface="Calibri"/>
                <a:cs typeface="Calibri"/>
              </a:rPr>
              <a:t>French)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02748" y="4537709"/>
            <a:ext cx="1791970" cy="1094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100"/>
              </a:spcBef>
            </a:pPr>
            <a:r>
              <a:rPr sz="1400" b="1" dirty="0">
                <a:solidFill>
                  <a:srgbClr val="545454"/>
                </a:solidFill>
                <a:latin typeface="Calibri"/>
                <a:cs typeface="Calibri"/>
              </a:rPr>
              <a:t>Synced</a:t>
            </a:r>
            <a:r>
              <a:rPr sz="1400" b="1" spc="-65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45454"/>
                </a:solidFill>
                <a:latin typeface="Calibri"/>
                <a:cs typeface="Calibri"/>
              </a:rPr>
              <a:t>sequence</a:t>
            </a:r>
            <a:r>
              <a:rPr sz="1400" b="1" spc="-75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45454"/>
                </a:solidFill>
                <a:latin typeface="Calibri"/>
                <a:cs typeface="Calibri"/>
              </a:rPr>
              <a:t>input </a:t>
            </a:r>
            <a:r>
              <a:rPr sz="1400" b="1" dirty="0">
                <a:solidFill>
                  <a:srgbClr val="545454"/>
                </a:solidFill>
                <a:latin typeface="Calibri"/>
                <a:cs typeface="Calibri"/>
              </a:rPr>
              <a:t>and</a:t>
            </a:r>
            <a:r>
              <a:rPr sz="1400" b="1" spc="-45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545454"/>
                </a:solidFill>
                <a:latin typeface="Calibri"/>
                <a:cs typeface="Calibri"/>
              </a:rPr>
              <a:t>output</a:t>
            </a:r>
            <a:r>
              <a:rPr sz="1400" b="1" spc="-20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45454"/>
                </a:solidFill>
                <a:latin typeface="Calibri"/>
                <a:cs typeface="Calibri"/>
              </a:rPr>
              <a:t>(e.g.</a:t>
            </a:r>
            <a:r>
              <a:rPr sz="1400" spc="-15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45454"/>
                </a:solidFill>
                <a:latin typeface="Calibri"/>
                <a:cs typeface="Calibri"/>
              </a:rPr>
              <a:t>video </a:t>
            </a:r>
            <a:r>
              <a:rPr sz="1400" spc="-10" dirty="0">
                <a:solidFill>
                  <a:srgbClr val="545454"/>
                </a:solidFill>
                <a:latin typeface="Calibri"/>
                <a:cs typeface="Calibri"/>
              </a:rPr>
              <a:t>classification</a:t>
            </a:r>
            <a:r>
              <a:rPr sz="1400" spc="-20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45454"/>
                </a:solidFill>
                <a:latin typeface="Calibri"/>
                <a:cs typeface="Calibri"/>
              </a:rPr>
              <a:t>where</a:t>
            </a:r>
            <a:r>
              <a:rPr sz="1400" spc="-10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45454"/>
                </a:solidFill>
                <a:latin typeface="Calibri"/>
                <a:cs typeface="Calibri"/>
              </a:rPr>
              <a:t>we </a:t>
            </a:r>
            <a:r>
              <a:rPr sz="1400" dirty="0">
                <a:solidFill>
                  <a:srgbClr val="545454"/>
                </a:solidFill>
                <a:latin typeface="Calibri"/>
                <a:cs typeface="Calibri"/>
              </a:rPr>
              <a:t>wish</a:t>
            </a:r>
            <a:r>
              <a:rPr sz="1400" spc="-45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45454"/>
                </a:solidFill>
                <a:latin typeface="Calibri"/>
                <a:cs typeface="Calibri"/>
              </a:rPr>
              <a:t>to</a:t>
            </a:r>
            <a:r>
              <a:rPr sz="1400" spc="-30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45454"/>
                </a:solidFill>
                <a:latin typeface="Calibri"/>
                <a:cs typeface="Calibri"/>
              </a:rPr>
              <a:t>label</a:t>
            </a:r>
            <a:r>
              <a:rPr sz="1400" spc="-25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45454"/>
                </a:solidFill>
                <a:latin typeface="Calibri"/>
                <a:cs typeface="Calibri"/>
              </a:rPr>
              <a:t>each</a:t>
            </a:r>
            <a:r>
              <a:rPr sz="1400" spc="-30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45454"/>
                </a:solidFill>
                <a:latin typeface="Calibri"/>
                <a:cs typeface="Calibri"/>
              </a:rPr>
              <a:t>frame </a:t>
            </a:r>
            <a:r>
              <a:rPr sz="1400" dirty="0">
                <a:solidFill>
                  <a:srgbClr val="545454"/>
                </a:solidFill>
                <a:latin typeface="Calibri"/>
                <a:cs typeface="Calibri"/>
              </a:rPr>
              <a:t>of</a:t>
            </a:r>
            <a:r>
              <a:rPr sz="1400" spc="-30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45454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45454"/>
                </a:solidFill>
                <a:latin typeface="Calibri"/>
                <a:cs typeface="Calibri"/>
              </a:rPr>
              <a:t>video)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43973" y="5876645"/>
            <a:ext cx="2500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Credits:</a:t>
            </a:r>
            <a:r>
              <a:rPr sz="1800" spc="-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Andrej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Karpathy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940051"/>
            <a:ext cx="12187555" cy="4918075"/>
            <a:chOff x="0" y="1940051"/>
            <a:chExt cx="12187555" cy="49180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5276" y="1940051"/>
              <a:ext cx="4996500" cy="424586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90750" y="2404871"/>
              <a:ext cx="1744113" cy="341985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Sequence</a:t>
            </a:r>
            <a:r>
              <a:rPr spc="-6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Sequence</a:t>
            </a:r>
            <a:r>
              <a:rPr spc="-55" dirty="0"/>
              <a:t> </a:t>
            </a:r>
            <a:r>
              <a:rPr dirty="0"/>
              <a:t>Learning</a:t>
            </a:r>
            <a:r>
              <a:rPr spc="-60" dirty="0"/>
              <a:t> </a:t>
            </a:r>
            <a:r>
              <a:rPr dirty="0"/>
              <a:t>Examples</a:t>
            </a:r>
            <a:r>
              <a:rPr spc="-80" dirty="0"/>
              <a:t> </a:t>
            </a:r>
            <a:r>
              <a:rPr spc="-10" dirty="0"/>
              <a:t>(1/3)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688340" y="1227581"/>
            <a:ext cx="109105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Image</a:t>
            </a:r>
            <a:r>
              <a:rPr sz="22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Captioning</a:t>
            </a:r>
            <a:r>
              <a:rPr sz="2200" dirty="0">
                <a:latin typeface="Arial MT"/>
                <a:cs typeface="Arial MT"/>
              </a:rPr>
              <a:t>: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input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single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image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get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series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sequence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words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output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which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describe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it.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image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fixed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size,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but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output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varying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length.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Sequence</a:t>
            </a:r>
            <a:r>
              <a:rPr spc="-6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Sequence</a:t>
            </a:r>
            <a:r>
              <a:rPr spc="-55" dirty="0"/>
              <a:t> </a:t>
            </a:r>
            <a:r>
              <a:rPr dirty="0"/>
              <a:t>Learning</a:t>
            </a:r>
            <a:r>
              <a:rPr spc="-60" dirty="0"/>
              <a:t> </a:t>
            </a:r>
            <a:r>
              <a:rPr dirty="0"/>
              <a:t>Examples</a:t>
            </a:r>
            <a:r>
              <a:rPr spc="-80" dirty="0"/>
              <a:t> </a:t>
            </a:r>
            <a:r>
              <a:rPr spc="-10" dirty="0"/>
              <a:t>(2/3)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227581"/>
            <a:ext cx="10533380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5764530" algn="l"/>
              </a:tabLst>
            </a:pPr>
            <a:r>
              <a:rPr sz="22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Sentiment</a:t>
            </a:r>
            <a:r>
              <a:rPr sz="2200" i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i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Classification/Analysis</a:t>
            </a:r>
            <a:r>
              <a:rPr sz="2200" spc="-10" dirty="0">
                <a:latin typeface="Arial MT"/>
                <a:cs typeface="Arial MT"/>
              </a:rPr>
              <a:t>: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input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sequence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characters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words,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e.g.,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50" dirty="0">
                <a:latin typeface="Arial MT"/>
                <a:cs typeface="Arial MT"/>
              </a:rPr>
              <a:t>a </a:t>
            </a:r>
            <a:r>
              <a:rPr sz="2200" dirty="0">
                <a:latin typeface="Arial MT"/>
                <a:cs typeface="Arial MT"/>
              </a:rPr>
              <a:t>tweet,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classify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sequence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into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positive</a:t>
            </a:r>
            <a:r>
              <a:rPr sz="2200" dirty="0">
                <a:latin typeface="Arial MT"/>
                <a:cs typeface="Arial MT"/>
              </a:rPr>
              <a:t>	or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negative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sentiment.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input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50" dirty="0">
                <a:latin typeface="Arial MT"/>
                <a:cs typeface="Arial MT"/>
              </a:rPr>
              <a:t>a </a:t>
            </a:r>
            <a:r>
              <a:rPr sz="2200" dirty="0">
                <a:latin typeface="Arial MT"/>
                <a:cs typeface="Arial MT"/>
              </a:rPr>
              <a:t>varying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lengths,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while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output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fixed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type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size.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3715" y="3409188"/>
            <a:ext cx="6566496" cy="16819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9135" y="2404859"/>
            <a:ext cx="1802809" cy="342310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Sequence</a:t>
            </a:r>
            <a:r>
              <a:rPr spc="-6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Sequence</a:t>
            </a:r>
            <a:r>
              <a:rPr spc="-55" dirty="0"/>
              <a:t> </a:t>
            </a:r>
            <a:r>
              <a:rPr dirty="0"/>
              <a:t>Learning</a:t>
            </a:r>
            <a:r>
              <a:rPr spc="-60" dirty="0"/>
              <a:t> </a:t>
            </a:r>
            <a:r>
              <a:rPr dirty="0"/>
              <a:t>Examples</a:t>
            </a:r>
            <a:r>
              <a:rPr spc="-80" dirty="0"/>
              <a:t> </a:t>
            </a:r>
            <a:r>
              <a:rPr spc="-10" dirty="0"/>
              <a:t>(3/3)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227581"/>
            <a:ext cx="10823575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2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Language</a:t>
            </a:r>
            <a:r>
              <a:rPr sz="2200" i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i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Translation</a:t>
            </a:r>
            <a:r>
              <a:rPr sz="2200" spc="-20" dirty="0">
                <a:latin typeface="Arial MT"/>
                <a:cs typeface="Arial MT"/>
              </a:rPr>
              <a:t>: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having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some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text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particular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language,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e.g.,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English,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wish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translate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another,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e.g.,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French.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Each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language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it’s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own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semantics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would </a:t>
            </a:r>
            <a:r>
              <a:rPr sz="2200" dirty="0">
                <a:latin typeface="Arial MT"/>
                <a:cs typeface="Arial MT"/>
              </a:rPr>
              <a:t>have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varying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lengths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same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sentence.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763" y="2404998"/>
            <a:ext cx="5187696" cy="348678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851899" y="2823972"/>
            <a:ext cx="4429125" cy="2999740"/>
            <a:chOff x="6851899" y="2823972"/>
            <a:chExt cx="4429125" cy="299974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1899" y="2823972"/>
              <a:ext cx="4428753" cy="12573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1899" y="4565904"/>
              <a:ext cx="4428753" cy="12572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81872" y="4055363"/>
              <a:ext cx="237744" cy="53949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35212" y="4084319"/>
              <a:ext cx="131064" cy="44196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935212" y="4084319"/>
              <a:ext cx="131445" cy="441959"/>
            </a:xfrm>
            <a:custGeom>
              <a:avLst/>
              <a:gdLst/>
              <a:ahLst/>
              <a:cxnLst/>
              <a:rect l="l" t="t" r="r" b="b"/>
              <a:pathLst>
                <a:path w="131445" h="441960">
                  <a:moveTo>
                    <a:pt x="0" y="65531"/>
                  </a:moveTo>
                  <a:lnTo>
                    <a:pt x="65532" y="0"/>
                  </a:lnTo>
                  <a:lnTo>
                    <a:pt x="131064" y="65531"/>
                  </a:lnTo>
                  <a:lnTo>
                    <a:pt x="98298" y="65531"/>
                  </a:lnTo>
                  <a:lnTo>
                    <a:pt x="98298" y="376427"/>
                  </a:lnTo>
                  <a:lnTo>
                    <a:pt x="131064" y="376427"/>
                  </a:lnTo>
                  <a:lnTo>
                    <a:pt x="65532" y="441959"/>
                  </a:lnTo>
                  <a:lnTo>
                    <a:pt x="0" y="376427"/>
                  </a:lnTo>
                  <a:lnTo>
                    <a:pt x="32766" y="376427"/>
                  </a:lnTo>
                  <a:lnTo>
                    <a:pt x="32766" y="65531"/>
                  </a:lnTo>
                  <a:lnTo>
                    <a:pt x="0" y="65531"/>
                  </a:lnTo>
                  <a:close/>
                </a:path>
              </a:pathLst>
            </a:custGeom>
            <a:ln w="9144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397" y="164718"/>
            <a:ext cx="6585584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High Level Concept of Encoder Decoder</a:t>
            </a:r>
            <a:endParaRPr spc="-10" dirty="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pic>
        <p:nvPicPr>
          <p:cNvPr id="1026" name="Picture 2" descr="Exploring the Power of Encoder-Decoder Models: Pros, Cons, and Applications  | by Anishnama | Medium">
            <a:extLst>
              <a:ext uri="{FF2B5EF4-FFF2-40B4-BE49-F238E27FC236}">
                <a16:creationId xmlns:a16="http://schemas.microsoft.com/office/drawing/2014/main" id="{B092521B-9529-E569-B746-FECB45CDD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09813"/>
            <a:ext cx="12192000" cy="223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3B34B-8F54-061F-27E6-17776EA38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B250083-DC46-2F45-2F96-09BC13B00B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3397" y="164718"/>
            <a:ext cx="6585584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Seq2Seq</a:t>
            </a:r>
            <a:r>
              <a:rPr spc="-75" dirty="0"/>
              <a:t> </a:t>
            </a:r>
            <a:r>
              <a:rPr dirty="0"/>
              <a:t>Model</a:t>
            </a:r>
            <a:r>
              <a:rPr spc="-120" dirty="0"/>
              <a:t> </a:t>
            </a:r>
            <a:r>
              <a:rPr lang="en-US" spc="-10" dirty="0"/>
              <a:t>Architecture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DBF6B5D-5A9D-C09F-9A8A-359EC518F698}"/>
              </a:ext>
            </a:extLst>
          </p:cNvPr>
          <p:cNvSpPr txBox="1"/>
          <p:nvPr/>
        </p:nvSpPr>
        <p:spPr>
          <a:xfrm>
            <a:off x="892872" y="704460"/>
            <a:ext cx="10860405" cy="3358612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230"/>
              </a:spcBef>
              <a:buAutoNum type="arabicPeriod"/>
            </a:pPr>
            <a:r>
              <a:rPr lang="it-IT" sz="2200" b="1" dirty="0">
                <a:latin typeface="Arial MT"/>
                <a:cs typeface="Arial MT"/>
              </a:rPr>
              <a:t>Encoder </a:t>
            </a:r>
            <a:r>
              <a:rPr lang="it-IT" sz="2200" dirty="0">
                <a:latin typeface="Arial MT"/>
                <a:cs typeface="Arial MT"/>
              </a:rPr>
              <a:t>(Left side: A → B → C):Takes the input </a:t>
            </a:r>
            <a:r>
              <a:rPr lang="it-IT" sz="2200" dirty="0" err="1">
                <a:latin typeface="Arial MT"/>
                <a:cs typeface="Arial MT"/>
              </a:rPr>
              <a:t>sequence</a:t>
            </a:r>
            <a:r>
              <a:rPr lang="it-IT" sz="2200" dirty="0">
                <a:latin typeface="Arial MT"/>
                <a:cs typeface="Arial MT"/>
              </a:rPr>
              <a:t> (e.g., "I like NLP").</a:t>
            </a:r>
            <a:r>
              <a:rPr lang="it-IT" sz="2200" dirty="0" err="1">
                <a:latin typeface="Arial MT"/>
                <a:cs typeface="Arial MT"/>
              </a:rPr>
              <a:t>Processes</a:t>
            </a:r>
            <a:r>
              <a:rPr lang="it-IT" sz="2200" dirty="0">
                <a:latin typeface="Arial MT"/>
                <a:cs typeface="Arial MT"/>
              </a:rPr>
              <a:t> </a:t>
            </a:r>
            <a:r>
              <a:rPr lang="it-IT" sz="2200" dirty="0" err="1">
                <a:latin typeface="Arial MT"/>
                <a:cs typeface="Arial MT"/>
              </a:rPr>
              <a:t>each</a:t>
            </a:r>
            <a:r>
              <a:rPr lang="it-IT" sz="2200" dirty="0">
                <a:latin typeface="Arial MT"/>
                <a:cs typeface="Arial MT"/>
              </a:rPr>
              <a:t> token </a:t>
            </a:r>
            <a:r>
              <a:rPr lang="it-IT" sz="2200" dirty="0" err="1">
                <a:latin typeface="Arial MT"/>
                <a:cs typeface="Arial MT"/>
              </a:rPr>
              <a:t>step-by-step</a:t>
            </a:r>
            <a:r>
              <a:rPr lang="it-IT" sz="2200" dirty="0">
                <a:latin typeface="Arial MT"/>
                <a:cs typeface="Arial MT"/>
              </a:rPr>
              <a:t> with a </a:t>
            </a:r>
            <a:r>
              <a:rPr lang="it-IT" sz="2200" dirty="0" err="1">
                <a:latin typeface="Arial MT"/>
                <a:cs typeface="Arial MT"/>
              </a:rPr>
              <a:t>Recurrent</a:t>
            </a:r>
            <a:r>
              <a:rPr lang="it-IT" sz="2200" dirty="0">
                <a:latin typeface="Arial MT"/>
                <a:cs typeface="Arial MT"/>
              </a:rPr>
              <a:t> </a:t>
            </a:r>
            <a:r>
              <a:rPr lang="it-IT" sz="2200" dirty="0" err="1">
                <a:latin typeface="Arial MT"/>
                <a:cs typeface="Arial MT"/>
              </a:rPr>
              <a:t>Neural</a:t>
            </a:r>
            <a:r>
              <a:rPr lang="it-IT" sz="2200" dirty="0">
                <a:latin typeface="Arial MT"/>
                <a:cs typeface="Arial MT"/>
              </a:rPr>
              <a:t> Network (RNN, GRU, or LSTM).</a:t>
            </a:r>
            <a:r>
              <a:rPr lang="it-IT" sz="2200" dirty="0" err="1">
                <a:latin typeface="Arial MT"/>
                <a:cs typeface="Arial MT"/>
              </a:rPr>
              <a:t>Encodes</a:t>
            </a:r>
            <a:r>
              <a:rPr lang="it-IT" sz="2200" dirty="0">
                <a:latin typeface="Arial MT"/>
                <a:cs typeface="Arial MT"/>
              </a:rPr>
              <a:t> the </a:t>
            </a:r>
            <a:r>
              <a:rPr lang="it-IT" sz="2200" dirty="0" err="1">
                <a:latin typeface="Arial MT"/>
                <a:cs typeface="Arial MT"/>
              </a:rPr>
              <a:t>entire</a:t>
            </a:r>
            <a:r>
              <a:rPr lang="it-IT" sz="2200" dirty="0">
                <a:latin typeface="Arial MT"/>
                <a:cs typeface="Arial MT"/>
              </a:rPr>
              <a:t> </a:t>
            </a:r>
            <a:r>
              <a:rPr lang="it-IT" sz="2200" dirty="0" err="1">
                <a:latin typeface="Arial MT"/>
                <a:cs typeface="Arial MT"/>
              </a:rPr>
              <a:t>sequence</a:t>
            </a:r>
            <a:r>
              <a:rPr lang="it-IT" sz="2200" dirty="0">
                <a:latin typeface="Arial MT"/>
                <a:cs typeface="Arial MT"/>
              </a:rPr>
              <a:t> </a:t>
            </a:r>
            <a:r>
              <a:rPr lang="it-IT" sz="2200" dirty="0" err="1">
                <a:latin typeface="Arial MT"/>
                <a:cs typeface="Arial MT"/>
              </a:rPr>
              <a:t>into</a:t>
            </a:r>
            <a:r>
              <a:rPr lang="it-IT" sz="2200" dirty="0">
                <a:latin typeface="Arial MT"/>
                <a:cs typeface="Arial MT"/>
              </a:rPr>
              <a:t> a </a:t>
            </a:r>
            <a:r>
              <a:rPr lang="it-IT" sz="2200" dirty="0" err="1">
                <a:latin typeface="Arial MT"/>
                <a:cs typeface="Arial MT"/>
              </a:rPr>
              <a:t>context</a:t>
            </a:r>
            <a:r>
              <a:rPr lang="it-IT" sz="2200" dirty="0">
                <a:latin typeface="Arial MT"/>
                <a:cs typeface="Arial MT"/>
              </a:rPr>
              <a:t> </a:t>
            </a:r>
            <a:r>
              <a:rPr lang="it-IT" sz="2200" dirty="0" err="1">
                <a:latin typeface="Arial MT"/>
                <a:cs typeface="Arial MT"/>
              </a:rPr>
              <a:t>vector</a:t>
            </a:r>
            <a:r>
              <a:rPr lang="it-IT" sz="2200" dirty="0">
                <a:latin typeface="Arial MT"/>
                <a:cs typeface="Arial MT"/>
              </a:rPr>
              <a:t> (</a:t>
            </a:r>
            <a:r>
              <a:rPr lang="it-IT" sz="2200" dirty="0" err="1">
                <a:latin typeface="Arial MT"/>
                <a:cs typeface="Arial MT"/>
              </a:rPr>
              <a:t>latent</a:t>
            </a:r>
            <a:r>
              <a:rPr lang="it-IT" sz="2200" dirty="0">
                <a:latin typeface="Arial MT"/>
                <a:cs typeface="Arial MT"/>
              </a:rPr>
              <a:t> </a:t>
            </a:r>
            <a:r>
              <a:rPr lang="it-IT" sz="2200" dirty="0" err="1">
                <a:latin typeface="Arial MT"/>
                <a:cs typeface="Arial MT"/>
              </a:rPr>
              <a:t>representation</a:t>
            </a:r>
            <a:r>
              <a:rPr lang="it-IT" sz="2200" dirty="0">
                <a:latin typeface="Arial MT"/>
                <a:cs typeface="Arial MT"/>
              </a:rPr>
              <a:t>), </a:t>
            </a:r>
            <a:r>
              <a:rPr lang="it-IT" sz="2200" dirty="0" err="1">
                <a:latin typeface="Arial MT"/>
                <a:cs typeface="Arial MT"/>
              </a:rPr>
              <a:t>shown</a:t>
            </a:r>
            <a:r>
              <a:rPr lang="it-IT" sz="2200" dirty="0">
                <a:latin typeface="Arial MT"/>
                <a:cs typeface="Arial MT"/>
              </a:rPr>
              <a:t> in the </a:t>
            </a:r>
            <a:r>
              <a:rPr lang="it-IT" sz="2200" dirty="0" err="1">
                <a:latin typeface="Arial MT"/>
                <a:cs typeface="Arial MT"/>
              </a:rPr>
              <a:t>diagram</a:t>
            </a:r>
            <a:r>
              <a:rPr lang="it-IT" sz="2200" dirty="0">
                <a:latin typeface="Arial MT"/>
                <a:cs typeface="Arial MT"/>
              </a:rPr>
              <a:t> </a:t>
            </a:r>
            <a:r>
              <a:rPr lang="it-IT" sz="2200" dirty="0" err="1">
                <a:latin typeface="Arial MT"/>
                <a:cs typeface="Arial MT"/>
              </a:rPr>
              <a:t>at</a:t>
            </a:r>
            <a:r>
              <a:rPr lang="it-IT" sz="2200" dirty="0">
                <a:latin typeface="Arial MT"/>
                <a:cs typeface="Arial MT"/>
              </a:rPr>
              <a:t> the center (the output after reading token C).</a:t>
            </a:r>
          </a:p>
          <a:p>
            <a:pPr marL="469900" indent="-457200">
              <a:lnSpc>
                <a:spcPct val="100000"/>
              </a:lnSpc>
              <a:spcBef>
                <a:spcPts val="1230"/>
              </a:spcBef>
              <a:buAutoNum type="arabicPeriod"/>
            </a:pPr>
            <a:r>
              <a:rPr lang="it-IT" sz="2200" b="1" dirty="0">
                <a:latin typeface="Arial MT"/>
                <a:cs typeface="Arial MT"/>
              </a:rPr>
              <a:t>Decoder</a:t>
            </a:r>
            <a:r>
              <a:rPr lang="it-IT" sz="2200" dirty="0">
                <a:latin typeface="Arial MT"/>
                <a:cs typeface="Arial MT"/>
              </a:rPr>
              <a:t> (</a:t>
            </a:r>
            <a:r>
              <a:rPr lang="it-IT" sz="2200" dirty="0" err="1">
                <a:latin typeface="Arial MT"/>
                <a:cs typeface="Arial MT"/>
              </a:rPr>
              <a:t>Right</a:t>
            </a:r>
            <a:r>
              <a:rPr lang="it-IT" sz="2200" dirty="0">
                <a:latin typeface="Arial MT"/>
                <a:cs typeface="Arial MT"/>
              </a:rPr>
              <a:t> side: &lt;go&gt; → W → X → Y → Z → &lt;</a:t>
            </a:r>
            <a:r>
              <a:rPr lang="it-IT" sz="2200" dirty="0" err="1">
                <a:latin typeface="Arial MT"/>
                <a:cs typeface="Arial MT"/>
              </a:rPr>
              <a:t>eos</a:t>
            </a:r>
            <a:r>
              <a:rPr lang="it-IT" sz="2200" dirty="0">
                <a:latin typeface="Arial MT"/>
                <a:cs typeface="Arial MT"/>
              </a:rPr>
              <a:t>&gt;):</a:t>
            </a:r>
            <a:r>
              <a:rPr lang="it-IT" sz="2200" dirty="0" err="1">
                <a:latin typeface="Arial MT"/>
                <a:cs typeface="Arial MT"/>
              </a:rPr>
              <a:t>Initialized</a:t>
            </a:r>
            <a:r>
              <a:rPr lang="it-IT" sz="2200" dirty="0">
                <a:latin typeface="Arial MT"/>
                <a:cs typeface="Arial MT"/>
              </a:rPr>
              <a:t> with the </a:t>
            </a:r>
            <a:r>
              <a:rPr lang="it-IT" sz="2200" dirty="0" err="1">
                <a:latin typeface="Arial MT"/>
                <a:cs typeface="Arial MT"/>
              </a:rPr>
              <a:t>encoder’s</a:t>
            </a:r>
            <a:r>
              <a:rPr lang="it-IT" sz="2200" dirty="0">
                <a:latin typeface="Arial MT"/>
                <a:cs typeface="Arial MT"/>
              </a:rPr>
              <a:t> </a:t>
            </a:r>
            <a:r>
              <a:rPr lang="it-IT" sz="2200" dirty="0" err="1">
                <a:latin typeface="Arial MT"/>
                <a:cs typeface="Arial MT"/>
              </a:rPr>
              <a:t>final</a:t>
            </a:r>
            <a:r>
              <a:rPr lang="it-IT" sz="2200" dirty="0">
                <a:latin typeface="Arial MT"/>
                <a:cs typeface="Arial MT"/>
              </a:rPr>
              <a:t> </a:t>
            </a:r>
            <a:r>
              <a:rPr lang="it-IT" sz="2200" dirty="0" err="1">
                <a:latin typeface="Arial MT"/>
                <a:cs typeface="Arial MT"/>
              </a:rPr>
              <a:t>hidden</a:t>
            </a:r>
            <a:r>
              <a:rPr lang="it-IT" sz="2200" dirty="0">
                <a:latin typeface="Arial MT"/>
                <a:cs typeface="Arial MT"/>
              </a:rPr>
              <a:t> state. </a:t>
            </a:r>
            <a:r>
              <a:rPr lang="it-IT" sz="2200" dirty="0" err="1">
                <a:latin typeface="Arial MT"/>
                <a:cs typeface="Arial MT"/>
              </a:rPr>
              <a:t>Generates</a:t>
            </a:r>
            <a:r>
              <a:rPr lang="it-IT" sz="2200" dirty="0">
                <a:latin typeface="Arial MT"/>
                <a:cs typeface="Arial MT"/>
              </a:rPr>
              <a:t> the output </a:t>
            </a:r>
            <a:r>
              <a:rPr lang="it-IT" sz="2200" dirty="0" err="1">
                <a:latin typeface="Arial MT"/>
                <a:cs typeface="Arial MT"/>
              </a:rPr>
              <a:t>sequence</a:t>
            </a:r>
            <a:r>
              <a:rPr lang="it-IT" sz="2200" dirty="0">
                <a:latin typeface="Arial MT"/>
                <a:cs typeface="Arial MT"/>
              </a:rPr>
              <a:t> one step </a:t>
            </a:r>
            <a:r>
              <a:rPr lang="it-IT" sz="2200" dirty="0" err="1">
                <a:latin typeface="Arial MT"/>
                <a:cs typeface="Arial MT"/>
              </a:rPr>
              <a:t>at</a:t>
            </a:r>
            <a:r>
              <a:rPr lang="it-IT" sz="2200" dirty="0">
                <a:latin typeface="Arial MT"/>
                <a:cs typeface="Arial MT"/>
              </a:rPr>
              <a:t> a time. Output tokens (W, X, Y, Z) </a:t>
            </a:r>
            <a:r>
              <a:rPr lang="it-IT" sz="2200" dirty="0" err="1">
                <a:latin typeface="Arial MT"/>
                <a:cs typeface="Arial MT"/>
              </a:rPr>
              <a:t>correspond</a:t>
            </a:r>
            <a:r>
              <a:rPr lang="it-IT" sz="2200" dirty="0">
                <a:latin typeface="Arial MT"/>
                <a:cs typeface="Arial MT"/>
              </a:rPr>
              <a:t> to a </a:t>
            </a:r>
            <a:r>
              <a:rPr lang="it-IT" sz="2200" dirty="0" err="1">
                <a:latin typeface="Arial MT"/>
                <a:cs typeface="Arial MT"/>
              </a:rPr>
              <a:t>sentence</a:t>
            </a:r>
            <a:r>
              <a:rPr lang="it-IT" sz="2200" dirty="0">
                <a:latin typeface="Arial MT"/>
                <a:cs typeface="Arial MT"/>
              </a:rPr>
              <a:t> in </a:t>
            </a:r>
            <a:r>
              <a:rPr lang="it-IT" sz="2200" dirty="0" err="1">
                <a:latin typeface="Arial MT"/>
                <a:cs typeface="Arial MT"/>
              </a:rPr>
              <a:t>another</a:t>
            </a:r>
            <a:r>
              <a:rPr lang="it-IT" sz="2200" dirty="0">
                <a:latin typeface="Arial MT"/>
                <a:cs typeface="Arial MT"/>
              </a:rPr>
              <a:t> </a:t>
            </a:r>
            <a:r>
              <a:rPr lang="it-IT" sz="2200" dirty="0" err="1">
                <a:latin typeface="Arial MT"/>
                <a:cs typeface="Arial MT"/>
              </a:rPr>
              <a:t>language</a:t>
            </a:r>
            <a:r>
              <a:rPr lang="it-IT" sz="2200" dirty="0">
                <a:latin typeface="Arial MT"/>
                <a:cs typeface="Arial MT"/>
              </a:rPr>
              <a:t> (e.g., "</a:t>
            </a:r>
            <a:r>
              <a:rPr lang="it-IT" sz="2200" dirty="0" err="1">
                <a:latin typeface="Arial MT"/>
                <a:cs typeface="Arial MT"/>
              </a:rPr>
              <a:t>J’aime</a:t>
            </a:r>
            <a:r>
              <a:rPr lang="it-IT" sz="2200" dirty="0">
                <a:latin typeface="Arial MT"/>
                <a:cs typeface="Arial MT"/>
              </a:rPr>
              <a:t> NLP").</a:t>
            </a:r>
            <a:endParaRPr sz="2200" dirty="0">
              <a:latin typeface="Arial MT"/>
              <a:cs typeface="Arial MT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0226CCB8-78B2-4ABF-82BB-0D32A64829D7}"/>
              </a:ext>
            </a:extLst>
          </p:cNvPr>
          <p:cNvGrpSpPr/>
          <p:nvPr/>
        </p:nvGrpSpPr>
        <p:grpSpPr>
          <a:xfrm>
            <a:off x="1334993" y="4044950"/>
            <a:ext cx="9895205" cy="2432050"/>
            <a:chOff x="1334993" y="3483110"/>
            <a:chExt cx="9895205" cy="2432050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76377FBC-9614-82D9-8E44-5D9C216CC2A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4993" y="3483110"/>
              <a:ext cx="9895152" cy="2045246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9570DB8C-828C-85F8-417B-9FDBB5F58DA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20968" y="3547872"/>
              <a:ext cx="789432" cy="2366772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82D5BC6C-D52D-F3F4-7446-EAF3E08ACAF2}"/>
                </a:ext>
              </a:extLst>
            </p:cNvPr>
            <p:cNvSpPr/>
            <p:nvPr/>
          </p:nvSpPr>
          <p:spPr>
            <a:xfrm>
              <a:off x="6263639" y="3569970"/>
              <a:ext cx="664210" cy="2281555"/>
            </a:xfrm>
            <a:custGeom>
              <a:avLst/>
              <a:gdLst/>
              <a:ahLst/>
              <a:cxnLst/>
              <a:rect l="l" t="t" r="r" b="b"/>
              <a:pathLst>
                <a:path w="664209" h="2281554">
                  <a:moveTo>
                    <a:pt x="25908" y="0"/>
                  </a:moveTo>
                  <a:lnTo>
                    <a:pt x="0" y="0"/>
                  </a:lnTo>
                  <a:lnTo>
                    <a:pt x="0" y="2275751"/>
                  </a:lnTo>
                  <a:lnTo>
                    <a:pt x="5842" y="2281554"/>
                  </a:lnTo>
                  <a:lnTo>
                    <a:pt x="632333" y="2281554"/>
                  </a:lnTo>
                  <a:lnTo>
                    <a:pt x="638175" y="2275751"/>
                  </a:lnTo>
                  <a:lnTo>
                    <a:pt x="638175" y="2268601"/>
                  </a:lnTo>
                  <a:lnTo>
                    <a:pt x="25908" y="2268601"/>
                  </a:lnTo>
                  <a:lnTo>
                    <a:pt x="12954" y="2255634"/>
                  </a:lnTo>
                  <a:lnTo>
                    <a:pt x="25908" y="2255634"/>
                  </a:lnTo>
                  <a:lnTo>
                    <a:pt x="25908" y="0"/>
                  </a:lnTo>
                  <a:close/>
                </a:path>
                <a:path w="664209" h="2281554">
                  <a:moveTo>
                    <a:pt x="25908" y="2255634"/>
                  </a:moveTo>
                  <a:lnTo>
                    <a:pt x="12954" y="2255634"/>
                  </a:lnTo>
                  <a:lnTo>
                    <a:pt x="25908" y="2268601"/>
                  </a:lnTo>
                  <a:lnTo>
                    <a:pt x="25908" y="2255634"/>
                  </a:lnTo>
                  <a:close/>
                </a:path>
                <a:path w="664209" h="2281554">
                  <a:moveTo>
                    <a:pt x="612266" y="2255634"/>
                  </a:moveTo>
                  <a:lnTo>
                    <a:pt x="25908" y="2255634"/>
                  </a:lnTo>
                  <a:lnTo>
                    <a:pt x="25908" y="2268601"/>
                  </a:lnTo>
                  <a:lnTo>
                    <a:pt x="612266" y="2268601"/>
                  </a:lnTo>
                  <a:lnTo>
                    <a:pt x="612266" y="2255634"/>
                  </a:lnTo>
                  <a:close/>
                </a:path>
                <a:path w="664209" h="2281554">
                  <a:moveTo>
                    <a:pt x="638175" y="2080882"/>
                  </a:moveTo>
                  <a:lnTo>
                    <a:pt x="612266" y="2080882"/>
                  </a:lnTo>
                  <a:lnTo>
                    <a:pt x="612266" y="2268601"/>
                  </a:lnTo>
                  <a:lnTo>
                    <a:pt x="625220" y="2255634"/>
                  </a:lnTo>
                  <a:lnTo>
                    <a:pt x="638175" y="2255634"/>
                  </a:lnTo>
                  <a:lnTo>
                    <a:pt x="638175" y="2080882"/>
                  </a:lnTo>
                  <a:close/>
                </a:path>
                <a:path w="664209" h="2281554">
                  <a:moveTo>
                    <a:pt x="638175" y="2255634"/>
                  </a:moveTo>
                  <a:lnTo>
                    <a:pt x="625220" y="2255634"/>
                  </a:lnTo>
                  <a:lnTo>
                    <a:pt x="612266" y="2268601"/>
                  </a:lnTo>
                  <a:lnTo>
                    <a:pt x="638175" y="2268601"/>
                  </a:lnTo>
                  <a:lnTo>
                    <a:pt x="638175" y="2255634"/>
                  </a:lnTo>
                  <a:close/>
                </a:path>
                <a:path w="664209" h="2281554">
                  <a:moveTo>
                    <a:pt x="625220" y="2016124"/>
                  </a:moveTo>
                  <a:lnTo>
                    <a:pt x="586359" y="2093836"/>
                  </a:lnTo>
                  <a:lnTo>
                    <a:pt x="612266" y="2093836"/>
                  </a:lnTo>
                  <a:lnTo>
                    <a:pt x="612266" y="2080882"/>
                  </a:lnTo>
                  <a:lnTo>
                    <a:pt x="657604" y="2080882"/>
                  </a:lnTo>
                  <a:lnTo>
                    <a:pt x="625220" y="2016124"/>
                  </a:lnTo>
                  <a:close/>
                </a:path>
                <a:path w="664209" h="2281554">
                  <a:moveTo>
                    <a:pt x="657604" y="2080882"/>
                  </a:moveTo>
                  <a:lnTo>
                    <a:pt x="638175" y="2080882"/>
                  </a:lnTo>
                  <a:lnTo>
                    <a:pt x="638175" y="2093836"/>
                  </a:lnTo>
                  <a:lnTo>
                    <a:pt x="664083" y="2093836"/>
                  </a:lnTo>
                  <a:lnTo>
                    <a:pt x="657604" y="2080882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00ED9E86-7460-5C9E-605B-740EC92CA81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74436" y="3534156"/>
              <a:ext cx="548639" cy="111252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9C951843-4457-D000-A74C-4D71928B2F1F}"/>
                </a:ext>
              </a:extLst>
            </p:cNvPr>
            <p:cNvSpPr/>
            <p:nvPr/>
          </p:nvSpPr>
          <p:spPr>
            <a:xfrm>
              <a:off x="5830062" y="3569970"/>
              <a:ext cx="450850" cy="0"/>
            </a:xfrm>
            <a:custGeom>
              <a:avLst/>
              <a:gdLst/>
              <a:ahLst/>
              <a:cxnLst/>
              <a:rect l="l" t="t" r="r" b="b"/>
              <a:pathLst>
                <a:path w="450850">
                  <a:moveTo>
                    <a:pt x="450850" y="0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95C647EB-0542-D640-2418-32CA90598B0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88936" y="3547872"/>
              <a:ext cx="789431" cy="2366772"/>
            </a:xfrm>
            <a:prstGeom prst="rect">
              <a:avLst/>
            </a:prstGeom>
          </p:spPr>
        </p:pic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3DC395E5-81BB-D056-8CF2-401C5AB64F0B}"/>
                </a:ext>
              </a:extLst>
            </p:cNvPr>
            <p:cNvSpPr/>
            <p:nvPr/>
          </p:nvSpPr>
          <p:spPr>
            <a:xfrm>
              <a:off x="7531607" y="3569970"/>
              <a:ext cx="664210" cy="2281555"/>
            </a:xfrm>
            <a:custGeom>
              <a:avLst/>
              <a:gdLst/>
              <a:ahLst/>
              <a:cxnLst/>
              <a:rect l="l" t="t" r="r" b="b"/>
              <a:pathLst>
                <a:path w="664209" h="2281554">
                  <a:moveTo>
                    <a:pt x="25908" y="0"/>
                  </a:moveTo>
                  <a:lnTo>
                    <a:pt x="0" y="0"/>
                  </a:lnTo>
                  <a:lnTo>
                    <a:pt x="0" y="2275751"/>
                  </a:lnTo>
                  <a:lnTo>
                    <a:pt x="5842" y="2281554"/>
                  </a:lnTo>
                  <a:lnTo>
                    <a:pt x="632333" y="2281554"/>
                  </a:lnTo>
                  <a:lnTo>
                    <a:pt x="638175" y="2275751"/>
                  </a:lnTo>
                  <a:lnTo>
                    <a:pt x="638175" y="2268601"/>
                  </a:lnTo>
                  <a:lnTo>
                    <a:pt x="25908" y="2268601"/>
                  </a:lnTo>
                  <a:lnTo>
                    <a:pt x="12953" y="2255634"/>
                  </a:lnTo>
                  <a:lnTo>
                    <a:pt x="25908" y="2255634"/>
                  </a:lnTo>
                  <a:lnTo>
                    <a:pt x="25908" y="0"/>
                  </a:lnTo>
                  <a:close/>
                </a:path>
                <a:path w="664209" h="2281554">
                  <a:moveTo>
                    <a:pt x="25908" y="2255634"/>
                  </a:moveTo>
                  <a:lnTo>
                    <a:pt x="12953" y="2255634"/>
                  </a:lnTo>
                  <a:lnTo>
                    <a:pt x="25908" y="2268601"/>
                  </a:lnTo>
                  <a:lnTo>
                    <a:pt x="25908" y="2255634"/>
                  </a:lnTo>
                  <a:close/>
                </a:path>
                <a:path w="664209" h="2281554">
                  <a:moveTo>
                    <a:pt x="612267" y="2255634"/>
                  </a:moveTo>
                  <a:lnTo>
                    <a:pt x="25908" y="2255634"/>
                  </a:lnTo>
                  <a:lnTo>
                    <a:pt x="25908" y="2268601"/>
                  </a:lnTo>
                  <a:lnTo>
                    <a:pt x="612267" y="2268601"/>
                  </a:lnTo>
                  <a:lnTo>
                    <a:pt x="612267" y="2255634"/>
                  </a:lnTo>
                  <a:close/>
                </a:path>
                <a:path w="664209" h="2281554">
                  <a:moveTo>
                    <a:pt x="638175" y="2080882"/>
                  </a:moveTo>
                  <a:lnTo>
                    <a:pt x="612267" y="2080882"/>
                  </a:lnTo>
                  <a:lnTo>
                    <a:pt x="612267" y="2268601"/>
                  </a:lnTo>
                  <a:lnTo>
                    <a:pt x="625221" y="2255634"/>
                  </a:lnTo>
                  <a:lnTo>
                    <a:pt x="638175" y="2255634"/>
                  </a:lnTo>
                  <a:lnTo>
                    <a:pt x="638175" y="2080882"/>
                  </a:lnTo>
                  <a:close/>
                </a:path>
                <a:path w="664209" h="2281554">
                  <a:moveTo>
                    <a:pt x="638175" y="2255634"/>
                  </a:moveTo>
                  <a:lnTo>
                    <a:pt x="625221" y="2255634"/>
                  </a:lnTo>
                  <a:lnTo>
                    <a:pt x="612267" y="2268601"/>
                  </a:lnTo>
                  <a:lnTo>
                    <a:pt x="638175" y="2268601"/>
                  </a:lnTo>
                  <a:lnTo>
                    <a:pt x="638175" y="2255634"/>
                  </a:lnTo>
                  <a:close/>
                </a:path>
                <a:path w="664209" h="2281554">
                  <a:moveTo>
                    <a:pt x="625221" y="2016124"/>
                  </a:moveTo>
                  <a:lnTo>
                    <a:pt x="586359" y="2093836"/>
                  </a:lnTo>
                  <a:lnTo>
                    <a:pt x="612267" y="2093836"/>
                  </a:lnTo>
                  <a:lnTo>
                    <a:pt x="612267" y="2080882"/>
                  </a:lnTo>
                  <a:lnTo>
                    <a:pt x="657604" y="2080882"/>
                  </a:lnTo>
                  <a:lnTo>
                    <a:pt x="625221" y="2016124"/>
                  </a:lnTo>
                  <a:close/>
                </a:path>
                <a:path w="664209" h="2281554">
                  <a:moveTo>
                    <a:pt x="657604" y="2080882"/>
                  </a:moveTo>
                  <a:lnTo>
                    <a:pt x="638175" y="2080882"/>
                  </a:lnTo>
                  <a:lnTo>
                    <a:pt x="638175" y="2093836"/>
                  </a:lnTo>
                  <a:lnTo>
                    <a:pt x="664083" y="2093836"/>
                  </a:lnTo>
                  <a:lnTo>
                    <a:pt x="657604" y="2080882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5C48FC2E-9BAB-7C57-AB6D-9081698129B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40880" y="3534156"/>
              <a:ext cx="548640" cy="111252"/>
            </a:xfrm>
            <a:prstGeom prst="rect">
              <a:avLst/>
            </a:prstGeom>
          </p:spPr>
        </p:pic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5F15C3AE-AE0A-F1A0-F42F-1BDCB911FA24}"/>
                </a:ext>
              </a:extLst>
            </p:cNvPr>
            <p:cNvSpPr/>
            <p:nvPr/>
          </p:nvSpPr>
          <p:spPr>
            <a:xfrm>
              <a:off x="7096506" y="3569970"/>
              <a:ext cx="450850" cy="0"/>
            </a:xfrm>
            <a:custGeom>
              <a:avLst/>
              <a:gdLst/>
              <a:ahLst/>
              <a:cxnLst/>
              <a:rect l="l" t="t" r="r" b="b"/>
              <a:pathLst>
                <a:path w="450850">
                  <a:moveTo>
                    <a:pt x="450850" y="0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737B6213-2CFE-D9F3-ACEA-4A032E84429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98051" y="3547872"/>
              <a:ext cx="789431" cy="2366772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76512809-A3AA-B76E-6881-7B56F958C4D6}"/>
                </a:ext>
              </a:extLst>
            </p:cNvPr>
            <p:cNvSpPr/>
            <p:nvPr/>
          </p:nvSpPr>
          <p:spPr>
            <a:xfrm>
              <a:off x="8840723" y="3569970"/>
              <a:ext cx="664210" cy="2281555"/>
            </a:xfrm>
            <a:custGeom>
              <a:avLst/>
              <a:gdLst/>
              <a:ahLst/>
              <a:cxnLst/>
              <a:rect l="l" t="t" r="r" b="b"/>
              <a:pathLst>
                <a:path w="664209" h="2281554">
                  <a:moveTo>
                    <a:pt x="25907" y="0"/>
                  </a:moveTo>
                  <a:lnTo>
                    <a:pt x="0" y="0"/>
                  </a:lnTo>
                  <a:lnTo>
                    <a:pt x="0" y="2275751"/>
                  </a:lnTo>
                  <a:lnTo>
                    <a:pt x="5842" y="2281554"/>
                  </a:lnTo>
                  <a:lnTo>
                    <a:pt x="632332" y="2281554"/>
                  </a:lnTo>
                  <a:lnTo>
                    <a:pt x="638175" y="2275751"/>
                  </a:lnTo>
                  <a:lnTo>
                    <a:pt x="638175" y="2268601"/>
                  </a:lnTo>
                  <a:lnTo>
                    <a:pt x="25907" y="2268601"/>
                  </a:lnTo>
                  <a:lnTo>
                    <a:pt x="12953" y="2255634"/>
                  </a:lnTo>
                  <a:lnTo>
                    <a:pt x="25907" y="2255634"/>
                  </a:lnTo>
                  <a:lnTo>
                    <a:pt x="25907" y="0"/>
                  </a:lnTo>
                  <a:close/>
                </a:path>
                <a:path w="664209" h="2281554">
                  <a:moveTo>
                    <a:pt x="25907" y="2255634"/>
                  </a:moveTo>
                  <a:lnTo>
                    <a:pt x="12953" y="2255634"/>
                  </a:lnTo>
                  <a:lnTo>
                    <a:pt x="25907" y="2268601"/>
                  </a:lnTo>
                  <a:lnTo>
                    <a:pt x="25907" y="2255634"/>
                  </a:lnTo>
                  <a:close/>
                </a:path>
                <a:path w="664209" h="2281554">
                  <a:moveTo>
                    <a:pt x="612267" y="2255634"/>
                  </a:moveTo>
                  <a:lnTo>
                    <a:pt x="25907" y="2255634"/>
                  </a:lnTo>
                  <a:lnTo>
                    <a:pt x="25907" y="2268601"/>
                  </a:lnTo>
                  <a:lnTo>
                    <a:pt x="612267" y="2268601"/>
                  </a:lnTo>
                  <a:lnTo>
                    <a:pt x="612267" y="2255634"/>
                  </a:lnTo>
                  <a:close/>
                </a:path>
                <a:path w="664209" h="2281554">
                  <a:moveTo>
                    <a:pt x="638175" y="2080882"/>
                  </a:moveTo>
                  <a:lnTo>
                    <a:pt x="612267" y="2080882"/>
                  </a:lnTo>
                  <a:lnTo>
                    <a:pt x="612267" y="2268601"/>
                  </a:lnTo>
                  <a:lnTo>
                    <a:pt x="625221" y="2255634"/>
                  </a:lnTo>
                  <a:lnTo>
                    <a:pt x="638175" y="2255634"/>
                  </a:lnTo>
                  <a:lnTo>
                    <a:pt x="638175" y="2080882"/>
                  </a:lnTo>
                  <a:close/>
                </a:path>
                <a:path w="664209" h="2281554">
                  <a:moveTo>
                    <a:pt x="638175" y="2255634"/>
                  </a:moveTo>
                  <a:lnTo>
                    <a:pt x="625221" y="2255634"/>
                  </a:lnTo>
                  <a:lnTo>
                    <a:pt x="612267" y="2268601"/>
                  </a:lnTo>
                  <a:lnTo>
                    <a:pt x="638175" y="2268601"/>
                  </a:lnTo>
                  <a:lnTo>
                    <a:pt x="638175" y="2255634"/>
                  </a:lnTo>
                  <a:close/>
                </a:path>
                <a:path w="664209" h="2281554">
                  <a:moveTo>
                    <a:pt x="625221" y="2016124"/>
                  </a:moveTo>
                  <a:lnTo>
                    <a:pt x="586358" y="2093836"/>
                  </a:lnTo>
                  <a:lnTo>
                    <a:pt x="612267" y="2093836"/>
                  </a:lnTo>
                  <a:lnTo>
                    <a:pt x="612267" y="2080882"/>
                  </a:lnTo>
                  <a:lnTo>
                    <a:pt x="657604" y="2080882"/>
                  </a:lnTo>
                  <a:lnTo>
                    <a:pt x="625221" y="2016124"/>
                  </a:lnTo>
                  <a:close/>
                </a:path>
                <a:path w="664209" h="2281554">
                  <a:moveTo>
                    <a:pt x="657604" y="2080882"/>
                  </a:moveTo>
                  <a:lnTo>
                    <a:pt x="638175" y="2080882"/>
                  </a:lnTo>
                  <a:lnTo>
                    <a:pt x="638175" y="2093836"/>
                  </a:lnTo>
                  <a:lnTo>
                    <a:pt x="664082" y="2093836"/>
                  </a:lnTo>
                  <a:lnTo>
                    <a:pt x="657604" y="2080882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F6D48B3C-6190-A65A-28F5-628F74F0F4D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49996" y="3534156"/>
              <a:ext cx="548640" cy="111252"/>
            </a:xfrm>
            <a:prstGeom prst="rect">
              <a:avLst/>
            </a:prstGeom>
          </p:spPr>
        </p:pic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35C1D276-963E-34E5-8479-5398CFECFBC6}"/>
                </a:ext>
              </a:extLst>
            </p:cNvPr>
            <p:cNvSpPr/>
            <p:nvPr/>
          </p:nvSpPr>
          <p:spPr>
            <a:xfrm>
              <a:off x="8405621" y="3569970"/>
              <a:ext cx="450850" cy="0"/>
            </a:xfrm>
            <a:custGeom>
              <a:avLst/>
              <a:gdLst/>
              <a:ahLst/>
              <a:cxnLst/>
              <a:rect l="l" t="t" r="r" b="b"/>
              <a:pathLst>
                <a:path w="450850">
                  <a:moveTo>
                    <a:pt x="450850" y="0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>
              <a:extLst>
                <a:ext uri="{FF2B5EF4-FFF2-40B4-BE49-F238E27FC236}">
                  <a16:creationId xmlns:a16="http://schemas.microsoft.com/office/drawing/2014/main" id="{9A024FAA-A25E-7F41-C40F-82063C4D8AB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94975" y="3547872"/>
              <a:ext cx="789431" cy="2366772"/>
            </a:xfrm>
            <a:prstGeom prst="rect">
              <a:avLst/>
            </a:prstGeom>
          </p:spPr>
        </p:pic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12DFAA65-FC9D-042C-2F7D-7EAA50DE3A4E}"/>
                </a:ext>
              </a:extLst>
            </p:cNvPr>
            <p:cNvSpPr/>
            <p:nvPr/>
          </p:nvSpPr>
          <p:spPr>
            <a:xfrm>
              <a:off x="10137647" y="3569970"/>
              <a:ext cx="664210" cy="2281555"/>
            </a:xfrm>
            <a:custGeom>
              <a:avLst/>
              <a:gdLst/>
              <a:ahLst/>
              <a:cxnLst/>
              <a:rect l="l" t="t" r="r" b="b"/>
              <a:pathLst>
                <a:path w="664209" h="2281554">
                  <a:moveTo>
                    <a:pt x="25907" y="0"/>
                  </a:moveTo>
                  <a:lnTo>
                    <a:pt x="0" y="0"/>
                  </a:lnTo>
                  <a:lnTo>
                    <a:pt x="0" y="2275751"/>
                  </a:lnTo>
                  <a:lnTo>
                    <a:pt x="5842" y="2281554"/>
                  </a:lnTo>
                  <a:lnTo>
                    <a:pt x="632332" y="2281554"/>
                  </a:lnTo>
                  <a:lnTo>
                    <a:pt x="638175" y="2275751"/>
                  </a:lnTo>
                  <a:lnTo>
                    <a:pt x="638175" y="2268601"/>
                  </a:lnTo>
                  <a:lnTo>
                    <a:pt x="25907" y="2268601"/>
                  </a:lnTo>
                  <a:lnTo>
                    <a:pt x="12953" y="2255634"/>
                  </a:lnTo>
                  <a:lnTo>
                    <a:pt x="25907" y="2255634"/>
                  </a:lnTo>
                  <a:lnTo>
                    <a:pt x="25907" y="0"/>
                  </a:lnTo>
                  <a:close/>
                </a:path>
                <a:path w="664209" h="2281554">
                  <a:moveTo>
                    <a:pt x="25907" y="2255634"/>
                  </a:moveTo>
                  <a:lnTo>
                    <a:pt x="12953" y="2255634"/>
                  </a:lnTo>
                  <a:lnTo>
                    <a:pt x="25907" y="2268601"/>
                  </a:lnTo>
                  <a:lnTo>
                    <a:pt x="25907" y="2255634"/>
                  </a:lnTo>
                  <a:close/>
                </a:path>
                <a:path w="664209" h="2281554">
                  <a:moveTo>
                    <a:pt x="612267" y="2255634"/>
                  </a:moveTo>
                  <a:lnTo>
                    <a:pt x="25907" y="2255634"/>
                  </a:lnTo>
                  <a:lnTo>
                    <a:pt x="25907" y="2268601"/>
                  </a:lnTo>
                  <a:lnTo>
                    <a:pt x="612267" y="2268601"/>
                  </a:lnTo>
                  <a:lnTo>
                    <a:pt x="612267" y="2255634"/>
                  </a:lnTo>
                  <a:close/>
                </a:path>
                <a:path w="664209" h="2281554">
                  <a:moveTo>
                    <a:pt x="638175" y="2080882"/>
                  </a:moveTo>
                  <a:lnTo>
                    <a:pt x="612267" y="2080882"/>
                  </a:lnTo>
                  <a:lnTo>
                    <a:pt x="612267" y="2268601"/>
                  </a:lnTo>
                  <a:lnTo>
                    <a:pt x="625221" y="2255634"/>
                  </a:lnTo>
                  <a:lnTo>
                    <a:pt x="638175" y="2255634"/>
                  </a:lnTo>
                  <a:lnTo>
                    <a:pt x="638175" y="2080882"/>
                  </a:lnTo>
                  <a:close/>
                </a:path>
                <a:path w="664209" h="2281554">
                  <a:moveTo>
                    <a:pt x="638175" y="2255634"/>
                  </a:moveTo>
                  <a:lnTo>
                    <a:pt x="625221" y="2255634"/>
                  </a:lnTo>
                  <a:lnTo>
                    <a:pt x="612267" y="2268601"/>
                  </a:lnTo>
                  <a:lnTo>
                    <a:pt x="638175" y="2268601"/>
                  </a:lnTo>
                  <a:lnTo>
                    <a:pt x="638175" y="2255634"/>
                  </a:lnTo>
                  <a:close/>
                </a:path>
                <a:path w="664209" h="2281554">
                  <a:moveTo>
                    <a:pt x="625221" y="2016124"/>
                  </a:moveTo>
                  <a:lnTo>
                    <a:pt x="586358" y="2093836"/>
                  </a:lnTo>
                  <a:lnTo>
                    <a:pt x="612267" y="2093836"/>
                  </a:lnTo>
                  <a:lnTo>
                    <a:pt x="612267" y="2080882"/>
                  </a:lnTo>
                  <a:lnTo>
                    <a:pt x="657604" y="2080882"/>
                  </a:lnTo>
                  <a:lnTo>
                    <a:pt x="625221" y="2016124"/>
                  </a:lnTo>
                  <a:close/>
                </a:path>
                <a:path w="664209" h="2281554">
                  <a:moveTo>
                    <a:pt x="657604" y="2080882"/>
                  </a:moveTo>
                  <a:lnTo>
                    <a:pt x="638175" y="2080882"/>
                  </a:lnTo>
                  <a:lnTo>
                    <a:pt x="638175" y="2093836"/>
                  </a:lnTo>
                  <a:lnTo>
                    <a:pt x="664082" y="2093836"/>
                  </a:lnTo>
                  <a:lnTo>
                    <a:pt x="657604" y="2080882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>
              <a:extLst>
                <a:ext uri="{FF2B5EF4-FFF2-40B4-BE49-F238E27FC236}">
                  <a16:creationId xmlns:a16="http://schemas.microsoft.com/office/drawing/2014/main" id="{EF30DDF1-9CEC-C849-D6F8-EAF88FB175F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46920" y="3534156"/>
              <a:ext cx="548640" cy="111252"/>
            </a:xfrm>
            <a:prstGeom prst="rect">
              <a:avLst/>
            </a:prstGeom>
          </p:spPr>
        </p:pic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90C1E1A6-E93E-276A-4C46-8155EC3C39F5}"/>
                </a:ext>
              </a:extLst>
            </p:cNvPr>
            <p:cNvSpPr/>
            <p:nvPr/>
          </p:nvSpPr>
          <p:spPr>
            <a:xfrm>
              <a:off x="9702546" y="3569970"/>
              <a:ext cx="450850" cy="0"/>
            </a:xfrm>
            <a:custGeom>
              <a:avLst/>
              <a:gdLst/>
              <a:ahLst/>
              <a:cxnLst/>
              <a:rect l="l" t="t" r="r" b="b"/>
              <a:pathLst>
                <a:path w="450850">
                  <a:moveTo>
                    <a:pt x="450850" y="0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>
            <a:extLst>
              <a:ext uri="{FF2B5EF4-FFF2-40B4-BE49-F238E27FC236}">
                <a16:creationId xmlns:a16="http://schemas.microsoft.com/office/drawing/2014/main" id="{B3B5C429-BF09-5DB8-DBBF-7A528498ADE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013297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629E7-E65D-48DF-D20F-8009BBB82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3D370FF-1836-7204-84DD-E3AA3221AA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Seq2Seq</a:t>
            </a:r>
            <a:r>
              <a:rPr spc="-75" dirty="0"/>
              <a:t> </a:t>
            </a:r>
            <a:r>
              <a:rPr dirty="0"/>
              <a:t>Model</a:t>
            </a:r>
            <a:r>
              <a:rPr spc="-120" dirty="0"/>
              <a:t> </a:t>
            </a:r>
            <a:r>
              <a:rPr spc="-10" dirty="0"/>
              <a:t>Anatomy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FBF197E-0440-1675-34FB-1007111C0BD1}"/>
              </a:ext>
            </a:extLst>
          </p:cNvPr>
          <p:cNvSpPr txBox="1"/>
          <p:nvPr/>
        </p:nvSpPr>
        <p:spPr>
          <a:xfrm>
            <a:off x="688340" y="1083614"/>
            <a:ext cx="10860405" cy="2141220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Seq2Seq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model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follows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classical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encoder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decoder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architecture</a:t>
            </a:r>
            <a:endParaRPr sz="2200" dirty="0">
              <a:latin typeface="Arial MT"/>
              <a:cs typeface="Arial MT"/>
            </a:endParaRPr>
          </a:p>
          <a:p>
            <a:pPr marL="892175" marR="5080" indent="-342900">
              <a:lnSpc>
                <a:spcPct val="100000"/>
              </a:lnSpc>
              <a:spcBef>
                <a:spcPts val="1800"/>
              </a:spcBef>
              <a:buClr>
                <a:srgbClr val="718FA4"/>
              </a:buClr>
              <a:buSzPct val="120454"/>
              <a:buChar char="•"/>
              <a:tabLst>
                <a:tab pos="892175" algn="l"/>
              </a:tabLst>
            </a:pPr>
            <a:r>
              <a:rPr sz="2200" b="1" dirty="0">
                <a:latin typeface="Arial MT"/>
                <a:cs typeface="Arial MT"/>
              </a:rPr>
              <a:t>At</a:t>
            </a:r>
            <a:r>
              <a:rPr sz="2200" b="1" spc="-50" dirty="0">
                <a:latin typeface="Arial MT"/>
                <a:cs typeface="Arial MT"/>
              </a:rPr>
              <a:t> </a:t>
            </a:r>
            <a:r>
              <a:rPr sz="2200" b="1" dirty="0">
                <a:latin typeface="Arial MT"/>
                <a:cs typeface="Arial MT"/>
              </a:rPr>
              <a:t>trainng</a:t>
            </a:r>
            <a:r>
              <a:rPr sz="2200" b="1" spc="-45" dirty="0">
                <a:latin typeface="Arial MT"/>
                <a:cs typeface="Arial MT"/>
              </a:rPr>
              <a:t> </a:t>
            </a:r>
            <a:r>
              <a:rPr sz="2200" b="1" dirty="0">
                <a:latin typeface="Arial MT"/>
                <a:cs typeface="Arial MT"/>
              </a:rPr>
              <a:t>time</a:t>
            </a:r>
            <a:r>
              <a:rPr sz="2200" b="1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decoder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b="1" dirty="0">
                <a:latin typeface="Arial"/>
                <a:cs typeface="Arial"/>
              </a:rPr>
              <a:t>does</a:t>
            </a:r>
            <a:r>
              <a:rPr sz="2200" b="1" spc="-35" dirty="0">
                <a:latin typeface="Arial"/>
                <a:cs typeface="Arial"/>
              </a:rPr>
              <a:t> </a:t>
            </a:r>
            <a:r>
              <a:rPr sz="2200" b="1" dirty="0">
                <a:latin typeface="Arial"/>
                <a:cs typeface="Arial"/>
              </a:rPr>
              <a:t>not</a:t>
            </a:r>
            <a:r>
              <a:rPr sz="2200" b="1" spc="-10" dirty="0"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feed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output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each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time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step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the </a:t>
            </a:r>
            <a:r>
              <a:rPr sz="2200" dirty="0">
                <a:latin typeface="Arial MT"/>
                <a:cs typeface="Arial MT"/>
              </a:rPr>
              <a:t>next;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inputs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decoder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time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steps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 the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target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training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dataset</a:t>
            </a:r>
            <a:endParaRPr sz="2200" dirty="0">
              <a:latin typeface="Arial MT"/>
              <a:cs typeface="Arial MT"/>
            </a:endParaRPr>
          </a:p>
          <a:p>
            <a:pPr marL="892175" indent="-342900">
              <a:lnSpc>
                <a:spcPct val="100000"/>
              </a:lnSpc>
              <a:spcBef>
                <a:spcPts val="530"/>
              </a:spcBef>
              <a:buClr>
                <a:srgbClr val="718FA4"/>
              </a:buClr>
              <a:buSzPct val="120454"/>
              <a:buChar char="•"/>
              <a:tabLst>
                <a:tab pos="892175" algn="l"/>
              </a:tabLst>
            </a:pPr>
            <a:r>
              <a:rPr sz="2200" b="1" dirty="0">
                <a:latin typeface="Arial MT"/>
                <a:cs typeface="Arial MT"/>
              </a:rPr>
              <a:t>At</a:t>
            </a:r>
            <a:r>
              <a:rPr sz="2200" b="1" spc="-55" dirty="0">
                <a:latin typeface="Arial MT"/>
                <a:cs typeface="Arial MT"/>
              </a:rPr>
              <a:t> </a:t>
            </a:r>
            <a:r>
              <a:rPr sz="2200" b="1" dirty="0">
                <a:latin typeface="Arial MT"/>
                <a:cs typeface="Arial MT"/>
              </a:rPr>
              <a:t>inference</a:t>
            </a:r>
            <a:r>
              <a:rPr sz="2200" b="1" spc="-35" dirty="0">
                <a:latin typeface="Arial MT"/>
                <a:cs typeface="Arial MT"/>
              </a:rPr>
              <a:t> </a:t>
            </a:r>
            <a:r>
              <a:rPr sz="2200" b="1" dirty="0">
                <a:latin typeface="Arial MT"/>
                <a:cs typeface="Arial MT"/>
              </a:rPr>
              <a:t>time</a:t>
            </a:r>
            <a:r>
              <a:rPr sz="2200" b="1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decoder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feeds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output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each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time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step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input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to</a:t>
            </a:r>
            <a:endParaRPr sz="2200" dirty="0">
              <a:latin typeface="Arial MT"/>
              <a:cs typeface="Arial MT"/>
            </a:endParaRPr>
          </a:p>
          <a:p>
            <a:pPr marL="892175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next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one</a:t>
            </a:r>
            <a:endParaRPr sz="2200" dirty="0">
              <a:latin typeface="Arial MT"/>
              <a:cs typeface="Arial MT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BC904A69-6974-96A9-C22A-6EE1AD9C2854}"/>
              </a:ext>
            </a:extLst>
          </p:cNvPr>
          <p:cNvGrpSpPr/>
          <p:nvPr/>
        </p:nvGrpSpPr>
        <p:grpSpPr>
          <a:xfrm>
            <a:off x="1334993" y="3483110"/>
            <a:ext cx="9895205" cy="2432050"/>
            <a:chOff x="1334993" y="3483110"/>
            <a:chExt cx="9895205" cy="2432050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44697AE2-9026-0251-A797-FCA7E8655C4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4993" y="3483110"/>
              <a:ext cx="9895152" cy="2045246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83569931-C059-5E78-0654-386B2722A37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20968" y="3547872"/>
              <a:ext cx="789432" cy="2366772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D5639DCC-4D33-BF98-0777-3200FFD64AAE}"/>
                </a:ext>
              </a:extLst>
            </p:cNvPr>
            <p:cNvSpPr/>
            <p:nvPr/>
          </p:nvSpPr>
          <p:spPr>
            <a:xfrm>
              <a:off x="6263639" y="3569970"/>
              <a:ext cx="664210" cy="2281555"/>
            </a:xfrm>
            <a:custGeom>
              <a:avLst/>
              <a:gdLst/>
              <a:ahLst/>
              <a:cxnLst/>
              <a:rect l="l" t="t" r="r" b="b"/>
              <a:pathLst>
                <a:path w="664209" h="2281554">
                  <a:moveTo>
                    <a:pt x="25908" y="0"/>
                  </a:moveTo>
                  <a:lnTo>
                    <a:pt x="0" y="0"/>
                  </a:lnTo>
                  <a:lnTo>
                    <a:pt x="0" y="2275751"/>
                  </a:lnTo>
                  <a:lnTo>
                    <a:pt x="5842" y="2281554"/>
                  </a:lnTo>
                  <a:lnTo>
                    <a:pt x="632333" y="2281554"/>
                  </a:lnTo>
                  <a:lnTo>
                    <a:pt x="638175" y="2275751"/>
                  </a:lnTo>
                  <a:lnTo>
                    <a:pt x="638175" y="2268601"/>
                  </a:lnTo>
                  <a:lnTo>
                    <a:pt x="25908" y="2268601"/>
                  </a:lnTo>
                  <a:lnTo>
                    <a:pt x="12954" y="2255634"/>
                  </a:lnTo>
                  <a:lnTo>
                    <a:pt x="25908" y="2255634"/>
                  </a:lnTo>
                  <a:lnTo>
                    <a:pt x="25908" y="0"/>
                  </a:lnTo>
                  <a:close/>
                </a:path>
                <a:path w="664209" h="2281554">
                  <a:moveTo>
                    <a:pt x="25908" y="2255634"/>
                  </a:moveTo>
                  <a:lnTo>
                    <a:pt x="12954" y="2255634"/>
                  </a:lnTo>
                  <a:lnTo>
                    <a:pt x="25908" y="2268601"/>
                  </a:lnTo>
                  <a:lnTo>
                    <a:pt x="25908" y="2255634"/>
                  </a:lnTo>
                  <a:close/>
                </a:path>
                <a:path w="664209" h="2281554">
                  <a:moveTo>
                    <a:pt x="612266" y="2255634"/>
                  </a:moveTo>
                  <a:lnTo>
                    <a:pt x="25908" y="2255634"/>
                  </a:lnTo>
                  <a:lnTo>
                    <a:pt x="25908" y="2268601"/>
                  </a:lnTo>
                  <a:lnTo>
                    <a:pt x="612266" y="2268601"/>
                  </a:lnTo>
                  <a:lnTo>
                    <a:pt x="612266" y="2255634"/>
                  </a:lnTo>
                  <a:close/>
                </a:path>
                <a:path w="664209" h="2281554">
                  <a:moveTo>
                    <a:pt x="638175" y="2080882"/>
                  </a:moveTo>
                  <a:lnTo>
                    <a:pt x="612266" y="2080882"/>
                  </a:lnTo>
                  <a:lnTo>
                    <a:pt x="612266" y="2268601"/>
                  </a:lnTo>
                  <a:lnTo>
                    <a:pt x="625220" y="2255634"/>
                  </a:lnTo>
                  <a:lnTo>
                    <a:pt x="638175" y="2255634"/>
                  </a:lnTo>
                  <a:lnTo>
                    <a:pt x="638175" y="2080882"/>
                  </a:lnTo>
                  <a:close/>
                </a:path>
                <a:path w="664209" h="2281554">
                  <a:moveTo>
                    <a:pt x="638175" y="2255634"/>
                  </a:moveTo>
                  <a:lnTo>
                    <a:pt x="625220" y="2255634"/>
                  </a:lnTo>
                  <a:lnTo>
                    <a:pt x="612266" y="2268601"/>
                  </a:lnTo>
                  <a:lnTo>
                    <a:pt x="638175" y="2268601"/>
                  </a:lnTo>
                  <a:lnTo>
                    <a:pt x="638175" y="2255634"/>
                  </a:lnTo>
                  <a:close/>
                </a:path>
                <a:path w="664209" h="2281554">
                  <a:moveTo>
                    <a:pt x="625220" y="2016124"/>
                  </a:moveTo>
                  <a:lnTo>
                    <a:pt x="586359" y="2093836"/>
                  </a:lnTo>
                  <a:lnTo>
                    <a:pt x="612266" y="2093836"/>
                  </a:lnTo>
                  <a:lnTo>
                    <a:pt x="612266" y="2080882"/>
                  </a:lnTo>
                  <a:lnTo>
                    <a:pt x="657604" y="2080882"/>
                  </a:lnTo>
                  <a:lnTo>
                    <a:pt x="625220" y="2016124"/>
                  </a:lnTo>
                  <a:close/>
                </a:path>
                <a:path w="664209" h="2281554">
                  <a:moveTo>
                    <a:pt x="657604" y="2080882"/>
                  </a:moveTo>
                  <a:lnTo>
                    <a:pt x="638175" y="2080882"/>
                  </a:lnTo>
                  <a:lnTo>
                    <a:pt x="638175" y="2093836"/>
                  </a:lnTo>
                  <a:lnTo>
                    <a:pt x="664083" y="2093836"/>
                  </a:lnTo>
                  <a:lnTo>
                    <a:pt x="657604" y="2080882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5E138169-BCD8-9D5A-68B7-CF772777FF2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74436" y="3534156"/>
              <a:ext cx="548639" cy="111252"/>
            </a:xfrm>
            <a:prstGeom prst="rect">
              <a:avLst/>
            </a:prstGeom>
          </p:spPr>
        </p:pic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D77FCC10-DB8F-632C-6CBF-C01FF644E055}"/>
                </a:ext>
              </a:extLst>
            </p:cNvPr>
            <p:cNvSpPr/>
            <p:nvPr/>
          </p:nvSpPr>
          <p:spPr>
            <a:xfrm>
              <a:off x="5830062" y="3569970"/>
              <a:ext cx="450850" cy="0"/>
            </a:xfrm>
            <a:custGeom>
              <a:avLst/>
              <a:gdLst/>
              <a:ahLst/>
              <a:cxnLst/>
              <a:rect l="l" t="t" r="r" b="b"/>
              <a:pathLst>
                <a:path w="450850">
                  <a:moveTo>
                    <a:pt x="450850" y="0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08AC0F02-EF03-82B6-029B-4FA0C4857D7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88936" y="3547872"/>
              <a:ext cx="789431" cy="2366772"/>
            </a:xfrm>
            <a:prstGeom prst="rect">
              <a:avLst/>
            </a:prstGeom>
          </p:spPr>
        </p:pic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6DFCCA07-DEC7-BB06-BEF9-8D16A02BEB39}"/>
                </a:ext>
              </a:extLst>
            </p:cNvPr>
            <p:cNvSpPr/>
            <p:nvPr/>
          </p:nvSpPr>
          <p:spPr>
            <a:xfrm>
              <a:off x="7531607" y="3569970"/>
              <a:ext cx="664210" cy="2281555"/>
            </a:xfrm>
            <a:custGeom>
              <a:avLst/>
              <a:gdLst/>
              <a:ahLst/>
              <a:cxnLst/>
              <a:rect l="l" t="t" r="r" b="b"/>
              <a:pathLst>
                <a:path w="664209" h="2281554">
                  <a:moveTo>
                    <a:pt x="25908" y="0"/>
                  </a:moveTo>
                  <a:lnTo>
                    <a:pt x="0" y="0"/>
                  </a:lnTo>
                  <a:lnTo>
                    <a:pt x="0" y="2275751"/>
                  </a:lnTo>
                  <a:lnTo>
                    <a:pt x="5842" y="2281554"/>
                  </a:lnTo>
                  <a:lnTo>
                    <a:pt x="632333" y="2281554"/>
                  </a:lnTo>
                  <a:lnTo>
                    <a:pt x="638175" y="2275751"/>
                  </a:lnTo>
                  <a:lnTo>
                    <a:pt x="638175" y="2268601"/>
                  </a:lnTo>
                  <a:lnTo>
                    <a:pt x="25908" y="2268601"/>
                  </a:lnTo>
                  <a:lnTo>
                    <a:pt x="12953" y="2255634"/>
                  </a:lnTo>
                  <a:lnTo>
                    <a:pt x="25908" y="2255634"/>
                  </a:lnTo>
                  <a:lnTo>
                    <a:pt x="25908" y="0"/>
                  </a:lnTo>
                  <a:close/>
                </a:path>
                <a:path w="664209" h="2281554">
                  <a:moveTo>
                    <a:pt x="25908" y="2255634"/>
                  </a:moveTo>
                  <a:lnTo>
                    <a:pt x="12953" y="2255634"/>
                  </a:lnTo>
                  <a:lnTo>
                    <a:pt x="25908" y="2268601"/>
                  </a:lnTo>
                  <a:lnTo>
                    <a:pt x="25908" y="2255634"/>
                  </a:lnTo>
                  <a:close/>
                </a:path>
                <a:path w="664209" h="2281554">
                  <a:moveTo>
                    <a:pt x="612267" y="2255634"/>
                  </a:moveTo>
                  <a:lnTo>
                    <a:pt x="25908" y="2255634"/>
                  </a:lnTo>
                  <a:lnTo>
                    <a:pt x="25908" y="2268601"/>
                  </a:lnTo>
                  <a:lnTo>
                    <a:pt x="612267" y="2268601"/>
                  </a:lnTo>
                  <a:lnTo>
                    <a:pt x="612267" y="2255634"/>
                  </a:lnTo>
                  <a:close/>
                </a:path>
                <a:path w="664209" h="2281554">
                  <a:moveTo>
                    <a:pt x="638175" y="2080882"/>
                  </a:moveTo>
                  <a:lnTo>
                    <a:pt x="612267" y="2080882"/>
                  </a:lnTo>
                  <a:lnTo>
                    <a:pt x="612267" y="2268601"/>
                  </a:lnTo>
                  <a:lnTo>
                    <a:pt x="625221" y="2255634"/>
                  </a:lnTo>
                  <a:lnTo>
                    <a:pt x="638175" y="2255634"/>
                  </a:lnTo>
                  <a:lnTo>
                    <a:pt x="638175" y="2080882"/>
                  </a:lnTo>
                  <a:close/>
                </a:path>
                <a:path w="664209" h="2281554">
                  <a:moveTo>
                    <a:pt x="638175" y="2255634"/>
                  </a:moveTo>
                  <a:lnTo>
                    <a:pt x="625221" y="2255634"/>
                  </a:lnTo>
                  <a:lnTo>
                    <a:pt x="612267" y="2268601"/>
                  </a:lnTo>
                  <a:lnTo>
                    <a:pt x="638175" y="2268601"/>
                  </a:lnTo>
                  <a:lnTo>
                    <a:pt x="638175" y="2255634"/>
                  </a:lnTo>
                  <a:close/>
                </a:path>
                <a:path w="664209" h="2281554">
                  <a:moveTo>
                    <a:pt x="625221" y="2016124"/>
                  </a:moveTo>
                  <a:lnTo>
                    <a:pt x="586359" y="2093836"/>
                  </a:lnTo>
                  <a:lnTo>
                    <a:pt x="612267" y="2093836"/>
                  </a:lnTo>
                  <a:lnTo>
                    <a:pt x="612267" y="2080882"/>
                  </a:lnTo>
                  <a:lnTo>
                    <a:pt x="657604" y="2080882"/>
                  </a:lnTo>
                  <a:lnTo>
                    <a:pt x="625221" y="2016124"/>
                  </a:lnTo>
                  <a:close/>
                </a:path>
                <a:path w="664209" h="2281554">
                  <a:moveTo>
                    <a:pt x="657604" y="2080882"/>
                  </a:moveTo>
                  <a:lnTo>
                    <a:pt x="638175" y="2080882"/>
                  </a:lnTo>
                  <a:lnTo>
                    <a:pt x="638175" y="2093836"/>
                  </a:lnTo>
                  <a:lnTo>
                    <a:pt x="664083" y="2093836"/>
                  </a:lnTo>
                  <a:lnTo>
                    <a:pt x="657604" y="2080882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84E11099-96B7-81C0-2D2A-E6F6273B9E0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40880" y="3534156"/>
              <a:ext cx="548640" cy="111252"/>
            </a:xfrm>
            <a:prstGeom prst="rect">
              <a:avLst/>
            </a:prstGeom>
          </p:spPr>
        </p:pic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484A7AB8-E1EE-02BB-D2CF-7BD5A96CD8DA}"/>
                </a:ext>
              </a:extLst>
            </p:cNvPr>
            <p:cNvSpPr/>
            <p:nvPr/>
          </p:nvSpPr>
          <p:spPr>
            <a:xfrm>
              <a:off x="7096506" y="3569970"/>
              <a:ext cx="450850" cy="0"/>
            </a:xfrm>
            <a:custGeom>
              <a:avLst/>
              <a:gdLst/>
              <a:ahLst/>
              <a:cxnLst/>
              <a:rect l="l" t="t" r="r" b="b"/>
              <a:pathLst>
                <a:path w="450850">
                  <a:moveTo>
                    <a:pt x="450850" y="0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B6EE8A8F-496E-14C7-5FAE-EDA03AA42D9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98051" y="3547872"/>
              <a:ext cx="789431" cy="2366772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922E1AF8-6AE7-D546-5172-7376CF5D64D5}"/>
                </a:ext>
              </a:extLst>
            </p:cNvPr>
            <p:cNvSpPr/>
            <p:nvPr/>
          </p:nvSpPr>
          <p:spPr>
            <a:xfrm>
              <a:off x="8840723" y="3569970"/>
              <a:ext cx="664210" cy="2281555"/>
            </a:xfrm>
            <a:custGeom>
              <a:avLst/>
              <a:gdLst/>
              <a:ahLst/>
              <a:cxnLst/>
              <a:rect l="l" t="t" r="r" b="b"/>
              <a:pathLst>
                <a:path w="664209" h="2281554">
                  <a:moveTo>
                    <a:pt x="25907" y="0"/>
                  </a:moveTo>
                  <a:lnTo>
                    <a:pt x="0" y="0"/>
                  </a:lnTo>
                  <a:lnTo>
                    <a:pt x="0" y="2275751"/>
                  </a:lnTo>
                  <a:lnTo>
                    <a:pt x="5842" y="2281554"/>
                  </a:lnTo>
                  <a:lnTo>
                    <a:pt x="632332" y="2281554"/>
                  </a:lnTo>
                  <a:lnTo>
                    <a:pt x="638175" y="2275751"/>
                  </a:lnTo>
                  <a:lnTo>
                    <a:pt x="638175" y="2268601"/>
                  </a:lnTo>
                  <a:lnTo>
                    <a:pt x="25907" y="2268601"/>
                  </a:lnTo>
                  <a:lnTo>
                    <a:pt x="12953" y="2255634"/>
                  </a:lnTo>
                  <a:lnTo>
                    <a:pt x="25907" y="2255634"/>
                  </a:lnTo>
                  <a:lnTo>
                    <a:pt x="25907" y="0"/>
                  </a:lnTo>
                  <a:close/>
                </a:path>
                <a:path w="664209" h="2281554">
                  <a:moveTo>
                    <a:pt x="25907" y="2255634"/>
                  </a:moveTo>
                  <a:lnTo>
                    <a:pt x="12953" y="2255634"/>
                  </a:lnTo>
                  <a:lnTo>
                    <a:pt x="25907" y="2268601"/>
                  </a:lnTo>
                  <a:lnTo>
                    <a:pt x="25907" y="2255634"/>
                  </a:lnTo>
                  <a:close/>
                </a:path>
                <a:path w="664209" h="2281554">
                  <a:moveTo>
                    <a:pt x="612267" y="2255634"/>
                  </a:moveTo>
                  <a:lnTo>
                    <a:pt x="25907" y="2255634"/>
                  </a:lnTo>
                  <a:lnTo>
                    <a:pt x="25907" y="2268601"/>
                  </a:lnTo>
                  <a:lnTo>
                    <a:pt x="612267" y="2268601"/>
                  </a:lnTo>
                  <a:lnTo>
                    <a:pt x="612267" y="2255634"/>
                  </a:lnTo>
                  <a:close/>
                </a:path>
                <a:path w="664209" h="2281554">
                  <a:moveTo>
                    <a:pt x="638175" y="2080882"/>
                  </a:moveTo>
                  <a:lnTo>
                    <a:pt x="612267" y="2080882"/>
                  </a:lnTo>
                  <a:lnTo>
                    <a:pt x="612267" y="2268601"/>
                  </a:lnTo>
                  <a:lnTo>
                    <a:pt x="625221" y="2255634"/>
                  </a:lnTo>
                  <a:lnTo>
                    <a:pt x="638175" y="2255634"/>
                  </a:lnTo>
                  <a:lnTo>
                    <a:pt x="638175" y="2080882"/>
                  </a:lnTo>
                  <a:close/>
                </a:path>
                <a:path w="664209" h="2281554">
                  <a:moveTo>
                    <a:pt x="638175" y="2255634"/>
                  </a:moveTo>
                  <a:lnTo>
                    <a:pt x="625221" y="2255634"/>
                  </a:lnTo>
                  <a:lnTo>
                    <a:pt x="612267" y="2268601"/>
                  </a:lnTo>
                  <a:lnTo>
                    <a:pt x="638175" y="2268601"/>
                  </a:lnTo>
                  <a:lnTo>
                    <a:pt x="638175" y="2255634"/>
                  </a:lnTo>
                  <a:close/>
                </a:path>
                <a:path w="664209" h="2281554">
                  <a:moveTo>
                    <a:pt x="625221" y="2016124"/>
                  </a:moveTo>
                  <a:lnTo>
                    <a:pt x="586358" y="2093836"/>
                  </a:lnTo>
                  <a:lnTo>
                    <a:pt x="612267" y="2093836"/>
                  </a:lnTo>
                  <a:lnTo>
                    <a:pt x="612267" y="2080882"/>
                  </a:lnTo>
                  <a:lnTo>
                    <a:pt x="657604" y="2080882"/>
                  </a:lnTo>
                  <a:lnTo>
                    <a:pt x="625221" y="2016124"/>
                  </a:lnTo>
                  <a:close/>
                </a:path>
                <a:path w="664209" h="2281554">
                  <a:moveTo>
                    <a:pt x="657604" y="2080882"/>
                  </a:moveTo>
                  <a:lnTo>
                    <a:pt x="638175" y="2080882"/>
                  </a:lnTo>
                  <a:lnTo>
                    <a:pt x="638175" y="2093836"/>
                  </a:lnTo>
                  <a:lnTo>
                    <a:pt x="664082" y="2093836"/>
                  </a:lnTo>
                  <a:lnTo>
                    <a:pt x="657604" y="2080882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26D6EABF-FBDD-914F-7A8F-72EDB311F47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49996" y="3534156"/>
              <a:ext cx="548640" cy="111252"/>
            </a:xfrm>
            <a:prstGeom prst="rect">
              <a:avLst/>
            </a:prstGeom>
          </p:spPr>
        </p:pic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A9259AC3-BA67-B109-25DF-B192527B59C4}"/>
                </a:ext>
              </a:extLst>
            </p:cNvPr>
            <p:cNvSpPr/>
            <p:nvPr/>
          </p:nvSpPr>
          <p:spPr>
            <a:xfrm>
              <a:off x="8405621" y="3569970"/>
              <a:ext cx="450850" cy="0"/>
            </a:xfrm>
            <a:custGeom>
              <a:avLst/>
              <a:gdLst/>
              <a:ahLst/>
              <a:cxnLst/>
              <a:rect l="l" t="t" r="r" b="b"/>
              <a:pathLst>
                <a:path w="450850">
                  <a:moveTo>
                    <a:pt x="450850" y="0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>
              <a:extLst>
                <a:ext uri="{FF2B5EF4-FFF2-40B4-BE49-F238E27FC236}">
                  <a16:creationId xmlns:a16="http://schemas.microsoft.com/office/drawing/2014/main" id="{35FF5C66-2A11-786D-E923-D2841F8819C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94975" y="3547872"/>
              <a:ext cx="789431" cy="2366772"/>
            </a:xfrm>
            <a:prstGeom prst="rect">
              <a:avLst/>
            </a:prstGeom>
          </p:spPr>
        </p:pic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D4E7C626-E7CA-0270-F1C0-59BAB1A4EA57}"/>
                </a:ext>
              </a:extLst>
            </p:cNvPr>
            <p:cNvSpPr/>
            <p:nvPr/>
          </p:nvSpPr>
          <p:spPr>
            <a:xfrm>
              <a:off x="10137647" y="3569970"/>
              <a:ext cx="664210" cy="2281555"/>
            </a:xfrm>
            <a:custGeom>
              <a:avLst/>
              <a:gdLst/>
              <a:ahLst/>
              <a:cxnLst/>
              <a:rect l="l" t="t" r="r" b="b"/>
              <a:pathLst>
                <a:path w="664209" h="2281554">
                  <a:moveTo>
                    <a:pt x="25907" y="0"/>
                  </a:moveTo>
                  <a:lnTo>
                    <a:pt x="0" y="0"/>
                  </a:lnTo>
                  <a:lnTo>
                    <a:pt x="0" y="2275751"/>
                  </a:lnTo>
                  <a:lnTo>
                    <a:pt x="5842" y="2281554"/>
                  </a:lnTo>
                  <a:lnTo>
                    <a:pt x="632332" y="2281554"/>
                  </a:lnTo>
                  <a:lnTo>
                    <a:pt x="638175" y="2275751"/>
                  </a:lnTo>
                  <a:lnTo>
                    <a:pt x="638175" y="2268601"/>
                  </a:lnTo>
                  <a:lnTo>
                    <a:pt x="25907" y="2268601"/>
                  </a:lnTo>
                  <a:lnTo>
                    <a:pt x="12953" y="2255634"/>
                  </a:lnTo>
                  <a:lnTo>
                    <a:pt x="25907" y="2255634"/>
                  </a:lnTo>
                  <a:lnTo>
                    <a:pt x="25907" y="0"/>
                  </a:lnTo>
                  <a:close/>
                </a:path>
                <a:path w="664209" h="2281554">
                  <a:moveTo>
                    <a:pt x="25907" y="2255634"/>
                  </a:moveTo>
                  <a:lnTo>
                    <a:pt x="12953" y="2255634"/>
                  </a:lnTo>
                  <a:lnTo>
                    <a:pt x="25907" y="2268601"/>
                  </a:lnTo>
                  <a:lnTo>
                    <a:pt x="25907" y="2255634"/>
                  </a:lnTo>
                  <a:close/>
                </a:path>
                <a:path w="664209" h="2281554">
                  <a:moveTo>
                    <a:pt x="612267" y="2255634"/>
                  </a:moveTo>
                  <a:lnTo>
                    <a:pt x="25907" y="2255634"/>
                  </a:lnTo>
                  <a:lnTo>
                    <a:pt x="25907" y="2268601"/>
                  </a:lnTo>
                  <a:lnTo>
                    <a:pt x="612267" y="2268601"/>
                  </a:lnTo>
                  <a:lnTo>
                    <a:pt x="612267" y="2255634"/>
                  </a:lnTo>
                  <a:close/>
                </a:path>
                <a:path w="664209" h="2281554">
                  <a:moveTo>
                    <a:pt x="638175" y="2080882"/>
                  </a:moveTo>
                  <a:lnTo>
                    <a:pt x="612267" y="2080882"/>
                  </a:lnTo>
                  <a:lnTo>
                    <a:pt x="612267" y="2268601"/>
                  </a:lnTo>
                  <a:lnTo>
                    <a:pt x="625221" y="2255634"/>
                  </a:lnTo>
                  <a:lnTo>
                    <a:pt x="638175" y="2255634"/>
                  </a:lnTo>
                  <a:lnTo>
                    <a:pt x="638175" y="2080882"/>
                  </a:lnTo>
                  <a:close/>
                </a:path>
                <a:path w="664209" h="2281554">
                  <a:moveTo>
                    <a:pt x="638175" y="2255634"/>
                  </a:moveTo>
                  <a:lnTo>
                    <a:pt x="625221" y="2255634"/>
                  </a:lnTo>
                  <a:lnTo>
                    <a:pt x="612267" y="2268601"/>
                  </a:lnTo>
                  <a:lnTo>
                    <a:pt x="638175" y="2268601"/>
                  </a:lnTo>
                  <a:lnTo>
                    <a:pt x="638175" y="2255634"/>
                  </a:lnTo>
                  <a:close/>
                </a:path>
                <a:path w="664209" h="2281554">
                  <a:moveTo>
                    <a:pt x="625221" y="2016124"/>
                  </a:moveTo>
                  <a:lnTo>
                    <a:pt x="586358" y="2093836"/>
                  </a:lnTo>
                  <a:lnTo>
                    <a:pt x="612267" y="2093836"/>
                  </a:lnTo>
                  <a:lnTo>
                    <a:pt x="612267" y="2080882"/>
                  </a:lnTo>
                  <a:lnTo>
                    <a:pt x="657604" y="2080882"/>
                  </a:lnTo>
                  <a:lnTo>
                    <a:pt x="625221" y="2016124"/>
                  </a:lnTo>
                  <a:close/>
                </a:path>
                <a:path w="664209" h="2281554">
                  <a:moveTo>
                    <a:pt x="657604" y="2080882"/>
                  </a:moveTo>
                  <a:lnTo>
                    <a:pt x="638175" y="2080882"/>
                  </a:lnTo>
                  <a:lnTo>
                    <a:pt x="638175" y="2093836"/>
                  </a:lnTo>
                  <a:lnTo>
                    <a:pt x="664082" y="2093836"/>
                  </a:lnTo>
                  <a:lnTo>
                    <a:pt x="657604" y="2080882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>
              <a:extLst>
                <a:ext uri="{FF2B5EF4-FFF2-40B4-BE49-F238E27FC236}">
                  <a16:creationId xmlns:a16="http://schemas.microsoft.com/office/drawing/2014/main" id="{9F932145-26DE-7907-F1CD-14BEFFF81B4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46920" y="3534156"/>
              <a:ext cx="548640" cy="111252"/>
            </a:xfrm>
            <a:prstGeom prst="rect">
              <a:avLst/>
            </a:prstGeom>
          </p:spPr>
        </p:pic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DC0B35B4-8823-DB65-D0B6-E12A08E42D1C}"/>
                </a:ext>
              </a:extLst>
            </p:cNvPr>
            <p:cNvSpPr/>
            <p:nvPr/>
          </p:nvSpPr>
          <p:spPr>
            <a:xfrm>
              <a:off x="9702546" y="3569970"/>
              <a:ext cx="450850" cy="0"/>
            </a:xfrm>
            <a:custGeom>
              <a:avLst/>
              <a:gdLst/>
              <a:ahLst/>
              <a:cxnLst/>
              <a:rect l="l" t="t" r="r" b="b"/>
              <a:pathLst>
                <a:path w="450850">
                  <a:moveTo>
                    <a:pt x="450850" y="0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>
            <a:extLst>
              <a:ext uri="{FF2B5EF4-FFF2-40B4-BE49-F238E27FC236}">
                <a16:creationId xmlns:a16="http://schemas.microsoft.com/office/drawing/2014/main" id="{C6B02C02-7A03-278C-E0BB-D1C89BCBF1A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73045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Seq2Seq</a:t>
            </a:r>
            <a:r>
              <a:rPr spc="-95" dirty="0"/>
              <a:t> </a:t>
            </a:r>
            <a:r>
              <a:rPr spc="-10" dirty="0"/>
              <a:t>Training</a:t>
            </a:r>
            <a:r>
              <a:rPr spc="-80" dirty="0"/>
              <a:t> </a:t>
            </a:r>
            <a:r>
              <a:rPr spc="-10" dirty="0"/>
              <a:t>Process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4498" y="1020572"/>
            <a:ext cx="9654667" cy="4673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D108D-4CDC-B863-9DB5-9F5685856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C39675C-5B64-D458-05DC-19230EF6DD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Seq2Seq</a:t>
            </a:r>
            <a:r>
              <a:rPr spc="-95" dirty="0"/>
              <a:t> </a:t>
            </a:r>
            <a:r>
              <a:rPr spc="-10" dirty="0"/>
              <a:t>Training</a:t>
            </a:r>
            <a:r>
              <a:rPr spc="-80" dirty="0"/>
              <a:t> </a:t>
            </a:r>
            <a:r>
              <a:rPr spc="-10" dirty="0"/>
              <a:t>Process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07F592C-A0D0-F701-A6E3-1F4D7703939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54039FEE-AEDB-3990-C0F3-176D6CA4901C}"/>
              </a:ext>
            </a:extLst>
          </p:cNvPr>
          <p:cNvSpPr txBox="1"/>
          <p:nvPr/>
        </p:nvSpPr>
        <p:spPr>
          <a:xfrm>
            <a:off x="665797" y="990600"/>
            <a:ext cx="10860405" cy="4312719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lang="en-US" sz="2200" b="1" dirty="0">
                <a:latin typeface="Arial MT"/>
                <a:cs typeface="Arial MT"/>
              </a:rPr>
              <a:t>During training:</a:t>
            </a:r>
          </a:p>
          <a:p>
            <a:pPr marL="355600" indent="-342900">
              <a:lnSpc>
                <a:spcPct val="100000"/>
              </a:lnSpc>
              <a:spcBef>
                <a:spcPts val="123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Arial MT"/>
                <a:cs typeface="Arial MT"/>
              </a:rPr>
              <a:t>Each input word (e.g., "how", "are", "you") is converted to an ID and passed through an embedding layer.</a:t>
            </a:r>
          </a:p>
          <a:p>
            <a:pPr marL="355600" indent="-342900">
              <a:lnSpc>
                <a:spcPct val="100000"/>
              </a:lnSpc>
              <a:spcBef>
                <a:spcPts val="123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Arial MT"/>
                <a:cs typeface="Arial MT"/>
              </a:rPr>
              <a:t>The encoder processes the entire input sequence and returns its final hidden state to the decoder.</a:t>
            </a:r>
          </a:p>
          <a:p>
            <a:pPr marL="355600" indent="-342900">
              <a:lnSpc>
                <a:spcPct val="100000"/>
              </a:lnSpc>
              <a:spcBef>
                <a:spcPts val="123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Arial MT"/>
                <a:cs typeface="Arial MT"/>
              </a:rPr>
              <a:t>The decoder begins with a special &lt;GO&gt; token and is fed the actual target tokens ("I", "am", "good") from the training data.</a:t>
            </a:r>
          </a:p>
          <a:p>
            <a:pPr marL="355600" indent="-342900">
              <a:lnSpc>
                <a:spcPct val="100000"/>
              </a:lnSpc>
              <a:spcBef>
                <a:spcPts val="123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Arial MT"/>
                <a:cs typeface="Arial MT"/>
              </a:rPr>
              <a:t>These target tokens are fed at each time step, not the model’s own predictions.</a:t>
            </a:r>
          </a:p>
          <a:p>
            <a:pPr marL="355600" indent="-342900">
              <a:lnSpc>
                <a:spcPct val="100000"/>
              </a:lnSpc>
              <a:spcBef>
                <a:spcPts val="123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Arial MT"/>
                <a:cs typeface="Arial MT"/>
              </a:rPr>
              <a:t>This is called </a:t>
            </a:r>
            <a:r>
              <a:rPr lang="en-US" sz="2200" b="1" dirty="0">
                <a:latin typeface="Arial MT"/>
                <a:cs typeface="Arial MT"/>
              </a:rPr>
              <a:t>teacher forcing </a:t>
            </a:r>
            <a:r>
              <a:rPr lang="en-US" sz="2200" dirty="0">
                <a:latin typeface="Arial MT"/>
                <a:cs typeface="Arial MT"/>
              </a:rPr>
              <a:t>— it helps the model converge faster by always giving it the correct previous output.</a:t>
            </a:r>
            <a:endParaRPr sz="22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4083819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7795" y="998511"/>
            <a:ext cx="9623376" cy="47287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Seq2Seq</a:t>
            </a:r>
            <a:r>
              <a:rPr spc="-75" dirty="0"/>
              <a:t> </a:t>
            </a:r>
            <a:r>
              <a:rPr dirty="0"/>
              <a:t>Inference</a:t>
            </a:r>
            <a:r>
              <a:rPr spc="-65" dirty="0"/>
              <a:t> </a:t>
            </a:r>
            <a:r>
              <a:rPr spc="-10" dirty="0"/>
              <a:t>Process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21894-DD42-242A-609D-FEB8BEEBB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30621D3-74FC-F41F-0CB7-AD0BDFAAC7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Seq2Seq</a:t>
            </a:r>
            <a:r>
              <a:rPr spc="-95" dirty="0"/>
              <a:t> </a:t>
            </a:r>
            <a:r>
              <a:rPr spc="-10" dirty="0"/>
              <a:t>Training</a:t>
            </a:r>
            <a:r>
              <a:rPr spc="-80" dirty="0"/>
              <a:t> </a:t>
            </a:r>
            <a:r>
              <a:rPr spc="-10" dirty="0"/>
              <a:t>Process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0F9A673-33EE-BD63-5A04-D30D0034D35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16354C3C-3496-5743-913A-4241EAE4B02B}"/>
              </a:ext>
            </a:extLst>
          </p:cNvPr>
          <p:cNvSpPr txBox="1"/>
          <p:nvPr/>
        </p:nvSpPr>
        <p:spPr>
          <a:xfrm>
            <a:off x="665797" y="990600"/>
            <a:ext cx="10860405" cy="3143168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lang="en-US" sz="2200" b="1" dirty="0">
                <a:latin typeface="Arial MT"/>
                <a:cs typeface="Arial MT"/>
              </a:rPr>
              <a:t>During inference (e.g., when translating a new sentence):</a:t>
            </a:r>
          </a:p>
          <a:p>
            <a:pPr marL="355600" indent="-342900">
              <a:lnSpc>
                <a:spcPct val="100000"/>
              </a:lnSpc>
              <a:spcBef>
                <a:spcPts val="123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Arial MT"/>
                <a:cs typeface="Arial MT"/>
              </a:rPr>
              <a:t>The decoder starts with the &lt;GO&gt; token.</a:t>
            </a:r>
          </a:p>
          <a:p>
            <a:pPr marL="355600" indent="-342900">
              <a:lnSpc>
                <a:spcPct val="100000"/>
              </a:lnSpc>
              <a:spcBef>
                <a:spcPts val="123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Arial MT"/>
                <a:cs typeface="Arial MT"/>
              </a:rPr>
              <a:t>At each step, the decoder uses its own previous output as the next input (e.g., if it outputs "I", it uses "I" to generate the next word).</a:t>
            </a:r>
          </a:p>
          <a:p>
            <a:pPr marL="355600" indent="-342900">
              <a:lnSpc>
                <a:spcPct val="100000"/>
              </a:lnSpc>
              <a:spcBef>
                <a:spcPts val="123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Arial MT"/>
                <a:cs typeface="Arial MT"/>
              </a:rPr>
              <a:t>This continues until a special &lt;EOS&gt; (end-of-sequence) token is generated or a maximum length is reached.</a:t>
            </a:r>
          </a:p>
          <a:p>
            <a:pPr marL="355600" indent="-342900">
              <a:lnSpc>
                <a:spcPct val="100000"/>
              </a:lnSpc>
              <a:spcBef>
                <a:spcPts val="123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Arial MT"/>
                <a:cs typeface="Arial MT"/>
              </a:rPr>
              <a:t>This is called </a:t>
            </a:r>
            <a:r>
              <a:rPr lang="en-US" sz="2200" b="1" dirty="0">
                <a:latin typeface="Arial MT"/>
                <a:cs typeface="Arial MT"/>
              </a:rPr>
              <a:t>auto-regressive decoding</a:t>
            </a:r>
            <a:r>
              <a:rPr lang="en-US" sz="2200" dirty="0">
                <a:latin typeface="Arial MT"/>
                <a:cs typeface="Arial MT"/>
              </a:rPr>
              <a:t>.</a:t>
            </a:r>
            <a:endParaRPr sz="22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39245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Special</a:t>
            </a:r>
            <a:r>
              <a:rPr spc="-65" dirty="0"/>
              <a:t> </a:t>
            </a:r>
            <a:r>
              <a:rPr spc="-10" dirty="0"/>
              <a:t>Characters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6229" y="3325669"/>
            <a:ext cx="10869930" cy="26485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u="sng" spc="-20" dirty="0">
                <a:solidFill>
                  <a:srgbClr val="718FA4"/>
                </a:solidFill>
                <a:uFill>
                  <a:solidFill>
                    <a:srgbClr val="718FA4"/>
                  </a:solidFill>
                </a:uFill>
                <a:latin typeface="Arial"/>
                <a:cs typeface="Arial"/>
              </a:rPr>
              <a:t>&lt;PAD&gt;</a:t>
            </a:r>
            <a:r>
              <a:rPr sz="2000" spc="-20" dirty="0">
                <a:latin typeface="Arial MT"/>
                <a:cs typeface="Arial MT"/>
              </a:rPr>
              <a:t>: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During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training,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examples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network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batches.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inputs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these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batches</a:t>
            </a: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need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same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width.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shorter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inputs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same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width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batch</a:t>
            </a:r>
            <a:endParaRPr sz="2000" dirty="0">
              <a:latin typeface="Arial MT"/>
              <a:cs typeface="Arial MT"/>
            </a:endParaRPr>
          </a:p>
          <a:p>
            <a:pPr marL="12700" marR="315595">
              <a:lnSpc>
                <a:spcPct val="100000"/>
              </a:lnSpc>
              <a:spcBef>
                <a:spcPts val="480"/>
              </a:spcBef>
            </a:pPr>
            <a:r>
              <a:rPr sz="2000" b="1" u="sng" dirty="0">
                <a:solidFill>
                  <a:srgbClr val="718FA4"/>
                </a:solidFill>
                <a:uFill>
                  <a:solidFill>
                    <a:srgbClr val="718FA4"/>
                  </a:solidFill>
                </a:uFill>
                <a:latin typeface="Arial"/>
                <a:cs typeface="Arial"/>
              </a:rPr>
              <a:t>&lt;EOS&gt;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Needed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batching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 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decoder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side.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tells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decoder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where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sentence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ends,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allows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decoder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indicate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same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outputs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well.</a:t>
            </a:r>
            <a:endParaRPr sz="2000" dirty="0">
              <a:latin typeface="Arial MT"/>
              <a:cs typeface="Arial MT"/>
            </a:endParaRPr>
          </a:p>
          <a:p>
            <a:pPr marL="12700" marR="349885">
              <a:lnSpc>
                <a:spcPct val="100000"/>
              </a:lnSpc>
              <a:spcBef>
                <a:spcPts val="484"/>
              </a:spcBef>
            </a:pPr>
            <a:r>
              <a:rPr sz="2000" b="1" u="sng" dirty="0">
                <a:solidFill>
                  <a:srgbClr val="718FA4"/>
                </a:solidFill>
                <a:uFill>
                  <a:solidFill>
                    <a:srgbClr val="718FA4"/>
                  </a:solidFill>
                </a:uFill>
                <a:latin typeface="Arial"/>
                <a:cs typeface="Arial"/>
              </a:rPr>
              <a:t>&lt;UNK&gt;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real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vastly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improve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resource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efficiency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ignore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words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</a:t>
            </a:r>
            <a:r>
              <a:rPr sz="2000" spc="-25" dirty="0">
                <a:latin typeface="Arial MT"/>
                <a:cs typeface="Arial MT"/>
              </a:rPr>
              <a:t> not </a:t>
            </a:r>
            <a:r>
              <a:rPr sz="2000" dirty="0">
                <a:latin typeface="Arial MT"/>
                <a:cs typeface="Arial MT"/>
              </a:rPr>
              <a:t>show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up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often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enough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vocabulary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replace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those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character.</a:t>
            </a: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b="1" u="sng" dirty="0">
                <a:solidFill>
                  <a:srgbClr val="718FA4"/>
                </a:solidFill>
                <a:uFill>
                  <a:solidFill>
                    <a:srgbClr val="718FA4"/>
                  </a:solidFill>
                </a:uFill>
                <a:latin typeface="Arial"/>
                <a:cs typeface="Arial"/>
              </a:rPr>
              <a:t>&lt;SOS&gt;/&lt;GO&gt;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input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first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step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decoder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decoder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know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when</a:t>
            </a: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start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generating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output.</a:t>
            </a:r>
            <a:endParaRPr sz="20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00327" y="557783"/>
            <a:ext cx="10006330" cy="2501900"/>
            <a:chOff x="1100327" y="557783"/>
            <a:chExt cx="10006330" cy="25019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7495" y="1014230"/>
              <a:ext cx="9978743" cy="204524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0327" y="557783"/>
              <a:ext cx="4020312" cy="133045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98676" y="704087"/>
              <a:ext cx="2823972" cy="9540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47305" y="582739"/>
              <a:ext cx="3926204" cy="1235075"/>
            </a:xfrm>
            <a:custGeom>
              <a:avLst/>
              <a:gdLst/>
              <a:ahLst/>
              <a:cxnLst/>
              <a:rect l="l" t="t" r="r" b="b"/>
              <a:pathLst>
                <a:path w="3926204" h="1235075">
                  <a:moveTo>
                    <a:pt x="3517912" y="1204023"/>
                  </a:moveTo>
                  <a:lnTo>
                    <a:pt x="3515499" y="1191971"/>
                  </a:lnTo>
                  <a:lnTo>
                    <a:pt x="3508908" y="1182166"/>
                  </a:lnTo>
                  <a:lnTo>
                    <a:pt x="3499104" y="1175575"/>
                  </a:lnTo>
                  <a:lnTo>
                    <a:pt x="3487051" y="1173162"/>
                  </a:lnTo>
                  <a:lnTo>
                    <a:pt x="3475050" y="1175575"/>
                  </a:lnTo>
                  <a:lnTo>
                    <a:pt x="3465233" y="1182166"/>
                  </a:lnTo>
                  <a:lnTo>
                    <a:pt x="3458616" y="1191971"/>
                  </a:lnTo>
                  <a:lnTo>
                    <a:pt x="3456190" y="1204023"/>
                  </a:lnTo>
                  <a:lnTo>
                    <a:pt x="3458616" y="1216025"/>
                  </a:lnTo>
                  <a:lnTo>
                    <a:pt x="3465233" y="1225842"/>
                  </a:lnTo>
                  <a:lnTo>
                    <a:pt x="3475050" y="1232458"/>
                  </a:lnTo>
                  <a:lnTo>
                    <a:pt x="3487051" y="1234884"/>
                  </a:lnTo>
                  <a:lnTo>
                    <a:pt x="3499104" y="1232458"/>
                  </a:lnTo>
                  <a:lnTo>
                    <a:pt x="3508908" y="1225842"/>
                  </a:lnTo>
                  <a:lnTo>
                    <a:pt x="3515499" y="1216025"/>
                  </a:lnTo>
                  <a:lnTo>
                    <a:pt x="3517912" y="1204023"/>
                  </a:lnTo>
                  <a:close/>
                </a:path>
                <a:path w="3926204" h="1235075">
                  <a:moveTo>
                    <a:pt x="3925836" y="527265"/>
                  </a:moveTo>
                  <a:lnTo>
                    <a:pt x="3901770" y="471652"/>
                  </a:lnTo>
                  <a:lnTo>
                    <a:pt x="3842397" y="418719"/>
                  </a:lnTo>
                  <a:lnTo>
                    <a:pt x="3799217" y="394017"/>
                  </a:lnTo>
                  <a:lnTo>
                    <a:pt x="3805542" y="387972"/>
                  </a:lnTo>
                  <a:lnTo>
                    <a:pt x="3835031" y="342176"/>
                  </a:lnTo>
                  <a:lnTo>
                    <a:pt x="3838270" y="315175"/>
                  </a:lnTo>
                  <a:lnTo>
                    <a:pt x="3831513" y="288734"/>
                  </a:lnTo>
                  <a:lnTo>
                    <a:pt x="3790188" y="238937"/>
                  </a:lnTo>
                  <a:lnTo>
                    <a:pt x="3756672" y="216281"/>
                  </a:lnTo>
                  <a:lnTo>
                    <a:pt x="3715270" y="195618"/>
                  </a:lnTo>
                  <a:lnTo>
                    <a:pt x="3666528" y="177279"/>
                  </a:lnTo>
                  <a:lnTo>
                    <a:pt x="3610953" y="161620"/>
                  </a:lnTo>
                  <a:lnTo>
                    <a:pt x="3549091" y="148996"/>
                  </a:lnTo>
                  <a:lnTo>
                    <a:pt x="3481463" y="139763"/>
                  </a:lnTo>
                  <a:lnTo>
                    <a:pt x="3461524" y="111506"/>
                  </a:lnTo>
                  <a:lnTo>
                    <a:pt x="3429520" y="85153"/>
                  </a:lnTo>
                  <a:lnTo>
                    <a:pt x="3386264" y="61290"/>
                  </a:lnTo>
                  <a:lnTo>
                    <a:pt x="3332619" y="40449"/>
                  </a:lnTo>
                  <a:lnTo>
                    <a:pt x="3288195" y="27711"/>
                  </a:lnTo>
                  <a:lnTo>
                    <a:pt x="3241078" y="17399"/>
                  </a:lnTo>
                  <a:lnTo>
                    <a:pt x="3191853" y="9525"/>
                  </a:lnTo>
                  <a:lnTo>
                    <a:pt x="3141091" y="4064"/>
                  </a:lnTo>
                  <a:lnTo>
                    <a:pt x="3089376" y="990"/>
                  </a:lnTo>
                  <a:lnTo>
                    <a:pt x="3037281" y="279"/>
                  </a:lnTo>
                  <a:lnTo>
                    <a:pt x="2985414" y="1930"/>
                  </a:lnTo>
                  <a:lnTo>
                    <a:pt x="2934335" y="5918"/>
                  </a:lnTo>
                  <a:lnTo>
                    <a:pt x="2884627" y="12204"/>
                  </a:lnTo>
                  <a:lnTo>
                    <a:pt x="2836888" y="20802"/>
                  </a:lnTo>
                  <a:lnTo>
                    <a:pt x="2791676" y="31661"/>
                  </a:lnTo>
                  <a:lnTo>
                    <a:pt x="2749588" y="44780"/>
                  </a:lnTo>
                  <a:lnTo>
                    <a:pt x="2711208" y="60134"/>
                  </a:lnTo>
                  <a:lnTo>
                    <a:pt x="2681757" y="46901"/>
                  </a:lnTo>
                  <a:lnTo>
                    <a:pt x="2612326" y="24739"/>
                  </a:lnTo>
                  <a:lnTo>
                    <a:pt x="2573032" y="16065"/>
                  </a:lnTo>
                  <a:lnTo>
                    <a:pt x="2518714" y="7467"/>
                  </a:lnTo>
                  <a:lnTo>
                    <a:pt x="2463139" y="2146"/>
                  </a:lnTo>
                  <a:lnTo>
                    <a:pt x="2407120" y="0"/>
                  </a:lnTo>
                  <a:lnTo>
                    <a:pt x="2351481" y="939"/>
                  </a:lnTo>
                  <a:lnTo>
                    <a:pt x="2297036" y="4851"/>
                  </a:lnTo>
                  <a:lnTo>
                    <a:pt x="2244623" y="11620"/>
                  </a:lnTo>
                  <a:lnTo>
                    <a:pt x="2195055" y="21132"/>
                  </a:lnTo>
                  <a:lnTo>
                    <a:pt x="2149157" y="33312"/>
                  </a:lnTo>
                  <a:lnTo>
                    <a:pt x="2107742" y="48018"/>
                  </a:lnTo>
                  <a:lnTo>
                    <a:pt x="2071636" y="65176"/>
                  </a:lnTo>
                  <a:lnTo>
                    <a:pt x="2041664" y="84645"/>
                  </a:lnTo>
                  <a:lnTo>
                    <a:pt x="2015794" y="75514"/>
                  </a:lnTo>
                  <a:lnTo>
                    <a:pt x="1959432" y="59563"/>
                  </a:lnTo>
                  <a:lnTo>
                    <a:pt x="1877758" y="43662"/>
                  </a:lnTo>
                  <a:lnTo>
                    <a:pt x="1825117" y="37045"/>
                  </a:lnTo>
                  <a:lnTo>
                    <a:pt x="1771713" y="32842"/>
                  </a:lnTo>
                  <a:lnTo>
                    <a:pt x="1718043" y="31013"/>
                  </a:lnTo>
                  <a:lnTo>
                    <a:pt x="1664601" y="31496"/>
                  </a:lnTo>
                  <a:lnTo>
                    <a:pt x="1611858" y="34226"/>
                  </a:lnTo>
                  <a:lnTo>
                    <a:pt x="1560334" y="39154"/>
                  </a:lnTo>
                  <a:lnTo>
                    <a:pt x="1510487" y="46215"/>
                  </a:lnTo>
                  <a:lnTo>
                    <a:pt x="1462836" y="55346"/>
                  </a:lnTo>
                  <a:lnTo>
                    <a:pt x="1417866" y="66497"/>
                  </a:lnTo>
                  <a:lnTo>
                    <a:pt x="1376057" y="79616"/>
                  </a:lnTo>
                  <a:lnTo>
                    <a:pt x="1337919" y="94627"/>
                  </a:lnTo>
                  <a:lnTo>
                    <a:pt x="1274584" y="130111"/>
                  </a:lnTo>
                  <a:lnTo>
                    <a:pt x="1229309" y="120865"/>
                  </a:lnTo>
                  <a:lnTo>
                    <a:pt x="1182433" y="113144"/>
                  </a:lnTo>
                  <a:lnTo>
                    <a:pt x="1134224" y="106959"/>
                  </a:lnTo>
                  <a:lnTo>
                    <a:pt x="1084922" y="102336"/>
                  </a:lnTo>
                  <a:lnTo>
                    <a:pt x="1034796" y="99301"/>
                  </a:lnTo>
                  <a:lnTo>
                    <a:pt x="984097" y="97866"/>
                  </a:lnTo>
                  <a:lnTo>
                    <a:pt x="933081" y="98056"/>
                  </a:lnTo>
                  <a:lnTo>
                    <a:pt x="882027" y="99885"/>
                  </a:lnTo>
                  <a:lnTo>
                    <a:pt x="811745" y="105194"/>
                  </a:lnTo>
                  <a:lnTo>
                    <a:pt x="744956" y="113398"/>
                  </a:lnTo>
                  <a:lnTo>
                    <a:pt x="682015" y="124320"/>
                  </a:lnTo>
                  <a:lnTo>
                    <a:pt x="623328" y="137744"/>
                  </a:lnTo>
                  <a:lnTo>
                    <a:pt x="569302" y="153479"/>
                  </a:lnTo>
                  <a:lnTo>
                    <a:pt x="520319" y="171310"/>
                  </a:lnTo>
                  <a:lnTo>
                    <a:pt x="476770" y="191058"/>
                  </a:lnTo>
                  <a:lnTo>
                    <a:pt x="439051" y="212521"/>
                  </a:lnTo>
                  <a:lnTo>
                    <a:pt x="407555" y="235483"/>
                  </a:lnTo>
                  <a:lnTo>
                    <a:pt x="364820" y="285140"/>
                  </a:lnTo>
                  <a:lnTo>
                    <a:pt x="351713" y="338442"/>
                  </a:lnTo>
                  <a:lnTo>
                    <a:pt x="357263" y="365950"/>
                  </a:lnTo>
                  <a:lnTo>
                    <a:pt x="353961" y="369379"/>
                  </a:lnTo>
                  <a:lnTo>
                    <a:pt x="292760" y="373773"/>
                  </a:lnTo>
                  <a:lnTo>
                    <a:pt x="234797" y="381698"/>
                  </a:lnTo>
                  <a:lnTo>
                    <a:pt x="181000" y="392925"/>
                  </a:lnTo>
                  <a:lnTo>
                    <a:pt x="132321" y="407238"/>
                  </a:lnTo>
                  <a:lnTo>
                    <a:pt x="89712" y="424408"/>
                  </a:lnTo>
                  <a:lnTo>
                    <a:pt x="54140" y="444182"/>
                  </a:lnTo>
                  <a:lnTo>
                    <a:pt x="23787" y="469163"/>
                  </a:lnTo>
                  <a:lnTo>
                    <a:pt x="0" y="521373"/>
                  </a:lnTo>
                  <a:lnTo>
                    <a:pt x="5765" y="547420"/>
                  </a:lnTo>
                  <a:lnTo>
                    <a:pt x="50609" y="596455"/>
                  </a:lnTo>
                  <a:lnTo>
                    <a:pt x="88900" y="618261"/>
                  </a:lnTo>
                  <a:lnTo>
                    <a:pt x="137223" y="637463"/>
                  </a:lnTo>
                  <a:lnTo>
                    <a:pt x="195211" y="653478"/>
                  </a:lnTo>
                  <a:lnTo>
                    <a:pt x="143408" y="680008"/>
                  </a:lnTo>
                  <a:lnTo>
                    <a:pt x="108153" y="709891"/>
                  </a:lnTo>
                  <a:lnTo>
                    <a:pt x="90373" y="741972"/>
                  </a:lnTo>
                  <a:lnTo>
                    <a:pt x="91033" y="775144"/>
                  </a:lnTo>
                  <a:lnTo>
                    <a:pt x="125653" y="822007"/>
                  </a:lnTo>
                  <a:lnTo>
                    <a:pt x="194119" y="860996"/>
                  </a:lnTo>
                  <a:lnTo>
                    <a:pt x="238785" y="876846"/>
                  </a:lnTo>
                  <a:lnTo>
                    <a:pt x="289204" y="889901"/>
                  </a:lnTo>
                  <a:lnTo>
                    <a:pt x="344462" y="899883"/>
                  </a:lnTo>
                  <a:lnTo>
                    <a:pt x="403656" y="906513"/>
                  </a:lnTo>
                  <a:lnTo>
                    <a:pt x="465874" y="909523"/>
                  </a:lnTo>
                  <a:lnTo>
                    <a:pt x="530237" y="908621"/>
                  </a:lnTo>
                  <a:lnTo>
                    <a:pt x="532650" y="910272"/>
                  </a:lnTo>
                  <a:lnTo>
                    <a:pt x="569201" y="932053"/>
                  </a:lnTo>
                  <a:lnTo>
                    <a:pt x="604024" y="949337"/>
                  </a:lnTo>
                  <a:lnTo>
                    <a:pt x="641807" y="965250"/>
                  </a:lnTo>
                  <a:lnTo>
                    <a:pt x="682332" y="979805"/>
                  </a:lnTo>
                  <a:lnTo>
                    <a:pt x="725322" y="992949"/>
                  </a:lnTo>
                  <a:lnTo>
                    <a:pt x="770547" y="1004671"/>
                  </a:lnTo>
                  <a:lnTo>
                    <a:pt x="817753" y="1014945"/>
                  </a:lnTo>
                  <a:lnTo>
                    <a:pt x="866698" y="1023759"/>
                  </a:lnTo>
                  <a:lnTo>
                    <a:pt x="917130" y="1031074"/>
                  </a:lnTo>
                  <a:lnTo>
                    <a:pt x="968794" y="1036866"/>
                  </a:lnTo>
                  <a:lnTo>
                    <a:pt x="1021461" y="1041120"/>
                  </a:lnTo>
                  <a:lnTo>
                    <a:pt x="1074864" y="1043813"/>
                  </a:lnTo>
                  <a:lnTo>
                    <a:pt x="1128763" y="1044917"/>
                  </a:lnTo>
                  <a:lnTo>
                    <a:pt x="1182916" y="1044397"/>
                  </a:lnTo>
                  <a:lnTo>
                    <a:pt x="1237081" y="1042250"/>
                  </a:lnTo>
                  <a:lnTo>
                    <a:pt x="1290993" y="1038453"/>
                  </a:lnTo>
                  <a:lnTo>
                    <a:pt x="1344409" y="1032967"/>
                  </a:lnTo>
                  <a:lnTo>
                    <a:pt x="1397088" y="1025766"/>
                  </a:lnTo>
                  <a:lnTo>
                    <a:pt x="1448777" y="1016838"/>
                  </a:lnTo>
                  <a:lnTo>
                    <a:pt x="1499247" y="1006157"/>
                  </a:lnTo>
                  <a:lnTo>
                    <a:pt x="1535328" y="1024953"/>
                  </a:lnTo>
                  <a:lnTo>
                    <a:pt x="1575777" y="1042187"/>
                  </a:lnTo>
                  <a:lnTo>
                    <a:pt x="1620215" y="1057744"/>
                  </a:lnTo>
                  <a:lnTo>
                    <a:pt x="1668322" y="1071537"/>
                  </a:lnTo>
                  <a:lnTo>
                    <a:pt x="1719732" y="1083462"/>
                  </a:lnTo>
                  <a:lnTo>
                    <a:pt x="1774101" y="1093406"/>
                  </a:lnTo>
                  <a:lnTo>
                    <a:pt x="1831098" y="1101280"/>
                  </a:lnTo>
                  <a:lnTo>
                    <a:pt x="1891982" y="1107147"/>
                  </a:lnTo>
                  <a:lnTo>
                    <a:pt x="1952917" y="1110526"/>
                  </a:lnTo>
                  <a:lnTo>
                    <a:pt x="2013521" y="1111529"/>
                  </a:lnTo>
                  <a:lnTo>
                    <a:pt x="2073389" y="1110208"/>
                  </a:lnTo>
                  <a:lnTo>
                    <a:pt x="2132139" y="1106665"/>
                  </a:lnTo>
                  <a:lnTo>
                    <a:pt x="2189403" y="1100963"/>
                  </a:lnTo>
                  <a:lnTo>
                    <a:pt x="2244788" y="1093190"/>
                  </a:lnTo>
                  <a:lnTo>
                    <a:pt x="2297912" y="1083424"/>
                  </a:lnTo>
                  <a:lnTo>
                    <a:pt x="2348395" y="1071753"/>
                  </a:lnTo>
                  <a:lnTo>
                    <a:pt x="2395829" y="1058240"/>
                  </a:lnTo>
                  <a:lnTo>
                    <a:pt x="2439873" y="1042974"/>
                  </a:lnTo>
                  <a:lnTo>
                    <a:pt x="2480106" y="1026045"/>
                  </a:lnTo>
                  <a:lnTo>
                    <a:pt x="2516149" y="1007516"/>
                  </a:lnTo>
                  <a:lnTo>
                    <a:pt x="2574175" y="966000"/>
                  </a:lnTo>
                  <a:lnTo>
                    <a:pt x="2595384" y="943165"/>
                  </a:lnTo>
                  <a:lnTo>
                    <a:pt x="2646108" y="953884"/>
                  </a:lnTo>
                  <a:lnTo>
                    <a:pt x="2699347" y="962380"/>
                  </a:lnTo>
                  <a:lnTo>
                    <a:pt x="2754617" y="968565"/>
                  </a:lnTo>
                  <a:lnTo>
                    <a:pt x="2811386" y="972388"/>
                  </a:lnTo>
                  <a:lnTo>
                    <a:pt x="2869196" y="973772"/>
                  </a:lnTo>
                  <a:lnTo>
                    <a:pt x="2935071" y="972400"/>
                  </a:lnTo>
                  <a:lnTo>
                    <a:pt x="2998584" y="968006"/>
                  </a:lnTo>
                  <a:lnTo>
                    <a:pt x="3059226" y="960755"/>
                  </a:lnTo>
                  <a:lnTo>
                    <a:pt x="3116491" y="950849"/>
                  </a:lnTo>
                  <a:lnTo>
                    <a:pt x="3169907" y="938466"/>
                  </a:lnTo>
                  <a:lnTo>
                    <a:pt x="3218954" y="923810"/>
                  </a:lnTo>
                  <a:lnTo>
                    <a:pt x="3263138" y="907072"/>
                  </a:lnTo>
                  <a:lnTo>
                    <a:pt x="3301974" y="888415"/>
                  </a:lnTo>
                  <a:lnTo>
                    <a:pt x="3334969" y="868045"/>
                  </a:lnTo>
                  <a:lnTo>
                    <a:pt x="3381413" y="822883"/>
                  </a:lnTo>
                  <a:lnTo>
                    <a:pt x="3398532" y="773112"/>
                  </a:lnTo>
                  <a:lnTo>
                    <a:pt x="3450336" y="769404"/>
                  </a:lnTo>
                  <a:lnTo>
                    <a:pt x="3500958" y="763993"/>
                  </a:lnTo>
                  <a:lnTo>
                    <a:pt x="3550107" y="756958"/>
                  </a:lnTo>
                  <a:lnTo>
                    <a:pt x="3597516" y="748334"/>
                  </a:lnTo>
                  <a:lnTo>
                    <a:pt x="3642918" y="738162"/>
                  </a:lnTo>
                  <a:lnTo>
                    <a:pt x="3686060" y="726503"/>
                  </a:lnTo>
                  <a:lnTo>
                    <a:pt x="3744315" y="706907"/>
                  </a:lnTo>
                  <a:lnTo>
                    <a:pt x="3794709" y="685165"/>
                  </a:lnTo>
                  <a:lnTo>
                    <a:pt x="3837127" y="661593"/>
                  </a:lnTo>
                  <a:lnTo>
                    <a:pt x="3871455" y="636511"/>
                  </a:lnTo>
                  <a:lnTo>
                    <a:pt x="3915448" y="583044"/>
                  </a:lnTo>
                  <a:lnTo>
                    <a:pt x="3924897" y="555294"/>
                  </a:lnTo>
                  <a:lnTo>
                    <a:pt x="3925836" y="527265"/>
                  </a:lnTo>
                  <a:close/>
                </a:path>
              </a:pathLst>
            </a:custGeom>
            <a:solidFill>
              <a:srgbClr val="718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44618" y="1670176"/>
              <a:ext cx="123443" cy="1234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28845" y="1560067"/>
              <a:ext cx="185165" cy="18529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47313" y="582739"/>
              <a:ext cx="3926204" cy="1111885"/>
            </a:xfrm>
            <a:custGeom>
              <a:avLst/>
              <a:gdLst/>
              <a:ahLst/>
              <a:cxnLst/>
              <a:rect l="l" t="t" r="r" b="b"/>
              <a:pathLst>
                <a:path w="3926204" h="1111885">
                  <a:moveTo>
                    <a:pt x="357255" y="365950"/>
                  </a:moveTo>
                  <a:lnTo>
                    <a:pt x="351714" y="338435"/>
                  </a:lnTo>
                  <a:lnTo>
                    <a:pt x="354366" y="311430"/>
                  </a:lnTo>
                  <a:lnTo>
                    <a:pt x="364820" y="285136"/>
                  </a:lnTo>
                  <a:lnTo>
                    <a:pt x="407553" y="235477"/>
                  </a:lnTo>
                  <a:lnTo>
                    <a:pt x="439045" y="212511"/>
                  </a:lnTo>
                  <a:lnTo>
                    <a:pt x="476762" y="191055"/>
                  </a:lnTo>
                  <a:lnTo>
                    <a:pt x="520311" y="171308"/>
                  </a:lnTo>
                  <a:lnTo>
                    <a:pt x="569298" y="153468"/>
                  </a:lnTo>
                  <a:lnTo>
                    <a:pt x="623329" y="137737"/>
                  </a:lnTo>
                  <a:lnTo>
                    <a:pt x="682011" y="124313"/>
                  </a:lnTo>
                  <a:lnTo>
                    <a:pt x="744949" y="113397"/>
                  </a:lnTo>
                  <a:lnTo>
                    <a:pt x="811750" y="105188"/>
                  </a:lnTo>
                  <a:lnTo>
                    <a:pt x="882019" y="99885"/>
                  </a:lnTo>
                  <a:lnTo>
                    <a:pt x="933084" y="98048"/>
                  </a:lnTo>
                  <a:lnTo>
                    <a:pt x="984093" y="97857"/>
                  </a:lnTo>
                  <a:lnTo>
                    <a:pt x="1034791" y="99291"/>
                  </a:lnTo>
                  <a:lnTo>
                    <a:pt x="1084918" y="102330"/>
                  </a:lnTo>
                  <a:lnTo>
                    <a:pt x="1134217" y="106952"/>
                  </a:lnTo>
                  <a:lnTo>
                    <a:pt x="1182432" y="113137"/>
                  </a:lnTo>
                  <a:lnTo>
                    <a:pt x="1229304" y="120863"/>
                  </a:lnTo>
                  <a:lnTo>
                    <a:pt x="1274576" y="130111"/>
                  </a:lnTo>
                  <a:lnTo>
                    <a:pt x="1303923" y="111471"/>
                  </a:lnTo>
                  <a:lnTo>
                    <a:pt x="1376057" y="79603"/>
                  </a:lnTo>
                  <a:lnTo>
                    <a:pt x="1417861" y="66492"/>
                  </a:lnTo>
                  <a:lnTo>
                    <a:pt x="1462835" y="55340"/>
                  </a:lnTo>
                  <a:lnTo>
                    <a:pt x="1510487" y="46206"/>
                  </a:lnTo>
                  <a:lnTo>
                    <a:pt x="1560326" y="39147"/>
                  </a:lnTo>
                  <a:lnTo>
                    <a:pt x="1611860" y="34223"/>
                  </a:lnTo>
                  <a:lnTo>
                    <a:pt x="1664597" y="31492"/>
                  </a:lnTo>
                  <a:lnTo>
                    <a:pt x="1718047" y="31012"/>
                  </a:lnTo>
                  <a:lnTo>
                    <a:pt x="1771717" y="32841"/>
                  </a:lnTo>
                  <a:lnTo>
                    <a:pt x="1825116" y="37038"/>
                  </a:lnTo>
                  <a:lnTo>
                    <a:pt x="1877752" y="43661"/>
                  </a:lnTo>
                  <a:lnTo>
                    <a:pt x="1929134" y="52768"/>
                  </a:lnTo>
                  <a:lnTo>
                    <a:pt x="1988348" y="67135"/>
                  </a:lnTo>
                  <a:lnTo>
                    <a:pt x="2041656" y="84645"/>
                  </a:lnTo>
                  <a:lnTo>
                    <a:pt x="2071631" y="65166"/>
                  </a:lnTo>
                  <a:lnTo>
                    <a:pt x="2107736" y="48016"/>
                  </a:lnTo>
                  <a:lnTo>
                    <a:pt x="2149151" y="33302"/>
                  </a:lnTo>
                  <a:lnTo>
                    <a:pt x="2195054" y="21131"/>
                  </a:lnTo>
                  <a:lnTo>
                    <a:pt x="2244623" y="11608"/>
                  </a:lnTo>
                  <a:lnTo>
                    <a:pt x="2297037" y="4841"/>
                  </a:lnTo>
                  <a:lnTo>
                    <a:pt x="2351474" y="936"/>
                  </a:lnTo>
                  <a:lnTo>
                    <a:pt x="2407113" y="0"/>
                  </a:lnTo>
                  <a:lnTo>
                    <a:pt x="2463132" y="2138"/>
                  </a:lnTo>
                  <a:lnTo>
                    <a:pt x="2518710" y="7457"/>
                  </a:lnTo>
                  <a:lnTo>
                    <a:pt x="2573024" y="16065"/>
                  </a:lnTo>
                  <a:lnTo>
                    <a:pt x="2612331" y="24737"/>
                  </a:lnTo>
                  <a:lnTo>
                    <a:pt x="2681752" y="46890"/>
                  </a:lnTo>
                  <a:lnTo>
                    <a:pt x="2711200" y="60134"/>
                  </a:lnTo>
                  <a:lnTo>
                    <a:pt x="2749587" y="44775"/>
                  </a:lnTo>
                  <a:lnTo>
                    <a:pt x="2791675" y="31654"/>
                  </a:lnTo>
                  <a:lnTo>
                    <a:pt x="2836883" y="20790"/>
                  </a:lnTo>
                  <a:lnTo>
                    <a:pt x="2884630" y="12201"/>
                  </a:lnTo>
                  <a:lnTo>
                    <a:pt x="2934333" y="5906"/>
                  </a:lnTo>
                  <a:lnTo>
                    <a:pt x="2985412" y="1926"/>
                  </a:lnTo>
                  <a:lnTo>
                    <a:pt x="3037284" y="278"/>
                  </a:lnTo>
                  <a:lnTo>
                    <a:pt x="3089369" y="982"/>
                  </a:lnTo>
                  <a:lnTo>
                    <a:pt x="3141083" y="4057"/>
                  </a:lnTo>
                  <a:lnTo>
                    <a:pt x="3191846" y="9522"/>
                  </a:lnTo>
                  <a:lnTo>
                    <a:pt x="3241077" y="17397"/>
                  </a:lnTo>
                  <a:lnTo>
                    <a:pt x="3288192" y="27699"/>
                  </a:lnTo>
                  <a:lnTo>
                    <a:pt x="3332611" y="40449"/>
                  </a:lnTo>
                  <a:lnTo>
                    <a:pt x="3386265" y="61289"/>
                  </a:lnTo>
                  <a:lnTo>
                    <a:pt x="3429512" y="85153"/>
                  </a:lnTo>
                  <a:lnTo>
                    <a:pt x="3461520" y="111494"/>
                  </a:lnTo>
                  <a:lnTo>
                    <a:pt x="3481455" y="139763"/>
                  </a:lnTo>
                  <a:lnTo>
                    <a:pt x="3549091" y="148990"/>
                  </a:lnTo>
                  <a:lnTo>
                    <a:pt x="3610956" y="161609"/>
                  </a:lnTo>
                  <a:lnTo>
                    <a:pt x="3666523" y="177267"/>
                  </a:lnTo>
                  <a:lnTo>
                    <a:pt x="3715268" y="195608"/>
                  </a:lnTo>
                  <a:lnTo>
                    <a:pt x="3756665" y="216279"/>
                  </a:lnTo>
                  <a:lnTo>
                    <a:pt x="3790189" y="238925"/>
                  </a:lnTo>
                  <a:lnTo>
                    <a:pt x="3831513" y="288725"/>
                  </a:lnTo>
                  <a:lnTo>
                    <a:pt x="3838262" y="315170"/>
                  </a:lnTo>
                  <a:lnTo>
                    <a:pt x="3835035" y="342173"/>
                  </a:lnTo>
                  <a:lnTo>
                    <a:pt x="3816622" y="375640"/>
                  </a:lnTo>
                  <a:lnTo>
                    <a:pt x="3799209" y="394017"/>
                  </a:lnTo>
                  <a:lnTo>
                    <a:pt x="3842397" y="418710"/>
                  </a:lnTo>
                  <a:lnTo>
                    <a:pt x="3876547" y="444692"/>
                  </a:lnTo>
                  <a:lnTo>
                    <a:pt x="3901765" y="471652"/>
                  </a:lnTo>
                  <a:lnTo>
                    <a:pt x="3918158" y="499278"/>
                  </a:lnTo>
                  <a:lnTo>
                    <a:pt x="3925831" y="527258"/>
                  </a:lnTo>
                  <a:lnTo>
                    <a:pt x="3924891" y="555283"/>
                  </a:lnTo>
                  <a:lnTo>
                    <a:pt x="3897596" y="610215"/>
                  </a:lnTo>
                  <a:lnTo>
                    <a:pt x="3837120" y="661584"/>
                  </a:lnTo>
                  <a:lnTo>
                    <a:pt x="3794705" y="685153"/>
                  </a:lnTo>
                  <a:lnTo>
                    <a:pt x="3744314" y="706896"/>
                  </a:lnTo>
                  <a:lnTo>
                    <a:pt x="3686052" y="726503"/>
                  </a:lnTo>
                  <a:lnTo>
                    <a:pt x="3642917" y="738158"/>
                  </a:lnTo>
                  <a:lnTo>
                    <a:pt x="3597510" y="748324"/>
                  </a:lnTo>
                  <a:lnTo>
                    <a:pt x="3550099" y="756951"/>
                  </a:lnTo>
                  <a:lnTo>
                    <a:pt x="3500952" y="763992"/>
                  </a:lnTo>
                  <a:lnTo>
                    <a:pt x="3450338" y="769395"/>
                  </a:lnTo>
                  <a:lnTo>
                    <a:pt x="3398524" y="773112"/>
                  </a:lnTo>
                  <a:lnTo>
                    <a:pt x="3393886" y="798482"/>
                  </a:lnTo>
                  <a:lnTo>
                    <a:pt x="3361610" y="846130"/>
                  </a:lnTo>
                  <a:lnTo>
                    <a:pt x="3301974" y="888406"/>
                  </a:lnTo>
                  <a:lnTo>
                    <a:pt x="3263136" y="907061"/>
                  </a:lnTo>
                  <a:lnTo>
                    <a:pt x="3218946" y="923810"/>
                  </a:lnTo>
                  <a:lnTo>
                    <a:pt x="3169900" y="938465"/>
                  </a:lnTo>
                  <a:lnTo>
                    <a:pt x="3116494" y="950839"/>
                  </a:lnTo>
                  <a:lnTo>
                    <a:pt x="3059224" y="960745"/>
                  </a:lnTo>
                  <a:lnTo>
                    <a:pt x="2998585" y="967994"/>
                  </a:lnTo>
                  <a:lnTo>
                    <a:pt x="2935075" y="972399"/>
                  </a:lnTo>
                  <a:lnTo>
                    <a:pt x="2869188" y="973772"/>
                  </a:lnTo>
                  <a:lnTo>
                    <a:pt x="2811390" y="972381"/>
                  </a:lnTo>
                  <a:lnTo>
                    <a:pt x="2754610" y="968558"/>
                  </a:lnTo>
                  <a:lnTo>
                    <a:pt x="2699348" y="962369"/>
                  </a:lnTo>
                  <a:lnTo>
                    <a:pt x="2646103" y="953883"/>
                  </a:lnTo>
                  <a:lnTo>
                    <a:pt x="2595376" y="943165"/>
                  </a:lnTo>
                  <a:lnTo>
                    <a:pt x="2574174" y="965994"/>
                  </a:lnTo>
                  <a:lnTo>
                    <a:pt x="2516152" y="1007510"/>
                  </a:lnTo>
                  <a:lnTo>
                    <a:pt x="2480100" y="1026039"/>
                  </a:lnTo>
                  <a:lnTo>
                    <a:pt x="2439866" y="1042973"/>
                  </a:lnTo>
                  <a:lnTo>
                    <a:pt x="2395833" y="1058235"/>
                  </a:lnTo>
                  <a:lnTo>
                    <a:pt x="2348387" y="1071744"/>
                  </a:lnTo>
                  <a:lnTo>
                    <a:pt x="2297910" y="1083421"/>
                  </a:lnTo>
                  <a:lnTo>
                    <a:pt x="2244788" y="1093185"/>
                  </a:lnTo>
                  <a:lnTo>
                    <a:pt x="2189403" y="1100956"/>
                  </a:lnTo>
                  <a:lnTo>
                    <a:pt x="2132140" y="1106656"/>
                  </a:lnTo>
                  <a:lnTo>
                    <a:pt x="2073382" y="1110204"/>
                  </a:lnTo>
                  <a:lnTo>
                    <a:pt x="2013515" y="1111520"/>
                  </a:lnTo>
                  <a:lnTo>
                    <a:pt x="1952921" y="1110525"/>
                  </a:lnTo>
                  <a:lnTo>
                    <a:pt x="1891985" y="1107138"/>
                  </a:lnTo>
                  <a:lnTo>
                    <a:pt x="1831090" y="1101280"/>
                  </a:lnTo>
                  <a:lnTo>
                    <a:pt x="1774099" y="1093405"/>
                  </a:lnTo>
                  <a:lnTo>
                    <a:pt x="1719725" y="1083455"/>
                  </a:lnTo>
                  <a:lnTo>
                    <a:pt x="1668314" y="1071532"/>
                  </a:lnTo>
                  <a:lnTo>
                    <a:pt x="1620214" y="1057739"/>
                  </a:lnTo>
                  <a:lnTo>
                    <a:pt x="1575770" y="1042177"/>
                  </a:lnTo>
                  <a:lnTo>
                    <a:pt x="1535330" y="1024949"/>
                  </a:lnTo>
                  <a:lnTo>
                    <a:pt x="1499239" y="1006157"/>
                  </a:lnTo>
                  <a:lnTo>
                    <a:pt x="1448781" y="1016836"/>
                  </a:lnTo>
                  <a:lnTo>
                    <a:pt x="1397088" y="1025761"/>
                  </a:lnTo>
                  <a:lnTo>
                    <a:pt x="1344408" y="1032955"/>
                  </a:lnTo>
                  <a:lnTo>
                    <a:pt x="1290988" y="1038443"/>
                  </a:lnTo>
                  <a:lnTo>
                    <a:pt x="1237075" y="1042249"/>
                  </a:lnTo>
                  <a:lnTo>
                    <a:pt x="1182919" y="1044395"/>
                  </a:lnTo>
                  <a:lnTo>
                    <a:pt x="1128764" y="1044905"/>
                  </a:lnTo>
                  <a:lnTo>
                    <a:pt x="1074860" y="1043804"/>
                  </a:lnTo>
                  <a:lnTo>
                    <a:pt x="1021453" y="1041114"/>
                  </a:lnTo>
                  <a:lnTo>
                    <a:pt x="968792" y="1036859"/>
                  </a:lnTo>
                  <a:lnTo>
                    <a:pt x="917123" y="1031063"/>
                  </a:lnTo>
                  <a:lnTo>
                    <a:pt x="866694" y="1023750"/>
                  </a:lnTo>
                  <a:lnTo>
                    <a:pt x="817752" y="1014943"/>
                  </a:lnTo>
                  <a:lnTo>
                    <a:pt x="770545" y="1004665"/>
                  </a:lnTo>
                  <a:lnTo>
                    <a:pt x="725321" y="992941"/>
                  </a:lnTo>
                  <a:lnTo>
                    <a:pt x="682326" y="979794"/>
                  </a:lnTo>
                  <a:lnTo>
                    <a:pt x="641809" y="965247"/>
                  </a:lnTo>
                  <a:lnTo>
                    <a:pt x="604016" y="949325"/>
                  </a:lnTo>
                  <a:lnTo>
                    <a:pt x="569196" y="932050"/>
                  </a:lnTo>
                  <a:lnTo>
                    <a:pt x="535055" y="911796"/>
                  </a:lnTo>
                  <a:lnTo>
                    <a:pt x="532642" y="910272"/>
                  </a:lnTo>
                  <a:lnTo>
                    <a:pt x="530229" y="908621"/>
                  </a:lnTo>
                  <a:lnTo>
                    <a:pt x="465878" y="909513"/>
                  </a:lnTo>
                  <a:lnTo>
                    <a:pt x="403653" y="906505"/>
                  </a:lnTo>
                  <a:lnTo>
                    <a:pt x="344460" y="899873"/>
                  </a:lnTo>
                  <a:lnTo>
                    <a:pt x="289204" y="889892"/>
                  </a:lnTo>
                  <a:lnTo>
                    <a:pt x="238790" y="876839"/>
                  </a:lnTo>
                  <a:lnTo>
                    <a:pt x="194122" y="860990"/>
                  </a:lnTo>
                  <a:lnTo>
                    <a:pt x="156107" y="842620"/>
                  </a:lnTo>
                  <a:lnTo>
                    <a:pt x="103653" y="799421"/>
                  </a:lnTo>
                  <a:lnTo>
                    <a:pt x="90372" y="741971"/>
                  </a:lnTo>
                  <a:lnTo>
                    <a:pt x="108148" y="709882"/>
                  </a:lnTo>
                  <a:lnTo>
                    <a:pt x="143407" y="680007"/>
                  </a:lnTo>
                  <a:lnTo>
                    <a:pt x="195203" y="653478"/>
                  </a:lnTo>
                  <a:lnTo>
                    <a:pt x="137224" y="637462"/>
                  </a:lnTo>
                  <a:lnTo>
                    <a:pt x="88892" y="618255"/>
                  </a:lnTo>
                  <a:lnTo>
                    <a:pt x="50606" y="596450"/>
                  </a:lnTo>
                  <a:lnTo>
                    <a:pt x="5761" y="547411"/>
                  </a:lnTo>
                  <a:lnTo>
                    <a:pt x="0" y="521360"/>
                  </a:lnTo>
                  <a:lnTo>
                    <a:pt x="5875" y="495078"/>
                  </a:lnTo>
                  <a:lnTo>
                    <a:pt x="54132" y="444182"/>
                  </a:lnTo>
                  <a:lnTo>
                    <a:pt x="89711" y="424398"/>
                  </a:lnTo>
                  <a:lnTo>
                    <a:pt x="132315" y="407234"/>
                  </a:lnTo>
                  <a:lnTo>
                    <a:pt x="180992" y="392922"/>
                  </a:lnTo>
                  <a:lnTo>
                    <a:pt x="234791" y="381689"/>
                  </a:lnTo>
                  <a:lnTo>
                    <a:pt x="292762" y="373765"/>
                  </a:lnTo>
                  <a:lnTo>
                    <a:pt x="353953" y="369379"/>
                  </a:lnTo>
                  <a:lnTo>
                    <a:pt x="357255" y="365950"/>
                  </a:lnTo>
                  <a:close/>
                </a:path>
              </a:pathLst>
            </a:custGeom>
            <a:ln w="9144">
              <a:solidFill>
                <a:srgbClr val="718F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98924" y="1751330"/>
              <a:ext cx="70865" cy="7086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40047" y="1665605"/>
              <a:ext cx="132587" cy="13258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24273" y="1555495"/>
              <a:ext cx="194310" cy="19443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346707" y="639317"/>
              <a:ext cx="3597910" cy="945515"/>
            </a:xfrm>
            <a:custGeom>
              <a:avLst/>
              <a:gdLst/>
              <a:ahLst/>
              <a:cxnLst/>
              <a:rect l="l" t="t" r="r" b="b"/>
              <a:pathLst>
                <a:path w="3597910" h="945515">
                  <a:moveTo>
                    <a:pt x="229869" y="613029"/>
                  </a:moveTo>
                  <a:lnTo>
                    <a:pt x="181811" y="613339"/>
                  </a:lnTo>
                  <a:lnTo>
                    <a:pt x="134288" y="611401"/>
                  </a:lnTo>
                  <a:lnTo>
                    <a:pt x="87808" y="607249"/>
                  </a:lnTo>
                  <a:lnTo>
                    <a:pt x="42877" y="600922"/>
                  </a:lnTo>
                  <a:lnTo>
                    <a:pt x="0" y="592455"/>
                  </a:lnTo>
                </a:path>
                <a:path w="3597910" h="945515">
                  <a:moveTo>
                    <a:pt x="432816" y="837311"/>
                  </a:moveTo>
                  <a:lnTo>
                    <a:pt x="408328" y="840714"/>
                  </a:lnTo>
                  <a:lnTo>
                    <a:pt x="383317" y="843486"/>
                  </a:lnTo>
                  <a:lnTo>
                    <a:pt x="357878" y="845615"/>
                  </a:lnTo>
                  <a:lnTo>
                    <a:pt x="332104" y="847090"/>
                  </a:lnTo>
                </a:path>
                <a:path w="3597910" h="945515">
                  <a:moveTo>
                    <a:pt x="1299591" y="945134"/>
                  </a:moveTo>
                  <a:lnTo>
                    <a:pt x="1282142" y="934396"/>
                  </a:lnTo>
                  <a:lnTo>
                    <a:pt x="1266205" y="923337"/>
                  </a:lnTo>
                  <a:lnTo>
                    <a:pt x="1251817" y="911969"/>
                  </a:lnTo>
                  <a:lnTo>
                    <a:pt x="1239011" y="900303"/>
                  </a:lnTo>
                </a:path>
                <a:path w="3597910" h="945515">
                  <a:moveTo>
                    <a:pt x="2420492" y="833501"/>
                  </a:moveTo>
                  <a:lnTo>
                    <a:pt x="2416972" y="845948"/>
                  </a:lnTo>
                  <a:lnTo>
                    <a:pt x="2411761" y="858313"/>
                  </a:lnTo>
                  <a:lnTo>
                    <a:pt x="2404883" y="870559"/>
                  </a:lnTo>
                  <a:lnTo>
                    <a:pt x="2396363" y="882650"/>
                  </a:lnTo>
                </a:path>
                <a:path w="3597910" h="945515">
                  <a:moveTo>
                    <a:pt x="2901822" y="530098"/>
                  </a:moveTo>
                  <a:lnTo>
                    <a:pt x="2966782" y="544593"/>
                  </a:lnTo>
                  <a:lnTo>
                    <a:pt x="3024878" y="562219"/>
                  </a:lnTo>
                  <a:lnTo>
                    <a:pt x="3075532" y="582615"/>
                  </a:lnTo>
                  <a:lnTo>
                    <a:pt x="3118167" y="605424"/>
                  </a:lnTo>
                  <a:lnTo>
                    <a:pt x="3152206" y="630287"/>
                  </a:lnTo>
                  <a:lnTo>
                    <a:pt x="3192185" y="684740"/>
                  </a:lnTo>
                  <a:lnTo>
                    <a:pt x="3196970" y="713613"/>
                  </a:lnTo>
                </a:path>
                <a:path w="3597910" h="945515">
                  <a:moveTo>
                    <a:pt x="3597909" y="334645"/>
                  </a:moveTo>
                  <a:lnTo>
                    <a:pt x="3572960" y="353972"/>
                  </a:lnTo>
                  <a:lnTo>
                    <a:pt x="3542522" y="372014"/>
                  </a:lnTo>
                  <a:lnTo>
                    <a:pt x="3506916" y="388580"/>
                  </a:lnTo>
                  <a:lnTo>
                    <a:pt x="3466465" y="403479"/>
                  </a:lnTo>
                </a:path>
                <a:path w="3597910" h="945515">
                  <a:moveTo>
                    <a:pt x="3282568" y="79375"/>
                  </a:moveTo>
                  <a:lnTo>
                    <a:pt x="3285857" y="87419"/>
                  </a:lnTo>
                  <a:lnTo>
                    <a:pt x="3288109" y="95535"/>
                  </a:lnTo>
                  <a:lnTo>
                    <a:pt x="3289337" y="103699"/>
                  </a:lnTo>
                  <a:lnTo>
                    <a:pt x="3289554" y="111887"/>
                  </a:lnTo>
                </a:path>
                <a:path w="3597910" h="945515">
                  <a:moveTo>
                    <a:pt x="2443353" y="41402"/>
                  </a:moveTo>
                  <a:lnTo>
                    <a:pt x="2457227" y="30360"/>
                  </a:lnTo>
                  <a:lnTo>
                    <a:pt x="2473102" y="19748"/>
                  </a:lnTo>
                  <a:lnTo>
                    <a:pt x="2490930" y="9612"/>
                  </a:lnTo>
                  <a:lnTo>
                    <a:pt x="2510663" y="0"/>
                  </a:lnTo>
                </a:path>
                <a:path w="3597910" h="945515">
                  <a:moveTo>
                    <a:pt x="1813687" y="61214"/>
                  </a:moveTo>
                  <a:lnTo>
                    <a:pt x="1819659" y="51974"/>
                  </a:lnTo>
                  <a:lnTo>
                    <a:pt x="1827085" y="42925"/>
                  </a:lnTo>
                  <a:lnTo>
                    <a:pt x="1835939" y="34067"/>
                  </a:lnTo>
                  <a:lnTo>
                    <a:pt x="1846199" y="25400"/>
                  </a:lnTo>
                </a:path>
                <a:path w="3597910" h="945515">
                  <a:moveTo>
                    <a:pt x="1074673" y="73279"/>
                  </a:moveTo>
                  <a:lnTo>
                    <a:pt x="1106164" y="80946"/>
                  </a:lnTo>
                  <a:lnTo>
                    <a:pt x="1136380" y="89281"/>
                  </a:lnTo>
                  <a:lnTo>
                    <a:pt x="1165238" y="98282"/>
                  </a:lnTo>
                  <a:lnTo>
                    <a:pt x="1192656" y="107950"/>
                  </a:lnTo>
                </a:path>
                <a:path w="3597910" h="945515">
                  <a:moveTo>
                    <a:pt x="178561" y="345821"/>
                  </a:moveTo>
                  <a:lnTo>
                    <a:pt x="171989" y="336821"/>
                  </a:lnTo>
                  <a:lnTo>
                    <a:pt x="166369" y="327739"/>
                  </a:lnTo>
                  <a:lnTo>
                    <a:pt x="161702" y="318585"/>
                  </a:lnTo>
                  <a:lnTo>
                    <a:pt x="157987" y="309372"/>
                  </a:lnTo>
                </a:path>
              </a:pathLst>
            </a:custGeom>
            <a:ln w="9144">
              <a:solidFill>
                <a:srgbClr val="718F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39823" y="722375"/>
              <a:ext cx="2741676" cy="56692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23872" y="1027175"/>
              <a:ext cx="1917192" cy="56692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784985" y="775462"/>
            <a:ext cx="237109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6875" marR="5080" indent="-38481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Special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characters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may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vary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name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...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Sequence</a:t>
            </a:r>
            <a:r>
              <a:rPr spc="-50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Sequence</a:t>
            </a:r>
            <a:r>
              <a:rPr spc="-45" dirty="0"/>
              <a:t> </a:t>
            </a:r>
            <a:r>
              <a:rPr spc="-10" dirty="0"/>
              <a:t>Modeling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59735" y="1227581"/>
            <a:ext cx="763650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 MT"/>
                <a:cs typeface="Arial MT"/>
              </a:rPr>
              <a:t>Given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&lt;S,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T&gt;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pairs,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read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S,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output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T’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best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matches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50" dirty="0">
                <a:latin typeface="Arial MT"/>
                <a:cs typeface="Arial MT"/>
              </a:rPr>
              <a:t>T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7781" y="1824251"/>
            <a:ext cx="8487417" cy="236433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0521" y="1112927"/>
            <a:ext cx="2337188" cy="48885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23483" y="5285391"/>
            <a:ext cx="2311803" cy="56046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71672" y="4342126"/>
            <a:ext cx="5603839" cy="78670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271515"/>
            <a:ext cx="12187555" cy="1586865"/>
            <a:chOff x="0" y="5271515"/>
            <a:chExt cx="12187555" cy="15868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58220" y="5276111"/>
              <a:ext cx="791058" cy="5684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75619" y="5271515"/>
              <a:ext cx="510540" cy="56540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596371" y="5291327"/>
              <a:ext cx="715010" cy="492759"/>
            </a:xfrm>
            <a:custGeom>
              <a:avLst/>
              <a:gdLst/>
              <a:ahLst/>
              <a:cxnLst/>
              <a:rect l="l" t="t" r="r" b="b"/>
              <a:pathLst>
                <a:path w="715009" h="492760">
                  <a:moveTo>
                    <a:pt x="632713" y="0"/>
                  </a:moveTo>
                  <a:lnTo>
                    <a:pt x="82042" y="0"/>
                  </a:lnTo>
                  <a:lnTo>
                    <a:pt x="50095" y="6443"/>
                  </a:lnTo>
                  <a:lnTo>
                    <a:pt x="24018" y="24018"/>
                  </a:lnTo>
                  <a:lnTo>
                    <a:pt x="6443" y="50095"/>
                  </a:lnTo>
                  <a:lnTo>
                    <a:pt x="0" y="82042"/>
                  </a:lnTo>
                  <a:lnTo>
                    <a:pt x="0" y="410210"/>
                  </a:lnTo>
                  <a:lnTo>
                    <a:pt x="6443" y="442145"/>
                  </a:lnTo>
                  <a:lnTo>
                    <a:pt x="24018" y="468223"/>
                  </a:lnTo>
                  <a:lnTo>
                    <a:pt x="50095" y="485805"/>
                  </a:lnTo>
                  <a:lnTo>
                    <a:pt x="82042" y="492252"/>
                  </a:lnTo>
                  <a:lnTo>
                    <a:pt x="632713" y="492252"/>
                  </a:lnTo>
                  <a:lnTo>
                    <a:pt x="664660" y="485805"/>
                  </a:lnTo>
                  <a:lnTo>
                    <a:pt x="690737" y="468223"/>
                  </a:lnTo>
                  <a:lnTo>
                    <a:pt x="708312" y="442145"/>
                  </a:lnTo>
                  <a:lnTo>
                    <a:pt x="714755" y="410210"/>
                  </a:lnTo>
                  <a:lnTo>
                    <a:pt x="714755" y="82042"/>
                  </a:lnTo>
                  <a:lnTo>
                    <a:pt x="708312" y="50095"/>
                  </a:lnTo>
                  <a:lnTo>
                    <a:pt x="690737" y="24018"/>
                  </a:lnTo>
                  <a:lnTo>
                    <a:pt x="664660" y="6443"/>
                  </a:lnTo>
                  <a:lnTo>
                    <a:pt x="632713" y="0"/>
                  </a:lnTo>
                  <a:close/>
                </a:path>
              </a:pathLst>
            </a:custGeom>
            <a:solidFill>
              <a:srgbClr val="F4C9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596371" y="5291327"/>
              <a:ext cx="715010" cy="492759"/>
            </a:xfrm>
            <a:custGeom>
              <a:avLst/>
              <a:gdLst/>
              <a:ahLst/>
              <a:cxnLst/>
              <a:rect l="l" t="t" r="r" b="b"/>
              <a:pathLst>
                <a:path w="715009" h="492760">
                  <a:moveTo>
                    <a:pt x="0" y="82042"/>
                  </a:moveTo>
                  <a:lnTo>
                    <a:pt x="6443" y="50095"/>
                  </a:lnTo>
                  <a:lnTo>
                    <a:pt x="24018" y="24018"/>
                  </a:lnTo>
                  <a:lnTo>
                    <a:pt x="50095" y="6443"/>
                  </a:lnTo>
                  <a:lnTo>
                    <a:pt x="82042" y="0"/>
                  </a:lnTo>
                  <a:lnTo>
                    <a:pt x="632713" y="0"/>
                  </a:lnTo>
                  <a:lnTo>
                    <a:pt x="664660" y="6443"/>
                  </a:lnTo>
                  <a:lnTo>
                    <a:pt x="690737" y="24018"/>
                  </a:lnTo>
                  <a:lnTo>
                    <a:pt x="708312" y="50095"/>
                  </a:lnTo>
                  <a:lnTo>
                    <a:pt x="714755" y="82042"/>
                  </a:lnTo>
                  <a:lnTo>
                    <a:pt x="714755" y="410210"/>
                  </a:lnTo>
                  <a:lnTo>
                    <a:pt x="708312" y="442145"/>
                  </a:lnTo>
                  <a:lnTo>
                    <a:pt x="690737" y="468223"/>
                  </a:lnTo>
                  <a:lnTo>
                    <a:pt x="664660" y="485805"/>
                  </a:lnTo>
                  <a:lnTo>
                    <a:pt x="632713" y="492252"/>
                  </a:lnTo>
                  <a:lnTo>
                    <a:pt x="82042" y="492252"/>
                  </a:lnTo>
                  <a:lnTo>
                    <a:pt x="50095" y="485805"/>
                  </a:lnTo>
                  <a:lnTo>
                    <a:pt x="24018" y="468223"/>
                  </a:lnTo>
                  <a:lnTo>
                    <a:pt x="6443" y="442145"/>
                  </a:lnTo>
                  <a:lnTo>
                    <a:pt x="0" y="410210"/>
                  </a:lnTo>
                  <a:lnTo>
                    <a:pt x="0" y="82042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Multiple</a:t>
            </a:r>
            <a:r>
              <a:rPr spc="-50" dirty="0"/>
              <a:t> </a:t>
            </a:r>
            <a:r>
              <a:rPr dirty="0"/>
              <a:t>Layers</a:t>
            </a:r>
            <a:r>
              <a:rPr spc="-5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Bidirectional</a:t>
            </a:r>
            <a:r>
              <a:rPr spc="-60" dirty="0"/>
              <a:t> </a:t>
            </a:r>
            <a:r>
              <a:rPr dirty="0"/>
              <a:t>LSTM</a:t>
            </a:r>
            <a:r>
              <a:rPr spc="-60" dirty="0"/>
              <a:t> </a:t>
            </a:r>
            <a:r>
              <a:rPr spc="-10" dirty="0"/>
              <a:t>Networks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925067" y="3741928"/>
            <a:ext cx="3340735" cy="2264410"/>
            <a:chOff x="925067" y="3741928"/>
            <a:chExt cx="3340735" cy="226441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0535" y="4735576"/>
              <a:ext cx="542065" cy="13461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684781" y="4744212"/>
              <a:ext cx="479425" cy="78105"/>
            </a:xfrm>
            <a:custGeom>
              <a:avLst/>
              <a:gdLst/>
              <a:ahLst/>
              <a:cxnLst/>
              <a:rect l="l" t="t" r="r" b="b"/>
              <a:pathLst>
                <a:path w="479425" h="78104">
                  <a:moveTo>
                    <a:pt x="401574" y="0"/>
                  </a:moveTo>
                  <a:lnTo>
                    <a:pt x="401574" y="77724"/>
                  </a:lnTo>
                  <a:lnTo>
                    <a:pt x="453390" y="51815"/>
                  </a:lnTo>
                  <a:lnTo>
                    <a:pt x="414528" y="51815"/>
                  </a:lnTo>
                  <a:lnTo>
                    <a:pt x="414528" y="25907"/>
                  </a:lnTo>
                  <a:lnTo>
                    <a:pt x="453389" y="25907"/>
                  </a:lnTo>
                  <a:lnTo>
                    <a:pt x="401574" y="0"/>
                  </a:lnTo>
                  <a:close/>
                </a:path>
                <a:path w="479425" h="78104">
                  <a:moveTo>
                    <a:pt x="401574" y="25907"/>
                  </a:moveTo>
                  <a:lnTo>
                    <a:pt x="0" y="25907"/>
                  </a:lnTo>
                  <a:lnTo>
                    <a:pt x="0" y="51815"/>
                  </a:lnTo>
                  <a:lnTo>
                    <a:pt x="401574" y="51815"/>
                  </a:lnTo>
                  <a:lnTo>
                    <a:pt x="401574" y="25907"/>
                  </a:lnTo>
                  <a:close/>
                </a:path>
                <a:path w="479425" h="78104">
                  <a:moveTo>
                    <a:pt x="453389" y="25907"/>
                  </a:moveTo>
                  <a:lnTo>
                    <a:pt x="414528" y="25907"/>
                  </a:lnTo>
                  <a:lnTo>
                    <a:pt x="414528" y="51815"/>
                  </a:lnTo>
                  <a:lnTo>
                    <a:pt x="453390" y="51815"/>
                  </a:lnTo>
                  <a:lnTo>
                    <a:pt x="479298" y="38862"/>
                  </a:lnTo>
                  <a:lnTo>
                    <a:pt x="453389" y="25907"/>
                  </a:lnTo>
                  <a:close/>
                </a:path>
              </a:pathLst>
            </a:custGeom>
            <a:solidFill>
              <a:srgbClr val="6E85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44439" y="3749548"/>
              <a:ext cx="542065" cy="13461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678685" y="3758184"/>
              <a:ext cx="479425" cy="78105"/>
            </a:xfrm>
            <a:custGeom>
              <a:avLst/>
              <a:gdLst/>
              <a:ahLst/>
              <a:cxnLst/>
              <a:rect l="l" t="t" r="r" b="b"/>
              <a:pathLst>
                <a:path w="479425" h="78104">
                  <a:moveTo>
                    <a:pt x="401574" y="0"/>
                  </a:moveTo>
                  <a:lnTo>
                    <a:pt x="401574" y="77724"/>
                  </a:lnTo>
                  <a:lnTo>
                    <a:pt x="453389" y="51816"/>
                  </a:lnTo>
                  <a:lnTo>
                    <a:pt x="414527" y="51816"/>
                  </a:lnTo>
                  <a:lnTo>
                    <a:pt x="414527" y="25908"/>
                  </a:lnTo>
                  <a:lnTo>
                    <a:pt x="453390" y="25908"/>
                  </a:lnTo>
                  <a:lnTo>
                    <a:pt x="401574" y="0"/>
                  </a:lnTo>
                  <a:close/>
                </a:path>
                <a:path w="479425" h="78104">
                  <a:moveTo>
                    <a:pt x="401574" y="25908"/>
                  </a:moveTo>
                  <a:lnTo>
                    <a:pt x="0" y="25908"/>
                  </a:lnTo>
                  <a:lnTo>
                    <a:pt x="0" y="51816"/>
                  </a:lnTo>
                  <a:lnTo>
                    <a:pt x="401574" y="51816"/>
                  </a:lnTo>
                  <a:lnTo>
                    <a:pt x="401574" y="25908"/>
                  </a:lnTo>
                  <a:close/>
                </a:path>
                <a:path w="479425" h="78104">
                  <a:moveTo>
                    <a:pt x="453390" y="25908"/>
                  </a:moveTo>
                  <a:lnTo>
                    <a:pt x="414527" y="25908"/>
                  </a:lnTo>
                  <a:lnTo>
                    <a:pt x="414527" y="51816"/>
                  </a:lnTo>
                  <a:lnTo>
                    <a:pt x="453389" y="51816"/>
                  </a:lnTo>
                  <a:lnTo>
                    <a:pt x="479297" y="38862"/>
                  </a:lnTo>
                  <a:lnTo>
                    <a:pt x="453390" y="25908"/>
                  </a:lnTo>
                  <a:close/>
                </a:path>
              </a:pathLst>
            </a:custGeom>
            <a:solidFill>
              <a:srgbClr val="6E85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23175" y="4735576"/>
              <a:ext cx="542065" cy="13461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757422" y="4744212"/>
              <a:ext cx="479425" cy="78105"/>
            </a:xfrm>
            <a:custGeom>
              <a:avLst/>
              <a:gdLst/>
              <a:ahLst/>
              <a:cxnLst/>
              <a:rect l="l" t="t" r="r" b="b"/>
              <a:pathLst>
                <a:path w="479425" h="78104">
                  <a:moveTo>
                    <a:pt x="401574" y="0"/>
                  </a:moveTo>
                  <a:lnTo>
                    <a:pt x="401574" y="77724"/>
                  </a:lnTo>
                  <a:lnTo>
                    <a:pt x="453390" y="51815"/>
                  </a:lnTo>
                  <a:lnTo>
                    <a:pt x="414527" y="51815"/>
                  </a:lnTo>
                  <a:lnTo>
                    <a:pt x="414527" y="25907"/>
                  </a:lnTo>
                  <a:lnTo>
                    <a:pt x="453389" y="25907"/>
                  </a:lnTo>
                  <a:lnTo>
                    <a:pt x="401574" y="0"/>
                  </a:lnTo>
                  <a:close/>
                </a:path>
                <a:path w="479425" h="78104">
                  <a:moveTo>
                    <a:pt x="401574" y="25907"/>
                  </a:moveTo>
                  <a:lnTo>
                    <a:pt x="0" y="25907"/>
                  </a:lnTo>
                  <a:lnTo>
                    <a:pt x="0" y="51815"/>
                  </a:lnTo>
                  <a:lnTo>
                    <a:pt x="401574" y="51815"/>
                  </a:lnTo>
                  <a:lnTo>
                    <a:pt x="401574" y="25907"/>
                  </a:lnTo>
                  <a:close/>
                </a:path>
                <a:path w="479425" h="78104">
                  <a:moveTo>
                    <a:pt x="453389" y="25907"/>
                  </a:moveTo>
                  <a:lnTo>
                    <a:pt x="414527" y="25907"/>
                  </a:lnTo>
                  <a:lnTo>
                    <a:pt x="414527" y="51815"/>
                  </a:lnTo>
                  <a:lnTo>
                    <a:pt x="453390" y="51815"/>
                  </a:lnTo>
                  <a:lnTo>
                    <a:pt x="479298" y="38862"/>
                  </a:lnTo>
                  <a:lnTo>
                    <a:pt x="453389" y="25907"/>
                  </a:lnTo>
                  <a:close/>
                </a:path>
              </a:pathLst>
            </a:custGeom>
            <a:solidFill>
              <a:srgbClr val="6E85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17079" y="3749548"/>
              <a:ext cx="542065" cy="13461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751325" y="3758184"/>
              <a:ext cx="479425" cy="78105"/>
            </a:xfrm>
            <a:custGeom>
              <a:avLst/>
              <a:gdLst/>
              <a:ahLst/>
              <a:cxnLst/>
              <a:rect l="l" t="t" r="r" b="b"/>
              <a:pathLst>
                <a:path w="479425" h="78104">
                  <a:moveTo>
                    <a:pt x="401574" y="0"/>
                  </a:moveTo>
                  <a:lnTo>
                    <a:pt x="401574" y="77724"/>
                  </a:lnTo>
                  <a:lnTo>
                    <a:pt x="453389" y="51816"/>
                  </a:lnTo>
                  <a:lnTo>
                    <a:pt x="414527" y="51816"/>
                  </a:lnTo>
                  <a:lnTo>
                    <a:pt x="414527" y="25908"/>
                  </a:lnTo>
                  <a:lnTo>
                    <a:pt x="453390" y="25908"/>
                  </a:lnTo>
                  <a:lnTo>
                    <a:pt x="401574" y="0"/>
                  </a:lnTo>
                  <a:close/>
                </a:path>
                <a:path w="479425" h="78104">
                  <a:moveTo>
                    <a:pt x="401574" y="25908"/>
                  </a:moveTo>
                  <a:lnTo>
                    <a:pt x="0" y="25908"/>
                  </a:lnTo>
                  <a:lnTo>
                    <a:pt x="0" y="51816"/>
                  </a:lnTo>
                  <a:lnTo>
                    <a:pt x="401574" y="51816"/>
                  </a:lnTo>
                  <a:lnTo>
                    <a:pt x="401574" y="25908"/>
                  </a:lnTo>
                  <a:close/>
                </a:path>
                <a:path w="479425" h="78104">
                  <a:moveTo>
                    <a:pt x="453390" y="25908"/>
                  </a:moveTo>
                  <a:lnTo>
                    <a:pt x="414527" y="25908"/>
                  </a:lnTo>
                  <a:lnTo>
                    <a:pt x="414527" y="51816"/>
                  </a:lnTo>
                  <a:lnTo>
                    <a:pt x="453389" y="51816"/>
                  </a:lnTo>
                  <a:lnTo>
                    <a:pt x="479298" y="38862"/>
                  </a:lnTo>
                  <a:lnTo>
                    <a:pt x="453390" y="25908"/>
                  </a:lnTo>
                  <a:close/>
                </a:path>
              </a:pathLst>
            </a:custGeom>
            <a:solidFill>
              <a:srgbClr val="6E85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40779" y="4727956"/>
              <a:ext cx="542065" cy="13461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875025" y="4736592"/>
              <a:ext cx="479425" cy="78105"/>
            </a:xfrm>
            <a:custGeom>
              <a:avLst/>
              <a:gdLst/>
              <a:ahLst/>
              <a:cxnLst/>
              <a:rect l="l" t="t" r="r" b="b"/>
              <a:pathLst>
                <a:path w="479425" h="78104">
                  <a:moveTo>
                    <a:pt x="401574" y="0"/>
                  </a:moveTo>
                  <a:lnTo>
                    <a:pt x="401574" y="77723"/>
                  </a:lnTo>
                  <a:lnTo>
                    <a:pt x="453390" y="51815"/>
                  </a:lnTo>
                  <a:lnTo>
                    <a:pt x="414527" y="51815"/>
                  </a:lnTo>
                  <a:lnTo>
                    <a:pt x="414527" y="25907"/>
                  </a:lnTo>
                  <a:lnTo>
                    <a:pt x="453389" y="25907"/>
                  </a:lnTo>
                  <a:lnTo>
                    <a:pt x="401574" y="0"/>
                  </a:lnTo>
                  <a:close/>
                </a:path>
                <a:path w="479425" h="78104">
                  <a:moveTo>
                    <a:pt x="401574" y="25907"/>
                  </a:moveTo>
                  <a:lnTo>
                    <a:pt x="0" y="25907"/>
                  </a:lnTo>
                  <a:lnTo>
                    <a:pt x="0" y="51815"/>
                  </a:lnTo>
                  <a:lnTo>
                    <a:pt x="401574" y="51815"/>
                  </a:lnTo>
                  <a:lnTo>
                    <a:pt x="401574" y="25907"/>
                  </a:lnTo>
                  <a:close/>
                </a:path>
                <a:path w="479425" h="78104">
                  <a:moveTo>
                    <a:pt x="453389" y="25907"/>
                  </a:moveTo>
                  <a:lnTo>
                    <a:pt x="414527" y="25907"/>
                  </a:lnTo>
                  <a:lnTo>
                    <a:pt x="414527" y="51815"/>
                  </a:lnTo>
                  <a:lnTo>
                    <a:pt x="453390" y="51815"/>
                  </a:lnTo>
                  <a:lnTo>
                    <a:pt x="479298" y="38861"/>
                  </a:lnTo>
                  <a:lnTo>
                    <a:pt x="453389" y="25907"/>
                  </a:lnTo>
                  <a:close/>
                </a:path>
              </a:pathLst>
            </a:custGeom>
            <a:solidFill>
              <a:srgbClr val="6E85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34683" y="3741928"/>
              <a:ext cx="542065" cy="13461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868929" y="3750564"/>
              <a:ext cx="479425" cy="78105"/>
            </a:xfrm>
            <a:custGeom>
              <a:avLst/>
              <a:gdLst/>
              <a:ahLst/>
              <a:cxnLst/>
              <a:rect l="l" t="t" r="r" b="b"/>
              <a:pathLst>
                <a:path w="479425" h="78104">
                  <a:moveTo>
                    <a:pt x="401573" y="0"/>
                  </a:moveTo>
                  <a:lnTo>
                    <a:pt x="401573" y="77724"/>
                  </a:lnTo>
                  <a:lnTo>
                    <a:pt x="453389" y="51816"/>
                  </a:lnTo>
                  <a:lnTo>
                    <a:pt x="414528" y="51816"/>
                  </a:lnTo>
                  <a:lnTo>
                    <a:pt x="414528" y="25908"/>
                  </a:lnTo>
                  <a:lnTo>
                    <a:pt x="453390" y="25908"/>
                  </a:lnTo>
                  <a:lnTo>
                    <a:pt x="401573" y="0"/>
                  </a:lnTo>
                  <a:close/>
                </a:path>
                <a:path w="479425" h="78104">
                  <a:moveTo>
                    <a:pt x="401573" y="25908"/>
                  </a:moveTo>
                  <a:lnTo>
                    <a:pt x="0" y="25908"/>
                  </a:lnTo>
                  <a:lnTo>
                    <a:pt x="0" y="51816"/>
                  </a:lnTo>
                  <a:lnTo>
                    <a:pt x="401573" y="51816"/>
                  </a:lnTo>
                  <a:lnTo>
                    <a:pt x="401573" y="25908"/>
                  </a:lnTo>
                  <a:close/>
                </a:path>
                <a:path w="479425" h="78104">
                  <a:moveTo>
                    <a:pt x="453390" y="25908"/>
                  </a:moveTo>
                  <a:lnTo>
                    <a:pt x="414528" y="25908"/>
                  </a:lnTo>
                  <a:lnTo>
                    <a:pt x="414528" y="51816"/>
                  </a:lnTo>
                  <a:lnTo>
                    <a:pt x="453389" y="51816"/>
                  </a:lnTo>
                  <a:lnTo>
                    <a:pt x="479297" y="38862"/>
                  </a:lnTo>
                  <a:lnTo>
                    <a:pt x="453390" y="25908"/>
                  </a:lnTo>
                  <a:close/>
                </a:path>
              </a:pathLst>
            </a:custGeom>
            <a:solidFill>
              <a:srgbClr val="6E85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5067" y="5437656"/>
              <a:ext cx="804672" cy="56840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8511" y="5433060"/>
              <a:ext cx="510540" cy="56540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963167" y="5452872"/>
              <a:ext cx="728980" cy="492759"/>
            </a:xfrm>
            <a:custGeom>
              <a:avLst/>
              <a:gdLst/>
              <a:ahLst/>
              <a:cxnLst/>
              <a:rect l="l" t="t" r="r" b="b"/>
              <a:pathLst>
                <a:path w="728980" h="492760">
                  <a:moveTo>
                    <a:pt x="646429" y="0"/>
                  </a:moveTo>
                  <a:lnTo>
                    <a:pt x="82041" y="0"/>
                  </a:lnTo>
                  <a:lnTo>
                    <a:pt x="50106" y="6443"/>
                  </a:lnTo>
                  <a:lnTo>
                    <a:pt x="24028" y="24018"/>
                  </a:lnTo>
                  <a:lnTo>
                    <a:pt x="6446" y="50095"/>
                  </a:lnTo>
                  <a:lnTo>
                    <a:pt x="0" y="82041"/>
                  </a:lnTo>
                  <a:lnTo>
                    <a:pt x="0" y="410209"/>
                  </a:lnTo>
                  <a:lnTo>
                    <a:pt x="6446" y="442145"/>
                  </a:lnTo>
                  <a:lnTo>
                    <a:pt x="24028" y="468223"/>
                  </a:lnTo>
                  <a:lnTo>
                    <a:pt x="50106" y="485805"/>
                  </a:lnTo>
                  <a:lnTo>
                    <a:pt x="82041" y="492251"/>
                  </a:lnTo>
                  <a:lnTo>
                    <a:pt x="646429" y="492251"/>
                  </a:lnTo>
                  <a:lnTo>
                    <a:pt x="678376" y="485805"/>
                  </a:lnTo>
                  <a:lnTo>
                    <a:pt x="704453" y="468223"/>
                  </a:lnTo>
                  <a:lnTo>
                    <a:pt x="722028" y="442145"/>
                  </a:lnTo>
                  <a:lnTo>
                    <a:pt x="728471" y="410209"/>
                  </a:lnTo>
                  <a:lnTo>
                    <a:pt x="728471" y="82041"/>
                  </a:lnTo>
                  <a:lnTo>
                    <a:pt x="722028" y="50095"/>
                  </a:lnTo>
                  <a:lnTo>
                    <a:pt x="704453" y="24018"/>
                  </a:lnTo>
                  <a:lnTo>
                    <a:pt x="678376" y="6443"/>
                  </a:lnTo>
                  <a:lnTo>
                    <a:pt x="646429" y="0"/>
                  </a:lnTo>
                  <a:close/>
                </a:path>
              </a:pathLst>
            </a:custGeom>
            <a:solidFill>
              <a:srgbClr val="F4C9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63167" y="5452872"/>
              <a:ext cx="728980" cy="492759"/>
            </a:xfrm>
            <a:custGeom>
              <a:avLst/>
              <a:gdLst/>
              <a:ahLst/>
              <a:cxnLst/>
              <a:rect l="l" t="t" r="r" b="b"/>
              <a:pathLst>
                <a:path w="728980" h="492760">
                  <a:moveTo>
                    <a:pt x="0" y="82041"/>
                  </a:moveTo>
                  <a:lnTo>
                    <a:pt x="6446" y="50095"/>
                  </a:lnTo>
                  <a:lnTo>
                    <a:pt x="24028" y="24018"/>
                  </a:lnTo>
                  <a:lnTo>
                    <a:pt x="50106" y="6443"/>
                  </a:lnTo>
                  <a:lnTo>
                    <a:pt x="82041" y="0"/>
                  </a:lnTo>
                  <a:lnTo>
                    <a:pt x="646429" y="0"/>
                  </a:lnTo>
                  <a:lnTo>
                    <a:pt x="678376" y="6443"/>
                  </a:lnTo>
                  <a:lnTo>
                    <a:pt x="704453" y="24018"/>
                  </a:lnTo>
                  <a:lnTo>
                    <a:pt x="722028" y="50095"/>
                  </a:lnTo>
                  <a:lnTo>
                    <a:pt x="728471" y="82041"/>
                  </a:lnTo>
                  <a:lnTo>
                    <a:pt x="728471" y="410209"/>
                  </a:lnTo>
                  <a:lnTo>
                    <a:pt x="722028" y="442145"/>
                  </a:lnTo>
                  <a:lnTo>
                    <a:pt x="704453" y="468223"/>
                  </a:lnTo>
                  <a:lnTo>
                    <a:pt x="678376" y="485805"/>
                  </a:lnTo>
                  <a:lnTo>
                    <a:pt x="646429" y="492251"/>
                  </a:lnTo>
                  <a:lnTo>
                    <a:pt x="82041" y="492251"/>
                  </a:lnTo>
                  <a:lnTo>
                    <a:pt x="50106" y="485805"/>
                  </a:lnTo>
                  <a:lnTo>
                    <a:pt x="24028" y="468223"/>
                  </a:lnTo>
                  <a:lnTo>
                    <a:pt x="6446" y="442145"/>
                  </a:lnTo>
                  <a:lnTo>
                    <a:pt x="0" y="410209"/>
                  </a:lnTo>
                  <a:lnTo>
                    <a:pt x="0" y="82041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215034" y="5496255"/>
            <a:ext cx="144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718FA4"/>
                </a:solidFill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33880" y="562884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718FA4"/>
                </a:solidFill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22019" y="4335779"/>
            <a:ext cx="809625" cy="940435"/>
            <a:chOff x="922019" y="4335779"/>
            <a:chExt cx="809625" cy="940435"/>
          </a:xfrm>
        </p:grpSpPr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2019" y="4335779"/>
              <a:ext cx="809244" cy="94030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77467" y="4373879"/>
              <a:ext cx="565404" cy="86563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969263" y="4360163"/>
              <a:ext cx="715010" cy="845819"/>
            </a:xfrm>
            <a:custGeom>
              <a:avLst/>
              <a:gdLst/>
              <a:ahLst/>
              <a:cxnLst/>
              <a:rect l="l" t="t" r="r" b="b"/>
              <a:pathLst>
                <a:path w="715010" h="845820">
                  <a:moveTo>
                    <a:pt x="595630" y="0"/>
                  </a:moveTo>
                  <a:lnTo>
                    <a:pt x="119126" y="0"/>
                  </a:lnTo>
                  <a:lnTo>
                    <a:pt x="72759" y="9362"/>
                  </a:lnTo>
                  <a:lnTo>
                    <a:pt x="34893" y="34893"/>
                  </a:lnTo>
                  <a:lnTo>
                    <a:pt x="9362" y="72759"/>
                  </a:lnTo>
                  <a:lnTo>
                    <a:pt x="0" y="119125"/>
                  </a:lnTo>
                  <a:lnTo>
                    <a:pt x="0" y="726694"/>
                  </a:lnTo>
                  <a:lnTo>
                    <a:pt x="9362" y="773060"/>
                  </a:lnTo>
                  <a:lnTo>
                    <a:pt x="34893" y="810926"/>
                  </a:lnTo>
                  <a:lnTo>
                    <a:pt x="72759" y="836457"/>
                  </a:lnTo>
                  <a:lnTo>
                    <a:pt x="119126" y="845819"/>
                  </a:lnTo>
                  <a:lnTo>
                    <a:pt x="595630" y="845819"/>
                  </a:lnTo>
                  <a:lnTo>
                    <a:pt x="641996" y="836457"/>
                  </a:lnTo>
                  <a:lnTo>
                    <a:pt x="679862" y="810926"/>
                  </a:lnTo>
                  <a:lnTo>
                    <a:pt x="705393" y="773060"/>
                  </a:lnTo>
                  <a:lnTo>
                    <a:pt x="714756" y="726694"/>
                  </a:lnTo>
                  <a:lnTo>
                    <a:pt x="714756" y="119125"/>
                  </a:lnTo>
                  <a:lnTo>
                    <a:pt x="705393" y="72759"/>
                  </a:lnTo>
                  <a:lnTo>
                    <a:pt x="679862" y="34893"/>
                  </a:lnTo>
                  <a:lnTo>
                    <a:pt x="641996" y="9362"/>
                  </a:lnTo>
                  <a:lnTo>
                    <a:pt x="595630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69263" y="4360163"/>
              <a:ext cx="715010" cy="845819"/>
            </a:xfrm>
            <a:custGeom>
              <a:avLst/>
              <a:gdLst/>
              <a:ahLst/>
              <a:cxnLst/>
              <a:rect l="l" t="t" r="r" b="b"/>
              <a:pathLst>
                <a:path w="715010" h="845820">
                  <a:moveTo>
                    <a:pt x="0" y="119125"/>
                  </a:moveTo>
                  <a:lnTo>
                    <a:pt x="9362" y="72759"/>
                  </a:lnTo>
                  <a:lnTo>
                    <a:pt x="34893" y="34893"/>
                  </a:lnTo>
                  <a:lnTo>
                    <a:pt x="72759" y="9362"/>
                  </a:lnTo>
                  <a:lnTo>
                    <a:pt x="119126" y="0"/>
                  </a:lnTo>
                  <a:lnTo>
                    <a:pt x="595630" y="0"/>
                  </a:lnTo>
                  <a:lnTo>
                    <a:pt x="641996" y="9362"/>
                  </a:lnTo>
                  <a:lnTo>
                    <a:pt x="679862" y="34893"/>
                  </a:lnTo>
                  <a:lnTo>
                    <a:pt x="705393" y="72759"/>
                  </a:lnTo>
                  <a:lnTo>
                    <a:pt x="714756" y="119125"/>
                  </a:lnTo>
                  <a:lnTo>
                    <a:pt x="714756" y="726694"/>
                  </a:lnTo>
                  <a:lnTo>
                    <a:pt x="705393" y="773060"/>
                  </a:lnTo>
                  <a:lnTo>
                    <a:pt x="679862" y="810926"/>
                  </a:lnTo>
                  <a:lnTo>
                    <a:pt x="641996" y="836457"/>
                  </a:lnTo>
                  <a:lnTo>
                    <a:pt x="595630" y="845819"/>
                  </a:lnTo>
                  <a:lnTo>
                    <a:pt x="119126" y="845819"/>
                  </a:lnTo>
                  <a:lnTo>
                    <a:pt x="72759" y="836457"/>
                  </a:lnTo>
                  <a:lnTo>
                    <a:pt x="34893" y="810926"/>
                  </a:lnTo>
                  <a:lnTo>
                    <a:pt x="9362" y="773060"/>
                  </a:lnTo>
                  <a:lnTo>
                    <a:pt x="0" y="726694"/>
                  </a:lnTo>
                  <a:lnTo>
                    <a:pt x="0" y="119125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218590" y="4517518"/>
            <a:ext cx="254635" cy="5327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0" dirty="0">
                <a:solidFill>
                  <a:srgbClr val="718FA4"/>
                </a:solidFill>
                <a:latin typeface="Calibri"/>
                <a:cs typeface="Calibri"/>
              </a:rPr>
              <a:t>LSTM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915924" y="1656588"/>
            <a:ext cx="820419" cy="3860800"/>
            <a:chOff x="915924" y="1656588"/>
            <a:chExt cx="820419" cy="3860800"/>
          </a:xfrm>
        </p:grpSpPr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07008" y="5105400"/>
              <a:ext cx="242315" cy="41148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89304" y="5206746"/>
              <a:ext cx="77724" cy="24739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1164" y="1662660"/>
              <a:ext cx="804671" cy="565451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59180" y="1656588"/>
              <a:ext cx="502919" cy="565403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969264" y="1677924"/>
              <a:ext cx="728980" cy="489584"/>
            </a:xfrm>
            <a:custGeom>
              <a:avLst/>
              <a:gdLst/>
              <a:ahLst/>
              <a:cxnLst/>
              <a:rect l="l" t="t" r="r" b="b"/>
              <a:pathLst>
                <a:path w="728980" h="489585">
                  <a:moveTo>
                    <a:pt x="646938" y="0"/>
                  </a:moveTo>
                  <a:lnTo>
                    <a:pt x="81534" y="0"/>
                  </a:lnTo>
                  <a:lnTo>
                    <a:pt x="49795" y="6399"/>
                  </a:lnTo>
                  <a:lnTo>
                    <a:pt x="23879" y="23860"/>
                  </a:lnTo>
                  <a:lnTo>
                    <a:pt x="6406" y="49774"/>
                  </a:lnTo>
                  <a:lnTo>
                    <a:pt x="0" y="81534"/>
                  </a:lnTo>
                  <a:lnTo>
                    <a:pt x="0" y="407670"/>
                  </a:lnTo>
                  <a:lnTo>
                    <a:pt x="6406" y="439429"/>
                  </a:lnTo>
                  <a:lnTo>
                    <a:pt x="23879" y="465343"/>
                  </a:lnTo>
                  <a:lnTo>
                    <a:pt x="49795" y="482804"/>
                  </a:lnTo>
                  <a:lnTo>
                    <a:pt x="81534" y="489203"/>
                  </a:lnTo>
                  <a:lnTo>
                    <a:pt x="646938" y="489203"/>
                  </a:lnTo>
                  <a:lnTo>
                    <a:pt x="678697" y="482804"/>
                  </a:lnTo>
                  <a:lnTo>
                    <a:pt x="704611" y="465343"/>
                  </a:lnTo>
                  <a:lnTo>
                    <a:pt x="722072" y="439429"/>
                  </a:lnTo>
                  <a:lnTo>
                    <a:pt x="728472" y="407670"/>
                  </a:lnTo>
                  <a:lnTo>
                    <a:pt x="728472" y="81534"/>
                  </a:lnTo>
                  <a:lnTo>
                    <a:pt x="722072" y="49774"/>
                  </a:lnTo>
                  <a:lnTo>
                    <a:pt x="704611" y="23860"/>
                  </a:lnTo>
                  <a:lnTo>
                    <a:pt x="678697" y="6399"/>
                  </a:lnTo>
                  <a:lnTo>
                    <a:pt x="646938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69264" y="1677924"/>
              <a:ext cx="728980" cy="489584"/>
            </a:xfrm>
            <a:custGeom>
              <a:avLst/>
              <a:gdLst/>
              <a:ahLst/>
              <a:cxnLst/>
              <a:rect l="l" t="t" r="r" b="b"/>
              <a:pathLst>
                <a:path w="728980" h="489585">
                  <a:moveTo>
                    <a:pt x="0" y="81534"/>
                  </a:moveTo>
                  <a:lnTo>
                    <a:pt x="6406" y="49774"/>
                  </a:lnTo>
                  <a:lnTo>
                    <a:pt x="23879" y="23860"/>
                  </a:lnTo>
                  <a:lnTo>
                    <a:pt x="49795" y="6399"/>
                  </a:lnTo>
                  <a:lnTo>
                    <a:pt x="81534" y="0"/>
                  </a:lnTo>
                  <a:lnTo>
                    <a:pt x="646938" y="0"/>
                  </a:lnTo>
                  <a:lnTo>
                    <a:pt x="678697" y="6399"/>
                  </a:lnTo>
                  <a:lnTo>
                    <a:pt x="704611" y="23860"/>
                  </a:lnTo>
                  <a:lnTo>
                    <a:pt x="722072" y="49774"/>
                  </a:lnTo>
                  <a:lnTo>
                    <a:pt x="728472" y="81534"/>
                  </a:lnTo>
                  <a:lnTo>
                    <a:pt x="728472" y="407670"/>
                  </a:lnTo>
                  <a:lnTo>
                    <a:pt x="722072" y="439429"/>
                  </a:lnTo>
                  <a:lnTo>
                    <a:pt x="704611" y="465343"/>
                  </a:lnTo>
                  <a:lnTo>
                    <a:pt x="678697" y="482804"/>
                  </a:lnTo>
                  <a:lnTo>
                    <a:pt x="646938" y="489203"/>
                  </a:lnTo>
                  <a:lnTo>
                    <a:pt x="81534" y="489203"/>
                  </a:lnTo>
                  <a:lnTo>
                    <a:pt x="49795" y="482804"/>
                  </a:lnTo>
                  <a:lnTo>
                    <a:pt x="23879" y="465343"/>
                  </a:lnTo>
                  <a:lnTo>
                    <a:pt x="6406" y="439429"/>
                  </a:lnTo>
                  <a:lnTo>
                    <a:pt x="0" y="407670"/>
                  </a:lnTo>
                  <a:lnTo>
                    <a:pt x="0" y="8153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13104" y="2066544"/>
              <a:ext cx="242315" cy="41452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95400" y="2167890"/>
              <a:ext cx="77724" cy="25044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5924" y="3349752"/>
              <a:ext cx="809244" cy="94030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69848" y="3387852"/>
              <a:ext cx="565404" cy="865632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963168" y="3374136"/>
              <a:ext cx="715010" cy="845819"/>
            </a:xfrm>
            <a:custGeom>
              <a:avLst/>
              <a:gdLst/>
              <a:ahLst/>
              <a:cxnLst/>
              <a:rect l="l" t="t" r="r" b="b"/>
              <a:pathLst>
                <a:path w="715010" h="845820">
                  <a:moveTo>
                    <a:pt x="595629" y="0"/>
                  </a:moveTo>
                  <a:lnTo>
                    <a:pt x="119125" y="0"/>
                  </a:lnTo>
                  <a:lnTo>
                    <a:pt x="72759" y="9362"/>
                  </a:lnTo>
                  <a:lnTo>
                    <a:pt x="34893" y="34893"/>
                  </a:lnTo>
                  <a:lnTo>
                    <a:pt x="9362" y="72759"/>
                  </a:lnTo>
                  <a:lnTo>
                    <a:pt x="0" y="119125"/>
                  </a:lnTo>
                  <a:lnTo>
                    <a:pt x="0" y="726694"/>
                  </a:lnTo>
                  <a:lnTo>
                    <a:pt x="9362" y="773060"/>
                  </a:lnTo>
                  <a:lnTo>
                    <a:pt x="34893" y="810926"/>
                  </a:lnTo>
                  <a:lnTo>
                    <a:pt x="72759" y="836457"/>
                  </a:lnTo>
                  <a:lnTo>
                    <a:pt x="119125" y="845819"/>
                  </a:lnTo>
                  <a:lnTo>
                    <a:pt x="595629" y="845819"/>
                  </a:lnTo>
                  <a:lnTo>
                    <a:pt x="641996" y="836457"/>
                  </a:lnTo>
                  <a:lnTo>
                    <a:pt x="679862" y="810926"/>
                  </a:lnTo>
                  <a:lnTo>
                    <a:pt x="705393" y="773060"/>
                  </a:lnTo>
                  <a:lnTo>
                    <a:pt x="714756" y="726694"/>
                  </a:lnTo>
                  <a:lnTo>
                    <a:pt x="714756" y="119125"/>
                  </a:lnTo>
                  <a:lnTo>
                    <a:pt x="705393" y="72759"/>
                  </a:lnTo>
                  <a:lnTo>
                    <a:pt x="679862" y="34893"/>
                  </a:lnTo>
                  <a:lnTo>
                    <a:pt x="641996" y="9362"/>
                  </a:lnTo>
                  <a:lnTo>
                    <a:pt x="595629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63168" y="3374136"/>
              <a:ext cx="715010" cy="845819"/>
            </a:xfrm>
            <a:custGeom>
              <a:avLst/>
              <a:gdLst/>
              <a:ahLst/>
              <a:cxnLst/>
              <a:rect l="l" t="t" r="r" b="b"/>
              <a:pathLst>
                <a:path w="715010" h="845820">
                  <a:moveTo>
                    <a:pt x="0" y="119125"/>
                  </a:moveTo>
                  <a:lnTo>
                    <a:pt x="9362" y="72759"/>
                  </a:lnTo>
                  <a:lnTo>
                    <a:pt x="34893" y="34893"/>
                  </a:lnTo>
                  <a:lnTo>
                    <a:pt x="72759" y="9362"/>
                  </a:lnTo>
                  <a:lnTo>
                    <a:pt x="119125" y="0"/>
                  </a:lnTo>
                  <a:lnTo>
                    <a:pt x="595629" y="0"/>
                  </a:lnTo>
                  <a:lnTo>
                    <a:pt x="641996" y="9362"/>
                  </a:lnTo>
                  <a:lnTo>
                    <a:pt x="679862" y="34893"/>
                  </a:lnTo>
                  <a:lnTo>
                    <a:pt x="705393" y="72759"/>
                  </a:lnTo>
                  <a:lnTo>
                    <a:pt x="714756" y="119125"/>
                  </a:lnTo>
                  <a:lnTo>
                    <a:pt x="714756" y="726694"/>
                  </a:lnTo>
                  <a:lnTo>
                    <a:pt x="705393" y="773060"/>
                  </a:lnTo>
                  <a:lnTo>
                    <a:pt x="679862" y="810926"/>
                  </a:lnTo>
                  <a:lnTo>
                    <a:pt x="641996" y="836457"/>
                  </a:lnTo>
                  <a:lnTo>
                    <a:pt x="595629" y="845819"/>
                  </a:lnTo>
                  <a:lnTo>
                    <a:pt x="119125" y="845819"/>
                  </a:lnTo>
                  <a:lnTo>
                    <a:pt x="72759" y="836457"/>
                  </a:lnTo>
                  <a:lnTo>
                    <a:pt x="34893" y="810926"/>
                  </a:lnTo>
                  <a:lnTo>
                    <a:pt x="9362" y="773060"/>
                  </a:lnTo>
                  <a:lnTo>
                    <a:pt x="0" y="726694"/>
                  </a:lnTo>
                  <a:lnTo>
                    <a:pt x="0" y="119125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1212087" y="3531683"/>
            <a:ext cx="254000" cy="5321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0" dirty="0">
                <a:solidFill>
                  <a:srgbClr val="718FA4"/>
                </a:solidFill>
                <a:latin typeface="Calibri"/>
                <a:cs typeface="Calibri"/>
              </a:rPr>
              <a:t>LSTM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922019" y="2392679"/>
            <a:ext cx="822960" cy="899160"/>
            <a:chOff x="922019" y="2392679"/>
            <a:chExt cx="822960" cy="899160"/>
          </a:xfrm>
        </p:grpSpPr>
        <p:pic>
          <p:nvPicPr>
            <p:cNvPr id="48" name="object 4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22019" y="2392679"/>
              <a:ext cx="822959" cy="89916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83563" y="2438399"/>
              <a:ext cx="565404" cy="809244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969263" y="2417063"/>
              <a:ext cx="728980" cy="805180"/>
            </a:xfrm>
            <a:custGeom>
              <a:avLst/>
              <a:gdLst/>
              <a:ahLst/>
              <a:cxnLst/>
              <a:rect l="l" t="t" r="r" b="b"/>
              <a:pathLst>
                <a:path w="728980" h="805180">
                  <a:moveTo>
                    <a:pt x="607060" y="0"/>
                  </a:moveTo>
                  <a:lnTo>
                    <a:pt x="121412" y="0"/>
                  </a:lnTo>
                  <a:lnTo>
                    <a:pt x="74152" y="9540"/>
                  </a:lnTo>
                  <a:lnTo>
                    <a:pt x="35559" y="35560"/>
                  </a:lnTo>
                  <a:lnTo>
                    <a:pt x="9540" y="74152"/>
                  </a:lnTo>
                  <a:lnTo>
                    <a:pt x="0" y="121412"/>
                  </a:lnTo>
                  <a:lnTo>
                    <a:pt x="0" y="683260"/>
                  </a:lnTo>
                  <a:lnTo>
                    <a:pt x="9540" y="730519"/>
                  </a:lnTo>
                  <a:lnTo>
                    <a:pt x="35559" y="769112"/>
                  </a:lnTo>
                  <a:lnTo>
                    <a:pt x="74152" y="795131"/>
                  </a:lnTo>
                  <a:lnTo>
                    <a:pt x="121412" y="804672"/>
                  </a:lnTo>
                  <a:lnTo>
                    <a:pt x="607060" y="804672"/>
                  </a:lnTo>
                  <a:lnTo>
                    <a:pt x="654319" y="795131"/>
                  </a:lnTo>
                  <a:lnTo>
                    <a:pt x="692912" y="769112"/>
                  </a:lnTo>
                  <a:lnTo>
                    <a:pt x="718931" y="730519"/>
                  </a:lnTo>
                  <a:lnTo>
                    <a:pt x="728472" y="683260"/>
                  </a:lnTo>
                  <a:lnTo>
                    <a:pt x="728472" y="121412"/>
                  </a:lnTo>
                  <a:lnTo>
                    <a:pt x="718931" y="74152"/>
                  </a:lnTo>
                  <a:lnTo>
                    <a:pt x="692912" y="35560"/>
                  </a:lnTo>
                  <a:lnTo>
                    <a:pt x="654319" y="9540"/>
                  </a:lnTo>
                  <a:lnTo>
                    <a:pt x="607060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69263" y="2417063"/>
              <a:ext cx="728980" cy="805180"/>
            </a:xfrm>
            <a:custGeom>
              <a:avLst/>
              <a:gdLst/>
              <a:ahLst/>
              <a:cxnLst/>
              <a:rect l="l" t="t" r="r" b="b"/>
              <a:pathLst>
                <a:path w="728980" h="805180">
                  <a:moveTo>
                    <a:pt x="0" y="121412"/>
                  </a:moveTo>
                  <a:lnTo>
                    <a:pt x="9540" y="74152"/>
                  </a:lnTo>
                  <a:lnTo>
                    <a:pt x="35559" y="35560"/>
                  </a:lnTo>
                  <a:lnTo>
                    <a:pt x="74152" y="9540"/>
                  </a:lnTo>
                  <a:lnTo>
                    <a:pt x="121412" y="0"/>
                  </a:lnTo>
                  <a:lnTo>
                    <a:pt x="607060" y="0"/>
                  </a:lnTo>
                  <a:lnTo>
                    <a:pt x="654319" y="9540"/>
                  </a:lnTo>
                  <a:lnTo>
                    <a:pt x="692912" y="35560"/>
                  </a:lnTo>
                  <a:lnTo>
                    <a:pt x="718931" y="74152"/>
                  </a:lnTo>
                  <a:lnTo>
                    <a:pt x="728472" y="121412"/>
                  </a:lnTo>
                  <a:lnTo>
                    <a:pt x="728472" y="683260"/>
                  </a:lnTo>
                  <a:lnTo>
                    <a:pt x="718931" y="730519"/>
                  </a:lnTo>
                  <a:lnTo>
                    <a:pt x="692912" y="769112"/>
                  </a:lnTo>
                  <a:lnTo>
                    <a:pt x="654319" y="795131"/>
                  </a:lnTo>
                  <a:lnTo>
                    <a:pt x="607060" y="804672"/>
                  </a:lnTo>
                  <a:lnTo>
                    <a:pt x="121412" y="804672"/>
                  </a:lnTo>
                  <a:lnTo>
                    <a:pt x="74152" y="795131"/>
                  </a:lnTo>
                  <a:lnTo>
                    <a:pt x="35559" y="769112"/>
                  </a:lnTo>
                  <a:lnTo>
                    <a:pt x="9540" y="730519"/>
                  </a:lnTo>
                  <a:lnTo>
                    <a:pt x="0" y="683260"/>
                  </a:lnTo>
                  <a:lnTo>
                    <a:pt x="0" y="121412"/>
                  </a:lnTo>
                  <a:close/>
                </a:path>
              </a:pathLst>
            </a:custGeom>
            <a:ln w="9143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1225803" y="2583695"/>
            <a:ext cx="254000" cy="4743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0" dirty="0">
                <a:solidFill>
                  <a:srgbClr val="718FA4"/>
                </a:solidFill>
                <a:latin typeface="Calibri"/>
                <a:cs typeface="Calibri"/>
              </a:rPr>
              <a:t>ReLu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1199388" y="3121151"/>
            <a:ext cx="1716405" cy="2885440"/>
            <a:chOff x="1199388" y="3121151"/>
            <a:chExt cx="1716405" cy="2885440"/>
          </a:xfrm>
        </p:grpSpPr>
        <p:pic>
          <p:nvPicPr>
            <p:cNvPr id="54" name="object 5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99388" y="4119371"/>
              <a:ext cx="242315" cy="3048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85494" y="4220717"/>
              <a:ext cx="77597" cy="141477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13104" y="3121151"/>
              <a:ext cx="242315" cy="3048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299210" y="3222497"/>
              <a:ext cx="77597" cy="141477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10740" y="5437655"/>
              <a:ext cx="804671" cy="56840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234184" y="5433059"/>
              <a:ext cx="510540" cy="565404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2148840" y="5452872"/>
              <a:ext cx="728980" cy="492759"/>
            </a:xfrm>
            <a:custGeom>
              <a:avLst/>
              <a:gdLst/>
              <a:ahLst/>
              <a:cxnLst/>
              <a:rect l="l" t="t" r="r" b="b"/>
              <a:pathLst>
                <a:path w="728980" h="492760">
                  <a:moveTo>
                    <a:pt x="646430" y="0"/>
                  </a:moveTo>
                  <a:lnTo>
                    <a:pt x="82042" y="0"/>
                  </a:lnTo>
                  <a:lnTo>
                    <a:pt x="50095" y="6443"/>
                  </a:lnTo>
                  <a:lnTo>
                    <a:pt x="24018" y="24018"/>
                  </a:lnTo>
                  <a:lnTo>
                    <a:pt x="6443" y="50095"/>
                  </a:lnTo>
                  <a:lnTo>
                    <a:pt x="0" y="82041"/>
                  </a:lnTo>
                  <a:lnTo>
                    <a:pt x="0" y="410209"/>
                  </a:lnTo>
                  <a:lnTo>
                    <a:pt x="6443" y="442145"/>
                  </a:lnTo>
                  <a:lnTo>
                    <a:pt x="24018" y="468223"/>
                  </a:lnTo>
                  <a:lnTo>
                    <a:pt x="50095" y="485805"/>
                  </a:lnTo>
                  <a:lnTo>
                    <a:pt x="82042" y="492251"/>
                  </a:lnTo>
                  <a:lnTo>
                    <a:pt x="646430" y="492251"/>
                  </a:lnTo>
                  <a:lnTo>
                    <a:pt x="678376" y="485805"/>
                  </a:lnTo>
                  <a:lnTo>
                    <a:pt x="704453" y="468223"/>
                  </a:lnTo>
                  <a:lnTo>
                    <a:pt x="722028" y="442145"/>
                  </a:lnTo>
                  <a:lnTo>
                    <a:pt x="728472" y="410209"/>
                  </a:lnTo>
                  <a:lnTo>
                    <a:pt x="728472" y="82041"/>
                  </a:lnTo>
                  <a:lnTo>
                    <a:pt x="722028" y="50095"/>
                  </a:lnTo>
                  <a:lnTo>
                    <a:pt x="704453" y="24018"/>
                  </a:lnTo>
                  <a:lnTo>
                    <a:pt x="678376" y="6443"/>
                  </a:lnTo>
                  <a:lnTo>
                    <a:pt x="646430" y="0"/>
                  </a:lnTo>
                  <a:close/>
                </a:path>
              </a:pathLst>
            </a:custGeom>
            <a:solidFill>
              <a:srgbClr val="F4C9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148840" y="5452872"/>
              <a:ext cx="728980" cy="492759"/>
            </a:xfrm>
            <a:custGeom>
              <a:avLst/>
              <a:gdLst/>
              <a:ahLst/>
              <a:cxnLst/>
              <a:rect l="l" t="t" r="r" b="b"/>
              <a:pathLst>
                <a:path w="728980" h="492760">
                  <a:moveTo>
                    <a:pt x="0" y="82041"/>
                  </a:moveTo>
                  <a:lnTo>
                    <a:pt x="6443" y="50095"/>
                  </a:lnTo>
                  <a:lnTo>
                    <a:pt x="24018" y="24018"/>
                  </a:lnTo>
                  <a:lnTo>
                    <a:pt x="50095" y="6443"/>
                  </a:lnTo>
                  <a:lnTo>
                    <a:pt x="82042" y="0"/>
                  </a:lnTo>
                  <a:lnTo>
                    <a:pt x="646430" y="0"/>
                  </a:lnTo>
                  <a:lnTo>
                    <a:pt x="678376" y="6443"/>
                  </a:lnTo>
                  <a:lnTo>
                    <a:pt x="704453" y="24018"/>
                  </a:lnTo>
                  <a:lnTo>
                    <a:pt x="722028" y="50095"/>
                  </a:lnTo>
                  <a:lnTo>
                    <a:pt x="728472" y="82041"/>
                  </a:lnTo>
                  <a:lnTo>
                    <a:pt x="728472" y="410209"/>
                  </a:lnTo>
                  <a:lnTo>
                    <a:pt x="722028" y="442145"/>
                  </a:lnTo>
                  <a:lnTo>
                    <a:pt x="704453" y="468223"/>
                  </a:lnTo>
                  <a:lnTo>
                    <a:pt x="678376" y="485805"/>
                  </a:lnTo>
                  <a:lnTo>
                    <a:pt x="646430" y="492251"/>
                  </a:lnTo>
                  <a:lnTo>
                    <a:pt x="82042" y="492251"/>
                  </a:lnTo>
                  <a:lnTo>
                    <a:pt x="50095" y="485805"/>
                  </a:lnTo>
                  <a:lnTo>
                    <a:pt x="24018" y="468223"/>
                  </a:lnTo>
                  <a:lnTo>
                    <a:pt x="6443" y="442145"/>
                  </a:lnTo>
                  <a:lnTo>
                    <a:pt x="0" y="410209"/>
                  </a:lnTo>
                  <a:lnTo>
                    <a:pt x="0" y="82041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2402204" y="5496255"/>
            <a:ext cx="144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718FA4"/>
                </a:solidFill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521076" y="562884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718FA4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2116835" y="4335779"/>
            <a:ext cx="807720" cy="940435"/>
            <a:chOff x="2116835" y="4335779"/>
            <a:chExt cx="807720" cy="940435"/>
          </a:xfrm>
        </p:grpSpPr>
        <p:pic>
          <p:nvPicPr>
            <p:cNvPr id="65" name="object 6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116835" y="4335779"/>
              <a:ext cx="807719" cy="940308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270759" y="4373879"/>
              <a:ext cx="565404" cy="865632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2164079" y="4360163"/>
              <a:ext cx="713740" cy="845819"/>
            </a:xfrm>
            <a:custGeom>
              <a:avLst/>
              <a:gdLst/>
              <a:ahLst/>
              <a:cxnLst/>
              <a:rect l="l" t="t" r="r" b="b"/>
              <a:pathLst>
                <a:path w="713739" h="845820">
                  <a:moveTo>
                    <a:pt x="594359" y="0"/>
                  </a:moveTo>
                  <a:lnTo>
                    <a:pt x="118871" y="0"/>
                  </a:lnTo>
                  <a:lnTo>
                    <a:pt x="72598" y="9340"/>
                  </a:lnTo>
                  <a:lnTo>
                    <a:pt x="34813" y="34813"/>
                  </a:lnTo>
                  <a:lnTo>
                    <a:pt x="9340" y="72598"/>
                  </a:lnTo>
                  <a:lnTo>
                    <a:pt x="0" y="118872"/>
                  </a:lnTo>
                  <a:lnTo>
                    <a:pt x="0" y="726948"/>
                  </a:lnTo>
                  <a:lnTo>
                    <a:pt x="9340" y="773221"/>
                  </a:lnTo>
                  <a:lnTo>
                    <a:pt x="34813" y="811006"/>
                  </a:lnTo>
                  <a:lnTo>
                    <a:pt x="72598" y="836479"/>
                  </a:lnTo>
                  <a:lnTo>
                    <a:pt x="118871" y="845819"/>
                  </a:lnTo>
                  <a:lnTo>
                    <a:pt x="594359" y="845819"/>
                  </a:lnTo>
                  <a:lnTo>
                    <a:pt x="640633" y="836479"/>
                  </a:lnTo>
                  <a:lnTo>
                    <a:pt x="678418" y="811006"/>
                  </a:lnTo>
                  <a:lnTo>
                    <a:pt x="703891" y="773221"/>
                  </a:lnTo>
                  <a:lnTo>
                    <a:pt x="713232" y="726948"/>
                  </a:lnTo>
                  <a:lnTo>
                    <a:pt x="713232" y="118872"/>
                  </a:lnTo>
                  <a:lnTo>
                    <a:pt x="703891" y="72598"/>
                  </a:lnTo>
                  <a:lnTo>
                    <a:pt x="678418" y="34813"/>
                  </a:lnTo>
                  <a:lnTo>
                    <a:pt x="640633" y="9340"/>
                  </a:lnTo>
                  <a:lnTo>
                    <a:pt x="594359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164079" y="4360163"/>
              <a:ext cx="713740" cy="845819"/>
            </a:xfrm>
            <a:custGeom>
              <a:avLst/>
              <a:gdLst/>
              <a:ahLst/>
              <a:cxnLst/>
              <a:rect l="l" t="t" r="r" b="b"/>
              <a:pathLst>
                <a:path w="713739" h="845820">
                  <a:moveTo>
                    <a:pt x="0" y="118872"/>
                  </a:moveTo>
                  <a:lnTo>
                    <a:pt x="9340" y="72598"/>
                  </a:lnTo>
                  <a:lnTo>
                    <a:pt x="34813" y="34813"/>
                  </a:lnTo>
                  <a:lnTo>
                    <a:pt x="72598" y="9340"/>
                  </a:lnTo>
                  <a:lnTo>
                    <a:pt x="118871" y="0"/>
                  </a:lnTo>
                  <a:lnTo>
                    <a:pt x="594359" y="0"/>
                  </a:lnTo>
                  <a:lnTo>
                    <a:pt x="640633" y="9340"/>
                  </a:lnTo>
                  <a:lnTo>
                    <a:pt x="678418" y="34813"/>
                  </a:lnTo>
                  <a:lnTo>
                    <a:pt x="703891" y="72598"/>
                  </a:lnTo>
                  <a:lnTo>
                    <a:pt x="713232" y="118872"/>
                  </a:lnTo>
                  <a:lnTo>
                    <a:pt x="713232" y="726948"/>
                  </a:lnTo>
                  <a:lnTo>
                    <a:pt x="703891" y="773221"/>
                  </a:lnTo>
                  <a:lnTo>
                    <a:pt x="678418" y="811006"/>
                  </a:lnTo>
                  <a:lnTo>
                    <a:pt x="640633" y="836479"/>
                  </a:lnTo>
                  <a:lnTo>
                    <a:pt x="594359" y="845819"/>
                  </a:lnTo>
                  <a:lnTo>
                    <a:pt x="118871" y="845819"/>
                  </a:lnTo>
                  <a:lnTo>
                    <a:pt x="72598" y="836479"/>
                  </a:lnTo>
                  <a:lnTo>
                    <a:pt x="34813" y="811006"/>
                  </a:lnTo>
                  <a:lnTo>
                    <a:pt x="9340" y="773221"/>
                  </a:lnTo>
                  <a:lnTo>
                    <a:pt x="0" y="726948"/>
                  </a:lnTo>
                  <a:lnTo>
                    <a:pt x="0" y="118872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2413000" y="4517965"/>
            <a:ext cx="254000" cy="5321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0" dirty="0">
                <a:solidFill>
                  <a:srgbClr val="718FA4"/>
                </a:solidFill>
                <a:latin typeface="Calibri"/>
                <a:cs typeface="Calibri"/>
              </a:rPr>
              <a:t>LSTM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2107692" y="1656588"/>
            <a:ext cx="810895" cy="3860800"/>
            <a:chOff x="2107692" y="1656588"/>
            <a:chExt cx="810895" cy="3860800"/>
          </a:xfrm>
        </p:grpSpPr>
        <p:pic>
          <p:nvPicPr>
            <p:cNvPr id="71" name="object 7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400300" y="5105400"/>
              <a:ext cx="240792" cy="41148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479675" y="5206746"/>
              <a:ext cx="77724" cy="247777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07692" y="1662660"/>
              <a:ext cx="804672" cy="565451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235708" y="1656588"/>
              <a:ext cx="502919" cy="565403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2145792" y="1677924"/>
              <a:ext cx="728980" cy="489584"/>
            </a:xfrm>
            <a:custGeom>
              <a:avLst/>
              <a:gdLst/>
              <a:ahLst/>
              <a:cxnLst/>
              <a:rect l="l" t="t" r="r" b="b"/>
              <a:pathLst>
                <a:path w="728980" h="489585">
                  <a:moveTo>
                    <a:pt x="646938" y="0"/>
                  </a:moveTo>
                  <a:lnTo>
                    <a:pt x="81533" y="0"/>
                  </a:lnTo>
                  <a:lnTo>
                    <a:pt x="49774" y="6399"/>
                  </a:lnTo>
                  <a:lnTo>
                    <a:pt x="23860" y="23860"/>
                  </a:lnTo>
                  <a:lnTo>
                    <a:pt x="6399" y="49774"/>
                  </a:lnTo>
                  <a:lnTo>
                    <a:pt x="0" y="81534"/>
                  </a:lnTo>
                  <a:lnTo>
                    <a:pt x="0" y="407670"/>
                  </a:lnTo>
                  <a:lnTo>
                    <a:pt x="6399" y="439429"/>
                  </a:lnTo>
                  <a:lnTo>
                    <a:pt x="23860" y="465343"/>
                  </a:lnTo>
                  <a:lnTo>
                    <a:pt x="49774" y="482804"/>
                  </a:lnTo>
                  <a:lnTo>
                    <a:pt x="81533" y="489203"/>
                  </a:lnTo>
                  <a:lnTo>
                    <a:pt x="646938" y="489203"/>
                  </a:lnTo>
                  <a:lnTo>
                    <a:pt x="678697" y="482804"/>
                  </a:lnTo>
                  <a:lnTo>
                    <a:pt x="704611" y="465343"/>
                  </a:lnTo>
                  <a:lnTo>
                    <a:pt x="722072" y="439429"/>
                  </a:lnTo>
                  <a:lnTo>
                    <a:pt x="728471" y="407670"/>
                  </a:lnTo>
                  <a:lnTo>
                    <a:pt x="728471" y="81534"/>
                  </a:lnTo>
                  <a:lnTo>
                    <a:pt x="722072" y="49774"/>
                  </a:lnTo>
                  <a:lnTo>
                    <a:pt x="704611" y="23860"/>
                  </a:lnTo>
                  <a:lnTo>
                    <a:pt x="678697" y="6399"/>
                  </a:lnTo>
                  <a:lnTo>
                    <a:pt x="646938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2145792" y="1677924"/>
              <a:ext cx="728980" cy="489584"/>
            </a:xfrm>
            <a:custGeom>
              <a:avLst/>
              <a:gdLst/>
              <a:ahLst/>
              <a:cxnLst/>
              <a:rect l="l" t="t" r="r" b="b"/>
              <a:pathLst>
                <a:path w="728980" h="489585">
                  <a:moveTo>
                    <a:pt x="0" y="81534"/>
                  </a:moveTo>
                  <a:lnTo>
                    <a:pt x="6399" y="49774"/>
                  </a:lnTo>
                  <a:lnTo>
                    <a:pt x="23860" y="23860"/>
                  </a:lnTo>
                  <a:lnTo>
                    <a:pt x="49774" y="6399"/>
                  </a:lnTo>
                  <a:lnTo>
                    <a:pt x="81533" y="0"/>
                  </a:lnTo>
                  <a:lnTo>
                    <a:pt x="646938" y="0"/>
                  </a:lnTo>
                  <a:lnTo>
                    <a:pt x="678697" y="6399"/>
                  </a:lnTo>
                  <a:lnTo>
                    <a:pt x="704611" y="23860"/>
                  </a:lnTo>
                  <a:lnTo>
                    <a:pt x="722072" y="49774"/>
                  </a:lnTo>
                  <a:lnTo>
                    <a:pt x="728471" y="81534"/>
                  </a:lnTo>
                  <a:lnTo>
                    <a:pt x="728471" y="407670"/>
                  </a:lnTo>
                  <a:lnTo>
                    <a:pt x="722072" y="439429"/>
                  </a:lnTo>
                  <a:lnTo>
                    <a:pt x="704611" y="465343"/>
                  </a:lnTo>
                  <a:lnTo>
                    <a:pt x="678697" y="482804"/>
                  </a:lnTo>
                  <a:lnTo>
                    <a:pt x="646938" y="489203"/>
                  </a:lnTo>
                  <a:lnTo>
                    <a:pt x="81533" y="489203"/>
                  </a:lnTo>
                  <a:lnTo>
                    <a:pt x="49774" y="482804"/>
                  </a:lnTo>
                  <a:lnTo>
                    <a:pt x="23860" y="465343"/>
                  </a:lnTo>
                  <a:lnTo>
                    <a:pt x="6399" y="439429"/>
                  </a:lnTo>
                  <a:lnTo>
                    <a:pt x="0" y="407670"/>
                  </a:lnTo>
                  <a:lnTo>
                    <a:pt x="0" y="8153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09216" y="3349752"/>
              <a:ext cx="809244" cy="940308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263140" y="3387852"/>
              <a:ext cx="565404" cy="865632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2156460" y="3374136"/>
              <a:ext cx="715010" cy="845819"/>
            </a:xfrm>
            <a:custGeom>
              <a:avLst/>
              <a:gdLst/>
              <a:ahLst/>
              <a:cxnLst/>
              <a:rect l="l" t="t" r="r" b="b"/>
              <a:pathLst>
                <a:path w="715010" h="845820">
                  <a:moveTo>
                    <a:pt x="595629" y="0"/>
                  </a:moveTo>
                  <a:lnTo>
                    <a:pt x="119125" y="0"/>
                  </a:lnTo>
                  <a:lnTo>
                    <a:pt x="72759" y="9362"/>
                  </a:lnTo>
                  <a:lnTo>
                    <a:pt x="34893" y="34893"/>
                  </a:lnTo>
                  <a:lnTo>
                    <a:pt x="9362" y="72759"/>
                  </a:lnTo>
                  <a:lnTo>
                    <a:pt x="0" y="119125"/>
                  </a:lnTo>
                  <a:lnTo>
                    <a:pt x="0" y="726694"/>
                  </a:lnTo>
                  <a:lnTo>
                    <a:pt x="9362" y="773060"/>
                  </a:lnTo>
                  <a:lnTo>
                    <a:pt x="34893" y="810926"/>
                  </a:lnTo>
                  <a:lnTo>
                    <a:pt x="72759" y="836457"/>
                  </a:lnTo>
                  <a:lnTo>
                    <a:pt x="119125" y="845819"/>
                  </a:lnTo>
                  <a:lnTo>
                    <a:pt x="595629" y="845819"/>
                  </a:lnTo>
                  <a:lnTo>
                    <a:pt x="641996" y="836457"/>
                  </a:lnTo>
                  <a:lnTo>
                    <a:pt x="679862" y="810926"/>
                  </a:lnTo>
                  <a:lnTo>
                    <a:pt x="705393" y="773060"/>
                  </a:lnTo>
                  <a:lnTo>
                    <a:pt x="714756" y="726694"/>
                  </a:lnTo>
                  <a:lnTo>
                    <a:pt x="714756" y="119125"/>
                  </a:lnTo>
                  <a:lnTo>
                    <a:pt x="705393" y="72759"/>
                  </a:lnTo>
                  <a:lnTo>
                    <a:pt x="679862" y="34893"/>
                  </a:lnTo>
                  <a:lnTo>
                    <a:pt x="641996" y="9362"/>
                  </a:lnTo>
                  <a:lnTo>
                    <a:pt x="595629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156460" y="3374136"/>
              <a:ext cx="715010" cy="845819"/>
            </a:xfrm>
            <a:custGeom>
              <a:avLst/>
              <a:gdLst/>
              <a:ahLst/>
              <a:cxnLst/>
              <a:rect l="l" t="t" r="r" b="b"/>
              <a:pathLst>
                <a:path w="715010" h="845820">
                  <a:moveTo>
                    <a:pt x="0" y="119125"/>
                  </a:moveTo>
                  <a:lnTo>
                    <a:pt x="9362" y="72759"/>
                  </a:lnTo>
                  <a:lnTo>
                    <a:pt x="34893" y="34893"/>
                  </a:lnTo>
                  <a:lnTo>
                    <a:pt x="72759" y="9362"/>
                  </a:lnTo>
                  <a:lnTo>
                    <a:pt x="119125" y="0"/>
                  </a:lnTo>
                  <a:lnTo>
                    <a:pt x="595629" y="0"/>
                  </a:lnTo>
                  <a:lnTo>
                    <a:pt x="641996" y="9362"/>
                  </a:lnTo>
                  <a:lnTo>
                    <a:pt x="679862" y="34893"/>
                  </a:lnTo>
                  <a:lnTo>
                    <a:pt x="705393" y="72759"/>
                  </a:lnTo>
                  <a:lnTo>
                    <a:pt x="714756" y="119125"/>
                  </a:lnTo>
                  <a:lnTo>
                    <a:pt x="714756" y="726694"/>
                  </a:lnTo>
                  <a:lnTo>
                    <a:pt x="705393" y="773060"/>
                  </a:lnTo>
                  <a:lnTo>
                    <a:pt x="679862" y="810926"/>
                  </a:lnTo>
                  <a:lnTo>
                    <a:pt x="641996" y="836457"/>
                  </a:lnTo>
                  <a:lnTo>
                    <a:pt x="595629" y="845819"/>
                  </a:lnTo>
                  <a:lnTo>
                    <a:pt x="119125" y="845819"/>
                  </a:lnTo>
                  <a:lnTo>
                    <a:pt x="72759" y="836457"/>
                  </a:lnTo>
                  <a:lnTo>
                    <a:pt x="34893" y="810926"/>
                  </a:lnTo>
                  <a:lnTo>
                    <a:pt x="9362" y="773060"/>
                  </a:lnTo>
                  <a:lnTo>
                    <a:pt x="0" y="726694"/>
                  </a:lnTo>
                  <a:lnTo>
                    <a:pt x="0" y="119125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2405786" y="3531236"/>
            <a:ext cx="254635" cy="5327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0" dirty="0">
                <a:solidFill>
                  <a:srgbClr val="718FA4"/>
                </a:solidFill>
                <a:latin typeface="Calibri"/>
                <a:cs typeface="Calibri"/>
              </a:rPr>
              <a:t>LSTM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2127504" y="2414047"/>
            <a:ext cx="805180" cy="881380"/>
            <a:chOff x="2127504" y="2414047"/>
            <a:chExt cx="805180" cy="881380"/>
          </a:xfrm>
        </p:grpSpPr>
        <p:pic>
          <p:nvPicPr>
            <p:cNvPr id="83" name="object 8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127504" y="2414047"/>
              <a:ext cx="804672" cy="880809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279904" y="2449067"/>
              <a:ext cx="565404" cy="809243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2165604" y="2429255"/>
              <a:ext cx="728980" cy="805180"/>
            </a:xfrm>
            <a:custGeom>
              <a:avLst/>
              <a:gdLst/>
              <a:ahLst/>
              <a:cxnLst/>
              <a:rect l="l" t="t" r="r" b="b"/>
              <a:pathLst>
                <a:path w="728980" h="805180">
                  <a:moveTo>
                    <a:pt x="607059" y="0"/>
                  </a:moveTo>
                  <a:lnTo>
                    <a:pt x="121412" y="0"/>
                  </a:lnTo>
                  <a:lnTo>
                    <a:pt x="74152" y="9540"/>
                  </a:lnTo>
                  <a:lnTo>
                    <a:pt x="35560" y="35560"/>
                  </a:lnTo>
                  <a:lnTo>
                    <a:pt x="9540" y="74152"/>
                  </a:lnTo>
                  <a:lnTo>
                    <a:pt x="0" y="121412"/>
                  </a:lnTo>
                  <a:lnTo>
                    <a:pt x="0" y="683260"/>
                  </a:lnTo>
                  <a:lnTo>
                    <a:pt x="9540" y="730519"/>
                  </a:lnTo>
                  <a:lnTo>
                    <a:pt x="35560" y="769112"/>
                  </a:lnTo>
                  <a:lnTo>
                    <a:pt x="74152" y="795131"/>
                  </a:lnTo>
                  <a:lnTo>
                    <a:pt x="121412" y="804672"/>
                  </a:lnTo>
                  <a:lnTo>
                    <a:pt x="607059" y="804672"/>
                  </a:lnTo>
                  <a:lnTo>
                    <a:pt x="654319" y="795131"/>
                  </a:lnTo>
                  <a:lnTo>
                    <a:pt x="692911" y="769112"/>
                  </a:lnTo>
                  <a:lnTo>
                    <a:pt x="718931" y="730519"/>
                  </a:lnTo>
                  <a:lnTo>
                    <a:pt x="728471" y="683260"/>
                  </a:lnTo>
                  <a:lnTo>
                    <a:pt x="728471" y="121412"/>
                  </a:lnTo>
                  <a:lnTo>
                    <a:pt x="718931" y="74152"/>
                  </a:lnTo>
                  <a:lnTo>
                    <a:pt x="692911" y="35560"/>
                  </a:lnTo>
                  <a:lnTo>
                    <a:pt x="654319" y="9540"/>
                  </a:lnTo>
                  <a:lnTo>
                    <a:pt x="607059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165604" y="2429255"/>
              <a:ext cx="728980" cy="805180"/>
            </a:xfrm>
            <a:custGeom>
              <a:avLst/>
              <a:gdLst/>
              <a:ahLst/>
              <a:cxnLst/>
              <a:rect l="l" t="t" r="r" b="b"/>
              <a:pathLst>
                <a:path w="728980" h="805180">
                  <a:moveTo>
                    <a:pt x="0" y="121412"/>
                  </a:moveTo>
                  <a:lnTo>
                    <a:pt x="9540" y="74152"/>
                  </a:lnTo>
                  <a:lnTo>
                    <a:pt x="35560" y="35560"/>
                  </a:lnTo>
                  <a:lnTo>
                    <a:pt x="74152" y="9540"/>
                  </a:lnTo>
                  <a:lnTo>
                    <a:pt x="121412" y="0"/>
                  </a:lnTo>
                  <a:lnTo>
                    <a:pt x="607059" y="0"/>
                  </a:lnTo>
                  <a:lnTo>
                    <a:pt x="654319" y="9540"/>
                  </a:lnTo>
                  <a:lnTo>
                    <a:pt x="692911" y="35560"/>
                  </a:lnTo>
                  <a:lnTo>
                    <a:pt x="718931" y="74152"/>
                  </a:lnTo>
                  <a:lnTo>
                    <a:pt x="728471" y="121412"/>
                  </a:lnTo>
                  <a:lnTo>
                    <a:pt x="728471" y="683260"/>
                  </a:lnTo>
                  <a:lnTo>
                    <a:pt x="718931" y="730519"/>
                  </a:lnTo>
                  <a:lnTo>
                    <a:pt x="692911" y="769112"/>
                  </a:lnTo>
                  <a:lnTo>
                    <a:pt x="654319" y="795131"/>
                  </a:lnTo>
                  <a:lnTo>
                    <a:pt x="607059" y="804672"/>
                  </a:lnTo>
                  <a:lnTo>
                    <a:pt x="121412" y="804672"/>
                  </a:lnTo>
                  <a:lnTo>
                    <a:pt x="74152" y="795131"/>
                  </a:lnTo>
                  <a:lnTo>
                    <a:pt x="35560" y="769112"/>
                  </a:lnTo>
                  <a:lnTo>
                    <a:pt x="9540" y="730519"/>
                  </a:lnTo>
                  <a:lnTo>
                    <a:pt x="0" y="683260"/>
                  </a:lnTo>
                  <a:lnTo>
                    <a:pt x="0" y="121412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2422144" y="2595252"/>
            <a:ext cx="254000" cy="4743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0" dirty="0">
                <a:solidFill>
                  <a:srgbClr val="718FA4"/>
                </a:solidFill>
                <a:latin typeface="Calibri"/>
                <a:cs typeface="Calibri"/>
              </a:rPr>
              <a:t>ReLu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2409444" y="2066544"/>
            <a:ext cx="259079" cy="2336800"/>
            <a:chOff x="2409444" y="2066544"/>
            <a:chExt cx="259079" cy="2336800"/>
          </a:xfrm>
        </p:grpSpPr>
        <p:pic>
          <p:nvPicPr>
            <p:cNvPr id="89" name="object 8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409444" y="3133344"/>
              <a:ext cx="242316" cy="304800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495550" y="3234690"/>
              <a:ext cx="77597" cy="141477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415540" y="2066544"/>
              <a:ext cx="242315" cy="414527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497836" y="2167890"/>
              <a:ext cx="77724" cy="250444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426208" y="4098036"/>
              <a:ext cx="242316" cy="304800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512314" y="4199382"/>
              <a:ext cx="77597" cy="141478"/>
            </a:xfrm>
            <a:prstGeom prst="rect">
              <a:avLst/>
            </a:prstGeom>
          </p:spPr>
        </p:pic>
      </p:grpSp>
      <p:sp>
        <p:nvSpPr>
          <p:cNvPr id="95" name="object 95"/>
          <p:cNvSpPr txBox="1"/>
          <p:nvPr/>
        </p:nvSpPr>
        <p:spPr>
          <a:xfrm>
            <a:off x="3449192" y="5523687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3449192" y="3584575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3462273" y="1841372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3462273" y="4556505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3449192" y="2628646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0" name="object 100"/>
          <p:cNvGrpSpPr/>
          <p:nvPr/>
        </p:nvGrpSpPr>
        <p:grpSpPr>
          <a:xfrm>
            <a:off x="4198585" y="5445252"/>
            <a:ext cx="783590" cy="573405"/>
            <a:chOff x="4198585" y="5445252"/>
            <a:chExt cx="783590" cy="573405"/>
          </a:xfrm>
        </p:grpSpPr>
        <p:pic>
          <p:nvPicPr>
            <p:cNvPr id="101" name="object 10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198585" y="5449847"/>
              <a:ext cx="783405" cy="568404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326635" y="5445252"/>
              <a:ext cx="481584" cy="565404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4236719" y="5465064"/>
              <a:ext cx="707390" cy="492759"/>
            </a:xfrm>
            <a:custGeom>
              <a:avLst/>
              <a:gdLst/>
              <a:ahLst/>
              <a:cxnLst/>
              <a:rect l="l" t="t" r="r" b="b"/>
              <a:pathLst>
                <a:path w="707389" h="492760">
                  <a:moveTo>
                    <a:pt x="625093" y="0"/>
                  </a:moveTo>
                  <a:lnTo>
                    <a:pt x="82041" y="0"/>
                  </a:lnTo>
                  <a:lnTo>
                    <a:pt x="50095" y="6443"/>
                  </a:lnTo>
                  <a:lnTo>
                    <a:pt x="24018" y="24018"/>
                  </a:lnTo>
                  <a:lnTo>
                    <a:pt x="6443" y="50095"/>
                  </a:lnTo>
                  <a:lnTo>
                    <a:pt x="0" y="82042"/>
                  </a:lnTo>
                  <a:lnTo>
                    <a:pt x="0" y="410210"/>
                  </a:lnTo>
                  <a:lnTo>
                    <a:pt x="6443" y="442145"/>
                  </a:lnTo>
                  <a:lnTo>
                    <a:pt x="24018" y="468223"/>
                  </a:lnTo>
                  <a:lnTo>
                    <a:pt x="50095" y="485805"/>
                  </a:lnTo>
                  <a:lnTo>
                    <a:pt x="82041" y="492252"/>
                  </a:lnTo>
                  <a:lnTo>
                    <a:pt x="625093" y="492252"/>
                  </a:lnTo>
                  <a:lnTo>
                    <a:pt x="657040" y="485805"/>
                  </a:lnTo>
                  <a:lnTo>
                    <a:pt x="683117" y="468223"/>
                  </a:lnTo>
                  <a:lnTo>
                    <a:pt x="700692" y="442145"/>
                  </a:lnTo>
                  <a:lnTo>
                    <a:pt x="707135" y="410210"/>
                  </a:lnTo>
                  <a:lnTo>
                    <a:pt x="707135" y="82042"/>
                  </a:lnTo>
                  <a:lnTo>
                    <a:pt x="700692" y="50095"/>
                  </a:lnTo>
                  <a:lnTo>
                    <a:pt x="683117" y="24018"/>
                  </a:lnTo>
                  <a:lnTo>
                    <a:pt x="657040" y="6443"/>
                  </a:lnTo>
                  <a:lnTo>
                    <a:pt x="625093" y="0"/>
                  </a:lnTo>
                  <a:close/>
                </a:path>
              </a:pathLst>
            </a:custGeom>
            <a:solidFill>
              <a:srgbClr val="F4C9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236719" y="5465064"/>
              <a:ext cx="707390" cy="492759"/>
            </a:xfrm>
            <a:custGeom>
              <a:avLst/>
              <a:gdLst/>
              <a:ahLst/>
              <a:cxnLst/>
              <a:rect l="l" t="t" r="r" b="b"/>
              <a:pathLst>
                <a:path w="707389" h="492760">
                  <a:moveTo>
                    <a:pt x="0" y="82042"/>
                  </a:moveTo>
                  <a:lnTo>
                    <a:pt x="6443" y="50095"/>
                  </a:lnTo>
                  <a:lnTo>
                    <a:pt x="24018" y="24018"/>
                  </a:lnTo>
                  <a:lnTo>
                    <a:pt x="50095" y="6443"/>
                  </a:lnTo>
                  <a:lnTo>
                    <a:pt x="82041" y="0"/>
                  </a:lnTo>
                  <a:lnTo>
                    <a:pt x="625093" y="0"/>
                  </a:lnTo>
                  <a:lnTo>
                    <a:pt x="657040" y="6443"/>
                  </a:lnTo>
                  <a:lnTo>
                    <a:pt x="683117" y="24018"/>
                  </a:lnTo>
                  <a:lnTo>
                    <a:pt x="700692" y="50095"/>
                  </a:lnTo>
                  <a:lnTo>
                    <a:pt x="707135" y="82042"/>
                  </a:lnTo>
                  <a:lnTo>
                    <a:pt x="707135" y="410210"/>
                  </a:lnTo>
                  <a:lnTo>
                    <a:pt x="700692" y="442145"/>
                  </a:lnTo>
                  <a:lnTo>
                    <a:pt x="683117" y="468223"/>
                  </a:lnTo>
                  <a:lnTo>
                    <a:pt x="657040" y="485805"/>
                  </a:lnTo>
                  <a:lnTo>
                    <a:pt x="625093" y="492252"/>
                  </a:lnTo>
                  <a:lnTo>
                    <a:pt x="82041" y="492252"/>
                  </a:lnTo>
                  <a:lnTo>
                    <a:pt x="50095" y="485805"/>
                  </a:lnTo>
                  <a:lnTo>
                    <a:pt x="24018" y="468223"/>
                  </a:lnTo>
                  <a:lnTo>
                    <a:pt x="6443" y="442145"/>
                  </a:lnTo>
                  <a:lnTo>
                    <a:pt x="0" y="410210"/>
                  </a:lnTo>
                  <a:lnTo>
                    <a:pt x="0" y="82042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4493767" y="5508447"/>
            <a:ext cx="144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718FA4"/>
                </a:solidFill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4609591" y="5641035"/>
            <a:ext cx="76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718FA4"/>
                </a:solidFill>
                <a:latin typeface="Calibri"/>
                <a:cs typeface="Calibri"/>
              </a:rPr>
              <a:t>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4189476" y="4347971"/>
            <a:ext cx="809625" cy="940435"/>
            <a:chOff x="4189476" y="4347971"/>
            <a:chExt cx="809625" cy="940435"/>
          </a:xfrm>
        </p:grpSpPr>
        <p:pic>
          <p:nvPicPr>
            <p:cNvPr id="108" name="object 10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89476" y="4347971"/>
              <a:ext cx="809244" cy="940307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343400" y="4386071"/>
              <a:ext cx="565403" cy="865631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4236720" y="4372355"/>
              <a:ext cx="715010" cy="845819"/>
            </a:xfrm>
            <a:custGeom>
              <a:avLst/>
              <a:gdLst/>
              <a:ahLst/>
              <a:cxnLst/>
              <a:rect l="l" t="t" r="r" b="b"/>
              <a:pathLst>
                <a:path w="715010" h="845820">
                  <a:moveTo>
                    <a:pt x="595629" y="0"/>
                  </a:moveTo>
                  <a:lnTo>
                    <a:pt x="119125" y="0"/>
                  </a:lnTo>
                  <a:lnTo>
                    <a:pt x="72759" y="9362"/>
                  </a:lnTo>
                  <a:lnTo>
                    <a:pt x="34893" y="34893"/>
                  </a:lnTo>
                  <a:lnTo>
                    <a:pt x="9362" y="72759"/>
                  </a:lnTo>
                  <a:lnTo>
                    <a:pt x="0" y="119126"/>
                  </a:lnTo>
                  <a:lnTo>
                    <a:pt x="0" y="726694"/>
                  </a:lnTo>
                  <a:lnTo>
                    <a:pt x="9362" y="773060"/>
                  </a:lnTo>
                  <a:lnTo>
                    <a:pt x="34893" y="810926"/>
                  </a:lnTo>
                  <a:lnTo>
                    <a:pt x="72759" y="836457"/>
                  </a:lnTo>
                  <a:lnTo>
                    <a:pt x="119125" y="845820"/>
                  </a:lnTo>
                  <a:lnTo>
                    <a:pt x="595629" y="845820"/>
                  </a:lnTo>
                  <a:lnTo>
                    <a:pt x="641996" y="836457"/>
                  </a:lnTo>
                  <a:lnTo>
                    <a:pt x="679862" y="810926"/>
                  </a:lnTo>
                  <a:lnTo>
                    <a:pt x="705393" y="773060"/>
                  </a:lnTo>
                  <a:lnTo>
                    <a:pt x="714755" y="726694"/>
                  </a:lnTo>
                  <a:lnTo>
                    <a:pt x="714755" y="119126"/>
                  </a:lnTo>
                  <a:lnTo>
                    <a:pt x="705393" y="72759"/>
                  </a:lnTo>
                  <a:lnTo>
                    <a:pt x="679862" y="34893"/>
                  </a:lnTo>
                  <a:lnTo>
                    <a:pt x="641996" y="9362"/>
                  </a:lnTo>
                  <a:lnTo>
                    <a:pt x="595629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36720" y="4372355"/>
              <a:ext cx="715010" cy="845819"/>
            </a:xfrm>
            <a:custGeom>
              <a:avLst/>
              <a:gdLst/>
              <a:ahLst/>
              <a:cxnLst/>
              <a:rect l="l" t="t" r="r" b="b"/>
              <a:pathLst>
                <a:path w="715010" h="845820">
                  <a:moveTo>
                    <a:pt x="0" y="119126"/>
                  </a:moveTo>
                  <a:lnTo>
                    <a:pt x="9362" y="72759"/>
                  </a:lnTo>
                  <a:lnTo>
                    <a:pt x="34893" y="34893"/>
                  </a:lnTo>
                  <a:lnTo>
                    <a:pt x="72759" y="9362"/>
                  </a:lnTo>
                  <a:lnTo>
                    <a:pt x="119125" y="0"/>
                  </a:lnTo>
                  <a:lnTo>
                    <a:pt x="595629" y="0"/>
                  </a:lnTo>
                  <a:lnTo>
                    <a:pt x="641996" y="9362"/>
                  </a:lnTo>
                  <a:lnTo>
                    <a:pt x="679862" y="34893"/>
                  </a:lnTo>
                  <a:lnTo>
                    <a:pt x="705393" y="72759"/>
                  </a:lnTo>
                  <a:lnTo>
                    <a:pt x="714755" y="119126"/>
                  </a:lnTo>
                  <a:lnTo>
                    <a:pt x="714755" y="726694"/>
                  </a:lnTo>
                  <a:lnTo>
                    <a:pt x="705393" y="773060"/>
                  </a:lnTo>
                  <a:lnTo>
                    <a:pt x="679862" y="810926"/>
                  </a:lnTo>
                  <a:lnTo>
                    <a:pt x="641996" y="836457"/>
                  </a:lnTo>
                  <a:lnTo>
                    <a:pt x="595629" y="845820"/>
                  </a:lnTo>
                  <a:lnTo>
                    <a:pt x="119125" y="845820"/>
                  </a:lnTo>
                  <a:lnTo>
                    <a:pt x="72759" y="836457"/>
                  </a:lnTo>
                  <a:lnTo>
                    <a:pt x="34893" y="810926"/>
                  </a:lnTo>
                  <a:lnTo>
                    <a:pt x="9362" y="773060"/>
                  </a:lnTo>
                  <a:lnTo>
                    <a:pt x="0" y="726694"/>
                  </a:lnTo>
                  <a:lnTo>
                    <a:pt x="0" y="119126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2" name="object 112"/>
          <p:cNvSpPr txBox="1"/>
          <p:nvPr/>
        </p:nvSpPr>
        <p:spPr>
          <a:xfrm>
            <a:off x="4486275" y="4530792"/>
            <a:ext cx="254000" cy="5321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0" dirty="0">
                <a:solidFill>
                  <a:srgbClr val="718FA4"/>
                </a:solidFill>
                <a:latin typeface="Calibri"/>
                <a:cs typeface="Calibri"/>
              </a:rPr>
              <a:t>LSTM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4181855" y="1668779"/>
            <a:ext cx="824865" cy="3860800"/>
            <a:chOff x="4181855" y="1668779"/>
            <a:chExt cx="824865" cy="3860800"/>
          </a:xfrm>
        </p:grpSpPr>
        <p:pic>
          <p:nvPicPr>
            <p:cNvPr id="114" name="object 11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472939" y="5117591"/>
              <a:ext cx="242315" cy="411479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554600" y="5218938"/>
              <a:ext cx="77724" cy="247523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201667" y="1673351"/>
              <a:ext cx="804671" cy="566927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344923" y="1668779"/>
              <a:ext cx="472439" cy="565403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4239767" y="1688591"/>
              <a:ext cx="728980" cy="490855"/>
            </a:xfrm>
            <a:custGeom>
              <a:avLst/>
              <a:gdLst/>
              <a:ahLst/>
              <a:cxnLst/>
              <a:rect l="l" t="t" r="r" b="b"/>
              <a:pathLst>
                <a:path w="728979" h="490855">
                  <a:moveTo>
                    <a:pt x="646684" y="0"/>
                  </a:moveTo>
                  <a:lnTo>
                    <a:pt x="81787" y="0"/>
                  </a:lnTo>
                  <a:lnTo>
                    <a:pt x="49934" y="6421"/>
                  </a:lnTo>
                  <a:lnTo>
                    <a:pt x="23939" y="23939"/>
                  </a:lnTo>
                  <a:lnTo>
                    <a:pt x="6421" y="49934"/>
                  </a:lnTo>
                  <a:lnTo>
                    <a:pt x="0" y="81787"/>
                  </a:lnTo>
                  <a:lnTo>
                    <a:pt x="0" y="408940"/>
                  </a:lnTo>
                  <a:lnTo>
                    <a:pt x="6421" y="440793"/>
                  </a:lnTo>
                  <a:lnTo>
                    <a:pt x="23939" y="466788"/>
                  </a:lnTo>
                  <a:lnTo>
                    <a:pt x="49934" y="484306"/>
                  </a:lnTo>
                  <a:lnTo>
                    <a:pt x="81787" y="490728"/>
                  </a:lnTo>
                  <a:lnTo>
                    <a:pt x="646684" y="490728"/>
                  </a:lnTo>
                  <a:lnTo>
                    <a:pt x="678537" y="484306"/>
                  </a:lnTo>
                  <a:lnTo>
                    <a:pt x="704532" y="466788"/>
                  </a:lnTo>
                  <a:lnTo>
                    <a:pt x="722050" y="440793"/>
                  </a:lnTo>
                  <a:lnTo>
                    <a:pt x="728472" y="408940"/>
                  </a:lnTo>
                  <a:lnTo>
                    <a:pt x="728472" y="81787"/>
                  </a:lnTo>
                  <a:lnTo>
                    <a:pt x="722050" y="49934"/>
                  </a:lnTo>
                  <a:lnTo>
                    <a:pt x="704532" y="23939"/>
                  </a:lnTo>
                  <a:lnTo>
                    <a:pt x="678537" y="6421"/>
                  </a:lnTo>
                  <a:lnTo>
                    <a:pt x="646684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239767" y="1688591"/>
              <a:ext cx="728980" cy="490855"/>
            </a:xfrm>
            <a:custGeom>
              <a:avLst/>
              <a:gdLst/>
              <a:ahLst/>
              <a:cxnLst/>
              <a:rect l="l" t="t" r="r" b="b"/>
              <a:pathLst>
                <a:path w="728979" h="490855">
                  <a:moveTo>
                    <a:pt x="0" y="81787"/>
                  </a:moveTo>
                  <a:lnTo>
                    <a:pt x="6421" y="49934"/>
                  </a:lnTo>
                  <a:lnTo>
                    <a:pt x="23939" y="23939"/>
                  </a:lnTo>
                  <a:lnTo>
                    <a:pt x="49934" y="6421"/>
                  </a:lnTo>
                  <a:lnTo>
                    <a:pt x="81787" y="0"/>
                  </a:lnTo>
                  <a:lnTo>
                    <a:pt x="646684" y="0"/>
                  </a:lnTo>
                  <a:lnTo>
                    <a:pt x="678537" y="6421"/>
                  </a:lnTo>
                  <a:lnTo>
                    <a:pt x="704532" y="23939"/>
                  </a:lnTo>
                  <a:lnTo>
                    <a:pt x="722050" y="49934"/>
                  </a:lnTo>
                  <a:lnTo>
                    <a:pt x="728472" y="81787"/>
                  </a:lnTo>
                  <a:lnTo>
                    <a:pt x="728472" y="408940"/>
                  </a:lnTo>
                  <a:lnTo>
                    <a:pt x="722050" y="440793"/>
                  </a:lnTo>
                  <a:lnTo>
                    <a:pt x="704532" y="466788"/>
                  </a:lnTo>
                  <a:lnTo>
                    <a:pt x="678537" y="484306"/>
                  </a:lnTo>
                  <a:lnTo>
                    <a:pt x="646684" y="490728"/>
                  </a:lnTo>
                  <a:lnTo>
                    <a:pt x="81787" y="490728"/>
                  </a:lnTo>
                  <a:lnTo>
                    <a:pt x="49934" y="484306"/>
                  </a:lnTo>
                  <a:lnTo>
                    <a:pt x="23939" y="466788"/>
                  </a:lnTo>
                  <a:lnTo>
                    <a:pt x="6421" y="440793"/>
                  </a:lnTo>
                  <a:lnTo>
                    <a:pt x="0" y="408940"/>
                  </a:lnTo>
                  <a:lnTo>
                    <a:pt x="0" y="81787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81855" y="3361944"/>
              <a:ext cx="809244" cy="940308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337303" y="3400044"/>
              <a:ext cx="565403" cy="865631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4229099" y="3386327"/>
              <a:ext cx="715010" cy="845819"/>
            </a:xfrm>
            <a:custGeom>
              <a:avLst/>
              <a:gdLst/>
              <a:ahLst/>
              <a:cxnLst/>
              <a:rect l="l" t="t" r="r" b="b"/>
              <a:pathLst>
                <a:path w="715010" h="845820">
                  <a:moveTo>
                    <a:pt x="595629" y="0"/>
                  </a:moveTo>
                  <a:lnTo>
                    <a:pt x="119125" y="0"/>
                  </a:lnTo>
                  <a:lnTo>
                    <a:pt x="72759" y="9362"/>
                  </a:lnTo>
                  <a:lnTo>
                    <a:pt x="34893" y="34893"/>
                  </a:lnTo>
                  <a:lnTo>
                    <a:pt x="9362" y="72759"/>
                  </a:lnTo>
                  <a:lnTo>
                    <a:pt x="0" y="119125"/>
                  </a:lnTo>
                  <a:lnTo>
                    <a:pt x="0" y="726694"/>
                  </a:lnTo>
                  <a:lnTo>
                    <a:pt x="9362" y="773060"/>
                  </a:lnTo>
                  <a:lnTo>
                    <a:pt x="34893" y="810926"/>
                  </a:lnTo>
                  <a:lnTo>
                    <a:pt x="72759" y="836457"/>
                  </a:lnTo>
                  <a:lnTo>
                    <a:pt x="119125" y="845820"/>
                  </a:lnTo>
                  <a:lnTo>
                    <a:pt x="595629" y="845820"/>
                  </a:lnTo>
                  <a:lnTo>
                    <a:pt x="641996" y="836457"/>
                  </a:lnTo>
                  <a:lnTo>
                    <a:pt x="679862" y="810926"/>
                  </a:lnTo>
                  <a:lnTo>
                    <a:pt x="705393" y="773060"/>
                  </a:lnTo>
                  <a:lnTo>
                    <a:pt x="714755" y="726694"/>
                  </a:lnTo>
                  <a:lnTo>
                    <a:pt x="714755" y="119125"/>
                  </a:lnTo>
                  <a:lnTo>
                    <a:pt x="705393" y="72759"/>
                  </a:lnTo>
                  <a:lnTo>
                    <a:pt x="679862" y="34893"/>
                  </a:lnTo>
                  <a:lnTo>
                    <a:pt x="641996" y="9362"/>
                  </a:lnTo>
                  <a:lnTo>
                    <a:pt x="595629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4229099" y="3386327"/>
              <a:ext cx="715010" cy="845819"/>
            </a:xfrm>
            <a:custGeom>
              <a:avLst/>
              <a:gdLst/>
              <a:ahLst/>
              <a:cxnLst/>
              <a:rect l="l" t="t" r="r" b="b"/>
              <a:pathLst>
                <a:path w="715010" h="845820">
                  <a:moveTo>
                    <a:pt x="0" y="119125"/>
                  </a:moveTo>
                  <a:lnTo>
                    <a:pt x="9362" y="72759"/>
                  </a:lnTo>
                  <a:lnTo>
                    <a:pt x="34893" y="34893"/>
                  </a:lnTo>
                  <a:lnTo>
                    <a:pt x="72759" y="9362"/>
                  </a:lnTo>
                  <a:lnTo>
                    <a:pt x="119125" y="0"/>
                  </a:lnTo>
                  <a:lnTo>
                    <a:pt x="595629" y="0"/>
                  </a:lnTo>
                  <a:lnTo>
                    <a:pt x="641996" y="9362"/>
                  </a:lnTo>
                  <a:lnTo>
                    <a:pt x="679862" y="34893"/>
                  </a:lnTo>
                  <a:lnTo>
                    <a:pt x="705393" y="72759"/>
                  </a:lnTo>
                  <a:lnTo>
                    <a:pt x="714755" y="119125"/>
                  </a:lnTo>
                  <a:lnTo>
                    <a:pt x="714755" y="726694"/>
                  </a:lnTo>
                  <a:lnTo>
                    <a:pt x="705393" y="773060"/>
                  </a:lnTo>
                  <a:lnTo>
                    <a:pt x="679862" y="810926"/>
                  </a:lnTo>
                  <a:lnTo>
                    <a:pt x="641996" y="836457"/>
                  </a:lnTo>
                  <a:lnTo>
                    <a:pt x="595629" y="845820"/>
                  </a:lnTo>
                  <a:lnTo>
                    <a:pt x="119125" y="845820"/>
                  </a:lnTo>
                  <a:lnTo>
                    <a:pt x="72759" y="836457"/>
                  </a:lnTo>
                  <a:lnTo>
                    <a:pt x="34893" y="810926"/>
                  </a:lnTo>
                  <a:lnTo>
                    <a:pt x="9362" y="773060"/>
                  </a:lnTo>
                  <a:lnTo>
                    <a:pt x="0" y="726694"/>
                  </a:lnTo>
                  <a:lnTo>
                    <a:pt x="0" y="119125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4" name="object 124"/>
          <p:cNvSpPr txBox="1"/>
          <p:nvPr/>
        </p:nvSpPr>
        <p:spPr>
          <a:xfrm>
            <a:off x="4479290" y="3544510"/>
            <a:ext cx="254000" cy="5321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0" dirty="0">
                <a:solidFill>
                  <a:srgbClr val="718FA4"/>
                </a:solidFill>
                <a:latin typeface="Calibri"/>
                <a:cs typeface="Calibri"/>
              </a:rPr>
              <a:t>LSTM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5" name="object 125"/>
          <p:cNvGrpSpPr/>
          <p:nvPr/>
        </p:nvGrpSpPr>
        <p:grpSpPr>
          <a:xfrm>
            <a:off x="4195571" y="2424715"/>
            <a:ext cx="805180" cy="881380"/>
            <a:chOff x="4195571" y="2424715"/>
            <a:chExt cx="805180" cy="881380"/>
          </a:xfrm>
        </p:grpSpPr>
        <p:pic>
          <p:nvPicPr>
            <p:cNvPr id="126" name="object 12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195571" y="2424715"/>
              <a:ext cx="804671" cy="880809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347971" y="2459736"/>
              <a:ext cx="565403" cy="809244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4233671" y="2439924"/>
              <a:ext cx="728980" cy="805180"/>
            </a:xfrm>
            <a:custGeom>
              <a:avLst/>
              <a:gdLst/>
              <a:ahLst/>
              <a:cxnLst/>
              <a:rect l="l" t="t" r="r" b="b"/>
              <a:pathLst>
                <a:path w="728979" h="805180">
                  <a:moveTo>
                    <a:pt x="607060" y="0"/>
                  </a:moveTo>
                  <a:lnTo>
                    <a:pt x="121412" y="0"/>
                  </a:lnTo>
                  <a:lnTo>
                    <a:pt x="74152" y="9540"/>
                  </a:lnTo>
                  <a:lnTo>
                    <a:pt x="35559" y="35560"/>
                  </a:lnTo>
                  <a:lnTo>
                    <a:pt x="9540" y="74152"/>
                  </a:lnTo>
                  <a:lnTo>
                    <a:pt x="0" y="121412"/>
                  </a:lnTo>
                  <a:lnTo>
                    <a:pt x="0" y="683260"/>
                  </a:lnTo>
                  <a:lnTo>
                    <a:pt x="9540" y="730519"/>
                  </a:lnTo>
                  <a:lnTo>
                    <a:pt x="35560" y="769112"/>
                  </a:lnTo>
                  <a:lnTo>
                    <a:pt x="74152" y="795131"/>
                  </a:lnTo>
                  <a:lnTo>
                    <a:pt x="121412" y="804672"/>
                  </a:lnTo>
                  <a:lnTo>
                    <a:pt x="607060" y="804672"/>
                  </a:lnTo>
                  <a:lnTo>
                    <a:pt x="654319" y="795131"/>
                  </a:lnTo>
                  <a:lnTo>
                    <a:pt x="692912" y="769112"/>
                  </a:lnTo>
                  <a:lnTo>
                    <a:pt x="718931" y="730519"/>
                  </a:lnTo>
                  <a:lnTo>
                    <a:pt x="728472" y="683260"/>
                  </a:lnTo>
                  <a:lnTo>
                    <a:pt x="728472" y="121412"/>
                  </a:lnTo>
                  <a:lnTo>
                    <a:pt x="718931" y="74152"/>
                  </a:lnTo>
                  <a:lnTo>
                    <a:pt x="692912" y="35559"/>
                  </a:lnTo>
                  <a:lnTo>
                    <a:pt x="654319" y="9540"/>
                  </a:lnTo>
                  <a:lnTo>
                    <a:pt x="607060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4233671" y="2439924"/>
              <a:ext cx="728980" cy="805180"/>
            </a:xfrm>
            <a:custGeom>
              <a:avLst/>
              <a:gdLst/>
              <a:ahLst/>
              <a:cxnLst/>
              <a:rect l="l" t="t" r="r" b="b"/>
              <a:pathLst>
                <a:path w="728979" h="805180">
                  <a:moveTo>
                    <a:pt x="0" y="121412"/>
                  </a:moveTo>
                  <a:lnTo>
                    <a:pt x="9540" y="74152"/>
                  </a:lnTo>
                  <a:lnTo>
                    <a:pt x="35559" y="35560"/>
                  </a:lnTo>
                  <a:lnTo>
                    <a:pt x="74152" y="9540"/>
                  </a:lnTo>
                  <a:lnTo>
                    <a:pt x="121412" y="0"/>
                  </a:lnTo>
                  <a:lnTo>
                    <a:pt x="607060" y="0"/>
                  </a:lnTo>
                  <a:lnTo>
                    <a:pt x="654319" y="9540"/>
                  </a:lnTo>
                  <a:lnTo>
                    <a:pt x="692912" y="35559"/>
                  </a:lnTo>
                  <a:lnTo>
                    <a:pt x="718931" y="74152"/>
                  </a:lnTo>
                  <a:lnTo>
                    <a:pt x="728472" y="121412"/>
                  </a:lnTo>
                  <a:lnTo>
                    <a:pt x="728472" y="683260"/>
                  </a:lnTo>
                  <a:lnTo>
                    <a:pt x="718931" y="730519"/>
                  </a:lnTo>
                  <a:lnTo>
                    <a:pt x="692912" y="769112"/>
                  </a:lnTo>
                  <a:lnTo>
                    <a:pt x="654319" y="795131"/>
                  </a:lnTo>
                  <a:lnTo>
                    <a:pt x="607060" y="804672"/>
                  </a:lnTo>
                  <a:lnTo>
                    <a:pt x="121412" y="804672"/>
                  </a:lnTo>
                  <a:lnTo>
                    <a:pt x="74152" y="795131"/>
                  </a:lnTo>
                  <a:lnTo>
                    <a:pt x="35560" y="769112"/>
                  </a:lnTo>
                  <a:lnTo>
                    <a:pt x="9540" y="730519"/>
                  </a:lnTo>
                  <a:lnTo>
                    <a:pt x="0" y="683260"/>
                  </a:lnTo>
                  <a:lnTo>
                    <a:pt x="0" y="121412"/>
                  </a:lnTo>
                  <a:close/>
                </a:path>
              </a:pathLst>
            </a:custGeom>
            <a:ln w="9143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0" name="object 130"/>
          <p:cNvSpPr txBox="1"/>
          <p:nvPr/>
        </p:nvSpPr>
        <p:spPr>
          <a:xfrm>
            <a:off x="4490846" y="2605425"/>
            <a:ext cx="254000" cy="4749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0" dirty="0">
                <a:solidFill>
                  <a:srgbClr val="718FA4"/>
                </a:solidFill>
                <a:latin typeface="Calibri"/>
                <a:cs typeface="Calibri"/>
              </a:rPr>
              <a:t>ReLu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1" name="object 131"/>
          <p:cNvGrpSpPr/>
          <p:nvPr/>
        </p:nvGrpSpPr>
        <p:grpSpPr>
          <a:xfrm>
            <a:off x="4474464" y="2078735"/>
            <a:ext cx="253365" cy="2360930"/>
            <a:chOff x="4474464" y="2078735"/>
            <a:chExt cx="253365" cy="2360930"/>
          </a:xfrm>
        </p:grpSpPr>
        <p:pic>
          <p:nvPicPr>
            <p:cNvPr id="132" name="object 1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477512" y="3144011"/>
              <a:ext cx="242315" cy="304800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563618" y="3245357"/>
              <a:ext cx="77597" cy="141477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85132" y="2078735"/>
              <a:ext cx="242315" cy="414527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567428" y="2180081"/>
              <a:ext cx="77724" cy="250443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474464" y="4134611"/>
              <a:ext cx="242315" cy="304800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560570" y="4235957"/>
              <a:ext cx="77596" cy="141478"/>
            </a:xfrm>
            <a:prstGeom prst="rect">
              <a:avLst/>
            </a:prstGeom>
          </p:spPr>
        </p:pic>
      </p:grpSp>
      <p:sp>
        <p:nvSpPr>
          <p:cNvPr id="138" name="object 138"/>
          <p:cNvSpPr txBox="1"/>
          <p:nvPr/>
        </p:nvSpPr>
        <p:spPr>
          <a:xfrm>
            <a:off x="10819130" y="5335270"/>
            <a:ext cx="272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718FA4"/>
                </a:solidFill>
                <a:latin typeface="Calibri"/>
                <a:cs typeface="Calibri"/>
              </a:rPr>
              <a:t>X</a:t>
            </a:r>
            <a:r>
              <a:rPr sz="1800" spc="-37" baseline="-20833" dirty="0">
                <a:solidFill>
                  <a:srgbClr val="718FA4"/>
                </a:solidFill>
                <a:latin typeface="Calibri"/>
                <a:cs typeface="Calibri"/>
              </a:rPr>
              <a:t>0</a:t>
            </a:r>
            <a:endParaRPr sz="1800" baseline="-20833">
              <a:latin typeface="Calibri"/>
              <a:cs typeface="Calibri"/>
            </a:endParaRPr>
          </a:p>
        </p:txBody>
      </p:sp>
      <p:grpSp>
        <p:nvGrpSpPr>
          <p:cNvPr id="139" name="object 139"/>
          <p:cNvGrpSpPr/>
          <p:nvPr/>
        </p:nvGrpSpPr>
        <p:grpSpPr>
          <a:xfrm>
            <a:off x="9553999" y="3781552"/>
            <a:ext cx="1268095" cy="2245995"/>
            <a:chOff x="9553999" y="3781552"/>
            <a:chExt cx="1268095" cy="2245995"/>
          </a:xfrm>
        </p:grpSpPr>
        <p:pic>
          <p:nvPicPr>
            <p:cNvPr id="140" name="object 1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53999" y="4709668"/>
              <a:ext cx="542065" cy="134619"/>
            </a:xfrm>
            <a:prstGeom prst="rect">
              <a:avLst/>
            </a:prstGeom>
          </p:spPr>
        </p:pic>
        <p:sp>
          <p:nvSpPr>
            <p:cNvPr id="141" name="object 141"/>
            <p:cNvSpPr/>
            <p:nvPr/>
          </p:nvSpPr>
          <p:spPr>
            <a:xfrm>
              <a:off x="9588246" y="4718304"/>
              <a:ext cx="479425" cy="78105"/>
            </a:xfrm>
            <a:custGeom>
              <a:avLst/>
              <a:gdLst/>
              <a:ahLst/>
              <a:cxnLst/>
              <a:rect l="l" t="t" r="r" b="b"/>
              <a:pathLst>
                <a:path w="479425" h="78104">
                  <a:moveTo>
                    <a:pt x="401574" y="0"/>
                  </a:moveTo>
                  <a:lnTo>
                    <a:pt x="401574" y="77724"/>
                  </a:lnTo>
                  <a:lnTo>
                    <a:pt x="453390" y="51816"/>
                  </a:lnTo>
                  <a:lnTo>
                    <a:pt x="414527" y="51816"/>
                  </a:lnTo>
                  <a:lnTo>
                    <a:pt x="414527" y="25908"/>
                  </a:lnTo>
                  <a:lnTo>
                    <a:pt x="453390" y="25908"/>
                  </a:lnTo>
                  <a:lnTo>
                    <a:pt x="401574" y="0"/>
                  </a:lnTo>
                  <a:close/>
                </a:path>
                <a:path w="479425" h="78104">
                  <a:moveTo>
                    <a:pt x="401574" y="25908"/>
                  </a:moveTo>
                  <a:lnTo>
                    <a:pt x="0" y="25908"/>
                  </a:lnTo>
                  <a:lnTo>
                    <a:pt x="0" y="51816"/>
                  </a:lnTo>
                  <a:lnTo>
                    <a:pt x="401574" y="51816"/>
                  </a:lnTo>
                  <a:lnTo>
                    <a:pt x="401574" y="25908"/>
                  </a:lnTo>
                  <a:close/>
                </a:path>
                <a:path w="479425" h="78104">
                  <a:moveTo>
                    <a:pt x="453390" y="25908"/>
                  </a:moveTo>
                  <a:lnTo>
                    <a:pt x="414527" y="25908"/>
                  </a:lnTo>
                  <a:lnTo>
                    <a:pt x="414527" y="51816"/>
                  </a:lnTo>
                  <a:lnTo>
                    <a:pt x="453390" y="51816"/>
                  </a:lnTo>
                  <a:lnTo>
                    <a:pt x="479298" y="38862"/>
                  </a:lnTo>
                  <a:lnTo>
                    <a:pt x="453390" y="25908"/>
                  </a:lnTo>
                  <a:close/>
                </a:path>
              </a:pathLst>
            </a:custGeom>
            <a:solidFill>
              <a:srgbClr val="6E85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2" name="object 142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901788" y="3781552"/>
              <a:ext cx="743318" cy="134619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9922002" y="3790188"/>
              <a:ext cx="690245" cy="78105"/>
            </a:xfrm>
            <a:custGeom>
              <a:avLst/>
              <a:gdLst/>
              <a:ahLst/>
              <a:cxnLst/>
              <a:rect l="l" t="t" r="r" b="b"/>
              <a:pathLst>
                <a:path w="690245" h="78104">
                  <a:moveTo>
                    <a:pt x="77724" y="0"/>
                  </a:moveTo>
                  <a:lnTo>
                    <a:pt x="0" y="38862"/>
                  </a:lnTo>
                  <a:lnTo>
                    <a:pt x="77724" y="77724"/>
                  </a:lnTo>
                  <a:lnTo>
                    <a:pt x="77724" y="51816"/>
                  </a:lnTo>
                  <a:lnTo>
                    <a:pt x="64770" y="51816"/>
                  </a:lnTo>
                  <a:lnTo>
                    <a:pt x="64770" y="25907"/>
                  </a:lnTo>
                  <a:lnTo>
                    <a:pt x="77724" y="25907"/>
                  </a:lnTo>
                  <a:lnTo>
                    <a:pt x="77724" y="0"/>
                  </a:lnTo>
                  <a:close/>
                </a:path>
                <a:path w="690245" h="78104">
                  <a:moveTo>
                    <a:pt x="77724" y="25907"/>
                  </a:moveTo>
                  <a:lnTo>
                    <a:pt x="64770" y="25907"/>
                  </a:lnTo>
                  <a:lnTo>
                    <a:pt x="64770" y="51816"/>
                  </a:lnTo>
                  <a:lnTo>
                    <a:pt x="77724" y="51816"/>
                  </a:lnTo>
                  <a:lnTo>
                    <a:pt x="77724" y="25907"/>
                  </a:lnTo>
                  <a:close/>
                </a:path>
                <a:path w="690245" h="78104">
                  <a:moveTo>
                    <a:pt x="689864" y="25907"/>
                  </a:moveTo>
                  <a:lnTo>
                    <a:pt x="77724" y="25907"/>
                  </a:lnTo>
                  <a:lnTo>
                    <a:pt x="77724" y="51816"/>
                  </a:lnTo>
                  <a:lnTo>
                    <a:pt x="689864" y="51816"/>
                  </a:lnTo>
                  <a:lnTo>
                    <a:pt x="689864" y="25907"/>
                  </a:lnTo>
                  <a:close/>
                </a:path>
              </a:pathLst>
            </a:custGeom>
            <a:solidFill>
              <a:srgbClr val="6E85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4" name="object 144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0018776" y="5440680"/>
              <a:ext cx="803148" cy="586740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0155936" y="5445252"/>
              <a:ext cx="481583" cy="565404"/>
            </a:xfrm>
            <a:prstGeom prst="rect">
              <a:avLst/>
            </a:prstGeom>
          </p:spPr>
        </p:pic>
        <p:sp>
          <p:nvSpPr>
            <p:cNvPr id="146" name="object 146"/>
            <p:cNvSpPr/>
            <p:nvPr/>
          </p:nvSpPr>
          <p:spPr>
            <a:xfrm>
              <a:off x="10066020" y="5465064"/>
              <a:ext cx="708660" cy="492759"/>
            </a:xfrm>
            <a:custGeom>
              <a:avLst/>
              <a:gdLst/>
              <a:ahLst/>
              <a:cxnLst/>
              <a:rect l="l" t="t" r="r" b="b"/>
              <a:pathLst>
                <a:path w="708659" h="492760">
                  <a:moveTo>
                    <a:pt x="626618" y="0"/>
                  </a:moveTo>
                  <a:lnTo>
                    <a:pt x="82041" y="0"/>
                  </a:lnTo>
                  <a:lnTo>
                    <a:pt x="50095" y="6443"/>
                  </a:lnTo>
                  <a:lnTo>
                    <a:pt x="24018" y="24018"/>
                  </a:lnTo>
                  <a:lnTo>
                    <a:pt x="6443" y="50095"/>
                  </a:lnTo>
                  <a:lnTo>
                    <a:pt x="0" y="82042"/>
                  </a:lnTo>
                  <a:lnTo>
                    <a:pt x="0" y="410210"/>
                  </a:lnTo>
                  <a:lnTo>
                    <a:pt x="6443" y="442145"/>
                  </a:lnTo>
                  <a:lnTo>
                    <a:pt x="24018" y="468223"/>
                  </a:lnTo>
                  <a:lnTo>
                    <a:pt x="50095" y="485805"/>
                  </a:lnTo>
                  <a:lnTo>
                    <a:pt x="82041" y="492252"/>
                  </a:lnTo>
                  <a:lnTo>
                    <a:pt x="626618" y="492252"/>
                  </a:lnTo>
                  <a:lnTo>
                    <a:pt x="658564" y="485805"/>
                  </a:lnTo>
                  <a:lnTo>
                    <a:pt x="684641" y="468223"/>
                  </a:lnTo>
                  <a:lnTo>
                    <a:pt x="702216" y="442145"/>
                  </a:lnTo>
                  <a:lnTo>
                    <a:pt x="708659" y="410210"/>
                  </a:lnTo>
                  <a:lnTo>
                    <a:pt x="708659" y="82042"/>
                  </a:lnTo>
                  <a:lnTo>
                    <a:pt x="702216" y="50095"/>
                  </a:lnTo>
                  <a:lnTo>
                    <a:pt x="684641" y="24018"/>
                  </a:lnTo>
                  <a:lnTo>
                    <a:pt x="658564" y="6443"/>
                  </a:lnTo>
                  <a:lnTo>
                    <a:pt x="626618" y="0"/>
                  </a:lnTo>
                  <a:close/>
                </a:path>
              </a:pathLst>
            </a:custGeom>
            <a:solidFill>
              <a:srgbClr val="F4C9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10066020" y="5465064"/>
              <a:ext cx="708660" cy="492759"/>
            </a:xfrm>
            <a:custGeom>
              <a:avLst/>
              <a:gdLst/>
              <a:ahLst/>
              <a:cxnLst/>
              <a:rect l="l" t="t" r="r" b="b"/>
              <a:pathLst>
                <a:path w="708659" h="492760">
                  <a:moveTo>
                    <a:pt x="0" y="82042"/>
                  </a:moveTo>
                  <a:lnTo>
                    <a:pt x="6443" y="50095"/>
                  </a:lnTo>
                  <a:lnTo>
                    <a:pt x="24018" y="24018"/>
                  </a:lnTo>
                  <a:lnTo>
                    <a:pt x="50095" y="6443"/>
                  </a:lnTo>
                  <a:lnTo>
                    <a:pt x="82041" y="0"/>
                  </a:lnTo>
                  <a:lnTo>
                    <a:pt x="626618" y="0"/>
                  </a:lnTo>
                  <a:lnTo>
                    <a:pt x="658564" y="6443"/>
                  </a:lnTo>
                  <a:lnTo>
                    <a:pt x="684641" y="24018"/>
                  </a:lnTo>
                  <a:lnTo>
                    <a:pt x="702216" y="50095"/>
                  </a:lnTo>
                  <a:lnTo>
                    <a:pt x="708659" y="82042"/>
                  </a:lnTo>
                  <a:lnTo>
                    <a:pt x="708659" y="410210"/>
                  </a:lnTo>
                  <a:lnTo>
                    <a:pt x="702216" y="442145"/>
                  </a:lnTo>
                  <a:lnTo>
                    <a:pt x="684641" y="468223"/>
                  </a:lnTo>
                  <a:lnTo>
                    <a:pt x="658564" y="485805"/>
                  </a:lnTo>
                  <a:lnTo>
                    <a:pt x="626618" y="492252"/>
                  </a:lnTo>
                  <a:lnTo>
                    <a:pt x="82041" y="492252"/>
                  </a:lnTo>
                  <a:lnTo>
                    <a:pt x="50095" y="485805"/>
                  </a:lnTo>
                  <a:lnTo>
                    <a:pt x="24018" y="468223"/>
                  </a:lnTo>
                  <a:lnTo>
                    <a:pt x="6443" y="442145"/>
                  </a:lnTo>
                  <a:lnTo>
                    <a:pt x="0" y="410210"/>
                  </a:lnTo>
                  <a:lnTo>
                    <a:pt x="0" y="82042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8" name="object 148"/>
          <p:cNvSpPr txBox="1"/>
          <p:nvPr/>
        </p:nvSpPr>
        <p:spPr>
          <a:xfrm>
            <a:off x="10325227" y="5508447"/>
            <a:ext cx="144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718FA4"/>
                </a:solidFill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10441051" y="5641035"/>
            <a:ext cx="76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718FA4"/>
                </a:solidFill>
                <a:latin typeface="Calibri"/>
                <a:cs typeface="Calibri"/>
              </a:rPr>
              <a:t>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0" name="object 150"/>
          <p:cNvGrpSpPr/>
          <p:nvPr/>
        </p:nvGrpSpPr>
        <p:grpSpPr>
          <a:xfrm>
            <a:off x="10018776" y="4347971"/>
            <a:ext cx="809625" cy="940435"/>
            <a:chOff x="10018776" y="4347971"/>
            <a:chExt cx="809625" cy="940435"/>
          </a:xfrm>
        </p:grpSpPr>
        <p:pic>
          <p:nvPicPr>
            <p:cNvPr id="151" name="object 1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18776" y="4347971"/>
              <a:ext cx="809244" cy="940307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0174224" y="4386071"/>
              <a:ext cx="565403" cy="865631"/>
            </a:xfrm>
            <a:prstGeom prst="rect">
              <a:avLst/>
            </a:prstGeom>
          </p:spPr>
        </p:pic>
        <p:sp>
          <p:nvSpPr>
            <p:cNvPr id="153" name="object 153"/>
            <p:cNvSpPr/>
            <p:nvPr/>
          </p:nvSpPr>
          <p:spPr>
            <a:xfrm>
              <a:off x="10066020" y="4372355"/>
              <a:ext cx="715010" cy="845819"/>
            </a:xfrm>
            <a:custGeom>
              <a:avLst/>
              <a:gdLst/>
              <a:ahLst/>
              <a:cxnLst/>
              <a:rect l="l" t="t" r="r" b="b"/>
              <a:pathLst>
                <a:path w="715009" h="845820">
                  <a:moveTo>
                    <a:pt x="595629" y="0"/>
                  </a:moveTo>
                  <a:lnTo>
                    <a:pt x="119125" y="0"/>
                  </a:lnTo>
                  <a:lnTo>
                    <a:pt x="72759" y="9362"/>
                  </a:lnTo>
                  <a:lnTo>
                    <a:pt x="34893" y="34893"/>
                  </a:lnTo>
                  <a:lnTo>
                    <a:pt x="9362" y="72759"/>
                  </a:lnTo>
                  <a:lnTo>
                    <a:pt x="0" y="119126"/>
                  </a:lnTo>
                  <a:lnTo>
                    <a:pt x="0" y="726694"/>
                  </a:lnTo>
                  <a:lnTo>
                    <a:pt x="9362" y="773060"/>
                  </a:lnTo>
                  <a:lnTo>
                    <a:pt x="34893" y="810926"/>
                  </a:lnTo>
                  <a:lnTo>
                    <a:pt x="72759" y="836457"/>
                  </a:lnTo>
                  <a:lnTo>
                    <a:pt x="119125" y="845820"/>
                  </a:lnTo>
                  <a:lnTo>
                    <a:pt x="595629" y="845820"/>
                  </a:lnTo>
                  <a:lnTo>
                    <a:pt x="641996" y="836457"/>
                  </a:lnTo>
                  <a:lnTo>
                    <a:pt x="679862" y="810926"/>
                  </a:lnTo>
                  <a:lnTo>
                    <a:pt x="705393" y="773060"/>
                  </a:lnTo>
                  <a:lnTo>
                    <a:pt x="714755" y="726694"/>
                  </a:lnTo>
                  <a:lnTo>
                    <a:pt x="714755" y="119126"/>
                  </a:lnTo>
                  <a:lnTo>
                    <a:pt x="705393" y="72759"/>
                  </a:lnTo>
                  <a:lnTo>
                    <a:pt x="679862" y="34893"/>
                  </a:lnTo>
                  <a:lnTo>
                    <a:pt x="641996" y="9362"/>
                  </a:lnTo>
                  <a:lnTo>
                    <a:pt x="595629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10066020" y="4372355"/>
              <a:ext cx="715010" cy="845819"/>
            </a:xfrm>
            <a:custGeom>
              <a:avLst/>
              <a:gdLst/>
              <a:ahLst/>
              <a:cxnLst/>
              <a:rect l="l" t="t" r="r" b="b"/>
              <a:pathLst>
                <a:path w="715009" h="845820">
                  <a:moveTo>
                    <a:pt x="0" y="119126"/>
                  </a:moveTo>
                  <a:lnTo>
                    <a:pt x="9362" y="72759"/>
                  </a:lnTo>
                  <a:lnTo>
                    <a:pt x="34893" y="34893"/>
                  </a:lnTo>
                  <a:lnTo>
                    <a:pt x="72759" y="9362"/>
                  </a:lnTo>
                  <a:lnTo>
                    <a:pt x="119125" y="0"/>
                  </a:lnTo>
                  <a:lnTo>
                    <a:pt x="595629" y="0"/>
                  </a:lnTo>
                  <a:lnTo>
                    <a:pt x="641996" y="9362"/>
                  </a:lnTo>
                  <a:lnTo>
                    <a:pt x="679862" y="34893"/>
                  </a:lnTo>
                  <a:lnTo>
                    <a:pt x="705393" y="72759"/>
                  </a:lnTo>
                  <a:lnTo>
                    <a:pt x="714755" y="119126"/>
                  </a:lnTo>
                  <a:lnTo>
                    <a:pt x="714755" y="726694"/>
                  </a:lnTo>
                  <a:lnTo>
                    <a:pt x="705393" y="773060"/>
                  </a:lnTo>
                  <a:lnTo>
                    <a:pt x="679862" y="810926"/>
                  </a:lnTo>
                  <a:lnTo>
                    <a:pt x="641996" y="836457"/>
                  </a:lnTo>
                  <a:lnTo>
                    <a:pt x="595629" y="845820"/>
                  </a:lnTo>
                  <a:lnTo>
                    <a:pt x="119125" y="845820"/>
                  </a:lnTo>
                  <a:lnTo>
                    <a:pt x="72759" y="836457"/>
                  </a:lnTo>
                  <a:lnTo>
                    <a:pt x="34893" y="810926"/>
                  </a:lnTo>
                  <a:lnTo>
                    <a:pt x="9362" y="773060"/>
                  </a:lnTo>
                  <a:lnTo>
                    <a:pt x="0" y="726694"/>
                  </a:lnTo>
                  <a:lnTo>
                    <a:pt x="0" y="119126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5" name="object 155"/>
          <p:cNvSpPr txBox="1"/>
          <p:nvPr/>
        </p:nvSpPr>
        <p:spPr>
          <a:xfrm>
            <a:off x="10317480" y="4530792"/>
            <a:ext cx="254000" cy="5321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0" dirty="0">
                <a:solidFill>
                  <a:srgbClr val="718FA4"/>
                </a:solidFill>
                <a:latin typeface="Calibri"/>
                <a:cs typeface="Calibri"/>
              </a:rPr>
              <a:t>LSTM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10160462" y="1662683"/>
            <a:ext cx="901065" cy="3866515"/>
            <a:chOff x="10160462" y="1662683"/>
            <a:chExt cx="901065" cy="3866515"/>
          </a:xfrm>
        </p:grpSpPr>
        <p:pic>
          <p:nvPicPr>
            <p:cNvPr id="157" name="object 15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303764" y="5117592"/>
              <a:ext cx="242316" cy="411479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0385425" y="5218937"/>
              <a:ext cx="77724" cy="247523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0160462" y="1667255"/>
              <a:ext cx="900774" cy="566927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0351008" y="1662683"/>
              <a:ext cx="472440" cy="565403"/>
            </a:xfrm>
            <a:prstGeom prst="rect">
              <a:avLst/>
            </a:prstGeom>
          </p:spPr>
        </p:pic>
        <p:sp>
          <p:nvSpPr>
            <p:cNvPr id="161" name="object 161"/>
            <p:cNvSpPr/>
            <p:nvPr/>
          </p:nvSpPr>
          <p:spPr>
            <a:xfrm>
              <a:off x="10198608" y="1682495"/>
              <a:ext cx="824865" cy="490855"/>
            </a:xfrm>
            <a:custGeom>
              <a:avLst/>
              <a:gdLst/>
              <a:ahLst/>
              <a:cxnLst/>
              <a:rect l="l" t="t" r="r" b="b"/>
              <a:pathLst>
                <a:path w="824865" h="490855">
                  <a:moveTo>
                    <a:pt x="742696" y="0"/>
                  </a:moveTo>
                  <a:lnTo>
                    <a:pt x="81788" y="0"/>
                  </a:lnTo>
                  <a:lnTo>
                    <a:pt x="49934" y="6421"/>
                  </a:lnTo>
                  <a:lnTo>
                    <a:pt x="23939" y="23939"/>
                  </a:lnTo>
                  <a:lnTo>
                    <a:pt x="6421" y="49934"/>
                  </a:lnTo>
                  <a:lnTo>
                    <a:pt x="0" y="81787"/>
                  </a:lnTo>
                  <a:lnTo>
                    <a:pt x="0" y="408939"/>
                  </a:lnTo>
                  <a:lnTo>
                    <a:pt x="6421" y="440793"/>
                  </a:lnTo>
                  <a:lnTo>
                    <a:pt x="23939" y="466788"/>
                  </a:lnTo>
                  <a:lnTo>
                    <a:pt x="49934" y="484306"/>
                  </a:lnTo>
                  <a:lnTo>
                    <a:pt x="81788" y="490727"/>
                  </a:lnTo>
                  <a:lnTo>
                    <a:pt x="742696" y="490727"/>
                  </a:lnTo>
                  <a:lnTo>
                    <a:pt x="774549" y="484306"/>
                  </a:lnTo>
                  <a:lnTo>
                    <a:pt x="800544" y="466788"/>
                  </a:lnTo>
                  <a:lnTo>
                    <a:pt x="818062" y="440793"/>
                  </a:lnTo>
                  <a:lnTo>
                    <a:pt x="824484" y="408939"/>
                  </a:lnTo>
                  <a:lnTo>
                    <a:pt x="824484" y="81787"/>
                  </a:lnTo>
                  <a:lnTo>
                    <a:pt x="818062" y="49934"/>
                  </a:lnTo>
                  <a:lnTo>
                    <a:pt x="800544" y="23939"/>
                  </a:lnTo>
                  <a:lnTo>
                    <a:pt x="774549" y="6421"/>
                  </a:lnTo>
                  <a:lnTo>
                    <a:pt x="742696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10198608" y="1682495"/>
              <a:ext cx="824865" cy="490855"/>
            </a:xfrm>
            <a:custGeom>
              <a:avLst/>
              <a:gdLst/>
              <a:ahLst/>
              <a:cxnLst/>
              <a:rect l="l" t="t" r="r" b="b"/>
              <a:pathLst>
                <a:path w="824865" h="490855">
                  <a:moveTo>
                    <a:pt x="0" y="81787"/>
                  </a:moveTo>
                  <a:lnTo>
                    <a:pt x="6421" y="49934"/>
                  </a:lnTo>
                  <a:lnTo>
                    <a:pt x="23939" y="23939"/>
                  </a:lnTo>
                  <a:lnTo>
                    <a:pt x="49934" y="6421"/>
                  </a:lnTo>
                  <a:lnTo>
                    <a:pt x="81788" y="0"/>
                  </a:lnTo>
                  <a:lnTo>
                    <a:pt x="742696" y="0"/>
                  </a:lnTo>
                  <a:lnTo>
                    <a:pt x="774549" y="6421"/>
                  </a:lnTo>
                  <a:lnTo>
                    <a:pt x="800544" y="23939"/>
                  </a:lnTo>
                  <a:lnTo>
                    <a:pt x="818062" y="49934"/>
                  </a:lnTo>
                  <a:lnTo>
                    <a:pt x="824484" y="81787"/>
                  </a:lnTo>
                  <a:lnTo>
                    <a:pt x="824484" y="408939"/>
                  </a:lnTo>
                  <a:lnTo>
                    <a:pt x="818062" y="440793"/>
                  </a:lnTo>
                  <a:lnTo>
                    <a:pt x="800544" y="466788"/>
                  </a:lnTo>
                  <a:lnTo>
                    <a:pt x="774549" y="484306"/>
                  </a:lnTo>
                  <a:lnTo>
                    <a:pt x="742696" y="490727"/>
                  </a:lnTo>
                  <a:lnTo>
                    <a:pt x="81788" y="490727"/>
                  </a:lnTo>
                  <a:lnTo>
                    <a:pt x="49934" y="484306"/>
                  </a:lnTo>
                  <a:lnTo>
                    <a:pt x="23939" y="466788"/>
                  </a:lnTo>
                  <a:lnTo>
                    <a:pt x="6421" y="440793"/>
                  </a:lnTo>
                  <a:lnTo>
                    <a:pt x="0" y="408939"/>
                  </a:lnTo>
                  <a:lnTo>
                    <a:pt x="0" y="81787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3" name="object 163"/>
          <p:cNvSpPr txBox="1"/>
          <p:nvPr/>
        </p:nvSpPr>
        <p:spPr>
          <a:xfrm>
            <a:off x="10494898" y="1725295"/>
            <a:ext cx="2343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718FA4"/>
                </a:solidFill>
                <a:latin typeface="Calibri"/>
                <a:cs typeface="Calibri"/>
              </a:rPr>
              <a:t>Y</a:t>
            </a:r>
            <a:r>
              <a:rPr sz="1800" spc="-37" baseline="-20833" dirty="0">
                <a:solidFill>
                  <a:srgbClr val="718FA4"/>
                </a:solidFill>
                <a:latin typeface="Calibri"/>
                <a:cs typeface="Calibri"/>
              </a:rPr>
              <a:t>t</a:t>
            </a:r>
            <a:endParaRPr sz="1800" baseline="-20833">
              <a:latin typeface="Calibri"/>
              <a:cs typeface="Calibri"/>
            </a:endParaRPr>
          </a:p>
        </p:txBody>
      </p:sp>
      <p:grpSp>
        <p:nvGrpSpPr>
          <p:cNvPr id="164" name="object 164"/>
          <p:cNvGrpSpPr/>
          <p:nvPr/>
        </p:nvGrpSpPr>
        <p:grpSpPr>
          <a:xfrm>
            <a:off x="10549128" y="3378708"/>
            <a:ext cx="809625" cy="940435"/>
            <a:chOff x="10549128" y="3378708"/>
            <a:chExt cx="809625" cy="940435"/>
          </a:xfrm>
        </p:grpSpPr>
        <p:pic>
          <p:nvPicPr>
            <p:cNvPr id="165" name="object 16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549128" y="3378708"/>
              <a:ext cx="809244" cy="940307"/>
            </a:xfrm>
            <a:prstGeom prst="rect">
              <a:avLst/>
            </a:prstGeom>
          </p:spPr>
        </p:pic>
        <p:pic>
          <p:nvPicPr>
            <p:cNvPr id="166" name="object 16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0704576" y="3416808"/>
              <a:ext cx="565403" cy="865632"/>
            </a:xfrm>
            <a:prstGeom prst="rect">
              <a:avLst/>
            </a:prstGeom>
          </p:spPr>
        </p:pic>
        <p:sp>
          <p:nvSpPr>
            <p:cNvPr id="167" name="object 167"/>
            <p:cNvSpPr/>
            <p:nvPr/>
          </p:nvSpPr>
          <p:spPr>
            <a:xfrm>
              <a:off x="10596372" y="3403092"/>
              <a:ext cx="715010" cy="845819"/>
            </a:xfrm>
            <a:custGeom>
              <a:avLst/>
              <a:gdLst/>
              <a:ahLst/>
              <a:cxnLst/>
              <a:rect l="l" t="t" r="r" b="b"/>
              <a:pathLst>
                <a:path w="715009" h="845820">
                  <a:moveTo>
                    <a:pt x="595629" y="0"/>
                  </a:moveTo>
                  <a:lnTo>
                    <a:pt x="119125" y="0"/>
                  </a:lnTo>
                  <a:lnTo>
                    <a:pt x="72759" y="9362"/>
                  </a:lnTo>
                  <a:lnTo>
                    <a:pt x="34893" y="34893"/>
                  </a:lnTo>
                  <a:lnTo>
                    <a:pt x="9362" y="72759"/>
                  </a:lnTo>
                  <a:lnTo>
                    <a:pt x="0" y="119125"/>
                  </a:lnTo>
                  <a:lnTo>
                    <a:pt x="0" y="726694"/>
                  </a:lnTo>
                  <a:lnTo>
                    <a:pt x="9362" y="773060"/>
                  </a:lnTo>
                  <a:lnTo>
                    <a:pt x="34893" y="810926"/>
                  </a:lnTo>
                  <a:lnTo>
                    <a:pt x="72759" y="836457"/>
                  </a:lnTo>
                  <a:lnTo>
                    <a:pt x="119125" y="845820"/>
                  </a:lnTo>
                  <a:lnTo>
                    <a:pt x="595629" y="845820"/>
                  </a:lnTo>
                  <a:lnTo>
                    <a:pt x="641996" y="836457"/>
                  </a:lnTo>
                  <a:lnTo>
                    <a:pt x="679862" y="810926"/>
                  </a:lnTo>
                  <a:lnTo>
                    <a:pt x="705393" y="773060"/>
                  </a:lnTo>
                  <a:lnTo>
                    <a:pt x="714755" y="726694"/>
                  </a:lnTo>
                  <a:lnTo>
                    <a:pt x="714755" y="119125"/>
                  </a:lnTo>
                  <a:lnTo>
                    <a:pt x="705393" y="72759"/>
                  </a:lnTo>
                  <a:lnTo>
                    <a:pt x="679862" y="34893"/>
                  </a:lnTo>
                  <a:lnTo>
                    <a:pt x="641996" y="9362"/>
                  </a:lnTo>
                  <a:lnTo>
                    <a:pt x="595629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10596372" y="3403092"/>
              <a:ext cx="715010" cy="845819"/>
            </a:xfrm>
            <a:custGeom>
              <a:avLst/>
              <a:gdLst/>
              <a:ahLst/>
              <a:cxnLst/>
              <a:rect l="l" t="t" r="r" b="b"/>
              <a:pathLst>
                <a:path w="715009" h="845820">
                  <a:moveTo>
                    <a:pt x="0" y="119125"/>
                  </a:moveTo>
                  <a:lnTo>
                    <a:pt x="9362" y="72759"/>
                  </a:lnTo>
                  <a:lnTo>
                    <a:pt x="34893" y="34893"/>
                  </a:lnTo>
                  <a:lnTo>
                    <a:pt x="72759" y="9362"/>
                  </a:lnTo>
                  <a:lnTo>
                    <a:pt x="119125" y="0"/>
                  </a:lnTo>
                  <a:lnTo>
                    <a:pt x="595629" y="0"/>
                  </a:lnTo>
                  <a:lnTo>
                    <a:pt x="641996" y="9362"/>
                  </a:lnTo>
                  <a:lnTo>
                    <a:pt x="679862" y="34893"/>
                  </a:lnTo>
                  <a:lnTo>
                    <a:pt x="705393" y="72759"/>
                  </a:lnTo>
                  <a:lnTo>
                    <a:pt x="714755" y="119125"/>
                  </a:lnTo>
                  <a:lnTo>
                    <a:pt x="714755" y="726694"/>
                  </a:lnTo>
                  <a:lnTo>
                    <a:pt x="705393" y="773060"/>
                  </a:lnTo>
                  <a:lnTo>
                    <a:pt x="679862" y="810926"/>
                  </a:lnTo>
                  <a:lnTo>
                    <a:pt x="641996" y="836457"/>
                  </a:lnTo>
                  <a:lnTo>
                    <a:pt x="595629" y="845820"/>
                  </a:lnTo>
                  <a:lnTo>
                    <a:pt x="119125" y="845820"/>
                  </a:lnTo>
                  <a:lnTo>
                    <a:pt x="72759" y="836457"/>
                  </a:lnTo>
                  <a:lnTo>
                    <a:pt x="34893" y="810926"/>
                  </a:lnTo>
                  <a:lnTo>
                    <a:pt x="9362" y="773060"/>
                  </a:lnTo>
                  <a:lnTo>
                    <a:pt x="0" y="726694"/>
                  </a:lnTo>
                  <a:lnTo>
                    <a:pt x="0" y="119125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9" name="object 169"/>
          <p:cNvSpPr txBox="1"/>
          <p:nvPr/>
        </p:nvSpPr>
        <p:spPr>
          <a:xfrm>
            <a:off x="10847451" y="3559677"/>
            <a:ext cx="254000" cy="5334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0" dirty="0">
                <a:solidFill>
                  <a:srgbClr val="718FA4"/>
                </a:solidFill>
                <a:latin typeface="Calibri"/>
                <a:cs typeface="Calibri"/>
              </a:rPr>
              <a:t>LSTM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0" name="object 170"/>
          <p:cNvGrpSpPr/>
          <p:nvPr/>
        </p:nvGrpSpPr>
        <p:grpSpPr>
          <a:xfrm>
            <a:off x="10160462" y="2418619"/>
            <a:ext cx="901065" cy="881380"/>
            <a:chOff x="10160462" y="2418619"/>
            <a:chExt cx="901065" cy="881380"/>
          </a:xfrm>
        </p:grpSpPr>
        <p:pic>
          <p:nvPicPr>
            <p:cNvPr id="171" name="object 171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0160462" y="2418619"/>
              <a:ext cx="900774" cy="880809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0361676" y="2453639"/>
              <a:ext cx="565403" cy="809243"/>
            </a:xfrm>
            <a:prstGeom prst="rect">
              <a:avLst/>
            </a:prstGeom>
          </p:spPr>
        </p:pic>
        <p:sp>
          <p:nvSpPr>
            <p:cNvPr id="173" name="object 173"/>
            <p:cNvSpPr/>
            <p:nvPr/>
          </p:nvSpPr>
          <p:spPr>
            <a:xfrm>
              <a:off x="10198608" y="2433827"/>
              <a:ext cx="824865" cy="805180"/>
            </a:xfrm>
            <a:custGeom>
              <a:avLst/>
              <a:gdLst/>
              <a:ahLst/>
              <a:cxnLst/>
              <a:rect l="l" t="t" r="r" b="b"/>
              <a:pathLst>
                <a:path w="824865" h="805180">
                  <a:moveTo>
                    <a:pt x="690372" y="0"/>
                  </a:moveTo>
                  <a:lnTo>
                    <a:pt x="134112" y="0"/>
                  </a:lnTo>
                  <a:lnTo>
                    <a:pt x="91732" y="6839"/>
                  </a:lnTo>
                  <a:lnTo>
                    <a:pt x="54918" y="25883"/>
                  </a:lnTo>
                  <a:lnTo>
                    <a:pt x="25883" y="54918"/>
                  </a:lnTo>
                  <a:lnTo>
                    <a:pt x="6839" y="91732"/>
                  </a:lnTo>
                  <a:lnTo>
                    <a:pt x="0" y="134112"/>
                  </a:lnTo>
                  <a:lnTo>
                    <a:pt x="0" y="670560"/>
                  </a:lnTo>
                  <a:lnTo>
                    <a:pt x="6839" y="712939"/>
                  </a:lnTo>
                  <a:lnTo>
                    <a:pt x="25883" y="749753"/>
                  </a:lnTo>
                  <a:lnTo>
                    <a:pt x="54918" y="778788"/>
                  </a:lnTo>
                  <a:lnTo>
                    <a:pt x="91732" y="797832"/>
                  </a:lnTo>
                  <a:lnTo>
                    <a:pt x="134112" y="804672"/>
                  </a:lnTo>
                  <a:lnTo>
                    <a:pt x="690372" y="804672"/>
                  </a:lnTo>
                  <a:lnTo>
                    <a:pt x="732751" y="797832"/>
                  </a:lnTo>
                  <a:lnTo>
                    <a:pt x="769565" y="778788"/>
                  </a:lnTo>
                  <a:lnTo>
                    <a:pt x="798600" y="749753"/>
                  </a:lnTo>
                  <a:lnTo>
                    <a:pt x="817644" y="712939"/>
                  </a:lnTo>
                  <a:lnTo>
                    <a:pt x="824484" y="670560"/>
                  </a:lnTo>
                  <a:lnTo>
                    <a:pt x="824484" y="134112"/>
                  </a:lnTo>
                  <a:lnTo>
                    <a:pt x="817644" y="91732"/>
                  </a:lnTo>
                  <a:lnTo>
                    <a:pt x="798600" y="54918"/>
                  </a:lnTo>
                  <a:lnTo>
                    <a:pt x="769565" y="25883"/>
                  </a:lnTo>
                  <a:lnTo>
                    <a:pt x="732751" y="6839"/>
                  </a:lnTo>
                  <a:lnTo>
                    <a:pt x="690372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10198608" y="2433827"/>
              <a:ext cx="824865" cy="805180"/>
            </a:xfrm>
            <a:custGeom>
              <a:avLst/>
              <a:gdLst/>
              <a:ahLst/>
              <a:cxnLst/>
              <a:rect l="l" t="t" r="r" b="b"/>
              <a:pathLst>
                <a:path w="824865" h="805180">
                  <a:moveTo>
                    <a:pt x="0" y="134112"/>
                  </a:moveTo>
                  <a:lnTo>
                    <a:pt x="6839" y="91732"/>
                  </a:lnTo>
                  <a:lnTo>
                    <a:pt x="25883" y="54918"/>
                  </a:lnTo>
                  <a:lnTo>
                    <a:pt x="54918" y="25883"/>
                  </a:lnTo>
                  <a:lnTo>
                    <a:pt x="91732" y="6839"/>
                  </a:lnTo>
                  <a:lnTo>
                    <a:pt x="134112" y="0"/>
                  </a:lnTo>
                  <a:lnTo>
                    <a:pt x="690372" y="0"/>
                  </a:lnTo>
                  <a:lnTo>
                    <a:pt x="732751" y="6839"/>
                  </a:lnTo>
                  <a:lnTo>
                    <a:pt x="769565" y="25883"/>
                  </a:lnTo>
                  <a:lnTo>
                    <a:pt x="798600" y="54918"/>
                  </a:lnTo>
                  <a:lnTo>
                    <a:pt x="817644" y="91732"/>
                  </a:lnTo>
                  <a:lnTo>
                    <a:pt x="824484" y="134112"/>
                  </a:lnTo>
                  <a:lnTo>
                    <a:pt x="824484" y="670560"/>
                  </a:lnTo>
                  <a:lnTo>
                    <a:pt x="817644" y="712939"/>
                  </a:lnTo>
                  <a:lnTo>
                    <a:pt x="798600" y="749753"/>
                  </a:lnTo>
                  <a:lnTo>
                    <a:pt x="769565" y="778788"/>
                  </a:lnTo>
                  <a:lnTo>
                    <a:pt x="732751" y="797832"/>
                  </a:lnTo>
                  <a:lnTo>
                    <a:pt x="690372" y="804672"/>
                  </a:lnTo>
                  <a:lnTo>
                    <a:pt x="134112" y="804672"/>
                  </a:lnTo>
                  <a:lnTo>
                    <a:pt x="91732" y="797832"/>
                  </a:lnTo>
                  <a:lnTo>
                    <a:pt x="54918" y="778788"/>
                  </a:lnTo>
                  <a:lnTo>
                    <a:pt x="25883" y="749753"/>
                  </a:lnTo>
                  <a:lnTo>
                    <a:pt x="6839" y="712939"/>
                  </a:lnTo>
                  <a:lnTo>
                    <a:pt x="0" y="670560"/>
                  </a:lnTo>
                  <a:lnTo>
                    <a:pt x="0" y="134112"/>
                  </a:lnTo>
                  <a:close/>
                </a:path>
              </a:pathLst>
            </a:custGeom>
            <a:ln w="9143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5" name="object 175"/>
          <p:cNvSpPr txBox="1"/>
          <p:nvPr/>
        </p:nvSpPr>
        <p:spPr>
          <a:xfrm>
            <a:off x="10504551" y="2599824"/>
            <a:ext cx="254000" cy="4743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0" dirty="0">
                <a:solidFill>
                  <a:srgbClr val="718FA4"/>
                </a:solidFill>
                <a:latin typeface="Calibri"/>
                <a:cs typeface="Calibri"/>
              </a:rPr>
              <a:t>ReLu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76" name="object 176"/>
          <p:cNvGrpSpPr/>
          <p:nvPr/>
        </p:nvGrpSpPr>
        <p:grpSpPr>
          <a:xfrm>
            <a:off x="10475976" y="2078735"/>
            <a:ext cx="413384" cy="1358265"/>
            <a:chOff x="10475976" y="2078735"/>
            <a:chExt cx="413384" cy="1358265"/>
          </a:xfrm>
        </p:grpSpPr>
        <p:pic>
          <p:nvPicPr>
            <p:cNvPr id="177" name="object 17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646664" y="3131819"/>
              <a:ext cx="242316" cy="304800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732770" y="3233165"/>
              <a:ext cx="77597" cy="141478"/>
            </a:xfrm>
            <a:prstGeom prst="rect">
              <a:avLst/>
            </a:prstGeom>
          </p:spPr>
        </p:pic>
        <p:pic>
          <p:nvPicPr>
            <p:cNvPr id="179" name="object 17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475976" y="2078735"/>
              <a:ext cx="242316" cy="414527"/>
            </a:xfrm>
            <a:prstGeom prst="rect">
              <a:avLst/>
            </a:prstGeom>
          </p:spPr>
        </p:pic>
        <p:pic>
          <p:nvPicPr>
            <p:cNvPr id="180" name="object 18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0558272" y="2180081"/>
              <a:ext cx="77724" cy="250443"/>
            </a:xfrm>
            <a:prstGeom prst="rect">
              <a:avLst/>
            </a:prstGeom>
          </p:spPr>
        </p:pic>
      </p:grpSp>
      <p:sp>
        <p:nvSpPr>
          <p:cNvPr id="181" name="object 181"/>
          <p:cNvSpPr txBox="1"/>
          <p:nvPr/>
        </p:nvSpPr>
        <p:spPr>
          <a:xfrm>
            <a:off x="9248647" y="5544718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2" name="object 182"/>
          <p:cNvSpPr txBox="1"/>
          <p:nvPr/>
        </p:nvSpPr>
        <p:spPr>
          <a:xfrm>
            <a:off x="9248647" y="3605225"/>
            <a:ext cx="1835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3" name="object 183"/>
          <p:cNvSpPr txBox="1"/>
          <p:nvPr/>
        </p:nvSpPr>
        <p:spPr>
          <a:xfrm>
            <a:off x="9261729" y="1862454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4" name="object 184"/>
          <p:cNvSpPr txBox="1"/>
          <p:nvPr/>
        </p:nvSpPr>
        <p:spPr>
          <a:xfrm>
            <a:off x="9248647" y="4566666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5" name="object 185"/>
          <p:cNvSpPr txBox="1"/>
          <p:nvPr/>
        </p:nvSpPr>
        <p:spPr>
          <a:xfrm>
            <a:off x="9248647" y="2649728"/>
            <a:ext cx="183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6" name="object 186"/>
          <p:cNvGrpSpPr/>
          <p:nvPr/>
        </p:nvGrpSpPr>
        <p:grpSpPr>
          <a:xfrm>
            <a:off x="8090864" y="3131820"/>
            <a:ext cx="2985770" cy="2714625"/>
            <a:chOff x="8090864" y="3131820"/>
            <a:chExt cx="2985770" cy="2714625"/>
          </a:xfrm>
        </p:grpSpPr>
        <p:pic>
          <p:nvPicPr>
            <p:cNvPr id="187" name="object 187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0315955" y="3131820"/>
              <a:ext cx="240792" cy="1271015"/>
            </a:xfrm>
            <a:prstGeom prst="rect">
              <a:avLst/>
            </a:prstGeom>
          </p:spPr>
        </p:pic>
        <p:sp>
          <p:nvSpPr>
            <p:cNvPr id="188" name="object 188"/>
            <p:cNvSpPr/>
            <p:nvPr/>
          </p:nvSpPr>
          <p:spPr>
            <a:xfrm>
              <a:off x="10397108" y="3233166"/>
              <a:ext cx="78105" cy="1107440"/>
            </a:xfrm>
            <a:custGeom>
              <a:avLst/>
              <a:gdLst/>
              <a:ahLst/>
              <a:cxnLst/>
              <a:rect l="l" t="t" r="r" b="b"/>
              <a:pathLst>
                <a:path w="78104" h="1107439">
                  <a:moveTo>
                    <a:pt x="51943" y="64770"/>
                  </a:moveTo>
                  <a:lnTo>
                    <a:pt x="26035" y="64770"/>
                  </a:lnTo>
                  <a:lnTo>
                    <a:pt x="24003" y="1106805"/>
                  </a:lnTo>
                  <a:lnTo>
                    <a:pt x="49911" y="1106932"/>
                  </a:lnTo>
                  <a:lnTo>
                    <a:pt x="51918" y="77850"/>
                  </a:lnTo>
                  <a:lnTo>
                    <a:pt x="51943" y="64770"/>
                  </a:lnTo>
                  <a:close/>
                </a:path>
                <a:path w="78104" h="1107439">
                  <a:moveTo>
                    <a:pt x="39116" y="0"/>
                  </a:moveTo>
                  <a:lnTo>
                    <a:pt x="0" y="77850"/>
                  </a:lnTo>
                  <a:lnTo>
                    <a:pt x="26010" y="77850"/>
                  </a:lnTo>
                  <a:lnTo>
                    <a:pt x="26035" y="64770"/>
                  </a:lnTo>
                  <a:lnTo>
                    <a:pt x="71343" y="64770"/>
                  </a:lnTo>
                  <a:lnTo>
                    <a:pt x="39116" y="0"/>
                  </a:lnTo>
                  <a:close/>
                </a:path>
                <a:path w="78104" h="1107439">
                  <a:moveTo>
                    <a:pt x="71343" y="64770"/>
                  </a:moveTo>
                  <a:lnTo>
                    <a:pt x="51943" y="64770"/>
                  </a:lnTo>
                  <a:lnTo>
                    <a:pt x="51918" y="77850"/>
                  </a:lnTo>
                  <a:lnTo>
                    <a:pt x="77851" y="77850"/>
                  </a:lnTo>
                  <a:lnTo>
                    <a:pt x="71343" y="64770"/>
                  </a:lnTo>
                  <a:close/>
                </a:path>
              </a:pathLst>
            </a:custGeom>
            <a:solidFill>
              <a:srgbClr val="6E85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9" name="object 189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0834115" y="4148328"/>
              <a:ext cx="242316" cy="1207008"/>
            </a:xfrm>
            <a:prstGeom prst="rect">
              <a:avLst/>
            </a:prstGeom>
          </p:spPr>
        </p:pic>
        <p:sp>
          <p:nvSpPr>
            <p:cNvPr id="190" name="object 190"/>
            <p:cNvSpPr/>
            <p:nvPr/>
          </p:nvSpPr>
          <p:spPr>
            <a:xfrm>
              <a:off x="10916411" y="4249674"/>
              <a:ext cx="78105" cy="1043940"/>
            </a:xfrm>
            <a:custGeom>
              <a:avLst/>
              <a:gdLst/>
              <a:ahLst/>
              <a:cxnLst/>
              <a:rect l="l" t="t" r="r" b="b"/>
              <a:pathLst>
                <a:path w="78104" h="1043939">
                  <a:moveTo>
                    <a:pt x="51816" y="64769"/>
                  </a:moveTo>
                  <a:lnTo>
                    <a:pt x="25908" y="64769"/>
                  </a:lnTo>
                  <a:lnTo>
                    <a:pt x="25908" y="1043685"/>
                  </a:lnTo>
                  <a:lnTo>
                    <a:pt x="51816" y="1043685"/>
                  </a:lnTo>
                  <a:lnTo>
                    <a:pt x="51816" y="64769"/>
                  </a:lnTo>
                  <a:close/>
                </a:path>
                <a:path w="78104" h="1043939">
                  <a:moveTo>
                    <a:pt x="38862" y="0"/>
                  </a:moveTo>
                  <a:lnTo>
                    <a:pt x="0" y="77724"/>
                  </a:lnTo>
                  <a:lnTo>
                    <a:pt x="25908" y="77724"/>
                  </a:lnTo>
                  <a:lnTo>
                    <a:pt x="25908" y="64769"/>
                  </a:lnTo>
                  <a:lnTo>
                    <a:pt x="71247" y="64769"/>
                  </a:lnTo>
                  <a:lnTo>
                    <a:pt x="38862" y="0"/>
                  </a:lnTo>
                  <a:close/>
                </a:path>
                <a:path w="78104" h="1043939">
                  <a:moveTo>
                    <a:pt x="71247" y="64769"/>
                  </a:moveTo>
                  <a:lnTo>
                    <a:pt x="51816" y="64769"/>
                  </a:lnTo>
                  <a:lnTo>
                    <a:pt x="51816" y="77724"/>
                  </a:lnTo>
                  <a:lnTo>
                    <a:pt x="77724" y="77724"/>
                  </a:lnTo>
                  <a:lnTo>
                    <a:pt x="71247" y="64769"/>
                  </a:lnTo>
                  <a:close/>
                </a:path>
              </a:pathLst>
            </a:custGeom>
            <a:solidFill>
              <a:srgbClr val="B903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1" name="object 19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90864" y="5277635"/>
              <a:ext cx="791058" cy="568404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8161019" y="5273040"/>
              <a:ext cx="606551" cy="565404"/>
            </a:xfrm>
            <a:prstGeom prst="rect">
              <a:avLst/>
            </a:prstGeom>
          </p:spPr>
        </p:pic>
        <p:sp>
          <p:nvSpPr>
            <p:cNvPr id="193" name="object 193"/>
            <p:cNvSpPr/>
            <p:nvPr/>
          </p:nvSpPr>
          <p:spPr>
            <a:xfrm>
              <a:off x="8129015" y="5292852"/>
              <a:ext cx="715010" cy="492759"/>
            </a:xfrm>
            <a:custGeom>
              <a:avLst/>
              <a:gdLst/>
              <a:ahLst/>
              <a:cxnLst/>
              <a:rect l="l" t="t" r="r" b="b"/>
              <a:pathLst>
                <a:path w="715009" h="492760">
                  <a:moveTo>
                    <a:pt x="632713" y="0"/>
                  </a:moveTo>
                  <a:lnTo>
                    <a:pt x="82041" y="0"/>
                  </a:lnTo>
                  <a:lnTo>
                    <a:pt x="50095" y="6443"/>
                  </a:lnTo>
                  <a:lnTo>
                    <a:pt x="24018" y="24018"/>
                  </a:lnTo>
                  <a:lnTo>
                    <a:pt x="6443" y="50095"/>
                  </a:lnTo>
                  <a:lnTo>
                    <a:pt x="0" y="82042"/>
                  </a:lnTo>
                  <a:lnTo>
                    <a:pt x="0" y="410210"/>
                  </a:lnTo>
                  <a:lnTo>
                    <a:pt x="6443" y="442145"/>
                  </a:lnTo>
                  <a:lnTo>
                    <a:pt x="24018" y="468223"/>
                  </a:lnTo>
                  <a:lnTo>
                    <a:pt x="50095" y="485805"/>
                  </a:lnTo>
                  <a:lnTo>
                    <a:pt x="82041" y="492252"/>
                  </a:lnTo>
                  <a:lnTo>
                    <a:pt x="632713" y="492252"/>
                  </a:lnTo>
                  <a:lnTo>
                    <a:pt x="664660" y="485805"/>
                  </a:lnTo>
                  <a:lnTo>
                    <a:pt x="690737" y="468223"/>
                  </a:lnTo>
                  <a:lnTo>
                    <a:pt x="708312" y="442145"/>
                  </a:lnTo>
                  <a:lnTo>
                    <a:pt x="714755" y="410210"/>
                  </a:lnTo>
                  <a:lnTo>
                    <a:pt x="714755" y="82042"/>
                  </a:lnTo>
                  <a:lnTo>
                    <a:pt x="708312" y="50095"/>
                  </a:lnTo>
                  <a:lnTo>
                    <a:pt x="690737" y="24018"/>
                  </a:lnTo>
                  <a:lnTo>
                    <a:pt x="664660" y="6443"/>
                  </a:lnTo>
                  <a:lnTo>
                    <a:pt x="632713" y="0"/>
                  </a:lnTo>
                  <a:close/>
                </a:path>
              </a:pathLst>
            </a:custGeom>
            <a:solidFill>
              <a:srgbClr val="F4C9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8129015" y="5292852"/>
              <a:ext cx="715010" cy="492759"/>
            </a:xfrm>
            <a:custGeom>
              <a:avLst/>
              <a:gdLst/>
              <a:ahLst/>
              <a:cxnLst/>
              <a:rect l="l" t="t" r="r" b="b"/>
              <a:pathLst>
                <a:path w="715009" h="492760">
                  <a:moveTo>
                    <a:pt x="0" y="82042"/>
                  </a:moveTo>
                  <a:lnTo>
                    <a:pt x="6443" y="50095"/>
                  </a:lnTo>
                  <a:lnTo>
                    <a:pt x="24018" y="24018"/>
                  </a:lnTo>
                  <a:lnTo>
                    <a:pt x="50095" y="6443"/>
                  </a:lnTo>
                  <a:lnTo>
                    <a:pt x="82041" y="0"/>
                  </a:lnTo>
                  <a:lnTo>
                    <a:pt x="632713" y="0"/>
                  </a:lnTo>
                  <a:lnTo>
                    <a:pt x="664660" y="6443"/>
                  </a:lnTo>
                  <a:lnTo>
                    <a:pt x="690737" y="24018"/>
                  </a:lnTo>
                  <a:lnTo>
                    <a:pt x="708312" y="50095"/>
                  </a:lnTo>
                  <a:lnTo>
                    <a:pt x="714755" y="82042"/>
                  </a:lnTo>
                  <a:lnTo>
                    <a:pt x="714755" y="410210"/>
                  </a:lnTo>
                  <a:lnTo>
                    <a:pt x="708312" y="442145"/>
                  </a:lnTo>
                  <a:lnTo>
                    <a:pt x="690737" y="468223"/>
                  </a:lnTo>
                  <a:lnTo>
                    <a:pt x="664660" y="485805"/>
                  </a:lnTo>
                  <a:lnTo>
                    <a:pt x="632713" y="492252"/>
                  </a:lnTo>
                  <a:lnTo>
                    <a:pt x="82041" y="492252"/>
                  </a:lnTo>
                  <a:lnTo>
                    <a:pt x="50095" y="485805"/>
                  </a:lnTo>
                  <a:lnTo>
                    <a:pt x="24018" y="468223"/>
                  </a:lnTo>
                  <a:lnTo>
                    <a:pt x="6443" y="442145"/>
                  </a:lnTo>
                  <a:lnTo>
                    <a:pt x="0" y="410210"/>
                  </a:lnTo>
                  <a:lnTo>
                    <a:pt x="0" y="82042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5" name="object 195"/>
          <p:cNvSpPr txBox="1"/>
          <p:nvPr/>
        </p:nvSpPr>
        <p:spPr>
          <a:xfrm>
            <a:off x="8303006" y="5392623"/>
            <a:ext cx="368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15" baseline="13888" dirty="0">
                <a:solidFill>
                  <a:srgbClr val="718FA4"/>
                </a:solidFill>
                <a:latin typeface="Calibri"/>
                <a:cs typeface="Calibri"/>
              </a:rPr>
              <a:t>X</a:t>
            </a:r>
            <a:r>
              <a:rPr sz="1200" spc="-10" dirty="0">
                <a:solidFill>
                  <a:srgbClr val="718FA4"/>
                </a:solidFill>
                <a:latin typeface="Calibri"/>
                <a:cs typeface="Calibri"/>
              </a:rPr>
              <a:t>t-</a:t>
            </a:r>
            <a:r>
              <a:rPr sz="1200" spc="-50" dirty="0">
                <a:solidFill>
                  <a:srgbClr val="718FA4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6" name="object 196"/>
          <p:cNvGrpSpPr/>
          <p:nvPr/>
        </p:nvGrpSpPr>
        <p:grpSpPr>
          <a:xfrm>
            <a:off x="6859540" y="3781552"/>
            <a:ext cx="1495425" cy="2247900"/>
            <a:chOff x="6859540" y="3781552"/>
            <a:chExt cx="1495425" cy="2247900"/>
          </a:xfrm>
        </p:grpSpPr>
        <p:pic>
          <p:nvPicPr>
            <p:cNvPr id="197" name="object 197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859540" y="4758266"/>
              <a:ext cx="769443" cy="125645"/>
            </a:xfrm>
            <a:prstGeom prst="rect">
              <a:avLst/>
            </a:prstGeom>
          </p:spPr>
        </p:pic>
        <p:sp>
          <p:nvSpPr>
            <p:cNvPr id="198" name="object 198"/>
            <p:cNvSpPr/>
            <p:nvPr/>
          </p:nvSpPr>
          <p:spPr>
            <a:xfrm>
              <a:off x="6893560" y="4759198"/>
              <a:ext cx="706755" cy="78105"/>
            </a:xfrm>
            <a:custGeom>
              <a:avLst/>
              <a:gdLst/>
              <a:ahLst/>
              <a:cxnLst/>
              <a:rect l="l" t="t" r="r" b="b"/>
              <a:pathLst>
                <a:path w="706754" h="78104">
                  <a:moveTo>
                    <a:pt x="681657" y="25653"/>
                  </a:moveTo>
                  <a:lnTo>
                    <a:pt x="641604" y="25653"/>
                  </a:lnTo>
                  <a:lnTo>
                    <a:pt x="641985" y="51562"/>
                  </a:lnTo>
                  <a:lnTo>
                    <a:pt x="629031" y="51762"/>
                  </a:lnTo>
                  <a:lnTo>
                    <a:pt x="629412" y="77596"/>
                  </a:lnTo>
                  <a:lnTo>
                    <a:pt x="706501" y="37591"/>
                  </a:lnTo>
                  <a:lnTo>
                    <a:pt x="681657" y="25653"/>
                  </a:lnTo>
                  <a:close/>
                </a:path>
                <a:path w="706754" h="78104">
                  <a:moveTo>
                    <a:pt x="628649" y="25854"/>
                  </a:moveTo>
                  <a:lnTo>
                    <a:pt x="0" y="35559"/>
                  </a:lnTo>
                  <a:lnTo>
                    <a:pt x="508" y="61468"/>
                  </a:lnTo>
                  <a:lnTo>
                    <a:pt x="629031" y="51762"/>
                  </a:lnTo>
                  <a:lnTo>
                    <a:pt x="628649" y="25854"/>
                  </a:lnTo>
                  <a:close/>
                </a:path>
                <a:path w="706754" h="78104">
                  <a:moveTo>
                    <a:pt x="641604" y="25653"/>
                  </a:moveTo>
                  <a:lnTo>
                    <a:pt x="628649" y="25854"/>
                  </a:lnTo>
                  <a:lnTo>
                    <a:pt x="629028" y="51562"/>
                  </a:lnTo>
                  <a:lnTo>
                    <a:pt x="629031" y="51762"/>
                  </a:lnTo>
                  <a:lnTo>
                    <a:pt x="641985" y="51562"/>
                  </a:lnTo>
                  <a:lnTo>
                    <a:pt x="641606" y="25854"/>
                  </a:lnTo>
                  <a:lnTo>
                    <a:pt x="641604" y="25653"/>
                  </a:lnTo>
                  <a:close/>
                </a:path>
                <a:path w="706754" h="78104">
                  <a:moveTo>
                    <a:pt x="628269" y="0"/>
                  </a:moveTo>
                  <a:lnTo>
                    <a:pt x="628646" y="25653"/>
                  </a:lnTo>
                  <a:lnTo>
                    <a:pt x="628649" y="25854"/>
                  </a:lnTo>
                  <a:lnTo>
                    <a:pt x="641604" y="25653"/>
                  </a:lnTo>
                  <a:lnTo>
                    <a:pt x="681657" y="25653"/>
                  </a:lnTo>
                  <a:lnTo>
                    <a:pt x="628269" y="0"/>
                  </a:lnTo>
                  <a:close/>
                </a:path>
              </a:pathLst>
            </a:custGeom>
            <a:solidFill>
              <a:srgbClr val="6E85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9" name="object 199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7403246" y="3781552"/>
              <a:ext cx="774569" cy="134619"/>
            </a:xfrm>
            <a:prstGeom prst="rect">
              <a:avLst/>
            </a:prstGeom>
          </p:spPr>
        </p:pic>
        <p:sp>
          <p:nvSpPr>
            <p:cNvPr id="200" name="object 200"/>
            <p:cNvSpPr/>
            <p:nvPr/>
          </p:nvSpPr>
          <p:spPr>
            <a:xfrm>
              <a:off x="7424166" y="3790188"/>
              <a:ext cx="721360" cy="78105"/>
            </a:xfrm>
            <a:custGeom>
              <a:avLst/>
              <a:gdLst/>
              <a:ahLst/>
              <a:cxnLst/>
              <a:rect l="l" t="t" r="r" b="b"/>
              <a:pathLst>
                <a:path w="721359" h="78104">
                  <a:moveTo>
                    <a:pt x="77724" y="0"/>
                  </a:moveTo>
                  <a:lnTo>
                    <a:pt x="0" y="38862"/>
                  </a:lnTo>
                  <a:lnTo>
                    <a:pt x="77724" y="77724"/>
                  </a:lnTo>
                  <a:lnTo>
                    <a:pt x="77724" y="51816"/>
                  </a:lnTo>
                  <a:lnTo>
                    <a:pt x="64769" y="51816"/>
                  </a:lnTo>
                  <a:lnTo>
                    <a:pt x="64769" y="25907"/>
                  </a:lnTo>
                  <a:lnTo>
                    <a:pt x="77724" y="25907"/>
                  </a:lnTo>
                  <a:lnTo>
                    <a:pt x="77724" y="0"/>
                  </a:lnTo>
                  <a:close/>
                </a:path>
                <a:path w="721359" h="78104">
                  <a:moveTo>
                    <a:pt x="77724" y="25907"/>
                  </a:moveTo>
                  <a:lnTo>
                    <a:pt x="64769" y="25907"/>
                  </a:lnTo>
                  <a:lnTo>
                    <a:pt x="64769" y="51816"/>
                  </a:lnTo>
                  <a:lnTo>
                    <a:pt x="77724" y="51816"/>
                  </a:lnTo>
                  <a:lnTo>
                    <a:pt x="77724" y="25907"/>
                  </a:lnTo>
                  <a:close/>
                </a:path>
                <a:path w="721359" h="78104">
                  <a:moveTo>
                    <a:pt x="720851" y="25907"/>
                  </a:moveTo>
                  <a:lnTo>
                    <a:pt x="77724" y="25907"/>
                  </a:lnTo>
                  <a:lnTo>
                    <a:pt x="77724" y="51816"/>
                  </a:lnTo>
                  <a:lnTo>
                    <a:pt x="720851" y="51816"/>
                  </a:lnTo>
                  <a:lnTo>
                    <a:pt x="720851" y="25907"/>
                  </a:lnTo>
                  <a:close/>
                </a:path>
              </a:pathLst>
            </a:custGeom>
            <a:solidFill>
              <a:srgbClr val="6E85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1" name="object 201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552944" y="5442204"/>
              <a:ext cx="801624" cy="586740"/>
            </a:xfrm>
            <a:prstGeom prst="rect">
              <a:avLst/>
            </a:prstGeom>
          </p:spPr>
        </p:pic>
        <p:pic>
          <p:nvPicPr>
            <p:cNvPr id="202" name="object 202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7676388" y="5446776"/>
              <a:ext cx="510540" cy="565404"/>
            </a:xfrm>
            <a:prstGeom prst="rect">
              <a:avLst/>
            </a:prstGeom>
          </p:spPr>
        </p:pic>
        <p:sp>
          <p:nvSpPr>
            <p:cNvPr id="203" name="object 203"/>
            <p:cNvSpPr/>
            <p:nvPr/>
          </p:nvSpPr>
          <p:spPr>
            <a:xfrm>
              <a:off x="7600188" y="5466588"/>
              <a:ext cx="707390" cy="492759"/>
            </a:xfrm>
            <a:custGeom>
              <a:avLst/>
              <a:gdLst/>
              <a:ahLst/>
              <a:cxnLst/>
              <a:rect l="l" t="t" r="r" b="b"/>
              <a:pathLst>
                <a:path w="707390" h="492760">
                  <a:moveTo>
                    <a:pt x="625093" y="0"/>
                  </a:moveTo>
                  <a:lnTo>
                    <a:pt x="82041" y="0"/>
                  </a:lnTo>
                  <a:lnTo>
                    <a:pt x="50095" y="6443"/>
                  </a:lnTo>
                  <a:lnTo>
                    <a:pt x="24018" y="24018"/>
                  </a:lnTo>
                  <a:lnTo>
                    <a:pt x="6443" y="50095"/>
                  </a:lnTo>
                  <a:lnTo>
                    <a:pt x="0" y="82042"/>
                  </a:lnTo>
                  <a:lnTo>
                    <a:pt x="0" y="410209"/>
                  </a:lnTo>
                  <a:lnTo>
                    <a:pt x="6443" y="442145"/>
                  </a:lnTo>
                  <a:lnTo>
                    <a:pt x="24018" y="468223"/>
                  </a:lnTo>
                  <a:lnTo>
                    <a:pt x="50095" y="485805"/>
                  </a:lnTo>
                  <a:lnTo>
                    <a:pt x="82041" y="492252"/>
                  </a:lnTo>
                  <a:lnTo>
                    <a:pt x="625093" y="492252"/>
                  </a:lnTo>
                  <a:lnTo>
                    <a:pt x="657040" y="485805"/>
                  </a:lnTo>
                  <a:lnTo>
                    <a:pt x="683117" y="468223"/>
                  </a:lnTo>
                  <a:lnTo>
                    <a:pt x="700692" y="442145"/>
                  </a:lnTo>
                  <a:lnTo>
                    <a:pt x="707135" y="410209"/>
                  </a:lnTo>
                  <a:lnTo>
                    <a:pt x="707135" y="82042"/>
                  </a:lnTo>
                  <a:lnTo>
                    <a:pt x="700692" y="50095"/>
                  </a:lnTo>
                  <a:lnTo>
                    <a:pt x="683117" y="24018"/>
                  </a:lnTo>
                  <a:lnTo>
                    <a:pt x="657040" y="6443"/>
                  </a:lnTo>
                  <a:lnTo>
                    <a:pt x="625093" y="0"/>
                  </a:lnTo>
                  <a:close/>
                </a:path>
              </a:pathLst>
            </a:custGeom>
            <a:solidFill>
              <a:srgbClr val="F4C9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7600188" y="5466588"/>
              <a:ext cx="707390" cy="492759"/>
            </a:xfrm>
            <a:custGeom>
              <a:avLst/>
              <a:gdLst/>
              <a:ahLst/>
              <a:cxnLst/>
              <a:rect l="l" t="t" r="r" b="b"/>
              <a:pathLst>
                <a:path w="707390" h="492760">
                  <a:moveTo>
                    <a:pt x="0" y="82042"/>
                  </a:moveTo>
                  <a:lnTo>
                    <a:pt x="6443" y="50095"/>
                  </a:lnTo>
                  <a:lnTo>
                    <a:pt x="24018" y="24018"/>
                  </a:lnTo>
                  <a:lnTo>
                    <a:pt x="50095" y="6443"/>
                  </a:lnTo>
                  <a:lnTo>
                    <a:pt x="82041" y="0"/>
                  </a:lnTo>
                  <a:lnTo>
                    <a:pt x="625093" y="0"/>
                  </a:lnTo>
                  <a:lnTo>
                    <a:pt x="657040" y="6443"/>
                  </a:lnTo>
                  <a:lnTo>
                    <a:pt x="683117" y="24018"/>
                  </a:lnTo>
                  <a:lnTo>
                    <a:pt x="700692" y="50095"/>
                  </a:lnTo>
                  <a:lnTo>
                    <a:pt x="707135" y="82042"/>
                  </a:lnTo>
                  <a:lnTo>
                    <a:pt x="707135" y="410209"/>
                  </a:lnTo>
                  <a:lnTo>
                    <a:pt x="700692" y="442145"/>
                  </a:lnTo>
                  <a:lnTo>
                    <a:pt x="683117" y="468223"/>
                  </a:lnTo>
                  <a:lnTo>
                    <a:pt x="657040" y="485805"/>
                  </a:lnTo>
                  <a:lnTo>
                    <a:pt x="625093" y="492252"/>
                  </a:lnTo>
                  <a:lnTo>
                    <a:pt x="82041" y="492252"/>
                  </a:lnTo>
                  <a:lnTo>
                    <a:pt x="50095" y="485805"/>
                  </a:lnTo>
                  <a:lnTo>
                    <a:pt x="24018" y="468223"/>
                  </a:lnTo>
                  <a:lnTo>
                    <a:pt x="6443" y="442145"/>
                  </a:lnTo>
                  <a:lnTo>
                    <a:pt x="0" y="410209"/>
                  </a:lnTo>
                  <a:lnTo>
                    <a:pt x="0" y="82042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5" name="object 205"/>
          <p:cNvSpPr txBox="1"/>
          <p:nvPr/>
        </p:nvSpPr>
        <p:spPr>
          <a:xfrm>
            <a:off x="7844155" y="5509361"/>
            <a:ext cx="144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718FA4"/>
                </a:solidFill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6" name="object 206"/>
          <p:cNvSpPr txBox="1"/>
          <p:nvPr/>
        </p:nvSpPr>
        <p:spPr>
          <a:xfrm>
            <a:off x="7963027" y="564194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718FA4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07" name="object 207"/>
          <p:cNvGrpSpPr/>
          <p:nvPr/>
        </p:nvGrpSpPr>
        <p:grpSpPr>
          <a:xfrm>
            <a:off x="7552943" y="4347971"/>
            <a:ext cx="809625" cy="940435"/>
            <a:chOff x="7552943" y="4347971"/>
            <a:chExt cx="809625" cy="940435"/>
          </a:xfrm>
        </p:grpSpPr>
        <p:pic>
          <p:nvPicPr>
            <p:cNvPr id="208" name="object 20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52943" y="4347971"/>
              <a:ext cx="809244" cy="940307"/>
            </a:xfrm>
            <a:prstGeom prst="rect">
              <a:avLst/>
            </a:prstGeom>
          </p:spPr>
        </p:pic>
        <p:pic>
          <p:nvPicPr>
            <p:cNvPr id="209" name="object 209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7706867" y="4386071"/>
              <a:ext cx="565403" cy="865631"/>
            </a:xfrm>
            <a:prstGeom prst="rect">
              <a:avLst/>
            </a:prstGeom>
          </p:spPr>
        </p:pic>
        <p:sp>
          <p:nvSpPr>
            <p:cNvPr id="210" name="object 210"/>
            <p:cNvSpPr/>
            <p:nvPr/>
          </p:nvSpPr>
          <p:spPr>
            <a:xfrm>
              <a:off x="7600187" y="4372355"/>
              <a:ext cx="715010" cy="845819"/>
            </a:xfrm>
            <a:custGeom>
              <a:avLst/>
              <a:gdLst/>
              <a:ahLst/>
              <a:cxnLst/>
              <a:rect l="l" t="t" r="r" b="b"/>
              <a:pathLst>
                <a:path w="715009" h="845820">
                  <a:moveTo>
                    <a:pt x="595629" y="0"/>
                  </a:moveTo>
                  <a:lnTo>
                    <a:pt x="119125" y="0"/>
                  </a:lnTo>
                  <a:lnTo>
                    <a:pt x="72759" y="9362"/>
                  </a:lnTo>
                  <a:lnTo>
                    <a:pt x="34893" y="34893"/>
                  </a:lnTo>
                  <a:lnTo>
                    <a:pt x="9362" y="72759"/>
                  </a:lnTo>
                  <a:lnTo>
                    <a:pt x="0" y="119126"/>
                  </a:lnTo>
                  <a:lnTo>
                    <a:pt x="0" y="726694"/>
                  </a:lnTo>
                  <a:lnTo>
                    <a:pt x="9362" y="773060"/>
                  </a:lnTo>
                  <a:lnTo>
                    <a:pt x="34893" y="810926"/>
                  </a:lnTo>
                  <a:lnTo>
                    <a:pt x="72759" y="836457"/>
                  </a:lnTo>
                  <a:lnTo>
                    <a:pt x="119125" y="845820"/>
                  </a:lnTo>
                  <a:lnTo>
                    <a:pt x="595629" y="845820"/>
                  </a:lnTo>
                  <a:lnTo>
                    <a:pt x="641996" y="836457"/>
                  </a:lnTo>
                  <a:lnTo>
                    <a:pt x="679862" y="810926"/>
                  </a:lnTo>
                  <a:lnTo>
                    <a:pt x="705393" y="773060"/>
                  </a:lnTo>
                  <a:lnTo>
                    <a:pt x="714755" y="726694"/>
                  </a:lnTo>
                  <a:lnTo>
                    <a:pt x="714755" y="119126"/>
                  </a:lnTo>
                  <a:lnTo>
                    <a:pt x="705393" y="72759"/>
                  </a:lnTo>
                  <a:lnTo>
                    <a:pt x="679862" y="34893"/>
                  </a:lnTo>
                  <a:lnTo>
                    <a:pt x="641996" y="9362"/>
                  </a:lnTo>
                  <a:lnTo>
                    <a:pt x="595629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7600187" y="4372355"/>
              <a:ext cx="715010" cy="845819"/>
            </a:xfrm>
            <a:custGeom>
              <a:avLst/>
              <a:gdLst/>
              <a:ahLst/>
              <a:cxnLst/>
              <a:rect l="l" t="t" r="r" b="b"/>
              <a:pathLst>
                <a:path w="715009" h="845820">
                  <a:moveTo>
                    <a:pt x="0" y="119126"/>
                  </a:moveTo>
                  <a:lnTo>
                    <a:pt x="9362" y="72759"/>
                  </a:lnTo>
                  <a:lnTo>
                    <a:pt x="34893" y="34893"/>
                  </a:lnTo>
                  <a:lnTo>
                    <a:pt x="72759" y="9362"/>
                  </a:lnTo>
                  <a:lnTo>
                    <a:pt x="119125" y="0"/>
                  </a:lnTo>
                  <a:lnTo>
                    <a:pt x="595629" y="0"/>
                  </a:lnTo>
                  <a:lnTo>
                    <a:pt x="641996" y="9362"/>
                  </a:lnTo>
                  <a:lnTo>
                    <a:pt x="679862" y="34893"/>
                  </a:lnTo>
                  <a:lnTo>
                    <a:pt x="705393" y="72759"/>
                  </a:lnTo>
                  <a:lnTo>
                    <a:pt x="714755" y="119126"/>
                  </a:lnTo>
                  <a:lnTo>
                    <a:pt x="714755" y="726694"/>
                  </a:lnTo>
                  <a:lnTo>
                    <a:pt x="705393" y="773060"/>
                  </a:lnTo>
                  <a:lnTo>
                    <a:pt x="679862" y="810926"/>
                  </a:lnTo>
                  <a:lnTo>
                    <a:pt x="641996" y="836457"/>
                  </a:lnTo>
                  <a:lnTo>
                    <a:pt x="595629" y="845820"/>
                  </a:lnTo>
                  <a:lnTo>
                    <a:pt x="119125" y="845820"/>
                  </a:lnTo>
                  <a:lnTo>
                    <a:pt x="72759" y="836457"/>
                  </a:lnTo>
                  <a:lnTo>
                    <a:pt x="34893" y="810926"/>
                  </a:lnTo>
                  <a:lnTo>
                    <a:pt x="9362" y="773060"/>
                  </a:lnTo>
                  <a:lnTo>
                    <a:pt x="0" y="726694"/>
                  </a:lnTo>
                  <a:lnTo>
                    <a:pt x="0" y="119126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2" name="object 212"/>
          <p:cNvSpPr txBox="1"/>
          <p:nvPr/>
        </p:nvSpPr>
        <p:spPr>
          <a:xfrm>
            <a:off x="7850378" y="4531681"/>
            <a:ext cx="254000" cy="5321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0" dirty="0">
                <a:solidFill>
                  <a:srgbClr val="718FA4"/>
                </a:solidFill>
                <a:latin typeface="Calibri"/>
                <a:cs typeface="Calibri"/>
              </a:rPr>
              <a:t>LSTM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3" name="object 213"/>
          <p:cNvGrpSpPr/>
          <p:nvPr/>
        </p:nvGrpSpPr>
        <p:grpSpPr>
          <a:xfrm>
            <a:off x="7694706" y="1664207"/>
            <a:ext cx="1196340" cy="3865245"/>
            <a:chOff x="7694706" y="1664207"/>
            <a:chExt cx="1196340" cy="3865245"/>
          </a:xfrm>
        </p:grpSpPr>
        <p:pic>
          <p:nvPicPr>
            <p:cNvPr id="214" name="object 21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836407" y="5117592"/>
              <a:ext cx="242316" cy="411479"/>
            </a:xfrm>
            <a:prstGeom prst="rect">
              <a:avLst/>
            </a:prstGeom>
          </p:spPr>
        </p:pic>
        <p:pic>
          <p:nvPicPr>
            <p:cNvPr id="215" name="object 215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7918068" y="5218937"/>
              <a:ext cx="77724" cy="247523"/>
            </a:xfrm>
            <a:prstGeom prst="rect">
              <a:avLst/>
            </a:prstGeom>
          </p:spPr>
        </p:pic>
        <p:pic>
          <p:nvPicPr>
            <p:cNvPr id="216" name="object 216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7694706" y="1668756"/>
              <a:ext cx="899099" cy="565451"/>
            </a:xfrm>
            <a:prstGeom prst="rect">
              <a:avLst/>
            </a:prstGeom>
          </p:spPr>
        </p:pic>
        <p:pic>
          <p:nvPicPr>
            <p:cNvPr id="217" name="object 217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7885175" y="1664207"/>
              <a:ext cx="472440" cy="565403"/>
            </a:xfrm>
            <a:prstGeom prst="rect">
              <a:avLst/>
            </a:prstGeom>
          </p:spPr>
        </p:pic>
        <p:sp>
          <p:nvSpPr>
            <p:cNvPr id="218" name="object 218"/>
            <p:cNvSpPr/>
            <p:nvPr/>
          </p:nvSpPr>
          <p:spPr>
            <a:xfrm>
              <a:off x="7732775" y="1684019"/>
              <a:ext cx="822960" cy="489584"/>
            </a:xfrm>
            <a:custGeom>
              <a:avLst/>
              <a:gdLst/>
              <a:ahLst/>
              <a:cxnLst/>
              <a:rect l="l" t="t" r="r" b="b"/>
              <a:pathLst>
                <a:path w="822959" h="489585">
                  <a:moveTo>
                    <a:pt x="741426" y="0"/>
                  </a:moveTo>
                  <a:lnTo>
                    <a:pt x="81533" y="0"/>
                  </a:lnTo>
                  <a:lnTo>
                    <a:pt x="49774" y="6399"/>
                  </a:lnTo>
                  <a:lnTo>
                    <a:pt x="23860" y="23860"/>
                  </a:lnTo>
                  <a:lnTo>
                    <a:pt x="6399" y="49774"/>
                  </a:lnTo>
                  <a:lnTo>
                    <a:pt x="0" y="81533"/>
                  </a:lnTo>
                  <a:lnTo>
                    <a:pt x="0" y="407669"/>
                  </a:lnTo>
                  <a:lnTo>
                    <a:pt x="6399" y="439429"/>
                  </a:lnTo>
                  <a:lnTo>
                    <a:pt x="23860" y="465343"/>
                  </a:lnTo>
                  <a:lnTo>
                    <a:pt x="49774" y="482804"/>
                  </a:lnTo>
                  <a:lnTo>
                    <a:pt x="81533" y="489203"/>
                  </a:lnTo>
                  <a:lnTo>
                    <a:pt x="741426" y="489203"/>
                  </a:lnTo>
                  <a:lnTo>
                    <a:pt x="773185" y="482804"/>
                  </a:lnTo>
                  <a:lnTo>
                    <a:pt x="799099" y="465343"/>
                  </a:lnTo>
                  <a:lnTo>
                    <a:pt x="816560" y="439429"/>
                  </a:lnTo>
                  <a:lnTo>
                    <a:pt x="822959" y="407669"/>
                  </a:lnTo>
                  <a:lnTo>
                    <a:pt x="822959" y="81533"/>
                  </a:lnTo>
                  <a:lnTo>
                    <a:pt x="816560" y="49774"/>
                  </a:lnTo>
                  <a:lnTo>
                    <a:pt x="799099" y="23860"/>
                  </a:lnTo>
                  <a:lnTo>
                    <a:pt x="773185" y="6399"/>
                  </a:lnTo>
                  <a:lnTo>
                    <a:pt x="741426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7732775" y="1684019"/>
              <a:ext cx="822960" cy="489584"/>
            </a:xfrm>
            <a:custGeom>
              <a:avLst/>
              <a:gdLst/>
              <a:ahLst/>
              <a:cxnLst/>
              <a:rect l="l" t="t" r="r" b="b"/>
              <a:pathLst>
                <a:path w="822959" h="489585">
                  <a:moveTo>
                    <a:pt x="0" y="81533"/>
                  </a:moveTo>
                  <a:lnTo>
                    <a:pt x="6399" y="49774"/>
                  </a:lnTo>
                  <a:lnTo>
                    <a:pt x="23860" y="23860"/>
                  </a:lnTo>
                  <a:lnTo>
                    <a:pt x="49774" y="6399"/>
                  </a:lnTo>
                  <a:lnTo>
                    <a:pt x="81533" y="0"/>
                  </a:lnTo>
                  <a:lnTo>
                    <a:pt x="741426" y="0"/>
                  </a:lnTo>
                  <a:lnTo>
                    <a:pt x="773185" y="6399"/>
                  </a:lnTo>
                  <a:lnTo>
                    <a:pt x="799099" y="23860"/>
                  </a:lnTo>
                  <a:lnTo>
                    <a:pt x="816560" y="49774"/>
                  </a:lnTo>
                  <a:lnTo>
                    <a:pt x="822959" y="81533"/>
                  </a:lnTo>
                  <a:lnTo>
                    <a:pt x="822959" y="407669"/>
                  </a:lnTo>
                  <a:lnTo>
                    <a:pt x="816560" y="439429"/>
                  </a:lnTo>
                  <a:lnTo>
                    <a:pt x="799099" y="465343"/>
                  </a:lnTo>
                  <a:lnTo>
                    <a:pt x="773185" y="482804"/>
                  </a:lnTo>
                  <a:lnTo>
                    <a:pt x="741426" y="489203"/>
                  </a:lnTo>
                  <a:lnTo>
                    <a:pt x="81533" y="489203"/>
                  </a:lnTo>
                  <a:lnTo>
                    <a:pt x="49774" y="482804"/>
                  </a:lnTo>
                  <a:lnTo>
                    <a:pt x="23860" y="465343"/>
                  </a:lnTo>
                  <a:lnTo>
                    <a:pt x="6399" y="439429"/>
                  </a:lnTo>
                  <a:lnTo>
                    <a:pt x="0" y="407669"/>
                  </a:lnTo>
                  <a:lnTo>
                    <a:pt x="0" y="81533"/>
                  </a:lnTo>
                  <a:close/>
                </a:path>
              </a:pathLst>
            </a:custGeom>
            <a:ln w="9143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0" name="object 2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81771" y="3378707"/>
              <a:ext cx="809244" cy="940307"/>
            </a:xfrm>
            <a:prstGeom prst="rect">
              <a:avLst/>
            </a:prstGeom>
          </p:spPr>
        </p:pic>
        <p:pic>
          <p:nvPicPr>
            <p:cNvPr id="221" name="object 221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8237219" y="3416807"/>
              <a:ext cx="565403" cy="865632"/>
            </a:xfrm>
            <a:prstGeom prst="rect">
              <a:avLst/>
            </a:prstGeom>
          </p:spPr>
        </p:pic>
        <p:sp>
          <p:nvSpPr>
            <p:cNvPr id="222" name="object 222"/>
            <p:cNvSpPr/>
            <p:nvPr/>
          </p:nvSpPr>
          <p:spPr>
            <a:xfrm>
              <a:off x="8129015" y="3403091"/>
              <a:ext cx="715010" cy="845819"/>
            </a:xfrm>
            <a:custGeom>
              <a:avLst/>
              <a:gdLst/>
              <a:ahLst/>
              <a:cxnLst/>
              <a:rect l="l" t="t" r="r" b="b"/>
              <a:pathLst>
                <a:path w="715009" h="845820">
                  <a:moveTo>
                    <a:pt x="595629" y="0"/>
                  </a:moveTo>
                  <a:lnTo>
                    <a:pt x="119125" y="0"/>
                  </a:lnTo>
                  <a:lnTo>
                    <a:pt x="72759" y="9362"/>
                  </a:lnTo>
                  <a:lnTo>
                    <a:pt x="34893" y="34893"/>
                  </a:lnTo>
                  <a:lnTo>
                    <a:pt x="9362" y="72759"/>
                  </a:lnTo>
                  <a:lnTo>
                    <a:pt x="0" y="119125"/>
                  </a:lnTo>
                  <a:lnTo>
                    <a:pt x="0" y="726694"/>
                  </a:lnTo>
                  <a:lnTo>
                    <a:pt x="9362" y="773060"/>
                  </a:lnTo>
                  <a:lnTo>
                    <a:pt x="34893" y="810926"/>
                  </a:lnTo>
                  <a:lnTo>
                    <a:pt x="72759" y="836457"/>
                  </a:lnTo>
                  <a:lnTo>
                    <a:pt x="119125" y="845820"/>
                  </a:lnTo>
                  <a:lnTo>
                    <a:pt x="595629" y="845820"/>
                  </a:lnTo>
                  <a:lnTo>
                    <a:pt x="641996" y="836457"/>
                  </a:lnTo>
                  <a:lnTo>
                    <a:pt x="679862" y="810926"/>
                  </a:lnTo>
                  <a:lnTo>
                    <a:pt x="705393" y="773060"/>
                  </a:lnTo>
                  <a:lnTo>
                    <a:pt x="714755" y="726694"/>
                  </a:lnTo>
                  <a:lnTo>
                    <a:pt x="714755" y="119125"/>
                  </a:lnTo>
                  <a:lnTo>
                    <a:pt x="705393" y="72759"/>
                  </a:lnTo>
                  <a:lnTo>
                    <a:pt x="679862" y="34893"/>
                  </a:lnTo>
                  <a:lnTo>
                    <a:pt x="641996" y="9362"/>
                  </a:lnTo>
                  <a:lnTo>
                    <a:pt x="595629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8129015" y="3403091"/>
              <a:ext cx="715010" cy="845819"/>
            </a:xfrm>
            <a:custGeom>
              <a:avLst/>
              <a:gdLst/>
              <a:ahLst/>
              <a:cxnLst/>
              <a:rect l="l" t="t" r="r" b="b"/>
              <a:pathLst>
                <a:path w="715009" h="845820">
                  <a:moveTo>
                    <a:pt x="0" y="119125"/>
                  </a:moveTo>
                  <a:lnTo>
                    <a:pt x="9362" y="72759"/>
                  </a:lnTo>
                  <a:lnTo>
                    <a:pt x="34893" y="34893"/>
                  </a:lnTo>
                  <a:lnTo>
                    <a:pt x="72759" y="9362"/>
                  </a:lnTo>
                  <a:lnTo>
                    <a:pt x="119125" y="0"/>
                  </a:lnTo>
                  <a:lnTo>
                    <a:pt x="595629" y="0"/>
                  </a:lnTo>
                  <a:lnTo>
                    <a:pt x="641996" y="9362"/>
                  </a:lnTo>
                  <a:lnTo>
                    <a:pt x="679862" y="34893"/>
                  </a:lnTo>
                  <a:lnTo>
                    <a:pt x="705393" y="72759"/>
                  </a:lnTo>
                  <a:lnTo>
                    <a:pt x="714755" y="119125"/>
                  </a:lnTo>
                  <a:lnTo>
                    <a:pt x="714755" y="726694"/>
                  </a:lnTo>
                  <a:lnTo>
                    <a:pt x="705393" y="773060"/>
                  </a:lnTo>
                  <a:lnTo>
                    <a:pt x="679862" y="810926"/>
                  </a:lnTo>
                  <a:lnTo>
                    <a:pt x="641996" y="836457"/>
                  </a:lnTo>
                  <a:lnTo>
                    <a:pt x="595629" y="845820"/>
                  </a:lnTo>
                  <a:lnTo>
                    <a:pt x="119125" y="845820"/>
                  </a:lnTo>
                  <a:lnTo>
                    <a:pt x="72759" y="836457"/>
                  </a:lnTo>
                  <a:lnTo>
                    <a:pt x="34893" y="810926"/>
                  </a:lnTo>
                  <a:lnTo>
                    <a:pt x="9362" y="773060"/>
                  </a:lnTo>
                  <a:lnTo>
                    <a:pt x="0" y="726694"/>
                  </a:lnTo>
                  <a:lnTo>
                    <a:pt x="0" y="119125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4" name="object 224"/>
          <p:cNvSpPr txBox="1"/>
          <p:nvPr/>
        </p:nvSpPr>
        <p:spPr>
          <a:xfrm>
            <a:off x="8380094" y="3562163"/>
            <a:ext cx="254000" cy="5321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0" dirty="0">
                <a:solidFill>
                  <a:srgbClr val="718FA4"/>
                </a:solidFill>
                <a:latin typeface="Calibri"/>
                <a:cs typeface="Calibri"/>
              </a:rPr>
              <a:t>LSTM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25" name="object 225"/>
          <p:cNvGrpSpPr/>
          <p:nvPr/>
        </p:nvGrpSpPr>
        <p:grpSpPr>
          <a:xfrm>
            <a:off x="7694706" y="2418541"/>
            <a:ext cx="899160" cy="882650"/>
            <a:chOff x="7694706" y="2418541"/>
            <a:chExt cx="899160" cy="882650"/>
          </a:xfrm>
        </p:grpSpPr>
        <p:pic>
          <p:nvPicPr>
            <p:cNvPr id="226" name="object 226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7694706" y="2418541"/>
              <a:ext cx="899099" cy="882488"/>
            </a:xfrm>
            <a:prstGeom prst="rect">
              <a:avLst/>
            </a:prstGeom>
          </p:spPr>
        </p:pic>
        <p:pic>
          <p:nvPicPr>
            <p:cNvPr id="227" name="object 22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894319" y="2455164"/>
              <a:ext cx="565403" cy="809243"/>
            </a:xfrm>
            <a:prstGeom prst="rect">
              <a:avLst/>
            </a:prstGeom>
          </p:spPr>
        </p:pic>
        <p:sp>
          <p:nvSpPr>
            <p:cNvPr id="228" name="object 228"/>
            <p:cNvSpPr/>
            <p:nvPr/>
          </p:nvSpPr>
          <p:spPr>
            <a:xfrm>
              <a:off x="7732775" y="2433828"/>
              <a:ext cx="822960" cy="806450"/>
            </a:xfrm>
            <a:custGeom>
              <a:avLst/>
              <a:gdLst/>
              <a:ahLst/>
              <a:cxnLst/>
              <a:rect l="l" t="t" r="r" b="b"/>
              <a:pathLst>
                <a:path w="822959" h="806450">
                  <a:moveTo>
                    <a:pt x="688594" y="0"/>
                  </a:moveTo>
                  <a:lnTo>
                    <a:pt x="134366" y="0"/>
                  </a:lnTo>
                  <a:lnTo>
                    <a:pt x="91911" y="6853"/>
                  </a:lnTo>
                  <a:lnTo>
                    <a:pt x="55028" y="25936"/>
                  </a:lnTo>
                  <a:lnTo>
                    <a:pt x="25936" y="55028"/>
                  </a:lnTo>
                  <a:lnTo>
                    <a:pt x="6853" y="91911"/>
                  </a:lnTo>
                  <a:lnTo>
                    <a:pt x="0" y="134366"/>
                  </a:lnTo>
                  <a:lnTo>
                    <a:pt x="0" y="671830"/>
                  </a:lnTo>
                  <a:lnTo>
                    <a:pt x="6853" y="714284"/>
                  </a:lnTo>
                  <a:lnTo>
                    <a:pt x="25936" y="751167"/>
                  </a:lnTo>
                  <a:lnTo>
                    <a:pt x="55028" y="780259"/>
                  </a:lnTo>
                  <a:lnTo>
                    <a:pt x="91911" y="799342"/>
                  </a:lnTo>
                  <a:lnTo>
                    <a:pt x="134366" y="806196"/>
                  </a:lnTo>
                  <a:lnTo>
                    <a:pt x="688594" y="806196"/>
                  </a:lnTo>
                  <a:lnTo>
                    <a:pt x="731048" y="799342"/>
                  </a:lnTo>
                  <a:lnTo>
                    <a:pt x="767931" y="780259"/>
                  </a:lnTo>
                  <a:lnTo>
                    <a:pt x="797023" y="751167"/>
                  </a:lnTo>
                  <a:lnTo>
                    <a:pt x="816106" y="714284"/>
                  </a:lnTo>
                  <a:lnTo>
                    <a:pt x="822959" y="671830"/>
                  </a:lnTo>
                  <a:lnTo>
                    <a:pt x="822959" y="134366"/>
                  </a:lnTo>
                  <a:lnTo>
                    <a:pt x="816106" y="91911"/>
                  </a:lnTo>
                  <a:lnTo>
                    <a:pt x="797023" y="55028"/>
                  </a:lnTo>
                  <a:lnTo>
                    <a:pt x="767931" y="25936"/>
                  </a:lnTo>
                  <a:lnTo>
                    <a:pt x="731048" y="6853"/>
                  </a:lnTo>
                  <a:lnTo>
                    <a:pt x="688594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7732775" y="2433828"/>
              <a:ext cx="822960" cy="806450"/>
            </a:xfrm>
            <a:custGeom>
              <a:avLst/>
              <a:gdLst/>
              <a:ahLst/>
              <a:cxnLst/>
              <a:rect l="l" t="t" r="r" b="b"/>
              <a:pathLst>
                <a:path w="822959" h="806450">
                  <a:moveTo>
                    <a:pt x="0" y="134366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6" y="0"/>
                  </a:lnTo>
                  <a:lnTo>
                    <a:pt x="688594" y="0"/>
                  </a:lnTo>
                  <a:lnTo>
                    <a:pt x="731048" y="6853"/>
                  </a:lnTo>
                  <a:lnTo>
                    <a:pt x="767931" y="25936"/>
                  </a:lnTo>
                  <a:lnTo>
                    <a:pt x="797023" y="55028"/>
                  </a:lnTo>
                  <a:lnTo>
                    <a:pt x="816106" y="91911"/>
                  </a:lnTo>
                  <a:lnTo>
                    <a:pt x="822959" y="134366"/>
                  </a:lnTo>
                  <a:lnTo>
                    <a:pt x="822959" y="671830"/>
                  </a:lnTo>
                  <a:lnTo>
                    <a:pt x="816106" y="714284"/>
                  </a:lnTo>
                  <a:lnTo>
                    <a:pt x="797023" y="751167"/>
                  </a:lnTo>
                  <a:lnTo>
                    <a:pt x="767931" y="780259"/>
                  </a:lnTo>
                  <a:lnTo>
                    <a:pt x="731048" y="799342"/>
                  </a:lnTo>
                  <a:lnTo>
                    <a:pt x="688594" y="806196"/>
                  </a:lnTo>
                  <a:lnTo>
                    <a:pt x="134366" y="806196"/>
                  </a:lnTo>
                  <a:lnTo>
                    <a:pt x="91911" y="799342"/>
                  </a:lnTo>
                  <a:lnTo>
                    <a:pt x="55028" y="780259"/>
                  </a:lnTo>
                  <a:lnTo>
                    <a:pt x="25936" y="751167"/>
                  </a:lnTo>
                  <a:lnTo>
                    <a:pt x="6853" y="714284"/>
                  </a:lnTo>
                  <a:lnTo>
                    <a:pt x="0" y="671830"/>
                  </a:lnTo>
                  <a:lnTo>
                    <a:pt x="0" y="134366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0" name="object 230"/>
          <p:cNvSpPr txBox="1"/>
          <p:nvPr/>
        </p:nvSpPr>
        <p:spPr>
          <a:xfrm>
            <a:off x="8037194" y="2601094"/>
            <a:ext cx="254000" cy="4743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0" dirty="0">
                <a:solidFill>
                  <a:srgbClr val="718FA4"/>
                </a:solidFill>
                <a:latin typeface="Calibri"/>
                <a:cs typeface="Calibri"/>
              </a:rPr>
              <a:t>ReLu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1" name="object 231"/>
          <p:cNvGrpSpPr/>
          <p:nvPr/>
        </p:nvGrpSpPr>
        <p:grpSpPr>
          <a:xfrm>
            <a:off x="6670496" y="2078735"/>
            <a:ext cx="1938655" cy="3770629"/>
            <a:chOff x="6670496" y="2078735"/>
            <a:chExt cx="1938655" cy="3770629"/>
          </a:xfrm>
        </p:grpSpPr>
        <p:pic>
          <p:nvPicPr>
            <p:cNvPr id="232" name="object 2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180832" y="3133343"/>
              <a:ext cx="242316" cy="304800"/>
            </a:xfrm>
            <a:prstGeom prst="rect">
              <a:avLst/>
            </a:prstGeom>
          </p:spPr>
        </p:pic>
        <p:pic>
          <p:nvPicPr>
            <p:cNvPr id="233" name="object 23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266938" y="3234689"/>
              <a:ext cx="77596" cy="141477"/>
            </a:xfrm>
            <a:prstGeom prst="rect">
              <a:avLst/>
            </a:prstGeom>
          </p:spPr>
        </p:pic>
        <p:pic>
          <p:nvPicPr>
            <p:cNvPr id="234" name="object 2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008620" y="2078735"/>
              <a:ext cx="242316" cy="414527"/>
            </a:xfrm>
            <a:prstGeom prst="rect">
              <a:avLst/>
            </a:prstGeom>
          </p:spPr>
        </p:pic>
        <p:pic>
          <p:nvPicPr>
            <p:cNvPr id="235" name="object 23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8090916" y="2180081"/>
              <a:ext cx="77724" cy="250443"/>
            </a:xfrm>
            <a:prstGeom prst="rect">
              <a:avLst/>
            </a:prstGeom>
          </p:spPr>
        </p:pic>
        <p:pic>
          <p:nvPicPr>
            <p:cNvPr id="236" name="object 236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7848600" y="3133343"/>
              <a:ext cx="240792" cy="1271015"/>
            </a:xfrm>
            <a:prstGeom prst="rect">
              <a:avLst/>
            </a:prstGeom>
          </p:spPr>
        </p:pic>
        <p:sp>
          <p:nvSpPr>
            <p:cNvPr id="237" name="object 237"/>
            <p:cNvSpPr/>
            <p:nvPr/>
          </p:nvSpPr>
          <p:spPr>
            <a:xfrm>
              <a:off x="7929752" y="3234689"/>
              <a:ext cx="78105" cy="1107440"/>
            </a:xfrm>
            <a:custGeom>
              <a:avLst/>
              <a:gdLst/>
              <a:ahLst/>
              <a:cxnLst/>
              <a:rect l="l" t="t" r="r" b="b"/>
              <a:pathLst>
                <a:path w="78104" h="1107439">
                  <a:moveTo>
                    <a:pt x="51943" y="64770"/>
                  </a:moveTo>
                  <a:lnTo>
                    <a:pt x="26035" y="64770"/>
                  </a:lnTo>
                  <a:lnTo>
                    <a:pt x="24003" y="1106805"/>
                  </a:lnTo>
                  <a:lnTo>
                    <a:pt x="49911" y="1106932"/>
                  </a:lnTo>
                  <a:lnTo>
                    <a:pt x="51918" y="77850"/>
                  </a:lnTo>
                  <a:lnTo>
                    <a:pt x="51943" y="64770"/>
                  </a:lnTo>
                  <a:close/>
                </a:path>
                <a:path w="78104" h="1107439">
                  <a:moveTo>
                    <a:pt x="39116" y="0"/>
                  </a:moveTo>
                  <a:lnTo>
                    <a:pt x="0" y="77850"/>
                  </a:lnTo>
                  <a:lnTo>
                    <a:pt x="26010" y="77850"/>
                  </a:lnTo>
                  <a:lnTo>
                    <a:pt x="26035" y="64770"/>
                  </a:lnTo>
                  <a:lnTo>
                    <a:pt x="71343" y="64770"/>
                  </a:lnTo>
                  <a:lnTo>
                    <a:pt x="39116" y="0"/>
                  </a:lnTo>
                  <a:close/>
                </a:path>
                <a:path w="78104" h="1107439">
                  <a:moveTo>
                    <a:pt x="71343" y="64770"/>
                  </a:moveTo>
                  <a:lnTo>
                    <a:pt x="51943" y="64770"/>
                  </a:lnTo>
                  <a:lnTo>
                    <a:pt x="51918" y="77850"/>
                  </a:lnTo>
                  <a:lnTo>
                    <a:pt x="77851" y="77850"/>
                  </a:lnTo>
                  <a:lnTo>
                    <a:pt x="71343" y="64770"/>
                  </a:lnTo>
                  <a:close/>
                </a:path>
              </a:pathLst>
            </a:custGeom>
            <a:solidFill>
              <a:srgbClr val="6E85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8" name="object 238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8366760" y="4148327"/>
              <a:ext cx="242316" cy="1207008"/>
            </a:xfrm>
            <a:prstGeom prst="rect">
              <a:avLst/>
            </a:prstGeom>
          </p:spPr>
        </p:pic>
        <p:sp>
          <p:nvSpPr>
            <p:cNvPr id="239" name="object 239"/>
            <p:cNvSpPr/>
            <p:nvPr/>
          </p:nvSpPr>
          <p:spPr>
            <a:xfrm>
              <a:off x="8449056" y="4249673"/>
              <a:ext cx="78105" cy="1043940"/>
            </a:xfrm>
            <a:custGeom>
              <a:avLst/>
              <a:gdLst/>
              <a:ahLst/>
              <a:cxnLst/>
              <a:rect l="l" t="t" r="r" b="b"/>
              <a:pathLst>
                <a:path w="78104" h="1043939">
                  <a:moveTo>
                    <a:pt x="51816" y="64769"/>
                  </a:moveTo>
                  <a:lnTo>
                    <a:pt x="25908" y="64769"/>
                  </a:lnTo>
                  <a:lnTo>
                    <a:pt x="25908" y="1043685"/>
                  </a:lnTo>
                  <a:lnTo>
                    <a:pt x="51816" y="1043685"/>
                  </a:lnTo>
                  <a:lnTo>
                    <a:pt x="51816" y="64769"/>
                  </a:lnTo>
                  <a:close/>
                </a:path>
                <a:path w="78104" h="1043939">
                  <a:moveTo>
                    <a:pt x="38862" y="0"/>
                  </a:moveTo>
                  <a:lnTo>
                    <a:pt x="0" y="77724"/>
                  </a:lnTo>
                  <a:lnTo>
                    <a:pt x="25908" y="77724"/>
                  </a:lnTo>
                  <a:lnTo>
                    <a:pt x="25908" y="64769"/>
                  </a:lnTo>
                  <a:lnTo>
                    <a:pt x="71247" y="64769"/>
                  </a:lnTo>
                  <a:lnTo>
                    <a:pt x="38862" y="0"/>
                  </a:lnTo>
                  <a:close/>
                </a:path>
                <a:path w="78104" h="1043939">
                  <a:moveTo>
                    <a:pt x="71247" y="64769"/>
                  </a:moveTo>
                  <a:lnTo>
                    <a:pt x="51816" y="64769"/>
                  </a:lnTo>
                  <a:lnTo>
                    <a:pt x="51816" y="77724"/>
                  </a:lnTo>
                  <a:lnTo>
                    <a:pt x="77724" y="77724"/>
                  </a:lnTo>
                  <a:lnTo>
                    <a:pt x="71247" y="64769"/>
                  </a:lnTo>
                  <a:close/>
                </a:path>
              </a:pathLst>
            </a:custGeom>
            <a:solidFill>
              <a:srgbClr val="B903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0" name="object 2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70496" y="5280683"/>
              <a:ext cx="791058" cy="568404"/>
            </a:xfrm>
            <a:prstGeom prst="rect">
              <a:avLst/>
            </a:prstGeom>
          </p:spPr>
        </p:pic>
        <p:pic>
          <p:nvPicPr>
            <p:cNvPr id="241" name="object 241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6801612" y="5274563"/>
              <a:ext cx="481583" cy="565404"/>
            </a:xfrm>
            <a:prstGeom prst="rect">
              <a:avLst/>
            </a:prstGeom>
          </p:spPr>
        </p:pic>
        <p:sp>
          <p:nvSpPr>
            <p:cNvPr id="242" name="object 242"/>
            <p:cNvSpPr/>
            <p:nvPr/>
          </p:nvSpPr>
          <p:spPr>
            <a:xfrm>
              <a:off x="6708648" y="5295900"/>
              <a:ext cx="715010" cy="492759"/>
            </a:xfrm>
            <a:custGeom>
              <a:avLst/>
              <a:gdLst/>
              <a:ahLst/>
              <a:cxnLst/>
              <a:rect l="l" t="t" r="r" b="b"/>
              <a:pathLst>
                <a:path w="715009" h="492760">
                  <a:moveTo>
                    <a:pt x="632713" y="0"/>
                  </a:moveTo>
                  <a:lnTo>
                    <a:pt x="82042" y="0"/>
                  </a:lnTo>
                  <a:lnTo>
                    <a:pt x="50095" y="6443"/>
                  </a:lnTo>
                  <a:lnTo>
                    <a:pt x="24018" y="24018"/>
                  </a:lnTo>
                  <a:lnTo>
                    <a:pt x="6443" y="50095"/>
                  </a:lnTo>
                  <a:lnTo>
                    <a:pt x="0" y="82041"/>
                  </a:lnTo>
                  <a:lnTo>
                    <a:pt x="0" y="410209"/>
                  </a:lnTo>
                  <a:lnTo>
                    <a:pt x="6443" y="442145"/>
                  </a:lnTo>
                  <a:lnTo>
                    <a:pt x="24018" y="468223"/>
                  </a:lnTo>
                  <a:lnTo>
                    <a:pt x="50095" y="485805"/>
                  </a:lnTo>
                  <a:lnTo>
                    <a:pt x="82042" y="492252"/>
                  </a:lnTo>
                  <a:lnTo>
                    <a:pt x="632713" y="492252"/>
                  </a:lnTo>
                  <a:lnTo>
                    <a:pt x="664660" y="485805"/>
                  </a:lnTo>
                  <a:lnTo>
                    <a:pt x="690737" y="468223"/>
                  </a:lnTo>
                  <a:lnTo>
                    <a:pt x="708312" y="442145"/>
                  </a:lnTo>
                  <a:lnTo>
                    <a:pt x="714755" y="410209"/>
                  </a:lnTo>
                  <a:lnTo>
                    <a:pt x="714755" y="82041"/>
                  </a:lnTo>
                  <a:lnTo>
                    <a:pt x="708312" y="50095"/>
                  </a:lnTo>
                  <a:lnTo>
                    <a:pt x="690737" y="24018"/>
                  </a:lnTo>
                  <a:lnTo>
                    <a:pt x="664660" y="6443"/>
                  </a:lnTo>
                  <a:lnTo>
                    <a:pt x="632713" y="0"/>
                  </a:lnTo>
                  <a:close/>
                </a:path>
              </a:pathLst>
            </a:custGeom>
            <a:solidFill>
              <a:srgbClr val="F4C9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6708648" y="5295900"/>
              <a:ext cx="715010" cy="492759"/>
            </a:xfrm>
            <a:custGeom>
              <a:avLst/>
              <a:gdLst/>
              <a:ahLst/>
              <a:cxnLst/>
              <a:rect l="l" t="t" r="r" b="b"/>
              <a:pathLst>
                <a:path w="715009" h="492760">
                  <a:moveTo>
                    <a:pt x="0" y="82041"/>
                  </a:moveTo>
                  <a:lnTo>
                    <a:pt x="6443" y="50095"/>
                  </a:lnTo>
                  <a:lnTo>
                    <a:pt x="24018" y="24018"/>
                  </a:lnTo>
                  <a:lnTo>
                    <a:pt x="50095" y="6443"/>
                  </a:lnTo>
                  <a:lnTo>
                    <a:pt x="82042" y="0"/>
                  </a:lnTo>
                  <a:lnTo>
                    <a:pt x="632713" y="0"/>
                  </a:lnTo>
                  <a:lnTo>
                    <a:pt x="664660" y="6443"/>
                  </a:lnTo>
                  <a:lnTo>
                    <a:pt x="690737" y="24018"/>
                  </a:lnTo>
                  <a:lnTo>
                    <a:pt x="708312" y="50095"/>
                  </a:lnTo>
                  <a:lnTo>
                    <a:pt x="714755" y="82041"/>
                  </a:lnTo>
                  <a:lnTo>
                    <a:pt x="714755" y="410209"/>
                  </a:lnTo>
                  <a:lnTo>
                    <a:pt x="708312" y="442145"/>
                  </a:lnTo>
                  <a:lnTo>
                    <a:pt x="690737" y="468223"/>
                  </a:lnTo>
                  <a:lnTo>
                    <a:pt x="664660" y="485805"/>
                  </a:lnTo>
                  <a:lnTo>
                    <a:pt x="632713" y="492252"/>
                  </a:lnTo>
                  <a:lnTo>
                    <a:pt x="82042" y="492252"/>
                  </a:lnTo>
                  <a:lnTo>
                    <a:pt x="50095" y="485805"/>
                  </a:lnTo>
                  <a:lnTo>
                    <a:pt x="24018" y="468223"/>
                  </a:lnTo>
                  <a:lnTo>
                    <a:pt x="6443" y="442145"/>
                  </a:lnTo>
                  <a:lnTo>
                    <a:pt x="0" y="410209"/>
                  </a:lnTo>
                  <a:lnTo>
                    <a:pt x="0" y="82041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4" name="object 244"/>
          <p:cNvSpPr txBox="1"/>
          <p:nvPr/>
        </p:nvSpPr>
        <p:spPr>
          <a:xfrm>
            <a:off x="6944614" y="5338317"/>
            <a:ext cx="2432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718FA4"/>
                </a:solidFill>
                <a:latin typeface="Calibri"/>
                <a:cs typeface="Calibri"/>
              </a:rPr>
              <a:t>X</a:t>
            </a:r>
            <a:r>
              <a:rPr sz="1800" spc="-37" baseline="-20833" dirty="0">
                <a:solidFill>
                  <a:srgbClr val="718FA4"/>
                </a:solidFill>
                <a:latin typeface="Calibri"/>
                <a:cs typeface="Calibri"/>
              </a:rPr>
              <a:t>t</a:t>
            </a:r>
            <a:endParaRPr sz="1800" baseline="-20833">
              <a:latin typeface="Calibri"/>
              <a:cs typeface="Calibri"/>
            </a:endParaRPr>
          </a:p>
        </p:txBody>
      </p:sp>
      <p:grpSp>
        <p:nvGrpSpPr>
          <p:cNvPr id="245" name="object 245"/>
          <p:cNvGrpSpPr/>
          <p:nvPr/>
        </p:nvGrpSpPr>
        <p:grpSpPr>
          <a:xfrm>
            <a:off x="6131052" y="4657344"/>
            <a:ext cx="2784475" cy="1373505"/>
            <a:chOff x="6131052" y="4657344"/>
            <a:chExt cx="2784475" cy="1373505"/>
          </a:xfrm>
        </p:grpSpPr>
        <p:pic>
          <p:nvPicPr>
            <p:cNvPr id="246" name="object 246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8272272" y="4657344"/>
              <a:ext cx="643127" cy="242315"/>
            </a:xfrm>
            <a:prstGeom prst="rect">
              <a:avLst/>
            </a:prstGeom>
          </p:spPr>
        </p:pic>
        <p:sp>
          <p:nvSpPr>
            <p:cNvPr id="247" name="object 247"/>
            <p:cNvSpPr/>
            <p:nvPr/>
          </p:nvSpPr>
          <p:spPr>
            <a:xfrm>
              <a:off x="8315706" y="4719828"/>
              <a:ext cx="479425" cy="78105"/>
            </a:xfrm>
            <a:custGeom>
              <a:avLst/>
              <a:gdLst/>
              <a:ahLst/>
              <a:cxnLst/>
              <a:rect l="l" t="t" r="r" b="b"/>
              <a:pathLst>
                <a:path w="479425" h="78104">
                  <a:moveTo>
                    <a:pt x="401574" y="0"/>
                  </a:moveTo>
                  <a:lnTo>
                    <a:pt x="401574" y="77724"/>
                  </a:lnTo>
                  <a:lnTo>
                    <a:pt x="453390" y="51816"/>
                  </a:lnTo>
                  <a:lnTo>
                    <a:pt x="414527" y="51816"/>
                  </a:lnTo>
                  <a:lnTo>
                    <a:pt x="414527" y="25908"/>
                  </a:lnTo>
                  <a:lnTo>
                    <a:pt x="453390" y="25908"/>
                  </a:lnTo>
                  <a:lnTo>
                    <a:pt x="401574" y="0"/>
                  </a:lnTo>
                  <a:close/>
                </a:path>
                <a:path w="479425" h="78104">
                  <a:moveTo>
                    <a:pt x="401574" y="25908"/>
                  </a:moveTo>
                  <a:lnTo>
                    <a:pt x="0" y="25908"/>
                  </a:lnTo>
                  <a:lnTo>
                    <a:pt x="0" y="51816"/>
                  </a:lnTo>
                  <a:lnTo>
                    <a:pt x="401574" y="51816"/>
                  </a:lnTo>
                  <a:lnTo>
                    <a:pt x="401574" y="25908"/>
                  </a:lnTo>
                  <a:close/>
                </a:path>
                <a:path w="479425" h="78104">
                  <a:moveTo>
                    <a:pt x="453390" y="25908"/>
                  </a:moveTo>
                  <a:lnTo>
                    <a:pt x="414527" y="25908"/>
                  </a:lnTo>
                  <a:lnTo>
                    <a:pt x="414527" y="51816"/>
                  </a:lnTo>
                  <a:lnTo>
                    <a:pt x="453390" y="51816"/>
                  </a:lnTo>
                  <a:lnTo>
                    <a:pt x="479298" y="38862"/>
                  </a:lnTo>
                  <a:lnTo>
                    <a:pt x="453390" y="25908"/>
                  </a:lnTo>
                  <a:close/>
                </a:path>
              </a:pathLst>
            </a:custGeom>
            <a:solidFill>
              <a:srgbClr val="6E85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8" name="object 248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131052" y="5443727"/>
              <a:ext cx="803148" cy="586740"/>
            </a:xfrm>
            <a:prstGeom prst="rect">
              <a:avLst/>
            </a:prstGeom>
          </p:spPr>
        </p:pic>
        <p:pic>
          <p:nvPicPr>
            <p:cNvPr id="249" name="object 249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6254496" y="5448300"/>
              <a:ext cx="510540" cy="565404"/>
            </a:xfrm>
            <a:prstGeom prst="rect">
              <a:avLst/>
            </a:prstGeom>
          </p:spPr>
        </p:pic>
        <p:sp>
          <p:nvSpPr>
            <p:cNvPr id="250" name="object 250"/>
            <p:cNvSpPr/>
            <p:nvPr/>
          </p:nvSpPr>
          <p:spPr>
            <a:xfrm>
              <a:off x="6178296" y="5468112"/>
              <a:ext cx="708660" cy="492759"/>
            </a:xfrm>
            <a:custGeom>
              <a:avLst/>
              <a:gdLst/>
              <a:ahLst/>
              <a:cxnLst/>
              <a:rect l="l" t="t" r="r" b="b"/>
              <a:pathLst>
                <a:path w="708659" h="492760">
                  <a:moveTo>
                    <a:pt x="626618" y="0"/>
                  </a:moveTo>
                  <a:lnTo>
                    <a:pt x="82041" y="0"/>
                  </a:lnTo>
                  <a:lnTo>
                    <a:pt x="50095" y="6443"/>
                  </a:lnTo>
                  <a:lnTo>
                    <a:pt x="24018" y="24018"/>
                  </a:lnTo>
                  <a:lnTo>
                    <a:pt x="6443" y="50095"/>
                  </a:lnTo>
                  <a:lnTo>
                    <a:pt x="0" y="82041"/>
                  </a:lnTo>
                  <a:lnTo>
                    <a:pt x="0" y="410209"/>
                  </a:lnTo>
                  <a:lnTo>
                    <a:pt x="6443" y="442145"/>
                  </a:lnTo>
                  <a:lnTo>
                    <a:pt x="24018" y="468223"/>
                  </a:lnTo>
                  <a:lnTo>
                    <a:pt x="50095" y="485805"/>
                  </a:lnTo>
                  <a:lnTo>
                    <a:pt x="82041" y="492251"/>
                  </a:lnTo>
                  <a:lnTo>
                    <a:pt x="626618" y="492251"/>
                  </a:lnTo>
                  <a:lnTo>
                    <a:pt x="658564" y="485805"/>
                  </a:lnTo>
                  <a:lnTo>
                    <a:pt x="684641" y="468223"/>
                  </a:lnTo>
                  <a:lnTo>
                    <a:pt x="702216" y="442145"/>
                  </a:lnTo>
                  <a:lnTo>
                    <a:pt x="708659" y="410209"/>
                  </a:lnTo>
                  <a:lnTo>
                    <a:pt x="708659" y="82041"/>
                  </a:lnTo>
                  <a:lnTo>
                    <a:pt x="702216" y="50095"/>
                  </a:lnTo>
                  <a:lnTo>
                    <a:pt x="684641" y="24018"/>
                  </a:lnTo>
                  <a:lnTo>
                    <a:pt x="658564" y="6443"/>
                  </a:lnTo>
                  <a:lnTo>
                    <a:pt x="626618" y="0"/>
                  </a:lnTo>
                  <a:close/>
                </a:path>
              </a:pathLst>
            </a:custGeom>
            <a:solidFill>
              <a:srgbClr val="F4C9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6178296" y="5468112"/>
              <a:ext cx="708660" cy="492759"/>
            </a:xfrm>
            <a:custGeom>
              <a:avLst/>
              <a:gdLst/>
              <a:ahLst/>
              <a:cxnLst/>
              <a:rect l="l" t="t" r="r" b="b"/>
              <a:pathLst>
                <a:path w="708659" h="492760">
                  <a:moveTo>
                    <a:pt x="0" y="82041"/>
                  </a:moveTo>
                  <a:lnTo>
                    <a:pt x="6443" y="50095"/>
                  </a:lnTo>
                  <a:lnTo>
                    <a:pt x="24018" y="24018"/>
                  </a:lnTo>
                  <a:lnTo>
                    <a:pt x="50095" y="6443"/>
                  </a:lnTo>
                  <a:lnTo>
                    <a:pt x="82041" y="0"/>
                  </a:lnTo>
                  <a:lnTo>
                    <a:pt x="626618" y="0"/>
                  </a:lnTo>
                  <a:lnTo>
                    <a:pt x="658564" y="6443"/>
                  </a:lnTo>
                  <a:lnTo>
                    <a:pt x="684641" y="24018"/>
                  </a:lnTo>
                  <a:lnTo>
                    <a:pt x="702216" y="50095"/>
                  </a:lnTo>
                  <a:lnTo>
                    <a:pt x="708659" y="82041"/>
                  </a:lnTo>
                  <a:lnTo>
                    <a:pt x="708659" y="410209"/>
                  </a:lnTo>
                  <a:lnTo>
                    <a:pt x="702216" y="442145"/>
                  </a:lnTo>
                  <a:lnTo>
                    <a:pt x="684641" y="468223"/>
                  </a:lnTo>
                  <a:lnTo>
                    <a:pt x="658564" y="485805"/>
                  </a:lnTo>
                  <a:lnTo>
                    <a:pt x="626618" y="492251"/>
                  </a:lnTo>
                  <a:lnTo>
                    <a:pt x="82041" y="492251"/>
                  </a:lnTo>
                  <a:lnTo>
                    <a:pt x="50095" y="485805"/>
                  </a:lnTo>
                  <a:lnTo>
                    <a:pt x="24018" y="468223"/>
                  </a:lnTo>
                  <a:lnTo>
                    <a:pt x="6443" y="442145"/>
                  </a:lnTo>
                  <a:lnTo>
                    <a:pt x="0" y="410209"/>
                  </a:lnTo>
                  <a:lnTo>
                    <a:pt x="0" y="82041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2" name="object 252"/>
          <p:cNvSpPr txBox="1"/>
          <p:nvPr/>
        </p:nvSpPr>
        <p:spPr>
          <a:xfrm>
            <a:off x="6422897" y="5511495"/>
            <a:ext cx="144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718FA4"/>
                </a:solidFill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3" name="object 253"/>
          <p:cNvSpPr txBox="1"/>
          <p:nvPr/>
        </p:nvSpPr>
        <p:spPr>
          <a:xfrm>
            <a:off x="6542023" y="564408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718FA4"/>
                </a:solidFill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54" name="object 254"/>
          <p:cNvGrpSpPr/>
          <p:nvPr/>
        </p:nvGrpSpPr>
        <p:grpSpPr>
          <a:xfrm>
            <a:off x="6131052" y="4360164"/>
            <a:ext cx="809625" cy="940435"/>
            <a:chOff x="6131052" y="4360164"/>
            <a:chExt cx="809625" cy="940435"/>
          </a:xfrm>
        </p:grpSpPr>
        <p:pic>
          <p:nvPicPr>
            <p:cNvPr id="255" name="object 25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31052" y="4360164"/>
              <a:ext cx="809244" cy="940308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6286500" y="4398264"/>
              <a:ext cx="565403" cy="865632"/>
            </a:xfrm>
            <a:prstGeom prst="rect">
              <a:avLst/>
            </a:prstGeom>
          </p:spPr>
        </p:pic>
        <p:sp>
          <p:nvSpPr>
            <p:cNvPr id="257" name="object 257"/>
            <p:cNvSpPr/>
            <p:nvPr/>
          </p:nvSpPr>
          <p:spPr>
            <a:xfrm>
              <a:off x="6178296" y="4384548"/>
              <a:ext cx="715010" cy="845819"/>
            </a:xfrm>
            <a:custGeom>
              <a:avLst/>
              <a:gdLst/>
              <a:ahLst/>
              <a:cxnLst/>
              <a:rect l="l" t="t" r="r" b="b"/>
              <a:pathLst>
                <a:path w="715009" h="845820">
                  <a:moveTo>
                    <a:pt x="595629" y="0"/>
                  </a:moveTo>
                  <a:lnTo>
                    <a:pt x="119125" y="0"/>
                  </a:lnTo>
                  <a:lnTo>
                    <a:pt x="72759" y="9362"/>
                  </a:lnTo>
                  <a:lnTo>
                    <a:pt x="34893" y="34893"/>
                  </a:lnTo>
                  <a:lnTo>
                    <a:pt x="9362" y="72759"/>
                  </a:lnTo>
                  <a:lnTo>
                    <a:pt x="0" y="119125"/>
                  </a:lnTo>
                  <a:lnTo>
                    <a:pt x="0" y="726694"/>
                  </a:lnTo>
                  <a:lnTo>
                    <a:pt x="9362" y="773060"/>
                  </a:lnTo>
                  <a:lnTo>
                    <a:pt x="34893" y="810926"/>
                  </a:lnTo>
                  <a:lnTo>
                    <a:pt x="72759" y="836457"/>
                  </a:lnTo>
                  <a:lnTo>
                    <a:pt x="119125" y="845819"/>
                  </a:lnTo>
                  <a:lnTo>
                    <a:pt x="595629" y="845819"/>
                  </a:lnTo>
                  <a:lnTo>
                    <a:pt x="641996" y="836457"/>
                  </a:lnTo>
                  <a:lnTo>
                    <a:pt x="679862" y="810926"/>
                  </a:lnTo>
                  <a:lnTo>
                    <a:pt x="705393" y="773060"/>
                  </a:lnTo>
                  <a:lnTo>
                    <a:pt x="714755" y="726694"/>
                  </a:lnTo>
                  <a:lnTo>
                    <a:pt x="714755" y="119125"/>
                  </a:lnTo>
                  <a:lnTo>
                    <a:pt x="705393" y="72759"/>
                  </a:lnTo>
                  <a:lnTo>
                    <a:pt x="679862" y="34893"/>
                  </a:lnTo>
                  <a:lnTo>
                    <a:pt x="641996" y="9362"/>
                  </a:lnTo>
                  <a:lnTo>
                    <a:pt x="595629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6178296" y="4384548"/>
              <a:ext cx="715010" cy="845819"/>
            </a:xfrm>
            <a:custGeom>
              <a:avLst/>
              <a:gdLst/>
              <a:ahLst/>
              <a:cxnLst/>
              <a:rect l="l" t="t" r="r" b="b"/>
              <a:pathLst>
                <a:path w="715009" h="845820">
                  <a:moveTo>
                    <a:pt x="0" y="119125"/>
                  </a:moveTo>
                  <a:lnTo>
                    <a:pt x="9362" y="72759"/>
                  </a:lnTo>
                  <a:lnTo>
                    <a:pt x="34893" y="34893"/>
                  </a:lnTo>
                  <a:lnTo>
                    <a:pt x="72759" y="9362"/>
                  </a:lnTo>
                  <a:lnTo>
                    <a:pt x="119125" y="0"/>
                  </a:lnTo>
                  <a:lnTo>
                    <a:pt x="595629" y="0"/>
                  </a:lnTo>
                  <a:lnTo>
                    <a:pt x="641996" y="9362"/>
                  </a:lnTo>
                  <a:lnTo>
                    <a:pt x="679862" y="34893"/>
                  </a:lnTo>
                  <a:lnTo>
                    <a:pt x="705393" y="72759"/>
                  </a:lnTo>
                  <a:lnTo>
                    <a:pt x="714755" y="119125"/>
                  </a:lnTo>
                  <a:lnTo>
                    <a:pt x="714755" y="726694"/>
                  </a:lnTo>
                  <a:lnTo>
                    <a:pt x="705393" y="773060"/>
                  </a:lnTo>
                  <a:lnTo>
                    <a:pt x="679862" y="810926"/>
                  </a:lnTo>
                  <a:lnTo>
                    <a:pt x="641996" y="836457"/>
                  </a:lnTo>
                  <a:lnTo>
                    <a:pt x="595629" y="845819"/>
                  </a:lnTo>
                  <a:lnTo>
                    <a:pt x="119125" y="845819"/>
                  </a:lnTo>
                  <a:lnTo>
                    <a:pt x="72759" y="836457"/>
                  </a:lnTo>
                  <a:lnTo>
                    <a:pt x="34893" y="810926"/>
                  </a:lnTo>
                  <a:lnTo>
                    <a:pt x="9362" y="773060"/>
                  </a:lnTo>
                  <a:lnTo>
                    <a:pt x="0" y="726694"/>
                  </a:lnTo>
                  <a:lnTo>
                    <a:pt x="0" y="119125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9" name="object 259"/>
          <p:cNvSpPr txBox="1"/>
          <p:nvPr/>
        </p:nvSpPr>
        <p:spPr>
          <a:xfrm>
            <a:off x="6429121" y="4542730"/>
            <a:ext cx="254000" cy="5321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0" dirty="0">
                <a:solidFill>
                  <a:srgbClr val="718FA4"/>
                </a:solidFill>
                <a:latin typeface="Calibri"/>
                <a:cs typeface="Calibri"/>
              </a:rPr>
              <a:t>LSTM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60" name="object 260"/>
          <p:cNvGrpSpPr/>
          <p:nvPr/>
        </p:nvGrpSpPr>
        <p:grpSpPr>
          <a:xfrm>
            <a:off x="6272738" y="1665732"/>
            <a:ext cx="901065" cy="3866515"/>
            <a:chOff x="6272738" y="1665732"/>
            <a:chExt cx="901065" cy="3866515"/>
          </a:xfrm>
        </p:grpSpPr>
        <p:pic>
          <p:nvPicPr>
            <p:cNvPr id="261" name="object 261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6416040" y="5129784"/>
              <a:ext cx="242315" cy="402336"/>
            </a:xfrm>
            <a:prstGeom prst="rect">
              <a:avLst/>
            </a:prstGeom>
          </p:spPr>
        </p:pic>
        <p:pic>
          <p:nvPicPr>
            <p:cNvPr id="262" name="object 262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6497574" y="5231129"/>
              <a:ext cx="77724" cy="238759"/>
            </a:xfrm>
            <a:prstGeom prst="rect">
              <a:avLst/>
            </a:prstGeom>
          </p:spPr>
        </p:pic>
        <p:pic>
          <p:nvPicPr>
            <p:cNvPr id="263" name="object 263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6272738" y="1671804"/>
              <a:ext cx="900774" cy="565451"/>
            </a:xfrm>
            <a:prstGeom prst="rect">
              <a:avLst/>
            </a:prstGeom>
          </p:spPr>
        </p:pic>
        <p:pic>
          <p:nvPicPr>
            <p:cNvPr id="264" name="object 264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6463284" y="1665732"/>
              <a:ext cx="472439" cy="565403"/>
            </a:xfrm>
            <a:prstGeom prst="rect">
              <a:avLst/>
            </a:prstGeom>
          </p:spPr>
        </p:pic>
        <p:sp>
          <p:nvSpPr>
            <p:cNvPr id="265" name="object 265"/>
            <p:cNvSpPr/>
            <p:nvPr/>
          </p:nvSpPr>
          <p:spPr>
            <a:xfrm>
              <a:off x="6310884" y="1687068"/>
              <a:ext cx="824865" cy="489584"/>
            </a:xfrm>
            <a:custGeom>
              <a:avLst/>
              <a:gdLst/>
              <a:ahLst/>
              <a:cxnLst/>
              <a:rect l="l" t="t" r="r" b="b"/>
              <a:pathLst>
                <a:path w="824865" h="489585">
                  <a:moveTo>
                    <a:pt x="742949" y="0"/>
                  </a:moveTo>
                  <a:lnTo>
                    <a:pt x="81533" y="0"/>
                  </a:lnTo>
                  <a:lnTo>
                    <a:pt x="49774" y="6399"/>
                  </a:lnTo>
                  <a:lnTo>
                    <a:pt x="23860" y="23860"/>
                  </a:lnTo>
                  <a:lnTo>
                    <a:pt x="6399" y="49774"/>
                  </a:lnTo>
                  <a:lnTo>
                    <a:pt x="0" y="81534"/>
                  </a:lnTo>
                  <a:lnTo>
                    <a:pt x="0" y="407670"/>
                  </a:lnTo>
                  <a:lnTo>
                    <a:pt x="6399" y="439429"/>
                  </a:lnTo>
                  <a:lnTo>
                    <a:pt x="23860" y="465343"/>
                  </a:lnTo>
                  <a:lnTo>
                    <a:pt x="49774" y="482804"/>
                  </a:lnTo>
                  <a:lnTo>
                    <a:pt x="81533" y="489204"/>
                  </a:lnTo>
                  <a:lnTo>
                    <a:pt x="742949" y="489204"/>
                  </a:lnTo>
                  <a:lnTo>
                    <a:pt x="774709" y="482804"/>
                  </a:lnTo>
                  <a:lnTo>
                    <a:pt x="800623" y="465343"/>
                  </a:lnTo>
                  <a:lnTo>
                    <a:pt x="818084" y="439429"/>
                  </a:lnTo>
                  <a:lnTo>
                    <a:pt x="824484" y="407670"/>
                  </a:lnTo>
                  <a:lnTo>
                    <a:pt x="824484" y="81534"/>
                  </a:lnTo>
                  <a:lnTo>
                    <a:pt x="818084" y="49774"/>
                  </a:lnTo>
                  <a:lnTo>
                    <a:pt x="800623" y="23860"/>
                  </a:lnTo>
                  <a:lnTo>
                    <a:pt x="774709" y="6399"/>
                  </a:lnTo>
                  <a:lnTo>
                    <a:pt x="742949" y="0"/>
                  </a:lnTo>
                  <a:close/>
                </a:path>
              </a:pathLst>
            </a:custGeom>
            <a:solidFill>
              <a:srgbClr val="C8DA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6310884" y="1687068"/>
              <a:ext cx="824865" cy="489584"/>
            </a:xfrm>
            <a:custGeom>
              <a:avLst/>
              <a:gdLst/>
              <a:ahLst/>
              <a:cxnLst/>
              <a:rect l="l" t="t" r="r" b="b"/>
              <a:pathLst>
                <a:path w="824865" h="489585">
                  <a:moveTo>
                    <a:pt x="0" y="81534"/>
                  </a:moveTo>
                  <a:lnTo>
                    <a:pt x="6399" y="49774"/>
                  </a:lnTo>
                  <a:lnTo>
                    <a:pt x="23860" y="23860"/>
                  </a:lnTo>
                  <a:lnTo>
                    <a:pt x="49774" y="6399"/>
                  </a:lnTo>
                  <a:lnTo>
                    <a:pt x="81533" y="0"/>
                  </a:lnTo>
                  <a:lnTo>
                    <a:pt x="742949" y="0"/>
                  </a:lnTo>
                  <a:lnTo>
                    <a:pt x="774709" y="6399"/>
                  </a:lnTo>
                  <a:lnTo>
                    <a:pt x="800623" y="23860"/>
                  </a:lnTo>
                  <a:lnTo>
                    <a:pt x="818084" y="49774"/>
                  </a:lnTo>
                  <a:lnTo>
                    <a:pt x="824484" y="81534"/>
                  </a:lnTo>
                  <a:lnTo>
                    <a:pt x="824484" y="407670"/>
                  </a:lnTo>
                  <a:lnTo>
                    <a:pt x="818084" y="439429"/>
                  </a:lnTo>
                  <a:lnTo>
                    <a:pt x="800623" y="465343"/>
                  </a:lnTo>
                  <a:lnTo>
                    <a:pt x="774709" y="482804"/>
                  </a:lnTo>
                  <a:lnTo>
                    <a:pt x="742949" y="489204"/>
                  </a:lnTo>
                  <a:lnTo>
                    <a:pt x="81533" y="489204"/>
                  </a:lnTo>
                  <a:lnTo>
                    <a:pt x="49774" y="482804"/>
                  </a:lnTo>
                  <a:lnTo>
                    <a:pt x="23860" y="465343"/>
                  </a:lnTo>
                  <a:lnTo>
                    <a:pt x="6399" y="439429"/>
                  </a:lnTo>
                  <a:lnTo>
                    <a:pt x="0" y="407670"/>
                  </a:lnTo>
                  <a:lnTo>
                    <a:pt x="0" y="8153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7" name="object 267"/>
          <p:cNvSpPr txBox="1"/>
          <p:nvPr/>
        </p:nvSpPr>
        <p:spPr>
          <a:xfrm>
            <a:off x="1150416" y="1731086"/>
            <a:ext cx="7124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  <a:tabLst>
                <a:tab pos="1264920" algn="l"/>
                <a:tab pos="3374390" algn="l"/>
                <a:tab pos="5493385" algn="l"/>
                <a:tab pos="6915150" algn="l"/>
              </a:tabLst>
            </a:pPr>
            <a:r>
              <a:rPr sz="2700" spc="-37" baseline="3086" dirty="0">
                <a:solidFill>
                  <a:srgbClr val="718FA4"/>
                </a:solidFill>
                <a:latin typeface="Calibri"/>
                <a:cs typeface="Calibri"/>
              </a:rPr>
              <a:t>Y</a:t>
            </a:r>
            <a:r>
              <a:rPr sz="1800" spc="-37" baseline="-16203" dirty="0">
                <a:solidFill>
                  <a:srgbClr val="718FA4"/>
                </a:solidFill>
                <a:latin typeface="Calibri"/>
                <a:cs typeface="Calibri"/>
              </a:rPr>
              <a:t>0</a:t>
            </a:r>
            <a:r>
              <a:rPr sz="1800" baseline="-16203" dirty="0">
                <a:solidFill>
                  <a:srgbClr val="718FA4"/>
                </a:solidFill>
                <a:latin typeface="Calibri"/>
                <a:cs typeface="Calibri"/>
              </a:rPr>
              <a:t>	</a:t>
            </a:r>
            <a:r>
              <a:rPr sz="2700" spc="-37" baseline="3086" dirty="0">
                <a:solidFill>
                  <a:srgbClr val="718FA4"/>
                </a:solidFill>
                <a:latin typeface="Calibri"/>
                <a:cs typeface="Calibri"/>
              </a:rPr>
              <a:t>Y</a:t>
            </a:r>
            <a:r>
              <a:rPr sz="1800" spc="-37" baseline="-16203" dirty="0">
                <a:solidFill>
                  <a:srgbClr val="718FA4"/>
                </a:solidFill>
                <a:latin typeface="Calibri"/>
                <a:cs typeface="Calibri"/>
              </a:rPr>
              <a:t>1</a:t>
            </a:r>
            <a:r>
              <a:rPr sz="1800" baseline="-16203" dirty="0">
                <a:solidFill>
                  <a:srgbClr val="718FA4"/>
                </a:solidFill>
                <a:latin typeface="Calibri"/>
                <a:cs typeface="Calibri"/>
              </a:rPr>
              <a:t>	</a:t>
            </a:r>
            <a:r>
              <a:rPr sz="1800" spc="-25" dirty="0">
                <a:solidFill>
                  <a:srgbClr val="718FA4"/>
                </a:solidFill>
                <a:latin typeface="Calibri"/>
                <a:cs typeface="Calibri"/>
              </a:rPr>
              <a:t>Y</a:t>
            </a:r>
            <a:r>
              <a:rPr sz="1800" spc="-37" baseline="-20833" dirty="0">
                <a:solidFill>
                  <a:srgbClr val="718FA4"/>
                </a:solidFill>
                <a:latin typeface="Calibri"/>
                <a:cs typeface="Calibri"/>
              </a:rPr>
              <a:t>t</a:t>
            </a:r>
            <a:r>
              <a:rPr sz="1800" baseline="-20833" dirty="0">
                <a:solidFill>
                  <a:srgbClr val="718FA4"/>
                </a:solidFill>
                <a:latin typeface="Calibri"/>
                <a:cs typeface="Calibri"/>
              </a:rPr>
              <a:t>	</a:t>
            </a:r>
            <a:r>
              <a:rPr sz="1800" spc="-25" dirty="0">
                <a:solidFill>
                  <a:srgbClr val="718FA4"/>
                </a:solidFill>
                <a:latin typeface="Calibri"/>
                <a:cs typeface="Calibri"/>
              </a:rPr>
              <a:t>Y</a:t>
            </a:r>
            <a:r>
              <a:rPr sz="1800" spc="-37" baseline="-18518" dirty="0">
                <a:solidFill>
                  <a:srgbClr val="718FA4"/>
                </a:solidFill>
                <a:latin typeface="Calibri"/>
                <a:cs typeface="Calibri"/>
              </a:rPr>
              <a:t>t</a:t>
            </a:r>
            <a:r>
              <a:rPr sz="1800" baseline="-18518" dirty="0">
                <a:solidFill>
                  <a:srgbClr val="718FA4"/>
                </a:solidFill>
                <a:latin typeface="Calibri"/>
                <a:cs typeface="Calibri"/>
              </a:rPr>
              <a:t>	</a:t>
            </a:r>
            <a:r>
              <a:rPr sz="2700" spc="-37" baseline="1543" dirty="0">
                <a:solidFill>
                  <a:srgbClr val="718FA4"/>
                </a:solidFill>
                <a:latin typeface="Calibri"/>
                <a:cs typeface="Calibri"/>
              </a:rPr>
              <a:t>Y</a:t>
            </a:r>
            <a:r>
              <a:rPr sz="1800" spc="-37" baseline="-18518" dirty="0">
                <a:solidFill>
                  <a:srgbClr val="718FA4"/>
                </a:solidFill>
                <a:latin typeface="Calibri"/>
                <a:cs typeface="Calibri"/>
              </a:rPr>
              <a:t>t</a:t>
            </a:r>
            <a:endParaRPr sz="1800" baseline="-18518">
              <a:latin typeface="Calibri"/>
              <a:cs typeface="Calibri"/>
            </a:endParaRPr>
          </a:p>
        </p:txBody>
      </p:sp>
      <p:grpSp>
        <p:nvGrpSpPr>
          <p:cNvPr id="268" name="object 268"/>
          <p:cNvGrpSpPr/>
          <p:nvPr/>
        </p:nvGrpSpPr>
        <p:grpSpPr>
          <a:xfrm>
            <a:off x="6661404" y="3381755"/>
            <a:ext cx="809625" cy="940435"/>
            <a:chOff x="6661404" y="3381755"/>
            <a:chExt cx="809625" cy="940435"/>
          </a:xfrm>
        </p:grpSpPr>
        <p:pic>
          <p:nvPicPr>
            <p:cNvPr id="269" name="object 26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61404" y="3381755"/>
              <a:ext cx="809244" cy="940308"/>
            </a:xfrm>
            <a:prstGeom prst="rect">
              <a:avLst/>
            </a:prstGeom>
          </p:spPr>
        </p:pic>
        <p:pic>
          <p:nvPicPr>
            <p:cNvPr id="270" name="object 270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6815328" y="3419855"/>
              <a:ext cx="565403" cy="865632"/>
            </a:xfrm>
            <a:prstGeom prst="rect">
              <a:avLst/>
            </a:prstGeom>
          </p:spPr>
        </p:pic>
        <p:sp>
          <p:nvSpPr>
            <p:cNvPr id="271" name="object 271"/>
            <p:cNvSpPr/>
            <p:nvPr/>
          </p:nvSpPr>
          <p:spPr>
            <a:xfrm>
              <a:off x="6708648" y="3406139"/>
              <a:ext cx="715010" cy="845819"/>
            </a:xfrm>
            <a:custGeom>
              <a:avLst/>
              <a:gdLst/>
              <a:ahLst/>
              <a:cxnLst/>
              <a:rect l="l" t="t" r="r" b="b"/>
              <a:pathLst>
                <a:path w="715009" h="845820">
                  <a:moveTo>
                    <a:pt x="595629" y="0"/>
                  </a:moveTo>
                  <a:lnTo>
                    <a:pt x="119125" y="0"/>
                  </a:lnTo>
                  <a:lnTo>
                    <a:pt x="72759" y="9362"/>
                  </a:lnTo>
                  <a:lnTo>
                    <a:pt x="34893" y="34893"/>
                  </a:lnTo>
                  <a:lnTo>
                    <a:pt x="9362" y="72759"/>
                  </a:lnTo>
                  <a:lnTo>
                    <a:pt x="0" y="119125"/>
                  </a:lnTo>
                  <a:lnTo>
                    <a:pt x="0" y="726694"/>
                  </a:lnTo>
                  <a:lnTo>
                    <a:pt x="9362" y="773060"/>
                  </a:lnTo>
                  <a:lnTo>
                    <a:pt x="34893" y="810926"/>
                  </a:lnTo>
                  <a:lnTo>
                    <a:pt x="72759" y="836457"/>
                  </a:lnTo>
                  <a:lnTo>
                    <a:pt x="119125" y="845820"/>
                  </a:lnTo>
                  <a:lnTo>
                    <a:pt x="595629" y="845820"/>
                  </a:lnTo>
                  <a:lnTo>
                    <a:pt x="641996" y="836457"/>
                  </a:lnTo>
                  <a:lnTo>
                    <a:pt x="679862" y="810926"/>
                  </a:lnTo>
                  <a:lnTo>
                    <a:pt x="705393" y="773060"/>
                  </a:lnTo>
                  <a:lnTo>
                    <a:pt x="714755" y="726694"/>
                  </a:lnTo>
                  <a:lnTo>
                    <a:pt x="714755" y="119125"/>
                  </a:lnTo>
                  <a:lnTo>
                    <a:pt x="705393" y="72759"/>
                  </a:lnTo>
                  <a:lnTo>
                    <a:pt x="679862" y="34893"/>
                  </a:lnTo>
                  <a:lnTo>
                    <a:pt x="641996" y="9362"/>
                  </a:lnTo>
                  <a:lnTo>
                    <a:pt x="595629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6708648" y="3406139"/>
              <a:ext cx="715010" cy="845819"/>
            </a:xfrm>
            <a:custGeom>
              <a:avLst/>
              <a:gdLst/>
              <a:ahLst/>
              <a:cxnLst/>
              <a:rect l="l" t="t" r="r" b="b"/>
              <a:pathLst>
                <a:path w="715009" h="845820">
                  <a:moveTo>
                    <a:pt x="0" y="119125"/>
                  </a:moveTo>
                  <a:lnTo>
                    <a:pt x="9362" y="72759"/>
                  </a:lnTo>
                  <a:lnTo>
                    <a:pt x="34893" y="34893"/>
                  </a:lnTo>
                  <a:lnTo>
                    <a:pt x="72759" y="9362"/>
                  </a:lnTo>
                  <a:lnTo>
                    <a:pt x="119125" y="0"/>
                  </a:lnTo>
                  <a:lnTo>
                    <a:pt x="595629" y="0"/>
                  </a:lnTo>
                  <a:lnTo>
                    <a:pt x="641996" y="9362"/>
                  </a:lnTo>
                  <a:lnTo>
                    <a:pt x="679862" y="34893"/>
                  </a:lnTo>
                  <a:lnTo>
                    <a:pt x="705393" y="72759"/>
                  </a:lnTo>
                  <a:lnTo>
                    <a:pt x="714755" y="119125"/>
                  </a:lnTo>
                  <a:lnTo>
                    <a:pt x="714755" y="726694"/>
                  </a:lnTo>
                  <a:lnTo>
                    <a:pt x="705393" y="773060"/>
                  </a:lnTo>
                  <a:lnTo>
                    <a:pt x="679862" y="810926"/>
                  </a:lnTo>
                  <a:lnTo>
                    <a:pt x="641996" y="836457"/>
                  </a:lnTo>
                  <a:lnTo>
                    <a:pt x="595629" y="845820"/>
                  </a:lnTo>
                  <a:lnTo>
                    <a:pt x="119125" y="845820"/>
                  </a:lnTo>
                  <a:lnTo>
                    <a:pt x="72759" y="836457"/>
                  </a:lnTo>
                  <a:lnTo>
                    <a:pt x="34893" y="810926"/>
                  </a:lnTo>
                  <a:lnTo>
                    <a:pt x="9362" y="773060"/>
                  </a:lnTo>
                  <a:lnTo>
                    <a:pt x="0" y="726694"/>
                  </a:lnTo>
                  <a:lnTo>
                    <a:pt x="0" y="119125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3" name="object 273"/>
          <p:cNvSpPr txBox="1"/>
          <p:nvPr/>
        </p:nvSpPr>
        <p:spPr>
          <a:xfrm>
            <a:off x="6959092" y="3564321"/>
            <a:ext cx="254000" cy="5321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0" dirty="0">
                <a:solidFill>
                  <a:srgbClr val="718FA4"/>
                </a:solidFill>
                <a:latin typeface="Calibri"/>
                <a:cs typeface="Calibri"/>
              </a:rPr>
              <a:t>LSTM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74" name="object 274"/>
          <p:cNvGrpSpPr/>
          <p:nvPr/>
        </p:nvGrpSpPr>
        <p:grpSpPr>
          <a:xfrm>
            <a:off x="6272738" y="2421667"/>
            <a:ext cx="901065" cy="881380"/>
            <a:chOff x="6272738" y="2421667"/>
            <a:chExt cx="901065" cy="881380"/>
          </a:xfrm>
        </p:grpSpPr>
        <p:pic>
          <p:nvPicPr>
            <p:cNvPr id="275" name="object 275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272738" y="2421667"/>
              <a:ext cx="900774" cy="880809"/>
            </a:xfrm>
            <a:prstGeom prst="rect">
              <a:avLst/>
            </a:prstGeom>
          </p:spPr>
        </p:pic>
        <p:pic>
          <p:nvPicPr>
            <p:cNvPr id="276" name="object 276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6473952" y="2456688"/>
              <a:ext cx="565403" cy="809243"/>
            </a:xfrm>
            <a:prstGeom prst="rect">
              <a:avLst/>
            </a:prstGeom>
          </p:spPr>
        </p:pic>
        <p:sp>
          <p:nvSpPr>
            <p:cNvPr id="277" name="object 277"/>
            <p:cNvSpPr/>
            <p:nvPr/>
          </p:nvSpPr>
          <p:spPr>
            <a:xfrm>
              <a:off x="6310884" y="2436876"/>
              <a:ext cx="824865" cy="805180"/>
            </a:xfrm>
            <a:custGeom>
              <a:avLst/>
              <a:gdLst/>
              <a:ahLst/>
              <a:cxnLst/>
              <a:rect l="l" t="t" r="r" b="b"/>
              <a:pathLst>
                <a:path w="824865" h="805180">
                  <a:moveTo>
                    <a:pt x="690371" y="0"/>
                  </a:moveTo>
                  <a:lnTo>
                    <a:pt x="134112" y="0"/>
                  </a:lnTo>
                  <a:lnTo>
                    <a:pt x="91732" y="6839"/>
                  </a:lnTo>
                  <a:lnTo>
                    <a:pt x="54918" y="25883"/>
                  </a:lnTo>
                  <a:lnTo>
                    <a:pt x="25883" y="54918"/>
                  </a:lnTo>
                  <a:lnTo>
                    <a:pt x="6839" y="91732"/>
                  </a:lnTo>
                  <a:lnTo>
                    <a:pt x="0" y="134112"/>
                  </a:lnTo>
                  <a:lnTo>
                    <a:pt x="0" y="670560"/>
                  </a:lnTo>
                  <a:lnTo>
                    <a:pt x="6839" y="712939"/>
                  </a:lnTo>
                  <a:lnTo>
                    <a:pt x="25883" y="749753"/>
                  </a:lnTo>
                  <a:lnTo>
                    <a:pt x="54918" y="778788"/>
                  </a:lnTo>
                  <a:lnTo>
                    <a:pt x="91732" y="797832"/>
                  </a:lnTo>
                  <a:lnTo>
                    <a:pt x="134112" y="804672"/>
                  </a:lnTo>
                  <a:lnTo>
                    <a:pt x="690371" y="804672"/>
                  </a:lnTo>
                  <a:lnTo>
                    <a:pt x="732751" y="797832"/>
                  </a:lnTo>
                  <a:lnTo>
                    <a:pt x="769565" y="778788"/>
                  </a:lnTo>
                  <a:lnTo>
                    <a:pt x="798600" y="749753"/>
                  </a:lnTo>
                  <a:lnTo>
                    <a:pt x="817644" y="712939"/>
                  </a:lnTo>
                  <a:lnTo>
                    <a:pt x="824484" y="670560"/>
                  </a:lnTo>
                  <a:lnTo>
                    <a:pt x="824484" y="134112"/>
                  </a:lnTo>
                  <a:lnTo>
                    <a:pt x="817644" y="91732"/>
                  </a:lnTo>
                  <a:lnTo>
                    <a:pt x="798600" y="54918"/>
                  </a:lnTo>
                  <a:lnTo>
                    <a:pt x="769565" y="25883"/>
                  </a:lnTo>
                  <a:lnTo>
                    <a:pt x="732751" y="6839"/>
                  </a:lnTo>
                  <a:lnTo>
                    <a:pt x="690371" y="0"/>
                  </a:lnTo>
                  <a:close/>
                </a:path>
              </a:pathLst>
            </a:custGeom>
            <a:solidFill>
              <a:srgbClr val="D9EA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6310884" y="2436876"/>
              <a:ext cx="824865" cy="805180"/>
            </a:xfrm>
            <a:custGeom>
              <a:avLst/>
              <a:gdLst/>
              <a:ahLst/>
              <a:cxnLst/>
              <a:rect l="l" t="t" r="r" b="b"/>
              <a:pathLst>
                <a:path w="824865" h="805180">
                  <a:moveTo>
                    <a:pt x="0" y="134112"/>
                  </a:moveTo>
                  <a:lnTo>
                    <a:pt x="6839" y="91732"/>
                  </a:lnTo>
                  <a:lnTo>
                    <a:pt x="25883" y="54918"/>
                  </a:lnTo>
                  <a:lnTo>
                    <a:pt x="54918" y="25883"/>
                  </a:lnTo>
                  <a:lnTo>
                    <a:pt x="91732" y="6839"/>
                  </a:lnTo>
                  <a:lnTo>
                    <a:pt x="134112" y="0"/>
                  </a:lnTo>
                  <a:lnTo>
                    <a:pt x="690371" y="0"/>
                  </a:lnTo>
                  <a:lnTo>
                    <a:pt x="732751" y="6839"/>
                  </a:lnTo>
                  <a:lnTo>
                    <a:pt x="769565" y="25883"/>
                  </a:lnTo>
                  <a:lnTo>
                    <a:pt x="798600" y="54918"/>
                  </a:lnTo>
                  <a:lnTo>
                    <a:pt x="817644" y="91732"/>
                  </a:lnTo>
                  <a:lnTo>
                    <a:pt x="824484" y="134112"/>
                  </a:lnTo>
                  <a:lnTo>
                    <a:pt x="824484" y="670560"/>
                  </a:lnTo>
                  <a:lnTo>
                    <a:pt x="817644" y="712939"/>
                  </a:lnTo>
                  <a:lnTo>
                    <a:pt x="798600" y="749753"/>
                  </a:lnTo>
                  <a:lnTo>
                    <a:pt x="769565" y="778788"/>
                  </a:lnTo>
                  <a:lnTo>
                    <a:pt x="732751" y="797832"/>
                  </a:lnTo>
                  <a:lnTo>
                    <a:pt x="690371" y="804672"/>
                  </a:lnTo>
                  <a:lnTo>
                    <a:pt x="134112" y="804672"/>
                  </a:lnTo>
                  <a:lnTo>
                    <a:pt x="91732" y="797832"/>
                  </a:lnTo>
                  <a:lnTo>
                    <a:pt x="54918" y="778788"/>
                  </a:lnTo>
                  <a:lnTo>
                    <a:pt x="25883" y="749753"/>
                  </a:lnTo>
                  <a:lnTo>
                    <a:pt x="6839" y="712939"/>
                  </a:lnTo>
                  <a:lnTo>
                    <a:pt x="0" y="670560"/>
                  </a:lnTo>
                  <a:lnTo>
                    <a:pt x="0" y="134112"/>
                  </a:lnTo>
                  <a:close/>
                </a:path>
              </a:pathLst>
            </a:custGeom>
            <a:ln w="9143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9" name="object 279"/>
          <p:cNvSpPr txBox="1"/>
          <p:nvPr/>
        </p:nvSpPr>
        <p:spPr>
          <a:xfrm>
            <a:off x="6616192" y="2603253"/>
            <a:ext cx="254000" cy="47434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20" dirty="0">
                <a:solidFill>
                  <a:srgbClr val="718FA4"/>
                </a:solidFill>
                <a:latin typeface="Calibri"/>
                <a:cs typeface="Calibri"/>
              </a:rPr>
              <a:t>ReLu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80" name="object 280"/>
          <p:cNvGrpSpPr/>
          <p:nvPr/>
        </p:nvGrpSpPr>
        <p:grpSpPr>
          <a:xfrm>
            <a:off x="2511551" y="1214627"/>
            <a:ext cx="2528570" cy="870585"/>
            <a:chOff x="2511551" y="1214627"/>
            <a:chExt cx="2528570" cy="870585"/>
          </a:xfrm>
        </p:grpSpPr>
        <p:pic>
          <p:nvPicPr>
            <p:cNvPr id="281" name="object 281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2511551" y="1220723"/>
              <a:ext cx="2528316" cy="833627"/>
            </a:xfrm>
            <a:prstGeom prst="rect">
              <a:avLst/>
            </a:prstGeom>
          </p:spPr>
        </p:pic>
        <p:pic>
          <p:nvPicPr>
            <p:cNvPr id="282" name="object 282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2816351" y="1214627"/>
              <a:ext cx="1764792" cy="870203"/>
            </a:xfrm>
            <a:prstGeom prst="rect">
              <a:avLst/>
            </a:prstGeom>
          </p:spPr>
        </p:pic>
        <p:sp>
          <p:nvSpPr>
            <p:cNvPr id="283" name="object 283"/>
            <p:cNvSpPr/>
            <p:nvPr/>
          </p:nvSpPr>
          <p:spPr>
            <a:xfrm>
              <a:off x="2559570" y="1244352"/>
              <a:ext cx="2432050" cy="718185"/>
            </a:xfrm>
            <a:custGeom>
              <a:avLst/>
              <a:gdLst/>
              <a:ahLst/>
              <a:cxnLst/>
              <a:rect l="l" t="t" r="r" b="b"/>
              <a:pathLst>
                <a:path w="2432050" h="718185">
                  <a:moveTo>
                    <a:pt x="1485900" y="0"/>
                  </a:moveTo>
                  <a:lnTo>
                    <a:pt x="1432151" y="2259"/>
                  </a:lnTo>
                  <a:lnTo>
                    <a:pt x="1381138" y="9133"/>
                  </a:lnTo>
                  <a:lnTo>
                    <a:pt x="1334838" y="20350"/>
                  </a:lnTo>
                  <a:lnTo>
                    <a:pt x="1295224" y="35639"/>
                  </a:lnTo>
                  <a:lnTo>
                    <a:pt x="1264272" y="54730"/>
                  </a:lnTo>
                  <a:lnTo>
                    <a:pt x="1248306" y="48854"/>
                  </a:lnTo>
                  <a:lnTo>
                    <a:pt x="1194549" y="34156"/>
                  </a:lnTo>
                  <a:lnTo>
                    <a:pt x="1138297" y="24919"/>
                  </a:lnTo>
                  <a:lnTo>
                    <a:pt x="1080356" y="20507"/>
                  </a:lnTo>
                  <a:lnTo>
                    <a:pt x="1022363" y="20721"/>
                  </a:lnTo>
                  <a:lnTo>
                    <a:pt x="965949" y="25361"/>
                  </a:lnTo>
                  <a:lnTo>
                    <a:pt x="912751" y="34228"/>
                  </a:lnTo>
                  <a:lnTo>
                    <a:pt x="864401" y="47122"/>
                  </a:lnTo>
                  <a:lnTo>
                    <a:pt x="822534" y="63844"/>
                  </a:lnTo>
                  <a:lnTo>
                    <a:pt x="788784" y="84194"/>
                  </a:lnTo>
                  <a:lnTo>
                    <a:pt x="743385" y="75076"/>
                  </a:lnTo>
                  <a:lnTo>
                    <a:pt x="695707" y="68495"/>
                  </a:lnTo>
                  <a:lnTo>
                    <a:pt x="646394" y="64516"/>
                  </a:lnTo>
                  <a:lnTo>
                    <a:pt x="596094" y="63207"/>
                  </a:lnTo>
                  <a:lnTo>
                    <a:pt x="545452" y="64636"/>
                  </a:lnTo>
                  <a:lnTo>
                    <a:pt x="478611" y="70754"/>
                  </a:lnTo>
                  <a:lnTo>
                    <a:pt x="417299" y="81250"/>
                  </a:lnTo>
                  <a:lnTo>
                    <a:pt x="362436" y="95638"/>
                  </a:lnTo>
                  <a:lnTo>
                    <a:pt x="314942" y="113431"/>
                  </a:lnTo>
                  <a:lnTo>
                    <a:pt x="275738" y="134144"/>
                  </a:lnTo>
                  <a:lnTo>
                    <a:pt x="225874" y="182383"/>
                  </a:lnTo>
                  <a:lnTo>
                    <a:pt x="217056" y="208937"/>
                  </a:lnTo>
                  <a:lnTo>
                    <a:pt x="220205" y="236467"/>
                  </a:lnTo>
                  <a:lnTo>
                    <a:pt x="218173" y="238753"/>
                  </a:lnTo>
                  <a:lnTo>
                    <a:pt x="161976" y="243811"/>
                  </a:lnTo>
                  <a:lnTo>
                    <a:pt x="110922" y="253882"/>
                  </a:lnTo>
                  <a:lnTo>
                    <a:pt x="67012" y="268453"/>
                  </a:lnTo>
                  <a:lnTo>
                    <a:pt x="32245" y="287013"/>
                  </a:lnTo>
                  <a:lnTo>
                    <a:pt x="3964" y="316514"/>
                  </a:lnTo>
                  <a:lnTo>
                    <a:pt x="0" y="347004"/>
                  </a:lnTo>
                  <a:lnTo>
                    <a:pt x="18913" y="376267"/>
                  </a:lnTo>
                  <a:lnTo>
                    <a:pt x="59267" y="402093"/>
                  </a:lnTo>
                  <a:lnTo>
                    <a:pt x="119621" y="422268"/>
                  </a:lnTo>
                  <a:lnTo>
                    <a:pt x="87574" y="439409"/>
                  </a:lnTo>
                  <a:lnTo>
                    <a:pt x="65742" y="458717"/>
                  </a:lnTo>
                  <a:lnTo>
                    <a:pt x="54720" y="479454"/>
                  </a:lnTo>
                  <a:lnTo>
                    <a:pt x="55105" y="500881"/>
                  </a:lnTo>
                  <a:lnTo>
                    <a:pt x="102838" y="548638"/>
                  </a:lnTo>
                  <a:lnTo>
                    <a:pt x="146720" y="566619"/>
                  </a:lnTo>
                  <a:lnTo>
                    <a:pt x="200497" y="579574"/>
                  </a:lnTo>
                  <a:lnTo>
                    <a:pt x="261583" y="586679"/>
                  </a:lnTo>
                  <a:lnTo>
                    <a:pt x="327393" y="587114"/>
                  </a:lnTo>
                  <a:lnTo>
                    <a:pt x="365727" y="609716"/>
                  </a:lnTo>
                  <a:lnTo>
                    <a:pt x="404752" y="626864"/>
                  </a:lnTo>
                  <a:lnTo>
                    <a:pt x="448329" y="641533"/>
                  </a:lnTo>
                  <a:lnTo>
                    <a:pt x="495748" y="653652"/>
                  </a:lnTo>
                  <a:lnTo>
                    <a:pt x="546298" y="663149"/>
                  </a:lnTo>
                  <a:lnTo>
                    <a:pt x="599269" y="669950"/>
                  </a:lnTo>
                  <a:lnTo>
                    <a:pt x="653948" y="673983"/>
                  </a:lnTo>
                  <a:lnTo>
                    <a:pt x="709626" y="675177"/>
                  </a:lnTo>
                  <a:lnTo>
                    <a:pt x="765591" y="673458"/>
                  </a:lnTo>
                  <a:lnTo>
                    <a:pt x="821133" y="668755"/>
                  </a:lnTo>
                  <a:lnTo>
                    <a:pt x="875541" y="660995"/>
                  </a:lnTo>
                  <a:lnTo>
                    <a:pt x="928103" y="650106"/>
                  </a:lnTo>
                  <a:lnTo>
                    <a:pt x="969037" y="670694"/>
                  </a:lnTo>
                  <a:lnTo>
                    <a:pt x="1017734" y="688031"/>
                  </a:lnTo>
                  <a:lnTo>
                    <a:pt x="1073050" y="701773"/>
                  </a:lnTo>
                  <a:lnTo>
                    <a:pt x="1133843" y="711574"/>
                  </a:lnTo>
                  <a:lnTo>
                    <a:pt x="1194256" y="716855"/>
                  </a:lnTo>
                  <a:lnTo>
                    <a:pt x="1254371" y="718132"/>
                  </a:lnTo>
                  <a:lnTo>
                    <a:pt x="1313214" y="715614"/>
                  </a:lnTo>
                  <a:lnTo>
                    <a:pt x="1369809" y="709511"/>
                  </a:lnTo>
                  <a:lnTo>
                    <a:pt x="1423181" y="700033"/>
                  </a:lnTo>
                  <a:lnTo>
                    <a:pt x="1472354" y="687388"/>
                  </a:lnTo>
                  <a:lnTo>
                    <a:pt x="1516353" y="671787"/>
                  </a:lnTo>
                  <a:lnTo>
                    <a:pt x="1554203" y="653438"/>
                  </a:lnTo>
                  <a:lnTo>
                    <a:pt x="1607553" y="609339"/>
                  </a:lnTo>
                  <a:lnTo>
                    <a:pt x="1647122" y="617830"/>
                  </a:lnTo>
                  <a:lnTo>
                    <a:pt x="1689024" y="624023"/>
                  </a:lnTo>
                  <a:lnTo>
                    <a:pt x="1732640" y="627859"/>
                  </a:lnTo>
                  <a:lnTo>
                    <a:pt x="1777352" y="629278"/>
                  </a:lnTo>
                  <a:lnTo>
                    <a:pt x="1842986" y="626811"/>
                  </a:lnTo>
                  <a:lnTo>
                    <a:pt x="1904225" y="619376"/>
                  </a:lnTo>
                  <a:lnTo>
                    <a:pt x="1959750" y="607494"/>
                  </a:lnTo>
                  <a:lnTo>
                    <a:pt x="2008238" y="591686"/>
                  </a:lnTo>
                  <a:lnTo>
                    <a:pt x="2048368" y="572473"/>
                  </a:lnTo>
                  <a:lnTo>
                    <a:pt x="2098267" y="525914"/>
                  </a:lnTo>
                  <a:lnTo>
                    <a:pt x="2105393" y="499611"/>
                  </a:lnTo>
                  <a:lnTo>
                    <a:pt x="2153310" y="495531"/>
                  </a:lnTo>
                  <a:lnTo>
                    <a:pt x="2199357" y="489070"/>
                  </a:lnTo>
                  <a:lnTo>
                    <a:pt x="2243000" y="480323"/>
                  </a:lnTo>
                  <a:lnTo>
                    <a:pt x="2283701" y="469385"/>
                  </a:lnTo>
                  <a:lnTo>
                    <a:pt x="2339887" y="448103"/>
                  </a:lnTo>
                  <a:lnTo>
                    <a:pt x="2383095" y="423506"/>
                  </a:lnTo>
                  <a:lnTo>
                    <a:pt x="2413039" y="396456"/>
                  </a:lnTo>
                  <a:lnTo>
                    <a:pt x="2431994" y="338451"/>
                  </a:lnTo>
                  <a:lnTo>
                    <a:pt x="2420433" y="309222"/>
                  </a:lnTo>
                  <a:lnTo>
                    <a:pt x="2394465" y="280993"/>
                  </a:lnTo>
                  <a:lnTo>
                    <a:pt x="2353805" y="254628"/>
                  </a:lnTo>
                  <a:lnTo>
                    <a:pt x="2359266" y="249421"/>
                  </a:lnTo>
                  <a:lnTo>
                    <a:pt x="2363838" y="244087"/>
                  </a:lnTo>
                  <a:lnTo>
                    <a:pt x="2367521" y="238753"/>
                  </a:lnTo>
                  <a:lnTo>
                    <a:pt x="2377957" y="211182"/>
                  </a:lnTo>
                  <a:lnTo>
                    <a:pt x="2372771" y="184252"/>
                  </a:lnTo>
                  <a:lnTo>
                    <a:pt x="2320597" y="135884"/>
                  </a:lnTo>
                  <a:lnTo>
                    <a:pt x="2276142" y="116226"/>
                  </a:lnTo>
                  <a:lnTo>
                    <a:pt x="2221131" y="100773"/>
                  </a:lnTo>
                  <a:lnTo>
                    <a:pt x="2156828" y="90417"/>
                  </a:lnTo>
                  <a:lnTo>
                    <a:pt x="2144458" y="72089"/>
                  </a:lnTo>
                  <a:lnTo>
                    <a:pt x="2097857" y="39625"/>
                  </a:lnTo>
                  <a:lnTo>
                    <a:pt x="2019004" y="13579"/>
                  </a:lnTo>
                  <a:lnTo>
                    <a:pt x="1969561" y="5156"/>
                  </a:lnTo>
                  <a:lnTo>
                    <a:pt x="1917847" y="835"/>
                  </a:lnTo>
                  <a:lnTo>
                    <a:pt x="1865411" y="564"/>
                  </a:lnTo>
                  <a:lnTo>
                    <a:pt x="1813803" y="4294"/>
                  </a:lnTo>
                  <a:lnTo>
                    <a:pt x="1764571" y="11974"/>
                  </a:lnTo>
                  <a:lnTo>
                    <a:pt x="1719265" y="23554"/>
                  </a:lnTo>
                  <a:lnTo>
                    <a:pt x="1679435" y="38982"/>
                  </a:lnTo>
                  <a:lnTo>
                    <a:pt x="1661129" y="30374"/>
                  </a:lnTo>
                  <a:lnTo>
                    <a:pt x="1640621" y="22694"/>
                  </a:lnTo>
                  <a:lnTo>
                    <a:pt x="1618088" y="16015"/>
                  </a:lnTo>
                  <a:lnTo>
                    <a:pt x="1593710" y="10407"/>
                  </a:lnTo>
                  <a:lnTo>
                    <a:pt x="1540412" y="2625"/>
                  </a:lnTo>
                  <a:lnTo>
                    <a:pt x="1485900" y="0"/>
                  </a:lnTo>
                  <a:close/>
                </a:path>
              </a:pathLst>
            </a:custGeom>
            <a:solidFill>
              <a:srgbClr val="718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4" name="object 284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2823463" y="1848358"/>
              <a:ext cx="224662" cy="136270"/>
            </a:xfrm>
            <a:prstGeom prst="rect">
              <a:avLst/>
            </a:prstGeom>
          </p:spPr>
        </p:pic>
        <p:sp>
          <p:nvSpPr>
            <p:cNvPr id="285" name="object 285"/>
            <p:cNvSpPr/>
            <p:nvPr/>
          </p:nvSpPr>
          <p:spPr>
            <a:xfrm>
              <a:off x="2559570" y="1244352"/>
              <a:ext cx="2432050" cy="740410"/>
            </a:xfrm>
            <a:custGeom>
              <a:avLst/>
              <a:gdLst/>
              <a:ahLst/>
              <a:cxnLst/>
              <a:rect l="l" t="t" r="r" b="b"/>
              <a:pathLst>
                <a:path w="2432050" h="740410">
                  <a:moveTo>
                    <a:pt x="220205" y="236467"/>
                  </a:moveTo>
                  <a:lnTo>
                    <a:pt x="225874" y="182383"/>
                  </a:lnTo>
                  <a:lnTo>
                    <a:pt x="275738" y="134144"/>
                  </a:lnTo>
                  <a:lnTo>
                    <a:pt x="314942" y="113431"/>
                  </a:lnTo>
                  <a:lnTo>
                    <a:pt x="362436" y="95638"/>
                  </a:lnTo>
                  <a:lnTo>
                    <a:pt x="417299" y="81250"/>
                  </a:lnTo>
                  <a:lnTo>
                    <a:pt x="478611" y="70754"/>
                  </a:lnTo>
                  <a:lnTo>
                    <a:pt x="545452" y="64636"/>
                  </a:lnTo>
                  <a:lnTo>
                    <a:pt x="596094" y="63207"/>
                  </a:lnTo>
                  <a:lnTo>
                    <a:pt x="646394" y="64516"/>
                  </a:lnTo>
                  <a:lnTo>
                    <a:pt x="695707" y="68495"/>
                  </a:lnTo>
                  <a:lnTo>
                    <a:pt x="743385" y="75076"/>
                  </a:lnTo>
                  <a:lnTo>
                    <a:pt x="788784" y="84194"/>
                  </a:lnTo>
                  <a:lnTo>
                    <a:pt x="822534" y="63844"/>
                  </a:lnTo>
                  <a:lnTo>
                    <a:pt x="864401" y="47122"/>
                  </a:lnTo>
                  <a:lnTo>
                    <a:pt x="912751" y="34228"/>
                  </a:lnTo>
                  <a:lnTo>
                    <a:pt x="965949" y="25361"/>
                  </a:lnTo>
                  <a:lnTo>
                    <a:pt x="1022363" y="20721"/>
                  </a:lnTo>
                  <a:lnTo>
                    <a:pt x="1080356" y="20507"/>
                  </a:lnTo>
                  <a:lnTo>
                    <a:pt x="1138297" y="24919"/>
                  </a:lnTo>
                  <a:lnTo>
                    <a:pt x="1194549" y="34156"/>
                  </a:lnTo>
                  <a:lnTo>
                    <a:pt x="1248306" y="48854"/>
                  </a:lnTo>
                  <a:lnTo>
                    <a:pt x="1264272" y="54730"/>
                  </a:lnTo>
                  <a:lnTo>
                    <a:pt x="1295224" y="35639"/>
                  </a:lnTo>
                  <a:lnTo>
                    <a:pt x="1334838" y="20350"/>
                  </a:lnTo>
                  <a:lnTo>
                    <a:pt x="1381138" y="9133"/>
                  </a:lnTo>
                  <a:lnTo>
                    <a:pt x="1432151" y="2259"/>
                  </a:lnTo>
                  <a:lnTo>
                    <a:pt x="1485900" y="0"/>
                  </a:lnTo>
                  <a:lnTo>
                    <a:pt x="1540412" y="2625"/>
                  </a:lnTo>
                  <a:lnTo>
                    <a:pt x="1593710" y="10407"/>
                  </a:lnTo>
                  <a:lnTo>
                    <a:pt x="1640621" y="22694"/>
                  </a:lnTo>
                  <a:lnTo>
                    <a:pt x="1679435" y="38982"/>
                  </a:lnTo>
                  <a:lnTo>
                    <a:pt x="1719265" y="23554"/>
                  </a:lnTo>
                  <a:lnTo>
                    <a:pt x="1764571" y="11974"/>
                  </a:lnTo>
                  <a:lnTo>
                    <a:pt x="1813803" y="4294"/>
                  </a:lnTo>
                  <a:lnTo>
                    <a:pt x="1865411" y="564"/>
                  </a:lnTo>
                  <a:lnTo>
                    <a:pt x="1917847" y="835"/>
                  </a:lnTo>
                  <a:lnTo>
                    <a:pt x="1969561" y="5156"/>
                  </a:lnTo>
                  <a:lnTo>
                    <a:pt x="2019004" y="13579"/>
                  </a:lnTo>
                  <a:lnTo>
                    <a:pt x="2064626" y="26155"/>
                  </a:lnTo>
                  <a:lnTo>
                    <a:pt x="2124634" y="55047"/>
                  </a:lnTo>
                  <a:lnTo>
                    <a:pt x="2156828" y="90417"/>
                  </a:lnTo>
                  <a:lnTo>
                    <a:pt x="2221131" y="100773"/>
                  </a:lnTo>
                  <a:lnTo>
                    <a:pt x="2276142" y="116226"/>
                  </a:lnTo>
                  <a:lnTo>
                    <a:pt x="2320597" y="135884"/>
                  </a:lnTo>
                  <a:lnTo>
                    <a:pt x="2353229" y="158856"/>
                  </a:lnTo>
                  <a:lnTo>
                    <a:pt x="2377957" y="211182"/>
                  </a:lnTo>
                  <a:lnTo>
                    <a:pt x="2367521" y="238753"/>
                  </a:lnTo>
                  <a:lnTo>
                    <a:pt x="2363838" y="244087"/>
                  </a:lnTo>
                  <a:lnTo>
                    <a:pt x="2359266" y="249421"/>
                  </a:lnTo>
                  <a:lnTo>
                    <a:pt x="2353805" y="254628"/>
                  </a:lnTo>
                  <a:lnTo>
                    <a:pt x="2394465" y="280993"/>
                  </a:lnTo>
                  <a:lnTo>
                    <a:pt x="2420433" y="309222"/>
                  </a:lnTo>
                  <a:lnTo>
                    <a:pt x="2431994" y="338451"/>
                  </a:lnTo>
                  <a:lnTo>
                    <a:pt x="2429434" y="367817"/>
                  </a:lnTo>
                  <a:lnTo>
                    <a:pt x="2383095" y="423506"/>
                  </a:lnTo>
                  <a:lnTo>
                    <a:pt x="2339887" y="448103"/>
                  </a:lnTo>
                  <a:lnTo>
                    <a:pt x="2283701" y="469385"/>
                  </a:lnTo>
                  <a:lnTo>
                    <a:pt x="2243000" y="480323"/>
                  </a:lnTo>
                  <a:lnTo>
                    <a:pt x="2199357" y="489070"/>
                  </a:lnTo>
                  <a:lnTo>
                    <a:pt x="2153310" y="495531"/>
                  </a:lnTo>
                  <a:lnTo>
                    <a:pt x="2105393" y="499611"/>
                  </a:lnTo>
                  <a:lnTo>
                    <a:pt x="2098267" y="525914"/>
                  </a:lnTo>
                  <a:lnTo>
                    <a:pt x="2048368" y="572473"/>
                  </a:lnTo>
                  <a:lnTo>
                    <a:pt x="2008238" y="591686"/>
                  </a:lnTo>
                  <a:lnTo>
                    <a:pt x="1959750" y="607494"/>
                  </a:lnTo>
                  <a:lnTo>
                    <a:pt x="1904225" y="619376"/>
                  </a:lnTo>
                  <a:lnTo>
                    <a:pt x="1842986" y="626811"/>
                  </a:lnTo>
                  <a:lnTo>
                    <a:pt x="1777352" y="629278"/>
                  </a:lnTo>
                  <a:lnTo>
                    <a:pt x="1732640" y="627859"/>
                  </a:lnTo>
                  <a:lnTo>
                    <a:pt x="1689024" y="624023"/>
                  </a:lnTo>
                  <a:lnTo>
                    <a:pt x="1647122" y="617830"/>
                  </a:lnTo>
                  <a:lnTo>
                    <a:pt x="1607553" y="609339"/>
                  </a:lnTo>
                  <a:lnTo>
                    <a:pt x="1584928" y="632553"/>
                  </a:lnTo>
                  <a:lnTo>
                    <a:pt x="1516353" y="671787"/>
                  </a:lnTo>
                  <a:lnTo>
                    <a:pt x="1472354" y="687388"/>
                  </a:lnTo>
                  <a:lnTo>
                    <a:pt x="1423181" y="700033"/>
                  </a:lnTo>
                  <a:lnTo>
                    <a:pt x="1369809" y="709511"/>
                  </a:lnTo>
                  <a:lnTo>
                    <a:pt x="1313214" y="715614"/>
                  </a:lnTo>
                  <a:lnTo>
                    <a:pt x="1254371" y="718132"/>
                  </a:lnTo>
                  <a:lnTo>
                    <a:pt x="1194256" y="716855"/>
                  </a:lnTo>
                  <a:lnTo>
                    <a:pt x="1133843" y="711574"/>
                  </a:lnTo>
                  <a:lnTo>
                    <a:pt x="1073050" y="701773"/>
                  </a:lnTo>
                  <a:lnTo>
                    <a:pt x="1017734" y="688031"/>
                  </a:lnTo>
                  <a:lnTo>
                    <a:pt x="969037" y="670694"/>
                  </a:lnTo>
                  <a:lnTo>
                    <a:pt x="928103" y="650106"/>
                  </a:lnTo>
                  <a:lnTo>
                    <a:pt x="875541" y="660995"/>
                  </a:lnTo>
                  <a:lnTo>
                    <a:pt x="821133" y="668755"/>
                  </a:lnTo>
                  <a:lnTo>
                    <a:pt x="765591" y="673458"/>
                  </a:lnTo>
                  <a:lnTo>
                    <a:pt x="709626" y="675177"/>
                  </a:lnTo>
                  <a:lnTo>
                    <a:pt x="653948" y="673983"/>
                  </a:lnTo>
                  <a:lnTo>
                    <a:pt x="599269" y="669950"/>
                  </a:lnTo>
                  <a:lnTo>
                    <a:pt x="546298" y="663149"/>
                  </a:lnTo>
                  <a:lnTo>
                    <a:pt x="495748" y="653652"/>
                  </a:lnTo>
                  <a:lnTo>
                    <a:pt x="448329" y="641533"/>
                  </a:lnTo>
                  <a:lnTo>
                    <a:pt x="404752" y="626864"/>
                  </a:lnTo>
                  <a:lnTo>
                    <a:pt x="365727" y="609716"/>
                  </a:lnTo>
                  <a:lnTo>
                    <a:pt x="331965" y="590162"/>
                  </a:lnTo>
                  <a:lnTo>
                    <a:pt x="330441" y="589146"/>
                  </a:lnTo>
                  <a:lnTo>
                    <a:pt x="328917" y="588130"/>
                  </a:lnTo>
                  <a:lnTo>
                    <a:pt x="327393" y="587114"/>
                  </a:lnTo>
                  <a:lnTo>
                    <a:pt x="261583" y="586679"/>
                  </a:lnTo>
                  <a:lnTo>
                    <a:pt x="200497" y="579574"/>
                  </a:lnTo>
                  <a:lnTo>
                    <a:pt x="146720" y="566619"/>
                  </a:lnTo>
                  <a:lnTo>
                    <a:pt x="102838" y="548638"/>
                  </a:lnTo>
                  <a:lnTo>
                    <a:pt x="71438" y="526451"/>
                  </a:lnTo>
                  <a:lnTo>
                    <a:pt x="54720" y="479454"/>
                  </a:lnTo>
                  <a:lnTo>
                    <a:pt x="65742" y="458717"/>
                  </a:lnTo>
                  <a:lnTo>
                    <a:pt x="87574" y="439409"/>
                  </a:lnTo>
                  <a:lnTo>
                    <a:pt x="119621" y="422268"/>
                  </a:lnTo>
                  <a:lnTo>
                    <a:pt x="59267" y="402093"/>
                  </a:lnTo>
                  <a:lnTo>
                    <a:pt x="18913" y="376267"/>
                  </a:lnTo>
                  <a:lnTo>
                    <a:pt x="0" y="347004"/>
                  </a:lnTo>
                  <a:lnTo>
                    <a:pt x="3964" y="316514"/>
                  </a:lnTo>
                  <a:lnTo>
                    <a:pt x="32245" y="287013"/>
                  </a:lnTo>
                  <a:lnTo>
                    <a:pt x="67012" y="268453"/>
                  </a:lnTo>
                  <a:lnTo>
                    <a:pt x="110922" y="253882"/>
                  </a:lnTo>
                  <a:lnTo>
                    <a:pt x="161976" y="243811"/>
                  </a:lnTo>
                  <a:lnTo>
                    <a:pt x="218173" y="238753"/>
                  </a:lnTo>
                  <a:lnTo>
                    <a:pt x="220205" y="236467"/>
                  </a:lnTo>
                  <a:close/>
                </a:path>
                <a:path w="2432050" h="740410">
                  <a:moveTo>
                    <a:pt x="303771" y="720337"/>
                  </a:moveTo>
                  <a:lnTo>
                    <a:pt x="302210" y="728060"/>
                  </a:lnTo>
                  <a:lnTo>
                    <a:pt x="297945" y="734402"/>
                  </a:lnTo>
                  <a:lnTo>
                    <a:pt x="291609" y="738696"/>
                  </a:lnTo>
                  <a:lnTo>
                    <a:pt x="283832" y="740276"/>
                  </a:lnTo>
                  <a:lnTo>
                    <a:pt x="276056" y="738696"/>
                  </a:lnTo>
                  <a:lnTo>
                    <a:pt x="269719" y="734402"/>
                  </a:lnTo>
                  <a:lnTo>
                    <a:pt x="265455" y="728060"/>
                  </a:lnTo>
                  <a:lnTo>
                    <a:pt x="263893" y="720337"/>
                  </a:lnTo>
                  <a:lnTo>
                    <a:pt x="265455" y="712560"/>
                  </a:lnTo>
                  <a:lnTo>
                    <a:pt x="269719" y="706224"/>
                  </a:lnTo>
                  <a:lnTo>
                    <a:pt x="276056" y="701960"/>
                  </a:lnTo>
                  <a:lnTo>
                    <a:pt x="283832" y="700398"/>
                  </a:lnTo>
                  <a:lnTo>
                    <a:pt x="291609" y="701960"/>
                  </a:lnTo>
                  <a:lnTo>
                    <a:pt x="297945" y="706224"/>
                  </a:lnTo>
                  <a:lnTo>
                    <a:pt x="302210" y="712560"/>
                  </a:lnTo>
                  <a:lnTo>
                    <a:pt x="303771" y="720337"/>
                  </a:lnTo>
                  <a:close/>
                </a:path>
                <a:path w="2432050" h="740410">
                  <a:moveTo>
                    <a:pt x="377558" y="699255"/>
                  </a:moveTo>
                  <a:lnTo>
                    <a:pt x="374417" y="714808"/>
                  </a:lnTo>
                  <a:lnTo>
                    <a:pt x="365858" y="727481"/>
                  </a:lnTo>
                  <a:lnTo>
                    <a:pt x="353180" y="736009"/>
                  </a:lnTo>
                  <a:lnTo>
                    <a:pt x="337680" y="739133"/>
                  </a:lnTo>
                  <a:lnTo>
                    <a:pt x="322180" y="736009"/>
                  </a:lnTo>
                  <a:lnTo>
                    <a:pt x="309502" y="727481"/>
                  </a:lnTo>
                  <a:lnTo>
                    <a:pt x="300944" y="714808"/>
                  </a:lnTo>
                  <a:lnTo>
                    <a:pt x="297802" y="699255"/>
                  </a:lnTo>
                  <a:lnTo>
                    <a:pt x="300944" y="683755"/>
                  </a:lnTo>
                  <a:lnTo>
                    <a:pt x="309502" y="671077"/>
                  </a:lnTo>
                  <a:lnTo>
                    <a:pt x="322180" y="662518"/>
                  </a:lnTo>
                  <a:lnTo>
                    <a:pt x="337680" y="659377"/>
                  </a:lnTo>
                  <a:lnTo>
                    <a:pt x="353180" y="662518"/>
                  </a:lnTo>
                  <a:lnTo>
                    <a:pt x="365858" y="671077"/>
                  </a:lnTo>
                  <a:lnTo>
                    <a:pt x="374417" y="683755"/>
                  </a:lnTo>
                  <a:lnTo>
                    <a:pt x="377558" y="699255"/>
                  </a:lnTo>
                  <a:close/>
                </a:path>
                <a:path w="2432050" h="740410">
                  <a:moveTo>
                    <a:pt x="488556" y="663822"/>
                  </a:moveTo>
                  <a:lnTo>
                    <a:pt x="483853" y="687099"/>
                  </a:lnTo>
                  <a:lnTo>
                    <a:pt x="471030" y="706113"/>
                  </a:lnTo>
                  <a:lnTo>
                    <a:pt x="452016" y="718936"/>
                  </a:lnTo>
                  <a:lnTo>
                    <a:pt x="428739" y="723639"/>
                  </a:lnTo>
                  <a:lnTo>
                    <a:pt x="405463" y="718936"/>
                  </a:lnTo>
                  <a:lnTo>
                    <a:pt x="386448" y="706113"/>
                  </a:lnTo>
                  <a:lnTo>
                    <a:pt x="373625" y="687099"/>
                  </a:lnTo>
                  <a:lnTo>
                    <a:pt x="368922" y="663822"/>
                  </a:lnTo>
                  <a:lnTo>
                    <a:pt x="373625" y="640545"/>
                  </a:lnTo>
                  <a:lnTo>
                    <a:pt x="386448" y="621531"/>
                  </a:lnTo>
                  <a:lnTo>
                    <a:pt x="405463" y="608708"/>
                  </a:lnTo>
                  <a:lnTo>
                    <a:pt x="428739" y="604005"/>
                  </a:lnTo>
                  <a:lnTo>
                    <a:pt x="452016" y="608708"/>
                  </a:lnTo>
                  <a:lnTo>
                    <a:pt x="471030" y="621531"/>
                  </a:lnTo>
                  <a:lnTo>
                    <a:pt x="483853" y="640545"/>
                  </a:lnTo>
                  <a:lnTo>
                    <a:pt x="488556" y="663822"/>
                  </a:lnTo>
                  <a:close/>
                </a:path>
                <a:path w="2432050" h="740410">
                  <a:moveTo>
                    <a:pt x="264782" y="432682"/>
                  </a:moveTo>
                  <a:lnTo>
                    <a:pt x="227623" y="432690"/>
                  </a:lnTo>
                  <a:lnTo>
                    <a:pt x="191059" y="430459"/>
                  </a:lnTo>
                  <a:lnTo>
                    <a:pt x="155733" y="426038"/>
                  </a:lnTo>
                  <a:lnTo>
                    <a:pt x="122288" y="419474"/>
                  </a:lnTo>
                </a:path>
                <a:path w="2432050" h="740410">
                  <a:moveTo>
                    <a:pt x="390512" y="577589"/>
                  </a:moveTo>
                  <a:lnTo>
                    <a:pt x="375375" y="579778"/>
                  </a:lnTo>
                  <a:lnTo>
                    <a:pt x="359905" y="581573"/>
                  </a:lnTo>
                  <a:lnTo>
                    <a:pt x="344149" y="582965"/>
                  </a:lnTo>
                  <a:lnTo>
                    <a:pt x="328155" y="583939"/>
                  </a:lnTo>
                </a:path>
                <a:path w="2432050" h="740410">
                  <a:moveTo>
                    <a:pt x="927976" y="647185"/>
                  </a:moveTo>
                  <a:lnTo>
                    <a:pt x="917120" y="640305"/>
                  </a:lnTo>
                  <a:lnTo>
                    <a:pt x="907228" y="633199"/>
                  </a:lnTo>
                  <a:lnTo>
                    <a:pt x="898312" y="625879"/>
                  </a:lnTo>
                  <a:lnTo>
                    <a:pt x="890384" y="618356"/>
                  </a:lnTo>
                </a:path>
                <a:path w="2432050" h="740410">
                  <a:moveTo>
                    <a:pt x="1622793" y="575176"/>
                  </a:moveTo>
                  <a:lnTo>
                    <a:pt x="1620630" y="583171"/>
                  </a:lnTo>
                  <a:lnTo>
                    <a:pt x="1617396" y="591130"/>
                  </a:lnTo>
                  <a:lnTo>
                    <a:pt x="1613114" y="599018"/>
                  </a:lnTo>
                  <a:lnTo>
                    <a:pt x="1607807" y="606799"/>
                  </a:lnTo>
                </a:path>
                <a:path w="2432050" h="740410">
                  <a:moveTo>
                    <a:pt x="1921116" y="379088"/>
                  </a:moveTo>
                  <a:lnTo>
                    <a:pt x="1983553" y="395070"/>
                  </a:lnTo>
                  <a:lnTo>
                    <a:pt x="2034547" y="415867"/>
                  </a:lnTo>
                  <a:lnTo>
                    <a:pt x="2072623" y="440536"/>
                  </a:lnTo>
                  <a:lnTo>
                    <a:pt x="2096307" y="468130"/>
                  </a:lnTo>
                  <a:lnTo>
                    <a:pt x="2104123" y="497706"/>
                  </a:lnTo>
                </a:path>
                <a:path w="2432050" h="740410">
                  <a:moveTo>
                    <a:pt x="2352662" y="252850"/>
                  </a:moveTo>
                  <a:lnTo>
                    <a:pt x="2337172" y="265332"/>
                  </a:lnTo>
                  <a:lnTo>
                    <a:pt x="2318277" y="276980"/>
                  </a:lnTo>
                  <a:lnTo>
                    <a:pt x="2296191" y="287676"/>
                  </a:lnTo>
                  <a:lnTo>
                    <a:pt x="2271128" y="297300"/>
                  </a:lnTo>
                </a:path>
                <a:path w="2432050" h="740410">
                  <a:moveTo>
                    <a:pt x="2157209" y="87877"/>
                  </a:moveTo>
                  <a:lnTo>
                    <a:pt x="2160257" y="94735"/>
                  </a:lnTo>
                  <a:lnTo>
                    <a:pt x="2161781" y="101847"/>
                  </a:lnTo>
                  <a:lnTo>
                    <a:pt x="2161527" y="108832"/>
                  </a:lnTo>
                </a:path>
                <a:path w="2432050" h="740410">
                  <a:moveTo>
                    <a:pt x="1636890" y="63366"/>
                  </a:moveTo>
                  <a:lnTo>
                    <a:pt x="1645508" y="56250"/>
                  </a:lnTo>
                  <a:lnTo>
                    <a:pt x="1655353" y="49396"/>
                  </a:lnTo>
                  <a:lnTo>
                    <a:pt x="1666412" y="42828"/>
                  </a:lnTo>
                  <a:lnTo>
                    <a:pt x="1678673" y="36569"/>
                  </a:lnTo>
                </a:path>
                <a:path w="2432050" h="740410">
                  <a:moveTo>
                    <a:pt x="1246619" y="76193"/>
                  </a:moveTo>
                  <a:lnTo>
                    <a:pt x="1250310" y="70170"/>
                  </a:lnTo>
                  <a:lnTo>
                    <a:pt x="1254906" y="64302"/>
                  </a:lnTo>
                  <a:lnTo>
                    <a:pt x="1260407" y="58601"/>
                  </a:lnTo>
                  <a:lnTo>
                    <a:pt x="1266812" y="53079"/>
                  </a:lnTo>
                </a:path>
                <a:path w="2432050" h="740410">
                  <a:moveTo>
                    <a:pt x="788530" y="83940"/>
                  </a:moveTo>
                  <a:lnTo>
                    <a:pt x="808051" y="88917"/>
                  </a:lnTo>
                  <a:lnTo>
                    <a:pt x="826773" y="94322"/>
                  </a:lnTo>
                  <a:lnTo>
                    <a:pt x="844662" y="100156"/>
                  </a:lnTo>
                  <a:lnTo>
                    <a:pt x="861682" y="106419"/>
                  </a:lnTo>
                </a:path>
                <a:path w="2432050" h="740410">
                  <a:moveTo>
                    <a:pt x="232905" y="260089"/>
                  </a:moveTo>
                  <a:lnTo>
                    <a:pt x="228885" y="254255"/>
                  </a:lnTo>
                  <a:lnTo>
                    <a:pt x="225412" y="248373"/>
                  </a:lnTo>
                  <a:lnTo>
                    <a:pt x="222511" y="242444"/>
                  </a:lnTo>
                  <a:lnTo>
                    <a:pt x="220205" y="236467"/>
                  </a:lnTo>
                </a:path>
              </a:pathLst>
            </a:custGeom>
            <a:ln w="9144">
              <a:solidFill>
                <a:srgbClr val="718F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6" name="object 286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2997707" y="1232915"/>
              <a:ext cx="1456944" cy="513588"/>
            </a:xfrm>
            <a:prstGeom prst="rect">
              <a:avLst/>
            </a:prstGeom>
          </p:spPr>
        </p:pic>
        <p:pic>
          <p:nvPicPr>
            <p:cNvPr id="287" name="object 287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2857499" y="1507236"/>
              <a:ext cx="1682496" cy="513588"/>
            </a:xfrm>
            <a:prstGeom prst="rect">
              <a:avLst/>
            </a:prstGeom>
          </p:spPr>
        </p:pic>
      </p:grpSp>
      <p:grpSp>
        <p:nvGrpSpPr>
          <p:cNvPr id="288" name="object 288"/>
          <p:cNvGrpSpPr/>
          <p:nvPr/>
        </p:nvGrpSpPr>
        <p:grpSpPr>
          <a:xfrm>
            <a:off x="6428232" y="2081783"/>
            <a:ext cx="3651885" cy="4525010"/>
            <a:chOff x="6428232" y="2081783"/>
            <a:chExt cx="3651885" cy="4525010"/>
          </a:xfrm>
        </p:grpSpPr>
        <p:pic>
          <p:nvPicPr>
            <p:cNvPr id="289" name="object 28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758940" y="3134867"/>
              <a:ext cx="242316" cy="304800"/>
            </a:xfrm>
            <a:prstGeom prst="rect">
              <a:avLst/>
            </a:prstGeom>
          </p:spPr>
        </p:pic>
        <p:pic>
          <p:nvPicPr>
            <p:cNvPr id="290" name="object 290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6845046" y="3236213"/>
              <a:ext cx="77597" cy="141477"/>
            </a:xfrm>
            <a:prstGeom prst="rect">
              <a:avLst/>
            </a:prstGeom>
          </p:spPr>
        </p:pic>
        <p:pic>
          <p:nvPicPr>
            <p:cNvPr id="291" name="object 29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588252" y="2081783"/>
              <a:ext cx="242316" cy="414527"/>
            </a:xfrm>
            <a:prstGeom prst="rect">
              <a:avLst/>
            </a:prstGeom>
          </p:spPr>
        </p:pic>
        <p:pic>
          <p:nvPicPr>
            <p:cNvPr id="292" name="object 29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670548" y="2183129"/>
              <a:ext cx="77724" cy="250444"/>
            </a:xfrm>
            <a:prstGeom prst="rect">
              <a:avLst/>
            </a:prstGeom>
          </p:spPr>
        </p:pic>
        <p:pic>
          <p:nvPicPr>
            <p:cNvPr id="293" name="object 293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6428232" y="3134867"/>
              <a:ext cx="240791" cy="1271016"/>
            </a:xfrm>
            <a:prstGeom prst="rect">
              <a:avLst/>
            </a:prstGeom>
          </p:spPr>
        </p:pic>
        <p:sp>
          <p:nvSpPr>
            <p:cNvPr id="294" name="object 294"/>
            <p:cNvSpPr/>
            <p:nvPr/>
          </p:nvSpPr>
          <p:spPr>
            <a:xfrm>
              <a:off x="6509384" y="3236213"/>
              <a:ext cx="78105" cy="1107440"/>
            </a:xfrm>
            <a:custGeom>
              <a:avLst/>
              <a:gdLst/>
              <a:ahLst/>
              <a:cxnLst/>
              <a:rect l="l" t="t" r="r" b="b"/>
              <a:pathLst>
                <a:path w="78104" h="1107439">
                  <a:moveTo>
                    <a:pt x="51943" y="64770"/>
                  </a:moveTo>
                  <a:lnTo>
                    <a:pt x="26035" y="64770"/>
                  </a:lnTo>
                  <a:lnTo>
                    <a:pt x="24003" y="1106931"/>
                  </a:lnTo>
                  <a:lnTo>
                    <a:pt x="49911" y="1106932"/>
                  </a:lnTo>
                  <a:lnTo>
                    <a:pt x="51918" y="77850"/>
                  </a:lnTo>
                  <a:lnTo>
                    <a:pt x="51943" y="64770"/>
                  </a:lnTo>
                  <a:close/>
                </a:path>
                <a:path w="78104" h="1107439">
                  <a:moveTo>
                    <a:pt x="39116" y="0"/>
                  </a:moveTo>
                  <a:lnTo>
                    <a:pt x="0" y="77850"/>
                  </a:lnTo>
                  <a:lnTo>
                    <a:pt x="26010" y="77850"/>
                  </a:lnTo>
                  <a:lnTo>
                    <a:pt x="26035" y="64770"/>
                  </a:lnTo>
                  <a:lnTo>
                    <a:pt x="71343" y="64770"/>
                  </a:lnTo>
                  <a:lnTo>
                    <a:pt x="39116" y="0"/>
                  </a:lnTo>
                  <a:close/>
                </a:path>
                <a:path w="78104" h="1107439">
                  <a:moveTo>
                    <a:pt x="71343" y="64770"/>
                  </a:moveTo>
                  <a:lnTo>
                    <a:pt x="51943" y="64770"/>
                  </a:lnTo>
                  <a:lnTo>
                    <a:pt x="51918" y="77850"/>
                  </a:lnTo>
                  <a:lnTo>
                    <a:pt x="77851" y="77850"/>
                  </a:lnTo>
                  <a:lnTo>
                    <a:pt x="71343" y="64770"/>
                  </a:lnTo>
                  <a:close/>
                </a:path>
              </a:pathLst>
            </a:custGeom>
            <a:solidFill>
              <a:srgbClr val="6E85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5" name="object 295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6944868" y="4151376"/>
              <a:ext cx="242316" cy="1207008"/>
            </a:xfrm>
            <a:prstGeom prst="rect">
              <a:avLst/>
            </a:prstGeom>
          </p:spPr>
        </p:pic>
        <p:sp>
          <p:nvSpPr>
            <p:cNvPr id="296" name="object 296"/>
            <p:cNvSpPr/>
            <p:nvPr/>
          </p:nvSpPr>
          <p:spPr>
            <a:xfrm>
              <a:off x="7027164" y="4252722"/>
              <a:ext cx="78105" cy="1043940"/>
            </a:xfrm>
            <a:custGeom>
              <a:avLst/>
              <a:gdLst/>
              <a:ahLst/>
              <a:cxnLst/>
              <a:rect l="l" t="t" r="r" b="b"/>
              <a:pathLst>
                <a:path w="78104" h="1043939">
                  <a:moveTo>
                    <a:pt x="51815" y="64769"/>
                  </a:moveTo>
                  <a:lnTo>
                    <a:pt x="25907" y="64769"/>
                  </a:lnTo>
                  <a:lnTo>
                    <a:pt x="25907" y="1043685"/>
                  </a:lnTo>
                  <a:lnTo>
                    <a:pt x="51815" y="1043685"/>
                  </a:lnTo>
                  <a:lnTo>
                    <a:pt x="51815" y="64769"/>
                  </a:lnTo>
                  <a:close/>
                </a:path>
                <a:path w="78104" h="1043939">
                  <a:moveTo>
                    <a:pt x="38861" y="0"/>
                  </a:moveTo>
                  <a:lnTo>
                    <a:pt x="0" y="77723"/>
                  </a:lnTo>
                  <a:lnTo>
                    <a:pt x="25907" y="77723"/>
                  </a:lnTo>
                  <a:lnTo>
                    <a:pt x="25907" y="64769"/>
                  </a:lnTo>
                  <a:lnTo>
                    <a:pt x="71247" y="64769"/>
                  </a:lnTo>
                  <a:lnTo>
                    <a:pt x="38861" y="0"/>
                  </a:lnTo>
                  <a:close/>
                </a:path>
                <a:path w="78104" h="1043939">
                  <a:moveTo>
                    <a:pt x="71247" y="64769"/>
                  </a:moveTo>
                  <a:lnTo>
                    <a:pt x="51815" y="64769"/>
                  </a:lnTo>
                  <a:lnTo>
                    <a:pt x="51815" y="77723"/>
                  </a:lnTo>
                  <a:lnTo>
                    <a:pt x="77724" y="77723"/>
                  </a:lnTo>
                  <a:lnTo>
                    <a:pt x="71247" y="64769"/>
                  </a:lnTo>
                  <a:close/>
                </a:path>
              </a:pathLst>
            </a:custGeom>
            <a:solidFill>
              <a:srgbClr val="B903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7" name="object 297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8702039" y="3733800"/>
              <a:ext cx="406907" cy="240792"/>
            </a:xfrm>
            <a:prstGeom prst="rect">
              <a:avLst/>
            </a:prstGeom>
          </p:spPr>
        </p:pic>
        <p:pic>
          <p:nvPicPr>
            <p:cNvPr id="298" name="object 298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8823198" y="3793616"/>
              <a:ext cx="243077" cy="77724"/>
            </a:xfrm>
            <a:prstGeom prst="rect">
              <a:avLst/>
            </a:prstGeom>
          </p:spPr>
        </p:pic>
        <p:pic>
          <p:nvPicPr>
            <p:cNvPr id="299" name="object 299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7551420" y="5649468"/>
              <a:ext cx="2528316" cy="903732"/>
            </a:xfrm>
            <a:prstGeom prst="rect">
              <a:avLst/>
            </a:prstGeom>
          </p:spPr>
        </p:pic>
        <p:pic>
          <p:nvPicPr>
            <p:cNvPr id="300" name="object 300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7959852" y="5736336"/>
              <a:ext cx="1610868" cy="870204"/>
            </a:xfrm>
            <a:prstGeom prst="rect">
              <a:avLst/>
            </a:prstGeom>
          </p:spPr>
        </p:pic>
        <p:sp>
          <p:nvSpPr>
            <p:cNvPr id="301" name="object 301"/>
            <p:cNvSpPr/>
            <p:nvPr/>
          </p:nvSpPr>
          <p:spPr>
            <a:xfrm>
              <a:off x="7599426" y="5674347"/>
              <a:ext cx="2432050" cy="808355"/>
            </a:xfrm>
            <a:custGeom>
              <a:avLst/>
              <a:gdLst/>
              <a:ahLst/>
              <a:cxnLst/>
              <a:rect l="l" t="t" r="r" b="b"/>
              <a:pathLst>
                <a:path w="2432050" h="808354">
                  <a:moveTo>
                    <a:pt x="2383282" y="19888"/>
                  </a:moveTo>
                  <a:lnTo>
                    <a:pt x="2381720" y="12153"/>
                  </a:lnTo>
                  <a:lnTo>
                    <a:pt x="2377465" y="5829"/>
                  </a:lnTo>
                  <a:lnTo>
                    <a:pt x="2371166" y="1574"/>
                  </a:lnTo>
                  <a:lnTo>
                    <a:pt x="2363470" y="0"/>
                  </a:lnTo>
                  <a:lnTo>
                    <a:pt x="2355685" y="1574"/>
                  </a:lnTo>
                  <a:lnTo>
                    <a:pt x="2349347" y="5829"/>
                  </a:lnTo>
                  <a:lnTo>
                    <a:pt x="2345080" y="12153"/>
                  </a:lnTo>
                  <a:lnTo>
                    <a:pt x="2343531" y="19888"/>
                  </a:lnTo>
                  <a:lnTo>
                    <a:pt x="2345080" y="27647"/>
                  </a:lnTo>
                  <a:lnTo>
                    <a:pt x="2349347" y="33972"/>
                  </a:lnTo>
                  <a:lnTo>
                    <a:pt x="2355685" y="38227"/>
                  </a:lnTo>
                  <a:lnTo>
                    <a:pt x="2363470" y="39789"/>
                  </a:lnTo>
                  <a:lnTo>
                    <a:pt x="2371166" y="38227"/>
                  </a:lnTo>
                  <a:lnTo>
                    <a:pt x="2377465" y="33972"/>
                  </a:lnTo>
                  <a:lnTo>
                    <a:pt x="2381720" y="27647"/>
                  </a:lnTo>
                  <a:lnTo>
                    <a:pt x="2383282" y="19888"/>
                  </a:lnTo>
                  <a:close/>
                </a:path>
                <a:path w="2432050" h="808354">
                  <a:moveTo>
                    <a:pt x="2431999" y="429450"/>
                  </a:moveTo>
                  <a:lnTo>
                    <a:pt x="2420442" y="400265"/>
                  </a:lnTo>
                  <a:lnTo>
                    <a:pt x="2394470" y="372084"/>
                  </a:lnTo>
                  <a:lnTo>
                    <a:pt x="2353818" y="345744"/>
                  </a:lnTo>
                  <a:lnTo>
                    <a:pt x="2359279" y="340601"/>
                  </a:lnTo>
                  <a:lnTo>
                    <a:pt x="2363851" y="335318"/>
                  </a:lnTo>
                  <a:lnTo>
                    <a:pt x="2367534" y="329907"/>
                  </a:lnTo>
                  <a:lnTo>
                    <a:pt x="2377960" y="302399"/>
                  </a:lnTo>
                  <a:lnTo>
                    <a:pt x="2372779" y="275526"/>
                  </a:lnTo>
                  <a:lnTo>
                    <a:pt x="2320607" y="227253"/>
                  </a:lnTo>
                  <a:lnTo>
                    <a:pt x="2276144" y="207632"/>
                  </a:lnTo>
                  <a:lnTo>
                    <a:pt x="2221141" y="192214"/>
                  </a:lnTo>
                  <a:lnTo>
                    <a:pt x="2156841" y="181876"/>
                  </a:lnTo>
                  <a:lnTo>
                    <a:pt x="2144458" y="163652"/>
                  </a:lnTo>
                  <a:lnTo>
                    <a:pt x="2097862" y="131267"/>
                  </a:lnTo>
                  <a:lnTo>
                    <a:pt x="2019007" y="105295"/>
                  </a:lnTo>
                  <a:lnTo>
                    <a:pt x="1969566" y="96875"/>
                  </a:lnTo>
                  <a:lnTo>
                    <a:pt x="1917852" y="92557"/>
                  </a:lnTo>
                  <a:lnTo>
                    <a:pt x="1865414" y="92278"/>
                  </a:lnTo>
                  <a:lnTo>
                    <a:pt x="1813814" y="95999"/>
                  </a:lnTo>
                  <a:lnTo>
                    <a:pt x="1764576" y="103644"/>
                  </a:lnTo>
                  <a:lnTo>
                    <a:pt x="1719275" y="115189"/>
                  </a:lnTo>
                  <a:lnTo>
                    <a:pt x="1679448" y="130556"/>
                  </a:lnTo>
                  <a:lnTo>
                    <a:pt x="1661134" y="122008"/>
                  </a:lnTo>
                  <a:lnTo>
                    <a:pt x="1618094" y="107721"/>
                  </a:lnTo>
                  <a:lnTo>
                    <a:pt x="1540421" y="94373"/>
                  </a:lnTo>
                  <a:lnTo>
                    <a:pt x="1485912" y="91744"/>
                  </a:lnTo>
                  <a:lnTo>
                    <a:pt x="1432153" y="93992"/>
                  </a:lnTo>
                  <a:lnTo>
                    <a:pt x="1381150" y="100838"/>
                  </a:lnTo>
                  <a:lnTo>
                    <a:pt x="1334846" y="112014"/>
                  </a:lnTo>
                  <a:lnTo>
                    <a:pt x="1295234" y="127266"/>
                  </a:lnTo>
                  <a:lnTo>
                    <a:pt x="1264285" y="146329"/>
                  </a:lnTo>
                  <a:lnTo>
                    <a:pt x="1248308" y="140449"/>
                  </a:lnTo>
                  <a:lnTo>
                    <a:pt x="1194562" y="125780"/>
                  </a:lnTo>
                  <a:lnTo>
                    <a:pt x="1138301" y="116560"/>
                  </a:lnTo>
                  <a:lnTo>
                    <a:pt x="1080363" y="112153"/>
                  </a:lnTo>
                  <a:lnTo>
                    <a:pt x="1022362" y="112356"/>
                  </a:lnTo>
                  <a:lnTo>
                    <a:pt x="965949" y="116992"/>
                  </a:lnTo>
                  <a:lnTo>
                    <a:pt x="912761" y="125831"/>
                  </a:lnTo>
                  <a:lnTo>
                    <a:pt x="864412" y="138696"/>
                  </a:lnTo>
                  <a:lnTo>
                    <a:pt x="822540" y="155384"/>
                  </a:lnTo>
                  <a:lnTo>
                    <a:pt x="788797" y="175679"/>
                  </a:lnTo>
                  <a:lnTo>
                    <a:pt x="743394" y="166585"/>
                  </a:lnTo>
                  <a:lnTo>
                    <a:pt x="695718" y="160045"/>
                  </a:lnTo>
                  <a:lnTo>
                    <a:pt x="646404" y="156083"/>
                  </a:lnTo>
                  <a:lnTo>
                    <a:pt x="596099" y="154774"/>
                  </a:lnTo>
                  <a:lnTo>
                    <a:pt x="545465" y="156159"/>
                  </a:lnTo>
                  <a:lnTo>
                    <a:pt x="478612" y="162293"/>
                  </a:lnTo>
                  <a:lnTo>
                    <a:pt x="417309" y="172783"/>
                  </a:lnTo>
                  <a:lnTo>
                    <a:pt x="362445" y="187147"/>
                  </a:lnTo>
                  <a:lnTo>
                    <a:pt x="314947" y="204901"/>
                  </a:lnTo>
                  <a:lnTo>
                    <a:pt x="275742" y="225577"/>
                  </a:lnTo>
                  <a:lnTo>
                    <a:pt x="225882" y="273723"/>
                  </a:lnTo>
                  <a:lnTo>
                    <a:pt x="217068" y="300215"/>
                  </a:lnTo>
                  <a:lnTo>
                    <a:pt x="220218" y="327685"/>
                  </a:lnTo>
                  <a:lnTo>
                    <a:pt x="218186" y="329907"/>
                  </a:lnTo>
                  <a:lnTo>
                    <a:pt x="161988" y="335000"/>
                  </a:lnTo>
                  <a:lnTo>
                    <a:pt x="110934" y="345084"/>
                  </a:lnTo>
                  <a:lnTo>
                    <a:pt x="67017" y="359638"/>
                  </a:lnTo>
                  <a:lnTo>
                    <a:pt x="32258" y="378155"/>
                  </a:lnTo>
                  <a:lnTo>
                    <a:pt x="3975" y="407581"/>
                  </a:lnTo>
                  <a:lnTo>
                    <a:pt x="0" y="438010"/>
                  </a:lnTo>
                  <a:lnTo>
                    <a:pt x="18923" y="467194"/>
                  </a:lnTo>
                  <a:lnTo>
                    <a:pt x="59270" y="492950"/>
                  </a:lnTo>
                  <a:lnTo>
                    <a:pt x="119634" y="513029"/>
                  </a:lnTo>
                  <a:lnTo>
                    <a:pt x="87579" y="530161"/>
                  </a:lnTo>
                  <a:lnTo>
                    <a:pt x="65747" y="549427"/>
                  </a:lnTo>
                  <a:lnTo>
                    <a:pt x="54724" y="570115"/>
                  </a:lnTo>
                  <a:lnTo>
                    <a:pt x="55118" y="591515"/>
                  </a:lnTo>
                  <a:lnTo>
                    <a:pt x="102844" y="639140"/>
                  </a:lnTo>
                  <a:lnTo>
                    <a:pt x="146723" y="657085"/>
                  </a:lnTo>
                  <a:lnTo>
                    <a:pt x="200507" y="670001"/>
                  </a:lnTo>
                  <a:lnTo>
                    <a:pt x="261594" y="677100"/>
                  </a:lnTo>
                  <a:lnTo>
                    <a:pt x="327406" y="677532"/>
                  </a:lnTo>
                  <a:lnTo>
                    <a:pt x="331978" y="680681"/>
                  </a:lnTo>
                  <a:lnTo>
                    <a:pt x="365734" y="700189"/>
                  </a:lnTo>
                  <a:lnTo>
                    <a:pt x="404761" y="717296"/>
                  </a:lnTo>
                  <a:lnTo>
                    <a:pt x="448335" y="731926"/>
                  </a:lnTo>
                  <a:lnTo>
                    <a:pt x="495757" y="744004"/>
                  </a:lnTo>
                  <a:lnTo>
                    <a:pt x="546303" y="753478"/>
                  </a:lnTo>
                  <a:lnTo>
                    <a:pt x="599274" y="760247"/>
                  </a:lnTo>
                  <a:lnTo>
                    <a:pt x="653948" y="764260"/>
                  </a:lnTo>
                  <a:lnTo>
                    <a:pt x="709637" y="765454"/>
                  </a:lnTo>
                  <a:lnTo>
                    <a:pt x="765594" y="763727"/>
                  </a:lnTo>
                  <a:lnTo>
                    <a:pt x="821143" y="759040"/>
                  </a:lnTo>
                  <a:lnTo>
                    <a:pt x="875550" y="751306"/>
                  </a:lnTo>
                  <a:lnTo>
                    <a:pt x="928116" y="740448"/>
                  </a:lnTo>
                  <a:lnTo>
                    <a:pt x="969048" y="760996"/>
                  </a:lnTo>
                  <a:lnTo>
                    <a:pt x="1017739" y="778294"/>
                  </a:lnTo>
                  <a:lnTo>
                    <a:pt x="1073061" y="791997"/>
                  </a:lnTo>
                  <a:lnTo>
                    <a:pt x="1133856" y="801763"/>
                  </a:lnTo>
                  <a:lnTo>
                    <a:pt x="1194257" y="807034"/>
                  </a:lnTo>
                  <a:lnTo>
                    <a:pt x="1254379" y="808304"/>
                  </a:lnTo>
                  <a:lnTo>
                    <a:pt x="1313218" y="805789"/>
                  </a:lnTo>
                  <a:lnTo>
                    <a:pt x="1369809" y="799706"/>
                  </a:lnTo>
                  <a:lnTo>
                    <a:pt x="1423187" y="790244"/>
                  </a:lnTo>
                  <a:lnTo>
                    <a:pt x="1472361" y="777633"/>
                  </a:lnTo>
                  <a:lnTo>
                    <a:pt x="1516354" y="762076"/>
                  </a:lnTo>
                  <a:lnTo>
                    <a:pt x="1554213" y="743775"/>
                  </a:lnTo>
                  <a:lnTo>
                    <a:pt x="1607566" y="699808"/>
                  </a:lnTo>
                  <a:lnTo>
                    <a:pt x="1647126" y="708253"/>
                  </a:lnTo>
                  <a:lnTo>
                    <a:pt x="1689036" y="714413"/>
                  </a:lnTo>
                  <a:lnTo>
                    <a:pt x="1732648" y="718223"/>
                  </a:lnTo>
                  <a:lnTo>
                    <a:pt x="1777365" y="719594"/>
                  </a:lnTo>
                  <a:lnTo>
                    <a:pt x="1842985" y="717156"/>
                  </a:lnTo>
                  <a:lnTo>
                    <a:pt x="1904238" y="709752"/>
                  </a:lnTo>
                  <a:lnTo>
                    <a:pt x="1959762" y="697903"/>
                  </a:lnTo>
                  <a:lnTo>
                    <a:pt x="2008251" y="682129"/>
                  </a:lnTo>
                  <a:lnTo>
                    <a:pt x="2048370" y="662952"/>
                  </a:lnTo>
                  <a:lnTo>
                    <a:pt x="2098268" y="616483"/>
                  </a:lnTo>
                  <a:lnTo>
                    <a:pt x="2105406" y="590207"/>
                  </a:lnTo>
                  <a:lnTo>
                    <a:pt x="2153310" y="586193"/>
                  </a:lnTo>
                  <a:lnTo>
                    <a:pt x="2199360" y="579767"/>
                  </a:lnTo>
                  <a:lnTo>
                    <a:pt x="2243010" y="571055"/>
                  </a:lnTo>
                  <a:lnTo>
                    <a:pt x="2283714" y="560108"/>
                  </a:lnTo>
                  <a:lnTo>
                    <a:pt x="2339898" y="538886"/>
                  </a:lnTo>
                  <a:lnTo>
                    <a:pt x="2383104" y="514337"/>
                  </a:lnTo>
                  <a:lnTo>
                    <a:pt x="2413050" y="487349"/>
                  </a:lnTo>
                  <a:lnTo>
                    <a:pt x="2429446" y="458762"/>
                  </a:lnTo>
                  <a:lnTo>
                    <a:pt x="2431999" y="429450"/>
                  </a:lnTo>
                  <a:close/>
                </a:path>
              </a:pathLst>
            </a:custGeom>
            <a:solidFill>
              <a:srgbClr val="718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2" name="object 302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9804272" y="5698718"/>
              <a:ext cx="79628" cy="79578"/>
            </a:xfrm>
            <a:prstGeom prst="rect">
              <a:avLst/>
            </a:prstGeom>
          </p:spPr>
        </p:pic>
        <p:pic>
          <p:nvPicPr>
            <p:cNvPr id="303" name="object 303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9628377" y="5736983"/>
              <a:ext cx="119379" cy="119380"/>
            </a:xfrm>
            <a:prstGeom prst="rect">
              <a:avLst/>
            </a:prstGeom>
          </p:spPr>
        </p:pic>
        <p:sp>
          <p:nvSpPr>
            <p:cNvPr id="304" name="object 304"/>
            <p:cNvSpPr/>
            <p:nvPr/>
          </p:nvSpPr>
          <p:spPr>
            <a:xfrm>
              <a:off x="7599438" y="5674347"/>
              <a:ext cx="2432050" cy="808355"/>
            </a:xfrm>
            <a:custGeom>
              <a:avLst/>
              <a:gdLst/>
              <a:ahLst/>
              <a:cxnLst/>
              <a:rect l="l" t="t" r="r" b="b"/>
              <a:pathLst>
                <a:path w="2432050" h="808354">
                  <a:moveTo>
                    <a:pt x="220205" y="327685"/>
                  </a:moveTo>
                  <a:lnTo>
                    <a:pt x="225874" y="273715"/>
                  </a:lnTo>
                  <a:lnTo>
                    <a:pt x="275738" y="225574"/>
                  </a:lnTo>
                  <a:lnTo>
                    <a:pt x="314942" y="204901"/>
                  </a:lnTo>
                  <a:lnTo>
                    <a:pt x="362436" y="187138"/>
                  </a:lnTo>
                  <a:lnTo>
                    <a:pt x="417299" y="172771"/>
                  </a:lnTo>
                  <a:lnTo>
                    <a:pt x="478611" y="162283"/>
                  </a:lnTo>
                  <a:lnTo>
                    <a:pt x="545452" y="156159"/>
                  </a:lnTo>
                  <a:lnTo>
                    <a:pt x="596094" y="154768"/>
                  </a:lnTo>
                  <a:lnTo>
                    <a:pt x="646394" y="156077"/>
                  </a:lnTo>
                  <a:lnTo>
                    <a:pt x="695707" y="160033"/>
                  </a:lnTo>
                  <a:lnTo>
                    <a:pt x="743385" y="166584"/>
                  </a:lnTo>
                  <a:lnTo>
                    <a:pt x="788784" y="175679"/>
                  </a:lnTo>
                  <a:lnTo>
                    <a:pt x="822534" y="155379"/>
                  </a:lnTo>
                  <a:lnTo>
                    <a:pt x="864401" y="138696"/>
                  </a:lnTo>
                  <a:lnTo>
                    <a:pt x="912751" y="125830"/>
                  </a:lnTo>
                  <a:lnTo>
                    <a:pt x="965949" y="116982"/>
                  </a:lnTo>
                  <a:lnTo>
                    <a:pt x="1022363" y="112353"/>
                  </a:lnTo>
                  <a:lnTo>
                    <a:pt x="1080356" y="112142"/>
                  </a:lnTo>
                  <a:lnTo>
                    <a:pt x="1138297" y="116551"/>
                  </a:lnTo>
                  <a:lnTo>
                    <a:pt x="1194549" y="125780"/>
                  </a:lnTo>
                  <a:lnTo>
                    <a:pt x="1248306" y="140441"/>
                  </a:lnTo>
                  <a:lnTo>
                    <a:pt x="1264272" y="146329"/>
                  </a:lnTo>
                  <a:lnTo>
                    <a:pt x="1295224" y="127266"/>
                  </a:lnTo>
                  <a:lnTo>
                    <a:pt x="1334838" y="112010"/>
                  </a:lnTo>
                  <a:lnTo>
                    <a:pt x="1381138" y="100827"/>
                  </a:lnTo>
                  <a:lnTo>
                    <a:pt x="1432151" y="93981"/>
                  </a:lnTo>
                  <a:lnTo>
                    <a:pt x="1485900" y="91738"/>
                  </a:lnTo>
                  <a:lnTo>
                    <a:pt x="1540412" y="94363"/>
                  </a:lnTo>
                  <a:lnTo>
                    <a:pt x="1593710" y="102120"/>
                  </a:lnTo>
                  <a:lnTo>
                    <a:pt x="1640621" y="114366"/>
                  </a:lnTo>
                  <a:lnTo>
                    <a:pt x="1679435" y="130556"/>
                  </a:lnTo>
                  <a:lnTo>
                    <a:pt x="1719265" y="115179"/>
                  </a:lnTo>
                  <a:lnTo>
                    <a:pt x="1764571" y="103639"/>
                  </a:lnTo>
                  <a:lnTo>
                    <a:pt x="1813803" y="95988"/>
                  </a:lnTo>
                  <a:lnTo>
                    <a:pt x="1865411" y="92276"/>
                  </a:lnTo>
                  <a:lnTo>
                    <a:pt x="1917847" y="92555"/>
                  </a:lnTo>
                  <a:lnTo>
                    <a:pt x="1969561" y="96875"/>
                  </a:lnTo>
                  <a:lnTo>
                    <a:pt x="2019004" y="105287"/>
                  </a:lnTo>
                  <a:lnTo>
                    <a:pt x="2064626" y="117843"/>
                  </a:lnTo>
                  <a:lnTo>
                    <a:pt x="2124634" y="146645"/>
                  </a:lnTo>
                  <a:lnTo>
                    <a:pt x="2156828" y="181876"/>
                  </a:lnTo>
                  <a:lnTo>
                    <a:pt x="2221131" y="192210"/>
                  </a:lnTo>
                  <a:lnTo>
                    <a:pt x="2276142" y="207630"/>
                  </a:lnTo>
                  <a:lnTo>
                    <a:pt x="2320597" y="227247"/>
                  </a:lnTo>
                  <a:lnTo>
                    <a:pt x="2353229" y="250172"/>
                  </a:lnTo>
                  <a:lnTo>
                    <a:pt x="2377957" y="302391"/>
                  </a:lnTo>
                  <a:lnTo>
                    <a:pt x="2367521" y="329907"/>
                  </a:lnTo>
                  <a:lnTo>
                    <a:pt x="2363838" y="335318"/>
                  </a:lnTo>
                  <a:lnTo>
                    <a:pt x="2359266" y="340601"/>
                  </a:lnTo>
                  <a:lnTo>
                    <a:pt x="2353805" y="345744"/>
                  </a:lnTo>
                  <a:lnTo>
                    <a:pt x="2394465" y="372073"/>
                  </a:lnTo>
                  <a:lnTo>
                    <a:pt x="2420433" y="400259"/>
                  </a:lnTo>
                  <a:lnTo>
                    <a:pt x="2431994" y="429440"/>
                  </a:lnTo>
                  <a:lnTo>
                    <a:pt x="2429434" y="458755"/>
                  </a:lnTo>
                  <a:lnTo>
                    <a:pt x="2383095" y="514337"/>
                  </a:lnTo>
                  <a:lnTo>
                    <a:pt x="2339887" y="538880"/>
                  </a:lnTo>
                  <a:lnTo>
                    <a:pt x="2283701" y="560108"/>
                  </a:lnTo>
                  <a:lnTo>
                    <a:pt x="2243000" y="571043"/>
                  </a:lnTo>
                  <a:lnTo>
                    <a:pt x="2199357" y="579767"/>
                  </a:lnTo>
                  <a:lnTo>
                    <a:pt x="2153310" y="586186"/>
                  </a:lnTo>
                  <a:lnTo>
                    <a:pt x="2105393" y="590207"/>
                  </a:lnTo>
                  <a:lnTo>
                    <a:pt x="2098267" y="616471"/>
                  </a:lnTo>
                  <a:lnTo>
                    <a:pt x="2048368" y="662952"/>
                  </a:lnTo>
                  <a:lnTo>
                    <a:pt x="2008238" y="682128"/>
                  </a:lnTo>
                  <a:lnTo>
                    <a:pt x="1959750" y="697900"/>
                  </a:lnTo>
                  <a:lnTo>
                    <a:pt x="1904225" y="709748"/>
                  </a:lnTo>
                  <a:lnTo>
                    <a:pt x="1842986" y="717153"/>
                  </a:lnTo>
                  <a:lnTo>
                    <a:pt x="1777352" y="719594"/>
                  </a:lnTo>
                  <a:lnTo>
                    <a:pt x="1732640" y="718213"/>
                  </a:lnTo>
                  <a:lnTo>
                    <a:pt x="1689024" y="714406"/>
                  </a:lnTo>
                  <a:lnTo>
                    <a:pt x="1647122" y="708246"/>
                  </a:lnTo>
                  <a:lnTo>
                    <a:pt x="1607553" y="699808"/>
                  </a:lnTo>
                  <a:lnTo>
                    <a:pt x="1584928" y="722947"/>
                  </a:lnTo>
                  <a:lnTo>
                    <a:pt x="1516353" y="762065"/>
                  </a:lnTo>
                  <a:lnTo>
                    <a:pt x="1472354" y="777625"/>
                  </a:lnTo>
                  <a:lnTo>
                    <a:pt x="1423181" y="790238"/>
                  </a:lnTo>
                  <a:lnTo>
                    <a:pt x="1369809" y="799695"/>
                  </a:lnTo>
                  <a:lnTo>
                    <a:pt x="1313214" y="805786"/>
                  </a:lnTo>
                  <a:lnTo>
                    <a:pt x="1254371" y="808301"/>
                  </a:lnTo>
                  <a:lnTo>
                    <a:pt x="1194256" y="807030"/>
                  </a:lnTo>
                  <a:lnTo>
                    <a:pt x="1133843" y="801763"/>
                  </a:lnTo>
                  <a:lnTo>
                    <a:pt x="1073050" y="791993"/>
                  </a:lnTo>
                  <a:lnTo>
                    <a:pt x="1017734" y="778287"/>
                  </a:lnTo>
                  <a:lnTo>
                    <a:pt x="969037" y="760990"/>
                  </a:lnTo>
                  <a:lnTo>
                    <a:pt x="928103" y="740448"/>
                  </a:lnTo>
                  <a:lnTo>
                    <a:pt x="875541" y="751299"/>
                  </a:lnTo>
                  <a:lnTo>
                    <a:pt x="821133" y="759035"/>
                  </a:lnTo>
                  <a:lnTo>
                    <a:pt x="765591" y="763726"/>
                  </a:lnTo>
                  <a:lnTo>
                    <a:pt x="709626" y="765443"/>
                  </a:lnTo>
                  <a:lnTo>
                    <a:pt x="653948" y="764258"/>
                  </a:lnTo>
                  <a:lnTo>
                    <a:pt x="599269" y="760242"/>
                  </a:lnTo>
                  <a:lnTo>
                    <a:pt x="546298" y="753466"/>
                  </a:lnTo>
                  <a:lnTo>
                    <a:pt x="495748" y="744002"/>
                  </a:lnTo>
                  <a:lnTo>
                    <a:pt x="448329" y="731920"/>
                  </a:lnTo>
                  <a:lnTo>
                    <a:pt x="404752" y="717292"/>
                  </a:lnTo>
                  <a:lnTo>
                    <a:pt x="365727" y="700188"/>
                  </a:lnTo>
                  <a:lnTo>
                    <a:pt x="331965" y="680681"/>
                  </a:lnTo>
                  <a:lnTo>
                    <a:pt x="328917" y="678586"/>
                  </a:lnTo>
                  <a:lnTo>
                    <a:pt x="327393" y="677532"/>
                  </a:lnTo>
                  <a:lnTo>
                    <a:pt x="261583" y="677089"/>
                  </a:lnTo>
                  <a:lnTo>
                    <a:pt x="200497" y="669997"/>
                  </a:lnTo>
                  <a:lnTo>
                    <a:pt x="146720" y="657074"/>
                  </a:lnTo>
                  <a:lnTo>
                    <a:pt x="102838" y="639139"/>
                  </a:lnTo>
                  <a:lnTo>
                    <a:pt x="71438" y="617013"/>
                  </a:lnTo>
                  <a:lnTo>
                    <a:pt x="54720" y="570113"/>
                  </a:lnTo>
                  <a:lnTo>
                    <a:pt x="65742" y="549419"/>
                  </a:lnTo>
                  <a:lnTo>
                    <a:pt x="87574" y="530152"/>
                  </a:lnTo>
                  <a:lnTo>
                    <a:pt x="119621" y="513029"/>
                  </a:lnTo>
                  <a:lnTo>
                    <a:pt x="59267" y="492944"/>
                  </a:lnTo>
                  <a:lnTo>
                    <a:pt x="18913" y="467193"/>
                  </a:lnTo>
                  <a:lnTo>
                    <a:pt x="0" y="437999"/>
                  </a:lnTo>
                  <a:lnTo>
                    <a:pt x="3964" y="407579"/>
                  </a:lnTo>
                  <a:lnTo>
                    <a:pt x="32245" y="378155"/>
                  </a:lnTo>
                  <a:lnTo>
                    <a:pt x="67012" y="359636"/>
                  </a:lnTo>
                  <a:lnTo>
                    <a:pt x="110922" y="345078"/>
                  </a:lnTo>
                  <a:lnTo>
                    <a:pt x="161976" y="334996"/>
                  </a:lnTo>
                  <a:lnTo>
                    <a:pt x="218173" y="329907"/>
                  </a:lnTo>
                  <a:lnTo>
                    <a:pt x="220205" y="327685"/>
                  </a:lnTo>
                  <a:close/>
                </a:path>
                <a:path w="2432050" h="808354">
                  <a:moveTo>
                    <a:pt x="2383269" y="19888"/>
                  </a:moveTo>
                  <a:lnTo>
                    <a:pt x="2381710" y="27637"/>
                  </a:lnTo>
                  <a:lnTo>
                    <a:pt x="2377459" y="33962"/>
                  </a:lnTo>
                  <a:lnTo>
                    <a:pt x="2371161" y="38226"/>
                  </a:lnTo>
                  <a:lnTo>
                    <a:pt x="2363457" y="39789"/>
                  </a:lnTo>
                  <a:lnTo>
                    <a:pt x="2355681" y="38226"/>
                  </a:lnTo>
                  <a:lnTo>
                    <a:pt x="2349344" y="33962"/>
                  </a:lnTo>
                  <a:lnTo>
                    <a:pt x="2345080" y="27637"/>
                  </a:lnTo>
                  <a:lnTo>
                    <a:pt x="2343518" y="19888"/>
                  </a:lnTo>
                  <a:lnTo>
                    <a:pt x="2345080" y="12146"/>
                  </a:lnTo>
                  <a:lnTo>
                    <a:pt x="2349344" y="5824"/>
                  </a:lnTo>
                  <a:lnTo>
                    <a:pt x="2355681" y="1562"/>
                  </a:lnTo>
                  <a:lnTo>
                    <a:pt x="2363457" y="0"/>
                  </a:lnTo>
                  <a:lnTo>
                    <a:pt x="2371161" y="1562"/>
                  </a:lnTo>
                  <a:lnTo>
                    <a:pt x="2377459" y="5824"/>
                  </a:lnTo>
                  <a:lnTo>
                    <a:pt x="2381710" y="12146"/>
                  </a:lnTo>
                  <a:lnTo>
                    <a:pt x="2383269" y="19888"/>
                  </a:lnTo>
                  <a:close/>
                </a:path>
              </a:pathLst>
            </a:custGeom>
            <a:ln w="9144">
              <a:solidFill>
                <a:srgbClr val="718F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5" name="object 305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9799701" y="5694146"/>
              <a:ext cx="88773" cy="88722"/>
            </a:xfrm>
            <a:prstGeom prst="rect">
              <a:avLst/>
            </a:prstGeom>
          </p:spPr>
        </p:pic>
        <p:sp>
          <p:nvSpPr>
            <p:cNvPr id="306" name="object 306"/>
            <p:cNvSpPr/>
            <p:nvPr/>
          </p:nvSpPr>
          <p:spPr>
            <a:xfrm>
              <a:off x="7721727" y="5736983"/>
              <a:ext cx="2230755" cy="675005"/>
            </a:xfrm>
            <a:custGeom>
              <a:avLst/>
              <a:gdLst/>
              <a:ahLst/>
              <a:cxnLst/>
              <a:rect l="l" t="t" r="r" b="b"/>
              <a:pathLst>
                <a:path w="2230754" h="675004">
                  <a:moveTo>
                    <a:pt x="2026030" y="59690"/>
                  </a:moveTo>
                  <a:lnTo>
                    <a:pt x="2021330" y="82925"/>
                  </a:lnTo>
                  <a:lnTo>
                    <a:pt x="2008520" y="101898"/>
                  </a:lnTo>
                  <a:lnTo>
                    <a:pt x="1989544" y="114689"/>
                  </a:lnTo>
                  <a:lnTo>
                    <a:pt x="1966341" y="119380"/>
                  </a:lnTo>
                  <a:lnTo>
                    <a:pt x="1943084" y="114689"/>
                  </a:lnTo>
                  <a:lnTo>
                    <a:pt x="1924113" y="101898"/>
                  </a:lnTo>
                  <a:lnTo>
                    <a:pt x="1911334" y="82925"/>
                  </a:lnTo>
                  <a:lnTo>
                    <a:pt x="1906651" y="59690"/>
                  </a:lnTo>
                  <a:lnTo>
                    <a:pt x="1911334" y="36459"/>
                  </a:lnTo>
                  <a:lnTo>
                    <a:pt x="1924113" y="17486"/>
                  </a:lnTo>
                  <a:lnTo>
                    <a:pt x="1943084" y="4692"/>
                  </a:lnTo>
                  <a:lnTo>
                    <a:pt x="1966341" y="0"/>
                  </a:lnTo>
                  <a:lnTo>
                    <a:pt x="1989544" y="4692"/>
                  </a:lnTo>
                  <a:lnTo>
                    <a:pt x="2008520" y="17486"/>
                  </a:lnTo>
                  <a:lnTo>
                    <a:pt x="2021330" y="36459"/>
                  </a:lnTo>
                  <a:lnTo>
                    <a:pt x="2026030" y="59690"/>
                  </a:lnTo>
                  <a:close/>
                </a:path>
                <a:path w="2230754" h="675004">
                  <a:moveTo>
                    <a:pt x="142494" y="460819"/>
                  </a:moveTo>
                  <a:lnTo>
                    <a:pt x="105334" y="460836"/>
                  </a:lnTo>
                  <a:lnTo>
                    <a:pt x="68770" y="458600"/>
                  </a:lnTo>
                  <a:lnTo>
                    <a:pt x="33444" y="454168"/>
                  </a:lnTo>
                  <a:lnTo>
                    <a:pt x="0" y="447598"/>
                  </a:lnTo>
                </a:path>
                <a:path w="2230754" h="675004">
                  <a:moveTo>
                    <a:pt x="268224" y="605434"/>
                  </a:moveTo>
                  <a:lnTo>
                    <a:pt x="253087" y="607624"/>
                  </a:lnTo>
                  <a:lnTo>
                    <a:pt x="237617" y="609411"/>
                  </a:lnTo>
                  <a:lnTo>
                    <a:pt x="221861" y="610790"/>
                  </a:lnTo>
                  <a:lnTo>
                    <a:pt x="205867" y="611759"/>
                  </a:lnTo>
                </a:path>
                <a:path w="2230754" h="675004">
                  <a:moveTo>
                    <a:pt x="805688" y="674916"/>
                  </a:moveTo>
                  <a:lnTo>
                    <a:pt x="794831" y="668012"/>
                  </a:lnTo>
                  <a:lnTo>
                    <a:pt x="784939" y="660893"/>
                  </a:lnTo>
                  <a:lnTo>
                    <a:pt x="776023" y="653572"/>
                  </a:lnTo>
                  <a:lnTo>
                    <a:pt x="768096" y="646061"/>
                  </a:lnTo>
                </a:path>
                <a:path w="2230754" h="675004">
                  <a:moveTo>
                    <a:pt x="1500504" y="602970"/>
                  </a:moveTo>
                  <a:lnTo>
                    <a:pt x="1498342" y="611000"/>
                  </a:lnTo>
                  <a:lnTo>
                    <a:pt x="1495107" y="618963"/>
                  </a:lnTo>
                  <a:lnTo>
                    <a:pt x="1490825" y="626845"/>
                  </a:lnTo>
                  <a:lnTo>
                    <a:pt x="1485519" y="634631"/>
                  </a:lnTo>
                </a:path>
                <a:path w="2230754" h="675004">
                  <a:moveTo>
                    <a:pt x="1798827" y="407377"/>
                  </a:moveTo>
                  <a:lnTo>
                    <a:pt x="1861264" y="423307"/>
                  </a:lnTo>
                  <a:lnTo>
                    <a:pt x="1912258" y="444051"/>
                  </a:lnTo>
                  <a:lnTo>
                    <a:pt x="1950334" y="468662"/>
                  </a:lnTo>
                  <a:lnTo>
                    <a:pt x="1974018" y="496192"/>
                  </a:lnTo>
                  <a:lnTo>
                    <a:pt x="1981834" y="525691"/>
                  </a:lnTo>
                </a:path>
                <a:path w="2230754" h="675004">
                  <a:moveTo>
                    <a:pt x="2230374" y="281355"/>
                  </a:moveTo>
                  <a:lnTo>
                    <a:pt x="2214883" y="293814"/>
                  </a:lnTo>
                  <a:lnTo>
                    <a:pt x="2195988" y="305438"/>
                  </a:lnTo>
                  <a:lnTo>
                    <a:pt x="2173902" y="316113"/>
                  </a:lnTo>
                  <a:lnTo>
                    <a:pt x="2148840" y="325729"/>
                  </a:lnTo>
                </a:path>
                <a:path w="2230754" h="675004">
                  <a:moveTo>
                    <a:pt x="2034921" y="116751"/>
                  </a:moveTo>
                  <a:lnTo>
                    <a:pt x="2037969" y="123659"/>
                  </a:lnTo>
                  <a:lnTo>
                    <a:pt x="2039493" y="130683"/>
                  </a:lnTo>
                  <a:lnTo>
                    <a:pt x="2039239" y="137706"/>
                  </a:lnTo>
                </a:path>
                <a:path w="2230754" h="675004">
                  <a:moveTo>
                    <a:pt x="1514602" y="92316"/>
                  </a:moveTo>
                  <a:lnTo>
                    <a:pt x="1523220" y="85190"/>
                  </a:lnTo>
                  <a:lnTo>
                    <a:pt x="1533064" y="78346"/>
                  </a:lnTo>
                  <a:lnTo>
                    <a:pt x="1544123" y="71806"/>
                  </a:lnTo>
                  <a:lnTo>
                    <a:pt x="1556384" y="65595"/>
                  </a:lnTo>
                </a:path>
                <a:path w="2230754" h="675004">
                  <a:moveTo>
                    <a:pt x="1124330" y="105041"/>
                  </a:moveTo>
                  <a:lnTo>
                    <a:pt x="1128021" y="99100"/>
                  </a:lnTo>
                  <a:lnTo>
                    <a:pt x="1132617" y="93270"/>
                  </a:lnTo>
                  <a:lnTo>
                    <a:pt x="1138118" y="87566"/>
                  </a:lnTo>
                  <a:lnTo>
                    <a:pt x="1144524" y="82003"/>
                  </a:lnTo>
                </a:path>
                <a:path w="2230754" h="675004">
                  <a:moveTo>
                    <a:pt x="666242" y="112864"/>
                  </a:moveTo>
                  <a:lnTo>
                    <a:pt x="685762" y="117784"/>
                  </a:lnTo>
                  <a:lnTo>
                    <a:pt x="704484" y="123161"/>
                  </a:lnTo>
                  <a:lnTo>
                    <a:pt x="722374" y="128981"/>
                  </a:lnTo>
                  <a:lnTo>
                    <a:pt x="739394" y="135229"/>
                  </a:lnTo>
                </a:path>
                <a:path w="2230754" h="675004">
                  <a:moveTo>
                    <a:pt x="110617" y="288569"/>
                  </a:moveTo>
                  <a:lnTo>
                    <a:pt x="106596" y="282772"/>
                  </a:lnTo>
                  <a:lnTo>
                    <a:pt x="103124" y="276913"/>
                  </a:lnTo>
                  <a:lnTo>
                    <a:pt x="100222" y="271002"/>
                  </a:lnTo>
                  <a:lnTo>
                    <a:pt x="97917" y="265049"/>
                  </a:lnTo>
                </a:path>
              </a:pathLst>
            </a:custGeom>
            <a:ln w="9144">
              <a:solidFill>
                <a:srgbClr val="718F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7" name="object 307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8001000" y="5754624"/>
              <a:ext cx="1528572" cy="513588"/>
            </a:xfrm>
            <a:prstGeom prst="rect">
              <a:avLst/>
            </a:prstGeom>
          </p:spPr>
        </p:pic>
        <p:pic>
          <p:nvPicPr>
            <p:cNvPr id="308" name="object 308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8090916" y="6028943"/>
              <a:ext cx="1295400" cy="513588"/>
            </a:xfrm>
            <a:prstGeom prst="rect">
              <a:avLst/>
            </a:prstGeom>
          </p:spPr>
        </p:pic>
      </p:grpSp>
      <p:sp>
        <p:nvSpPr>
          <p:cNvPr id="309" name="object 309"/>
          <p:cNvSpPr txBox="1"/>
          <p:nvPr/>
        </p:nvSpPr>
        <p:spPr>
          <a:xfrm>
            <a:off x="688340" y="973962"/>
            <a:ext cx="9308465" cy="883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540"/>
              </a:lnSpc>
              <a:spcBef>
                <a:spcPts val="95"/>
              </a:spcBef>
            </a:pPr>
            <a:r>
              <a:rPr sz="2200" spc="-45" dirty="0">
                <a:latin typeface="Arial MT"/>
                <a:cs typeface="Arial MT"/>
              </a:rPr>
              <a:t>You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can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build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computation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graph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time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continuous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transformations.</a:t>
            </a:r>
            <a:endParaRPr sz="2200">
              <a:latin typeface="Arial MT"/>
              <a:cs typeface="Arial MT"/>
            </a:endParaRPr>
          </a:p>
          <a:p>
            <a:pPr marR="3297554" algn="ctr">
              <a:lnSpc>
                <a:spcPts val="206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Hierarchical</a:t>
            </a:r>
            <a:endParaRPr sz="1800">
              <a:latin typeface="Calibri"/>
              <a:cs typeface="Calibri"/>
            </a:endParaRPr>
          </a:p>
          <a:p>
            <a:pPr marR="3298825" algn="ctr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representation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1" name="object 3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10" name="object 310"/>
          <p:cNvSpPr txBox="1"/>
          <p:nvPr/>
        </p:nvSpPr>
        <p:spPr>
          <a:xfrm>
            <a:off x="8133715" y="5804408"/>
            <a:ext cx="11925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235" marR="5080" indent="-9017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Bidirectional processing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Extending</a:t>
            </a:r>
            <a:r>
              <a:rPr spc="-55" dirty="0"/>
              <a:t> </a:t>
            </a:r>
            <a:r>
              <a:rPr dirty="0"/>
              <a:t>Recurrent</a:t>
            </a:r>
            <a:r>
              <a:rPr spc="-80" dirty="0"/>
              <a:t> </a:t>
            </a:r>
            <a:r>
              <a:rPr dirty="0"/>
              <a:t>Neural</a:t>
            </a:r>
            <a:r>
              <a:rPr spc="-75" dirty="0"/>
              <a:t> </a:t>
            </a:r>
            <a:r>
              <a:rPr spc="-10" dirty="0"/>
              <a:t>Networks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227581"/>
            <a:ext cx="1076261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 MT"/>
                <a:cs typeface="Arial MT"/>
              </a:rPr>
              <a:t>Recurrent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Neural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Networks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have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been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also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extended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memory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mechanism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cope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very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long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sequences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encoding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bottleneck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50" dirty="0">
                <a:latin typeface="Arial MT"/>
                <a:cs typeface="Arial MT"/>
              </a:rPr>
              <a:t>…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044" y="2752344"/>
            <a:ext cx="8687179" cy="123901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74419" y="4523613"/>
            <a:ext cx="142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input</a:t>
            </a:r>
            <a:r>
              <a:rPr sz="1800" i="1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sequence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38209" y="4523613"/>
            <a:ext cx="1562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output</a:t>
            </a:r>
            <a:r>
              <a:rPr sz="1800" i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sequence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264386" y="4094988"/>
            <a:ext cx="1870075" cy="1243965"/>
            <a:chOff x="3264386" y="4094988"/>
            <a:chExt cx="1870075" cy="124396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64386" y="4094988"/>
              <a:ext cx="1869992" cy="124358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02508" y="4101084"/>
              <a:ext cx="1793747" cy="117652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302508" y="4101084"/>
              <a:ext cx="1793875" cy="1176655"/>
            </a:xfrm>
            <a:custGeom>
              <a:avLst/>
              <a:gdLst/>
              <a:ahLst/>
              <a:cxnLst/>
              <a:rect l="l" t="t" r="r" b="b"/>
              <a:pathLst>
                <a:path w="1793875" h="1176654">
                  <a:moveTo>
                    <a:pt x="0" y="0"/>
                  </a:moveTo>
                  <a:lnTo>
                    <a:pt x="1793747" y="459867"/>
                  </a:lnTo>
                  <a:lnTo>
                    <a:pt x="1793747" y="716661"/>
                  </a:lnTo>
                  <a:lnTo>
                    <a:pt x="0" y="1176528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306304" y="4120917"/>
            <a:ext cx="1891664" cy="1245235"/>
            <a:chOff x="6306304" y="4120917"/>
            <a:chExt cx="1891664" cy="124523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06304" y="4120917"/>
              <a:ext cx="1891298" cy="12450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44411" y="4126991"/>
              <a:ext cx="1815084" cy="117805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344411" y="4126991"/>
              <a:ext cx="1815464" cy="1178560"/>
            </a:xfrm>
            <a:custGeom>
              <a:avLst/>
              <a:gdLst/>
              <a:ahLst/>
              <a:cxnLst/>
              <a:rect l="l" t="t" r="r" b="b"/>
              <a:pathLst>
                <a:path w="1815465" h="1178560">
                  <a:moveTo>
                    <a:pt x="1815084" y="0"/>
                  </a:moveTo>
                  <a:lnTo>
                    <a:pt x="0" y="460501"/>
                  </a:lnTo>
                  <a:lnTo>
                    <a:pt x="0" y="717549"/>
                  </a:lnTo>
                  <a:lnTo>
                    <a:pt x="1815084" y="1178051"/>
                  </a:lnTo>
                  <a:lnTo>
                    <a:pt x="1815084" y="0"/>
                  </a:lnTo>
                  <a:close/>
                </a:path>
              </a:pathLst>
            </a:custGeom>
            <a:ln w="9144">
              <a:solidFill>
                <a:srgbClr val="BD4A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285994" y="4492828"/>
            <a:ext cx="86804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encoding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Attention</a:t>
            </a:r>
            <a:r>
              <a:rPr spc="-50" dirty="0"/>
              <a:t> </a:t>
            </a:r>
            <a:r>
              <a:rPr dirty="0"/>
              <a:t>Mechanism</a:t>
            </a:r>
            <a:r>
              <a:rPr spc="-5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dirty="0"/>
              <a:t>Seq2Seq</a:t>
            </a:r>
            <a:r>
              <a:rPr spc="-70" dirty="0"/>
              <a:t> </a:t>
            </a:r>
            <a:r>
              <a:rPr spc="-10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306194"/>
            <a:ext cx="11427460" cy="4451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400" b="1" dirty="0"/>
              <a:t>Attention mechanism</a:t>
            </a:r>
            <a:r>
              <a:rPr lang="en-US" sz="2400" dirty="0"/>
              <a:t> in Natural Language Processing (NLP) is a technique that allows models to </a:t>
            </a:r>
            <a:r>
              <a:rPr lang="en-US" sz="2400" b="1" dirty="0"/>
              <a:t>focus on the most relevant parts of the input</a:t>
            </a:r>
            <a:r>
              <a:rPr lang="en-US" sz="2400" dirty="0"/>
              <a:t> when generating an output. 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400" dirty="0"/>
              <a:t>It was first introduced to improve sequence-to-sequence models, such as those used in machine translation, but has since become a fundamental component of models like </a:t>
            </a:r>
            <a:r>
              <a:rPr lang="en-US" sz="2400" b="1" dirty="0"/>
              <a:t>Transformers</a:t>
            </a:r>
            <a:r>
              <a:rPr lang="en-US" sz="2400" dirty="0"/>
              <a:t> (e.g., BERT, GPT).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2400" dirty="0">
              <a:latin typeface="Arial MT"/>
              <a:cs typeface="Arial MT"/>
            </a:endParaRPr>
          </a:p>
          <a:p>
            <a:pPr>
              <a:buNone/>
            </a:pPr>
            <a:r>
              <a:rPr lang="en-US" sz="2400" b="1" dirty="0"/>
              <a:t>Basic Idea</a:t>
            </a:r>
          </a:p>
          <a:p>
            <a:r>
              <a:rPr lang="en-US" sz="2400" dirty="0"/>
              <a:t>When processing a sequence (like a sentence), not all words are equally important for a task. </a:t>
            </a:r>
            <a:r>
              <a:rPr lang="en-US" sz="2400" b="1" dirty="0"/>
              <a:t>Attention assigns a weight to each word</a:t>
            </a:r>
            <a:r>
              <a:rPr lang="en-US" sz="2400" dirty="0"/>
              <a:t> in the input, indicating how relevant it is to the current output being generated.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2200" dirty="0">
              <a:latin typeface="Arial MT"/>
              <a:cs typeface="Arial MT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F72C1-147F-7866-4218-32122FA01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84B3021-D903-5BC0-5F12-E7446F7275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3396" y="164718"/>
            <a:ext cx="10966603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Attention</a:t>
            </a:r>
            <a:r>
              <a:rPr spc="-50" dirty="0"/>
              <a:t> </a:t>
            </a:r>
            <a:r>
              <a:rPr dirty="0"/>
              <a:t>Mechanism</a:t>
            </a:r>
            <a:r>
              <a:rPr spc="-5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dirty="0"/>
              <a:t>Seq2Seq</a:t>
            </a:r>
            <a:r>
              <a:rPr spc="-70" dirty="0"/>
              <a:t> </a:t>
            </a:r>
            <a:r>
              <a:rPr spc="-10" dirty="0"/>
              <a:t>Models</a:t>
            </a:r>
            <a:r>
              <a:rPr lang="en-US" spc="-10" dirty="0"/>
              <a:t>: Why This Is Powerful</a:t>
            </a:r>
            <a:br>
              <a:rPr lang="en-US" spc="-10" dirty="0"/>
            </a:b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A99F222-EE52-8D7F-E7A2-C7C09AC23E9A}"/>
              </a:ext>
            </a:extLst>
          </p:cNvPr>
          <p:cNvSpPr txBox="1"/>
          <p:nvPr/>
        </p:nvSpPr>
        <p:spPr>
          <a:xfrm>
            <a:off x="685800" y="914400"/>
            <a:ext cx="11427460" cy="53110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2400" b="1" dirty="0"/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400" b="1" dirty="0"/>
              <a:t>Without attention, the decoder would try to generate all words using just one compressed vector. That wouldn't work well for long sentences.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400" b="1" dirty="0"/>
              <a:t>It encodes the entire input into a single fixed-length vector (called the context vector).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2400" b="1" dirty="0"/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400" b="1" dirty="0"/>
              <a:t>With attention, the model can: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2400" b="1" dirty="0"/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400" b="1" dirty="0"/>
              <a:t>    </a:t>
            </a:r>
            <a:r>
              <a:rPr lang="en-US" sz="2400" dirty="0"/>
              <a:t>Dynamically focus on relevant parts of the input for each output word.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2400" dirty="0"/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400" dirty="0"/>
              <a:t>    Handle longer or reordered sentences more accurately.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2400" dirty="0"/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400" dirty="0"/>
              <a:t>    Align input and output words even when their positions change due to grammar differences.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C34657FF-D2B4-D874-EE8D-8414823B394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0117324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0C79A-6407-0A14-730B-229518698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B565516-B276-DF8A-91CF-4AD10600AA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Attention</a:t>
            </a:r>
            <a:r>
              <a:rPr spc="-50" dirty="0"/>
              <a:t> </a:t>
            </a:r>
            <a:r>
              <a:rPr dirty="0"/>
              <a:t>Mechanism</a:t>
            </a:r>
            <a:r>
              <a:rPr spc="-5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dirty="0"/>
              <a:t>Seq2Seq</a:t>
            </a:r>
            <a:r>
              <a:rPr spc="-70" dirty="0"/>
              <a:t> </a:t>
            </a:r>
            <a:r>
              <a:rPr spc="-10" dirty="0"/>
              <a:t>Models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034E953-A914-1252-4ACF-512C8183C840}"/>
              </a:ext>
            </a:extLst>
          </p:cNvPr>
          <p:cNvSpPr txBox="1"/>
          <p:nvPr/>
        </p:nvSpPr>
        <p:spPr>
          <a:xfrm>
            <a:off x="688340" y="1306194"/>
            <a:ext cx="44056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 MT"/>
                <a:cs typeface="Arial MT"/>
              </a:rPr>
              <a:t>Considering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sequential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dataset: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D263835-BEF8-95D2-461D-F1B62863670A}"/>
              </a:ext>
            </a:extLst>
          </p:cNvPr>
          <p:cNvSpPr txBox="1"/>
          <p:nvPr/>
        </p:nvSpPr>
        <p:spPr>
          <a:xfrm>
            <a:off x="688340" y="2513456"/>
            <a:ext cx="68541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decoder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role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model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generative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probability: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83CA2DD-9693-D119-4177-2E41E34DED8A}"/>
              </a:ext>
            </a:extLst>
          </p:cNvPr>
          <p:cNvSpPr txBox="1"/>
          <p:nvPr/>
        </p:nvSpPr>
        <p:spPr>
          <a:xfrm>
            <a:off x="688340" y="3720846"/>
            <a:ext cx="6852284" cy="1671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 MT"/>
                <a:cs typeface="Arial MT"/>
              </a:rPr>
              <a:t>In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“vanilla”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seq2seq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models,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decoder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conditioned </a:t>
            </a:r>
            <a:r>
              <a:rPr sz="2200" dirty="0">
                <a:latin typeface="Arial MT"/>
                <a:cs typeface="Arial MT"/>
              </a:rPr>
              <a:t>initializing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initial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state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last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state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encoder.</a:t>
            </a:r>
            <a:endParaRPr sz="2200">
              <a:latin typeface="Arial MT"/>
              <a:cs typeface="Arial MT"/>
            </a:endParaRPr>
          </a:p>
          <a:p>
            <a:pPr marL="12700" marR="473709">
              <a:lnSpc>
                <a:spcPct val="100000"/>
              </a:lnSpc>
              <a:spcBef>
                <a:spcPts val="2400"/>
              </a:spcBef>
            </a:pPr>
            <a:r>
              <a:rPr sz="2200" dirty="0">
                <a:latin typeface="Arial MT"/>
                <a:cs typeface="Arial MT"/>
              </a:rPr>
              <a:t>Works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well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short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medium-</a:t>
            </a:r>
            <a:r>
              <a:rPr sz="2200" dirty="0">
                <a:latin typeface="Arial MT"/>
                <a:cs typeface="Arial MT"/>
              </a:rPr>
              <a:t>length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sentences; however,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long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sentences,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becomes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bottleneck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2EEADED0-2025-AFD4-3E3F-6C517BECAD7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1165" y="1862050"/>
            <a:ext cx="4164196" cy="358001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A8106BD4-CA49-CE07-4331-1AFE852C113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29055" y="3103071"/>
            <a:ext cx="2217282" cy="340891"/>
          </a:xfrm>
          <a:prstGeom prst="rect">
            <a:avLst/>
          </a:prstGeom>
        </p:spPr>
      </p:pic>
      <p:grpSp>
        <p:nvGrpSpPr>
          <p:cNvPr id="8" name="object 8">
            <a:extLst>
              <a:ext uri="{FF2B5EF4-FFF2-40B4-BE49-F238E27FC236}">
                <a16:creationId xmlns:a16="http://schemas.microsoft.com/office/drawing/2014/main" id="{5B0A2A64-1884-7468-F1E9-38924BC9E2F2}"/>
              </a:ext>
            </a:extLst>
          </p:cNvPr>
          <p:cNvGrpSpPr/>
          <p:nvPr/>
        </p:nvGrpSpPr>
        <p:grpSpPr>
          <a:xfrm>
            <a:off x="8041005" y="1327148"/>
            <a:ext cx="4147185" cy="4117340"/>
            <a:chOff x="8051451" y="1316736"/>
            <a:chExt cx="4147185" cy="4117340"/>
          </a:xfrm>
        </p:grpSpPr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BC60FEE4-2D21-D274-EEA0-7726C80DCAD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51451" y="1469136"/>
              <a:ext cx="3692215" cy="3964366"/>
            </a:xfrm>
            <a:prstGeom prst="rect">
              <a:avLst/>
            </a:prstGeom>
          </p:spPr>
        </p:pic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634828C4-F4EB-B4A6-C478-52A06870C34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61603" y="1316736"/>
              <a:ext cx="3930396" cy="1656588"/>
            </a:xfrm>
            <a:prstGeom prst="rect">
              <a:avLst/>
            </a:prstGeom>
          </p:spPr>
        </p:pic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1F598091-341A-54D5-256D-BA76177D66B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32163" y="1487423"/>
              <a:ext cx="2435352" cy="1144524"/>
            </a:xfrm>
            <a:prstGeom prst="rect">
              <a:avLst/>
            </a:prstGeom>
          </p:spPr>
        </p:pic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8FA490B0-8C49-CFD6-AF61-0EFFA75B9B3E}"/>
                </a:ext>
              </a:extLst>
            </p:cNvPr>
            <p:cNvSpPr/>
            <p:nvPr/>
          </p:nvSpPr>
          <p:spPr>
            <a:xfrm>
              <a:off x="8308598" y="1341082"/>
              <a:ext cx="3885565" cy="1379855"/>
            </a:xfrm>
            <a:custGeom>
              <a:avLst/>
              <a:gdLst/>
              <a:ahLst/>
              <a:cxnLst/>
              <a:rect l="l" t="t" r="r" b="b"/>
              <a:pathLst>
                <a:path w="3885565" h="1379855">
                  <a:moveTo>
                    <a:pt x="2381891" y="0"/>
                  </a:moveTo>
                  <a:lnTo>
                    <a:pt x="2326823" y="1152"/>
                  </a:lnTo>
                  <a:lnTo>
                    <a:pt x="2272944" y="5991"/>
                  </a:lnTo>
                  <a:lnTo>
                    <a:pt x="2221067" y="14385"/>
                  </a:lnTo>
                  <a:lnTo>
                    <a:pt x="2172005" y="26202"/>
                  </a:lnTo>
                  <a:lnTo>
                    <a:pt x="2126572" y="41310"/>
                  </a:lnTo>
                  <a:lnTo>
                    <a:pt x="2085582" y="59578"/>
                  </a:lnTo>
                  <a:lnTo>
                    <a:pt x="2049848" y="80874"/>
                  </a:lnTo>
                  <a:lnTo>
                    <a:pt x="2020184" y="105066"/>
                  </a:lnTo>
                  <a:lnTo>
                    <a:pt x="1994675" y="93713"/>
                  </a:lnTo>
                  <a:lnTo>
                    <a:pt x="1938941" y="73865"/>
                  </a:lnTo>
                  <a:lnTo>
                    <a:pt x="1858077" y="54136"/>
                  </a:lnTo>
                  <a:lnTo>
                    <a:pt x="1805986" y="45915"/>
                  </a:lnTo>
                  <a:lnTo>
                    <a:pt x="1753144" y="40706"/>
                  </a:lnTo>
                  <a:lnTo>
                    <a:pt x="1700037" y="38437"/>
                  </a:lnTo>
                  <a:lnTo>
                    <a:pt x="1647151" y="39037"/>
                  </a:lnTo>
                  <a:lnTo>
                    <a:pt x="1594970" y="42432"/>
                  </a:lnTo>
                  <a:lnTo>
                    <a:pt x="1543981" y="48551"/>
                  </a:lnTo>
                  <a:lnTo>
                    <a:pt x="1494670" y="57321"/>
                  </a:lnTo>
                  <a:lnTo>
                    <a:pt x="1447523" y="68671"/>
                  </a:lnTo>
                  <a:lnTo>
                    <a:pt x="1403024" y="82528"/>
                  </a:lnTo>
                  <a:lnTo>
                    <a:pt x="1361660" y="98819"/>
                  </a:lnTo>
                  <a:lnTo>
                    <a:pt x="1323916" y="117473"/>
                  </a:lnTo>
                  <a:lnTo>
                    <a:pt x="1290278" y="138418"/>
                  </a:lnTo>
                  <a:lnTo>
                    <a:pt x="1261232" y="161581"/>
                  </a:lnTo>
                  <a:lnTo>
                    <a:pt x="1216442" y="150048"/>
                  </a:lnTo>
                  <a:lnTo>
                    <a:pt x="1170064" y="140419"/>
                  </a:lnTo>
                  <a:lnTo>
                    <a:pt x="1122355" y="132720"/>
                  </a:lnTo>
                  <a:lnTo>
                    <a:pt x="1073573" y="126973"/>
                  </a:lnTo>
                  <a:lnTo>
                    <a:pt x="1023976" y="123203"/>
                  </a:lnTo>
                  <a:lnTo>
                    <a:pt x="973821" y="121433"/>
                  </a:lnTo>
                  <a:lnTo>
                    <a:pt x="923365" y="121687"/>
                  </a:lnTo>
                  <a:lnTo>
                    <a:pt x="872866" y="123989"/>
                  </a:lnTo>
                  <a:lnTo>
                    <a:pt x="807850" y="130004"/>
                  </a:lnTo>
                  <a:lnTo>
                    <a:pt x="745807" y="139177"/>
                  </a:lnTo>
                  <a:lnTo>
                    <a:pt x="687051" y="151307"/>
                  </a:lnTo>
                  <a:lnTo>
                    <a:pt x="631899" y="166192"/>
                  </a:lnTo>
                  <a:lnTo>
                    <a:pt x="580667" y="183632"/>
                  </a:lnTo>
                  <a:lnTo>
                    <a:pt x="533672" y="203424"/>
                  </a:lnTo>
                  <a:lnTo>
                    <a:pt x="491230" y="225367"/>
                  </a:lnTo>
                  <a:lnTo>
                    <a:pt x="453658" y="249260"/>
                  </a:lnTo>
                  <a:lnTo>
                    <a:pt x="421271" y="274901"/>
                  </a:lnTo>
                  <a:lnTo>
                    <a:pt x="394386" y="302090"/>
                  </a:lnTo>
                  <a:lnTo>
                    <a:pt x="358388" y="360302"/>
                  </a:lnTo>
                  <a:lnTo>
                    <a:pt x="348193" y="422286"/>
                  </a:lnTo>
                  <a:lnTo>
                    <a:pt x="353563" y="454189"/>
                  </a:lnTo>
                  <a:lnTo>
                    <a:pt x="350261" y="458507"/>
                  </a:lnTo>
                  <a:lnTo>
                    <a:pt x="289744" y="463929"/>
                  </a:lnTo>
                  <a:lnTo>
                    <a:pt x="232395" y="473775"/>
                  </a:lnTo>
                  <a:lnTo>
                    <a:pt x="179160" y="487749"/>
                  </a:lnTo>
                  <a:lnTo>
                    <a:pt x="130984" y="505553"/>
                  </a:lnTo>
                  <a:lnTo>
                    <a:pt x="88811" y="526893"/>
                  </a:lnTo>
                  <a:lnTo>
                    <a:pt x="53589" y="551471"/>
                  </a:lnTo>
                  <a:lnTo>
                    <a:pt x="23551" y="582445"/>
                  </a:lnTo>
                  <a:lnTo>
                    <a:pt x="0" y="647196"/>
                  </a:lnTo>
                  <a:lnTo>
                    <a:pt x="5697" y="679509"/>
                  </a:lnTo>
                  <a:lnTo>
                    <a:pt x="50070" y="740353"/>
                  </a:lnTo>
                  <a:lnTo>
                    <a:pt x="87957" y="767420"/>
                  </a:lnTo>
                  <a:lnTo>
                    <a:pt x="135786" y="791275"/>
                  </a:lnTo>
                  <a:lnTo>
                    <a:pt x="193162" y="811186"/>
                  </a:lnTo>
                  <a:lnTo>
                    <a:pt x="141901" y="844122"/>
                  </a:lnTo>
                  <a:lnTo>
                    <a:pt x="107024" y="881226"/>
                  </a:lnTo>
                  <a:lnTo>
                    <a:pt x="89435" y="921092"/>
                  </a:lnTo>
                  <a:lnTo>
                    <a:pt x="90038" y="962316"/>
                  </a:lnTo>
                  <a:lnTo>
                    <a:pt x="124324" y="1020504"/>
                  </a:lnTo>
                  <a:lnTo>
                    <a:pt x="154466" y="1046093"/>
                  </a:lnTo>
                  <a:lnTo>
                    <a:pt x="192083" y="1068890"/>
                  </a:lnTo>
                  <a:lnTo>
                    <a:pt x="236278" y="1088554"/>
                  </a:lnTo>
                  <a:lnTo>
                    <a:pt x="286158" y="1104743"/>
                  </a:lnTo>
                  <a:lnTo>
                    <a:pt x="340828" y="1117116"/>
                  </a:lnTo>
                  <a:lnTo>
                    <a:pt x="399394" y="1125331"/>
                  </a:lnTo>
                  <a:lnTo>
                    <a:pt x="460960" y="1129048"/>
                  </a:lnTo>
                  <a:lnTo>
                    <a:pt x="524632" y="1127924"/>
                  </a:lnTo>
                  <a:lnTo>
                    <a:pt x="527045" y="1129956"/>
                  </a:lnTo>
                  <a:lnTo>
                    <a:pt x="563275" y="1156987"/>
                  </a:lnTo>
                  <a:lnTo>
                    <a:pt x="597737" y="1178434"/>
                  </a:lnTo>
                  <a:lnTo>
                    <a:pt x="635138" y="1198205"/>
                  </a:lnTo>
                  <a:lnTo>
                    <a:pt x="675233" y="1216269"/>
                  </a:lnTo>
                  <a:lnTo>
                    <a:pt x="717779" y="1232598"/>
                  </a:lnTo>
                  <a:lnTo>
                    <a:pt x="762529" y="1247161"/>
                  </a:lnTo>
                  <a:lnTo>
                    <a:pt x="809240" y="1259929"/>
                  </a:lnTo>
                  <a:lnTo>
                    <a:pt x="857666" y="1270872"/>
                  </a:lnTo>
                  <a:lnTo>
                    <a:pt x="907563" y="1279961"/>
                  </a:lnTo>
                  <a:lnTo>
                    <a:pt x="958686" y="1287166"/>
                  </a:lnTo>
                  <a:lnTo>
                    <a:pt x="1010790" y="1292457"/>
                  </a:lnTo>
                  <a:lnTo>
                    <a:pt x="1063630" y="1295806"/>
                  </a:lnTo>
                  <a:lnTo>
                    <a:pt x="1116962" y="1297181"/>
                  </a:lnTo>
                  <a:lnTo>
                    <a:pt x="1170540" y="1296554"/>
                  </a:lnTo>
                  <a:lnTo>
                    <a:pt x="1224120" y="1293895"/>
                  </a:lnTo>
                  <a:lnTo>
                    <a:pt x="1277457" y="1289174"/>
                  </a:lnTo>
                  <a:lnTo>
                    <a:pt x="1330307" y="1282362"/>
                  </a:lnTo>
                  <a:lnTo>
                    <a:pt x="1382424" y="1273429"/>
                  </a:lnTo>
                  <a:lnTo>
                    <a:pt x="1433564" y="1262346"/>
                  </a:lnTo>
                  <a:lnTo>
                    <a:pt x="1483482" y="1249082"/>
                  </a:lnTo>
                  <a:lnTo>
                    <a:pt x="1519222" y="1272379"/>
                  </a:lnTo>
                  <a:lnTo>
                    <a:pt x="1559266" y="1293744"/>
                  </a:lnTo>
                  <a:lnTo>
                    <a:pt x="1603267" y="1313046"/>
                  </a:lnTo>
                  <a:lnTo>
                    <a:pt x="1650877" y="1330159"/>
                  </a:lnTo>
                  <a:lnTo>
                    <a:pt x="1701751" y="1344952"/>
                  </a:lnTo>
                  <a:lnTo>
                    <a:pt x="1755542" y="1357297"/>
                  </a:lnTo>
                  <a:lnTo>
                    <a:pt x="1811904" y="1367065"/>
                  </a:lnTo>
                  <a:lnTo>
                    <a:pt x="1868605" y="1373992"/>
                  </a:lnTo>
                  <a:lnTo>
                    <a:pt x="1925365" y="1378198"/>
                  </a:lnTo>
                  <a:lnTo>
                    <a:pt x="1981864" y="1379766"/>
                  </a:lnTo>
                  <a:lnTo>
                    <a:pt x="2037787" y="1378778"/>
                  </a:lnTo>
                  <a:lnTo>
                    <a:pt x="2092816" y="1375316"/>
                  </a:lnTo>
                  <a:lnTo>
                    <a:pt x="2146634" y="1369462"/>
                  </a:lnTo>
                  <a:lnTo>
                    <a:pt x="2198925" y="1361299"/>
                  </a:lnTo>
                  <a:lnTo>
                    <a:pt x="2249371" y="1350908"/>
                  </a:lnTo>
                  <a:lnTo>
                    <a:pt x="2297655" y="1338372"/>
                  </a:lnTo>
                  <a:lnTo>
                    <a:pt x="2343460" y="1323773"/>
                  </a:lnTo>
                  <a:lnTo>
                    <a:pt x="2386470" y="1307194"/>
                  </a:lnTo>
                  <a:lnTo>
                    <a:pt x="2426366" y="1288715"/>
                  </a:lnTo>
                  <a:lnTo>
                    <a:pt x="2462833" y="1268421"/>
                  </a:lnTo>
                  <a:lnTo>
                    <a:pt x="2495553" y="1246392"/>
                  </a:lnTo>
                  <a:lnTo>
                    <a:pt x="2548485" y="1197461"/>
                  </a:lnTo>
                  <a:lnTo>
                    <a:pt x="2568062" y="1170723"/>
                  </a:lnTo>
                  <a:lnTo>
                    <a:pt x="2618303" y="1184122"/>
                  </a:lnTo>
                  <a:lnTo>
                    <a:pt x="2671013" y="1194704"/>
                  </a:lnTo>
                  <a:lnTo>
                    <a:pt x="2725704" y="1202398"/>
                  </a:lnTo>
                  <a:lnTo>
                    <a:pt x="2781889" y="1207128"/>
                  </a:lnTo>
                  <a:lnTo>
                    <a:pt x="2839080" y="1208823"/>
                  </a:lnTo>
                  <a:lnTo>
                    <a:pt x="2904300" y="1207126"/>
                  </a:lnTo>
                  <a:lnTo>
                    <a:pt x="2967163" y="1201663"/>
                  </a:lnTo>
                  <a:lnTo>
                    <a:pt x="3027179" y="1192667"/>
                  </a:lnTo>
                  <a:lnTo>
                    <a:pt x="3083857" y="1180373"/>
                  </a:lnTo>
                  <a:lnTo>
                    <a:pt x="3136706" y="1165012"/>
                  </a:lnTo>
                  <a:lnTo>
                    <a:pt x="3185237" y="1146820"/>
                  </a:lnTo>
                  <a:lnTo>
                    <a:pt x="3228958" y="1126028"/>
                  </a:lnTo>
                  <a:lnTo>
                    <a:pt x="3267380" y="1102872"/>
                  </a:lnTo>
                  <a:lnTo>
                    <a:pt x="3300011" y="1077583"/>
                  </a:lnTo>
                  <a:lnTo>
                    <a:pt x="3345942" y="1021543"/>
                  </a:lnTo>
                  <a:lnTo>
                    <a:pt x="3362828" y="959776"/>
                  </a:lnTo>
                  <a:lnTo>
                    <a:pt x="3414125" y="955106"/>
                  </a:lnTo>
                  <a:lnTo>
                    <a:pt x="3464216" y="948369"/>
                  </a:lnTo>
                  <a:lnTo>
                    <a:pt x="3512847" y="939615"/>
                  </a:lnTo>
                  <a:lnTo>
                    <a:pt x="3559762" y="928891"/>
                  </a:lnTo>
                  <a:lnTo>
                    <a:pt x="3604710" y="916249"/>
                  </a:lnTo>
                  <a:lnTo>
                    <a:pt x="3647435" y="901737"/>
                  </a:lnTo>
                  <a:lnTo>
                    <a:pt x="3701206" y="879274"/>
                  </a:lnTo>
                  <a:lnTo>
                    <a:pt x="3748272" y="854494"/>
                  </a:lnTo>
                  <a:lnTo>
                    <a:pt x="3788548" y="827704"/>
                  </a:lnTo>
                  <a:lnTo>
                    <a:pt x="3821950" y="799215"/>
                  </a:lnTo>
                  <a:lnTo>
                    <a:pt x="3848393" y="769336"/>
                  </a:lnTo>
                  <a:lnTo>
                    <a:pt x="3880067" y="706649"/>
                  </a:lnTo>
                  <a:lnTo>
                    <a:pt x="3885128" y="674459"/>
                  </a:lnTo>
                  <a:lnTo>
                    <a:pt x="3882894" y="642119"/>
                  </a:lnTo>
                  <a:lnTo>
                    <a:pt x="3856198" y="578223"/>
                  </a:lnTo>
                  <a:lnTo>
                    <a:pt x="3831568" y="547287"/>
                  </a:lnTo>
                  <a:lnTo>
                    <a:pt x="3799304" y="517438"/>
                  </a:lnTo>
                  <a:lnTo>
                    <a:pt x="3759322" y="488987"/>
                  </a:lnTo>
                  <a:lnTo>
                    <a:pt x="3765630" y="481510"/>
                  </a:lnTo>
                  <a:lnTo>
                    <a:pt x="3794142" y="427557"/>
                  </a:lnTo>
                  <a:lnTo>
                    <a:pt x="3798221" y="396783"/>
                  </a:lnTo>
                  <a:lnTo>
                    <a:pt x="3793931" y="366525"/>
                  </a:lnTo>
                  <a:lnTo>
                    <a:pt x="3761849" y="308917"/>
                  </a:lnTo>
                  <a:lnTo>
                    <a:pt x="3701102" y="257452"/>
                  </a:lnTo>
                  <a:lnTo>
                    <a:pt x="3660981" y="234874"/>
                  </a:lnTo>
                  <a:lnTo>
                    <a:pt x="3614897" y="214851"/>
                  </a:lnTo>
                  <a:lnTo>
                    <a:pt x="3563250" y="197725"/>
                  </a:lnTo>
                  <a:lnTo>
                    <a:pt x="3506440" y="183834"/>
                  </a:lnTo>
                  <a:lnTo>
                    <a:pt x="3444870" y="173519"/>
                  </a:lnTo>
                  <a:lnTo>
                    <a:pt x="3425175" y="138391"/>
                  </a:lnTo>
                  <a:lnTo>
                    <a:pt x="3393514" y="105669"/>
                  </a:lnTo>
                  <a:lnTo>
                    <a:pt x="3350733" y="76042"/>
                  </a:lnTo>
                  <a:lnTo>
                    <a:pt x="3297677" y="50202"/>
                  </a:lnTo>
                  <a:lnTo>
                    <a:pt x="3253739" y="34376"/>
                  </a:lnTo>
                  <a:lnTo>
                    <a:pt x="3207128" y="21585"/>
                  </a:lnTo>
                  <a:lnTo>
                    <a:pt x="3158419" y="11806"/>
                  </a:lnTo>
                  <a:lnTo>
                    <a:pt x="3108189" y="5017"/>
                  </a:lnTo>
                  <a:lnTo>
                    <a:pt x="3057016" y="1194"/>
                  </a:lnTo>
                  <a:lnTo>
                    <a:pt x="3005476" y="316"/>
                  </a:lnTo>
                  <a:lnTo>
                    <a:pt x="2954145" y="2359"/>
                  </a:lnTo>
                  <a:lnTo>
                    <a:pt x="2903602" y="7301"/>
                  </a:lnTo>
                  <a:lnTo>
                    <a:pt x="2854421" y="15121"/>
                  </a:lnTo>
                  <a:lnTo>
                    <a:pt x="2807181" y="25794"/>
                  </a:lnTo>
                  <a:lnTo>
                    <a:pt x="2762458" y="39299"/>
                  </a:lnTo>
                  <a:lnTo>
                    <a:pt x="2720829" y="55612"/>
                  </a:lnTo>
                  <a:lnTo>
                    <a:pt x="2682870" y="74713"/>
                  </a:lnTo>
                  <a:lnTo>
                    <a:pt x="2653658" y="58231"/>
                  </a:lnTo>
                  <a:lnTo>
                    <a:pt x="2584947" y="30743"/>
                  </a:lnTo>
                  <a:lnTo>
                    <a:pt x="2546091" y="19976"/>
                  </a:lnTo>
                  <a:lnTo>
                    <a:pt x="2492338" y="9280"/>
                  </a:lnTo>
                  <a:lnTo>
                    <a:pt x="2437334" y="2665"/>
                  </a:lnTo>
                  <a:lnTo>
                    <a:pt x="2381891" y="0"/>
                  </a:lnTo>
                  <a:close/>
                </a:path>
              </a:pathLst>
            </a:custGeom>
            <a:solidFill>
              <a:srgbClr val="718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7C7D938A-E024-78BF-D5ED-235EC0FA10C7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35567" y="2567939"/>
              <a:ext cx="474345" cy="335407"/>
            </a:xfrm>
            <a:prstGeom prst="rect">
              <a:avLst/>
            </a:prstGeom>
          </p:spPr>
        </p:pic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655D654A-3A87-6541-DB87-49C2418C7048}"/>
                </a:ext>
              </a:extLst>
            </p:cNvPr>
            <p:cNvSpPr/>
            <p:nvPr/>
          </p:nvSpPr>
          <p:spPr>
            <a:xfrm>
              <a:off x="8308598" y="1341082"/>
              <a:ext cx="3885565" cy="1379855"/>
            </a:xfrm>
            <a:custGeom>
              <a:avLst/>
              <a:gdLst/>
              <a:ahLst/>
              <a:cxnLst/>
              <a:rect l="l" t="t" r="r" b="b"/>
              <a:pathLst>
                <a:path w="3885565" h="1379855">
                  <a:moveTo>
                    <a:pt x="353563" y="454189"/>
                  </a:moveTo>
                  <a:lnTo>
                    <a:pt x="348193" y="422286"/>
                  </a:lnTo>
                  <a:lnTo>
                    <a:pt x="349907" y="390923"/>
                  </a:lnTo>
                  <a:lnTo>
                    <a:pt x="358388" y="360302"/>
                  </a:lnTo>
                  <a:lnTo>
                    <a:pt x="394386" y="302090"/>
                  </a:lnTo>
                  <a:lnTo>
                    <a:pt x="421271" y="274901"/>
                  </a:lnTo>
                  <a:lnTo>
                    <a:pt x="453658" y="249260"/>
                  </a:lnTo>
                  <a:lnTo>
                    <a:pt x="491230" y="225367"/>
                  </a:lnTo>
                  <a:lnTo>
                    <a:pt x="533672" y="203424"/>
                  </a:lnTo>
                  <a:lnTo>
                    <a:pt x="580667" y="183632"/>
                  </a:lnTo>
                  <a:lnTo>
                    <a:pt x="631899" y="166192"/>
                  </a:lnTo>
                  <a:lnTo>
                    <a:pt x="687051" y="151307"/>
                  </a:lnTo>
                  <a:lnTo>
                    <a:pt x="745807" y="139177"/>
                  </a:lnTo>
                  <a:lnTo>
                    <a:pt x="807850" y="130004"/>
                  </a:lnTo>
                  <a:lnTo>
                    <a:pt x="872866" y="123989"/>
                  </a:lnTo>
                  <a:lnTo>
                    <a:pt x="923365" y="121687"/>
                  </a:lnTo>
                  <a:lnTo>
                    <a:pt x="973821" y="121433"/>
                  </a:lnTo>
                  <a:lnTo>
                    <a:pt x="1023976" y="123203"/>
                  </a:lnTo>
                  <a:lnTo>
                    <a:pt x="1073573" y="126973"/>
                  </a:lnTo>
                  <a:lnTo>
                    <a:pt x="1122355" y="132720"/>
                  </a:lnTo>
                  <a:lnTo>
                    <a:pt x="1170064" y="140419"/>
                  </a:lnTo>
                  <a:lnTo>
                    <a:pt x="1216442" y="150048"/>
                  </a:lnTo>
                  <a:lnTo>
                    <a:pt x="1261232" y="161581"/>
                  </a:lnTo>
                  <a:lnTo>
                    <a:pt x="1290278" y="138418"/>
                  </a:lnTo>
                  <a:lnTo>
                    <a:pt x="1323916" y="117473"/>
                  </a:lnTo>
                  <a:lnTo>
                    <a:pt x="1361660" y="98819"/>
                  </a:lnTo>
                  <a:lnTo>
                    <a:pt x="1403024" y="82528"/>
                  </a:lnTo>
                  <a:lnTo>
                    <a:pt x="1447523" y="68671"/>
                  </a:lnTo>
                  <a:lnTo>
                    <a:pt x="1494670" y="57321"/>
                  </a:lnTo>
                  <a:lnTo>
                    <a:pt x="1543981" y="48551"/>
                  </a:lnTo>
                  <a:lnTo>
                    <a:pt x="1594970" y="42432"/>
                  </a:lnTo>
                  <a:lnTo>
                    <a:pt x="1647151" y="39037"/>
                  </a:lnTo>
                  <a:lnTo>
                    <a:pt x="1700037" y="38437"/>
                  </a:lnTo>
                  <a:lnTo>
                    <a:pt x="1753144" y="40706"/>
                  </a:lnTo>
                  <a:lnTo>
                    <a:pt x="1805986" y="45915"/>
                  </a:lnTo>
                  <a:lnTo>
                    <a:pt x="1858077" y="54136"/>
                  </a:lnTo>
                  <a:lnTo>
                    <a:pt x="1908932" y="65442"/>
                  </a:lnTo>
                  <a:lnTo>
                    <a:pt x="1967558" y="83301"/>
                  </a:lnTo>
                  <a:lnTo>
                    <a:pt x="2020184" y="105066"/>
                  </a:lnTo>
                  <a:lnTo>
                    <a:pt x="2049848" y="80874"/>
                  </a:lnTo>
                  <a:lnTo>
                    <a:pt x="2085582" y="59578"/>
                  </a:lnTo>
                  <a:lnTo>
                    <a:pt x="2126572" y="41310"/>
                  </a:lnTo>
                  <a:lnTo>
                    <a:pt x="2172005" y="26202"/>
                  </a:lnTo>
                  <a:lnTo>
                    <a:pt x="2221067" y="14385"/>
                  </a:lnTo>
                  <a:lnTo>
                    <a:pt x="2272944" y="5991"/>
                  </a:lnTo>
                  <a:lnTo>
                    <a:pt x="2326823" y="1152"/>
                  </a:lnTo>
                  <a:lnTo>
                    <a:pt x="2381891" y="0"/>
                  </a:lnTo>
                  <a:lnTo>
                    <a:pt x="2437334" y="2665"/>
                  </a:lnTo>
                  <a:lnTo>
                    <a:pt x="2492338" y="9280"/>
                  </a:lnTo>
                  <a:lnTo>
                    <a:pt x="2546091" y="19976"/>
                  </a:lnTo>
                  <a:lnTo>
                    <a:pt x="2584947" y="30743"/>
                  </a:lnTo>
                  <a:lnTo>
                    <a:pt x="2620910" y="43534"/>
                  </a:lnTo>
                  <a:lnTo>
                    <a:pt x="2682870" y="74713"/>
                  </a:lnTo>
                  <a:lnTo>
                    <a:pt x="2720829" y="55612"/>
                  </a:lnTo>
                  <a:lnTo>
                    <a:pt x="2762458" y="39299"/>
                  </a:lnTo>
                  <a:lnTo>
                    <a:pt x="2807181" y="25794"/>
                  </a:lnTo>
                  <a:lnTo>
                    <a:pt x="2854421" y="15121"/>
                  </a:lnTo>
                  <a:lnTo>
                    <a:pt x="2903602" y="7301"/>
                  </a:lnTo>
                  <a:lnTo>
                    <a:pt x="2954145" y="2359"/>
                  </a:lnTo>
                  <a:lnTo>
                    <a:pt x="3005476" y="316"/>
                  </a:lnTo>
                  <a:lnTo>
                    <a:pt x="3057016" y="1194"/>
                  </a:lnTo>
                  <a:lnTo>
                    <a:pt x="3108189" y="5017"/>
                  </a:lnTo>
                  <a:lnTo>
                    <a:pt x="3158419" y="11806"/>
                  </a:lnTo>
                  <a:lnTo>
                    <a:pt x="3207128" y="21585"/>
                  </a:lnTo>
                  <a:lnTo>
                    <a:pt x="3253739" y="34376"/>
                  </a:lnTo>
                  <a:lnTo>
                    <a:pt x="3297677" y="50202"/>
                  </a:lnTo>
                  <a:lnTo>
                    <a:pt x="3350733" y="76042"/>
                  </a:lnTo>
                  <a:lnTo>
                    <a:pt x="3393514" y="105669"/>
                  </a:lnTo>
                  <a:lnTo>
                    <a:pt x="3425175" y="138391"/>
                  </a:lnTo>
                  <a:lnTo>
                    <a:pt x="3444870" y="173519"/>
                  </a:lnTo>
                  <a:lnTo>
                    <a:pt x="3506440" y="183834"/>
                  </a:lnTo>
                  <a:lnTo>
                    <a:pt x="3563250" y="197725"/>
                  </a:lnTo>
                  <a:lnTo>
                    <a:pt x="3614897" y="214851"/>
                  </a:lnTo>
                  <a:lnTo>
                    <a:pt x="3660981" y="234874"/>
                  </a:lnTo>
                  <a:lnTo>
                    <a:pt x="3701102" y="257452"/>
                  </a:lnTo>
                  <a:lnTo>
                    <a:pt x="3734858" y="282247"/>
                  </a:lnTo>
                  <a:lnTo>
                    <a:pt x="3781674" y="337123"/>
                  </a:lnTo>
                  <a:lnTo>
                    <a:pt x="3798221" y="396783"/>
                  </a:lnTo>
                  <a:lnTo>
                    <a:pt x="3794142" y="427557"/>
                  </a:lnTo>
                  <a:lnTo>
                    <a:pt x="3776628" y="466270"/>
                  </a:lnTo>
                  <a:lnTo>
                    <a:pt x="3759322" y="488987"/>
                  </a:lnTo>
                  <a:lnTo>
                    <a:pt x="3799304" y="517438"/>
                  </a:lnTo>
                  <a:lnTo>
                    <a:pt x="3831568" y="547287"/>
                  </a:lnTo>
                  <a:lnTo>
                    <a:pt x="3856198" y="578223"/>
                  </a:lnTo>
                  <a:lnTo>
                    <a:pt x="3882894" y="642119"/>
                  </a:lnTo>
                  <a:lnTo>
                    <a:pt x="3885128" y="674459"/>
                  </a:lnTo>
                  <a:lnTo>
                    <a:pt x="3880067" y="706649"/>
                  </a:lnTo>
                  <a:lnTo>
                    <a:pt x="3848393" y="769336"/>
                  </a:lnTo>
                  <a:lnTo>
                    <a:pt x="3821950" y="799215"/>
                  </a:lnTo>
                  <a:lnTo>
                    <a:pt x="3788548" y="827704"/>
                  </a:lnTo>
                  <a:lnTo>
                    <a:pt x="3748272" y="854494"/>
                  </a:lnTo>
                  <a:lnTo>
                    <a:pt x="3701206" y="879274"/>
                  </a:lnTo>
                  <a:lnTo>
                    <a:pt x="3647435" y="901737"/>
                  </a:lnTo>
                  <a:lnTo>
                    <a:pt x="3604710" y="916249"/>
                  </a:lnTo>
                  <a:lnTo>
                    <a:pt x="3559762" y="928891"/>
                  </a:lnTo>
                  <a:lnTo>
                    <a:pt x="3512847" y="939615"/>
                  </a:lnTo>
                  <a:lnTo>
                    <a:pt x="3464216" y="948369"/>
                  </a:lnTo>
                  <a:lnTo>
                    <a:pt x="3414125" y="955106"/>
                  </a:lnTo>
                  <a:lnTo>
                    <a:pt x="3362828" y="959776"/>
                  </a:lnTo>
                  <a:lnTo>
                    <a:pt x="3358261" y="991258"/>
                  </a:lnTo>
                  <a:lnTo>
                    <a:pt x="3326362" y="1050395"/>
                  </a:lnTo>
                  <a:lnTo>
                    <a:pt x="3267380" y="1102872"/>
                  </a:lnTo>
                  <a:lnTo>
                    <a:pt x="3228958" y="1126028"/>
                  </a:lnTo>
                  <a:lnTo>
                    <a:pt x="3185237" y="1146820"/>
                  </a:lnTo>
                  <a:lnTo>
                    <a:pt x="3136706" y="1165012"/>
                  </a:lnTo>
                  <a:lnTo>
                    <a:pt x="3083857" y="1180373"/>
                  </a:lnTo>
                  <a:lnTo>
                    <a:pt x="3027179" y="1192667"/>
                  </a:lnTo>
                  <a:lnTo>
                    <a:pt x="2967163" y="1201663"/>
                  </a:lnTo>
                  <a:lnTo>
                    <a:pt x="2904300" y="1207126"/>
                  </a:lnTo>
                  <a:lnTo>
                    <a:pt x="2839080" y="1208823"/>
                  </a:lnTo>
                  <a:lnTo>
                    <a:pt x="2781889" y="1207128"/>
                  </a:lnTo>
                  <a:lnTo>
                    <a:pt x="2725704" y="1202398"/>
                  </a:lnTo>
                  <a:lnTo>
                    <a:pt x="2671013" y="1194704"/>
                  </a:lnTo>
                  <a:lnTo>
                    <a:pt x="2618303" y="1184122"/>
                  </a:lnTo>
                  <a:lnTo>
                    <a:pt x="2568062" y="1170723"/>
                  </a:lnTo>
                  <a:lnTo>
                    <a:pt x="2548485" y="1197461"/>
                  </a:lnTo>
                  <a:lnTo>
                    <a:pt x="2495553" y="1246392"/>
                  </a:lnTo>
                  <a:lnTo>
                    <a:pt x="2462833" y="1268421"/>
                  </a:lnTo>
                  <a:lnTo>
                    <a:pt x="2426366" y="1288715"/>
                  </a:lnTo>
                  <a:lnTo>
                    <a:pt x="2386470" y="1307194"/>
                  </a:lnTo>
                  <a:lnTo>
                    <a:pt x="2343460" y="1323773"/>
                  </a:lnTo>
                  <a:lnTo>
                    <a:pt x="2297655" y="1338372"/>
                  </a:lnTo>
                  <a:lnTo>
                    <a:pt x="2249371" y="1350908"/>
                  </a:lnTo>
                  <a:lnTo>
                    <a:pt x="2198925" y="1361299"/>
                  </a:lnTo>
                  <a:lnTo>
                    <a:pt x="2146634" y="1369462"/>
                  </a:lnTo>
                  <a:lnTo>
                    <a:pt x="2092816" y="1375316"/>
                  </a:lnTo>
                  <a:lnTo>
                    <a:pt x="2037787" y="1378778"/>
                  </a:lnTo>
                  <a:lnTo>
                    <a:pt x="1981864" y="1379766"/>
                  </a:lnTo>
                  <a:lnTo>
                    <a:pt x="1925365" y="1378198"/>
                  </a:lnTo>
                  <a:lnTo>
                    <a:pt x="1868605" y="1373992"/>
                  </a:lnTo>
                  <a:lnTo>
                    <a:pt x="1811904" y="1367065"/>
                  </a:lnTo>
                  <a:lnTo>
                    <a:pt x="1755542" y="1357297"/>
                  </a:lnTo>
                  <a:lnTo>
                    <a:pt x="1701751" y="1344952"/>
                  </a:lnTo>
                  <a:lnTo>
                    <a:pt x="1650877" y="1330159"/>
                  </a:lnTo>
                  <a:lnTo>
                    <a:pt x="1603267" y="1313046"/>
                  </a:lnTo>
                  <a:lnTo>
                    <a:pt x="1559266" y="1293744"/>
                  </a:lnTo>
                  <a:lnTo>
                    <a:pt x="1519222" y="1272379"/>
                  </a:lnTo>
                  <a:lnTo>
                    <a:pt x="1483482" y="1249082"/>
                  </a:lnTo>
                  <a:lnTo>
                    <a:pt x="1433564" y="1262346"/>
                  </a:lnTo>
                  <a:lnTo>
                    <a:pt x="1382424" y="1273429"/>
                  </a:lnTo>
                  <a:lnTo>
                    <a:pt x="1330307" y="1282362"/>
                  </a:lnTo>
                  <a:lnTo>
                    <a:pt x="1277457" y="1289174"/>
                  </a:lnTo>
                  <a:lnTo>
                    <a:pt x="1224120" y="1293895"/>
                  </a:lnTo>
                  <a:lnTo>
                    <a:pt x="1170540" y="1296554"/>
                  </a:lnTo>
                  <a:lnTo>
                    <a:pt x="1116962" y="1297181"/>
                  </a:lnTo>
                  <a:lnTo>
                    <a:pt x="1063630" y="1295806"/>
                  </a:lnTo>
                  <a:lnTo>
                    <a:pt x="1010790" y="1292457"/>
                  </a:lnTo>
                  <a:lnTo>
                    <a:pt x="958686" y="1287166"/>
                  </a:lnTo>
                  <a:lnTo>
                    <a:pt x="907563" y="1279961"/>
                  </a:lnTo>
                  <a:lnTo>
                    <a:pt x="857666" y="1270872"/>
                  </a:lnTo>
                  <a:lnTo>
                    <a:pt x="809240" y="1259929"/>
                  </a:lnTo>
                  <a:lnTo>
                    <a:pt x="762529" y="1247161"/>
                  </a:lnTo>
                  <a:lnTo>
                    <a:pt x="717779" y="1232598"/>
                  </a:lnTo>
                  <a:lnTo>
                    <a:pt x="675233" y="1216269"/>
                  </a:lnTo>
                  <a:lnTo>
                    <a:pt x="635138" y="1198205"/>
                  </a:lnTo>
                  <a:lnTo>
                    <a:pt x="597737" y="1178434"/>
                  </a:lnTo>
                  <a:lnTo>
                    <a:pt x="563275" y="1156987"/>
                  </a:lnTo>
                  <a:lnTo>
                    <a:pt x="531998" y="1133893"/>
                  </a:lnTo>
                  <a:lnTo>
                    <a:pt x="524632" y="1127924"/>
                  </a:lnTo>
                  <a:lnTo>
                    <a:pt x="460960" y="1129048"/>
                  </a:lnTo>
                  <a:lnTo>
                    <a:pt x="399394" y="1125331"/>
                  </a:lnTo>
                  <a:lnTo>
                    <a:pt x="340828" y="1117116"/>
                  </a:lnTo>
                  <a:lnTo>
                    <a:pt x="286158" y="1104743"/>
                  </a:lnTo>
                  <a:lnTo>
                    <a:pt x="236278" y="1088554"/>
                  </a:lnTo>
                  <a:lnTo>
                    <a:pt x="192083" y="1068890"/>
                  </a:lnTo>
                  <a:lnTo>
                    <a:pt x="154466" y="1046093"/>
                  </a:lnTo>
                  <a:lnTo>
                    <a:pt x="124324" y="1020504"/>
                  </a:lnTo>
                  <a:lnTo>
                    <a:pt x="90038" y="962316"/>
                  </a:lnTo>
                  <a:lnTo>
                    <a:pt x="89435" y="921092"/>
                  </a:lnTo>
                  <a:lnTo>
                    <a:pt x="107024" y="881226"/>
                  </a:lnTo>
                  <a:lnTo>
                    <a:pt x="141901" y="844122"/>
                  </a:lnTo>
                  <a:lnTo>
                    <a:pt x="193162" y="811186"/>
                  </a:lnTo>
                  <a:lnTo>
                    <a:pt x="135786" y="791275"/>
                  </a:lnTo>
                  <a:lnTo>
                    <a:pt x="87957" y="767420"/>
                  </a:lnTo>
                  <a:lnTo>
                    <a:pt x="50070" y="740353"/>
                  </a:lnTo>
                  <a:lnTo>
                    <a:pt x="22519" y="710805"/>
                  </a:lnTo>
                  <a:lnTo>
                    <a:pt x="0" y="647196"/>
                  </a:lnTo>
                  <a:lnTo>
                    <a:pt x="5819" y="614597"/>
                  </a:lnTo>
                  <a:lnTo>
                    <a:pt x="53589" y="551471"/>
                  </a:lnTo>
                  <a:lnTo>
                    <a:pt x="88811" y="526893"/>
                  </a:lnTo>
                  <a:lnTo>
                    <a:pt x="130984" y="505553"/>
                  </a:lnTo>
                  <a:lnTo>
                    <a:pt x="179160" y="487749"/>
                  </a:lnTo>
                  <a:lnTo>
                    <a:pt x="232395" y="473775"/>
                  </a:lnTo>
                  <a:lnTo>
                    <a:pt x="289744" y="463929"/>
                  </a:lnTo>
                  <a:lnTo>
                    <a:pt x="350261" y="458507"/>
                  </a:lnTo>
                  <a:lnTo>
                    <a:pt x="353563" y="454189"/>
                  </a:lnTo>
                  <a:close/>
                </a:path>
              </a:pathLst>
            </a:custGeom>
            <a:ln w="9144">
              <a:solidFill>
                <a:srgbClr val="718F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>
              <a:extLst>
                <a:ext uri="{FF2B5EF4-FFF2-40B4-BE49-F238E27FC236}">
                  <a16:creationId xmlns:a16="http://schemas.microsoft.com/office/drawing/2014/main" id="{0707C5F2-F2D2-CD3B-ECB1-42AD7F5EED77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30995" y="2563368"/>
              <a:ext cx="483489" cy="344551"/>
            </a:xfrm>
            <a:prstGeom prst="rect">
              <a:avLst/>
            </a:prstGeom>
          </p:spPr>
        </p:pic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E1C029F4-58A1-C214-7AC0-4BF6BAA758E8}"/>
                </a:ext>
              </a:extLst>
            </p:cNvPr>
            <p:cNvSpPr/>
            <p:nvPr/>
          </p:nvSpPr>
          <p:spPr>
            <a:xfrm>
              <a:off x="8505951" y="1411224"/>
              <a:ext cx="3560445" cy="1173480"/>
            </a:xfrm>
            <a:custGeom>
              <a:avLst/>
              <a:gdLst/>
              <a:ahLst/>
              <a:cxnLst/>
              <a:rect l="l" t="t" r="r" b="b"/>
              <a:pathLst>
                <a:path w="3560445" h="1173480">
                  <a:moveTo>
                    <a:pt x="227456" y="761111"/>
                  </a:moveTo>
                  <a:lnTo>
                    <a:pt x="179917" y="761455"/>
                  </a:lnTo>
                  <a:lnTo>
                    <a:pt x="132889" y="759020"/>
                  </a:lnTo>
                  <a:lnTo>
                    <a:pt x="86886" y="753859"/>
                  </a:lnTo>
                  <a:lnTo>
                    <a:pt x="42419" y="746029"/>
                  </a:lnTo>
                  <a:lnTo>
                    <a:pt x="0" y="735584"/>
                  </a:lnTo>
                </a:path>
                <a:path w="3560445" h="1173480">
                  <a:moveTo>
                    <a:pt x="428244" y="1039495"/>
                  </a:moveTo>
                  <a:lnTo>
                    <a:pt x="403988" y="1043757"/>
                  </a:lnTo>
                  <a:lnTo>
                    <a:pt x="379269" y="1047210"/>
                  </a:lnTo>
                  <a:lnTo>
                    <a:pt x="354145" y="1049853"/>
                  </a:lnTo>
                  <a:lnTo>
                    <a:pt x="328675" y="1051687"/>
                  </a:lnTo>
                </a:path>
                <a:path w="3560445" h="1173480">
                  <a:moveTo>
                    <a:pt x="1286002" y="1173352"/>
                  </a:moveTo>
                  <a:lnTo>
                    <a:pt x="1268722" y="1160071"/>
                  </a:lnTo>
                  <a:lnTo>
                    <a:pt x="1252918" y="1146349"/>
                  </a:lnTo>
                  <a:lnTo>
                    <a:pt x="1238638" y="1132222"/>
                  </a:lnTo>
                  <a:lnTo>
                    <a:pt x="1225930" y="1117727"/>
                  </a:lnTo>
                </a:path>
                <a:path w="3560445" h="1173480">
                  <a:moveTo>
                    <a:pt x="2395093" y="1034796"/>
                  </a:moveTo>
                  <a:lnTo>
                    <a:pt x="2391594" y="1050268"/>
                  </a:lnTo>
                  <a:lnTo>
                    <a:pt x="2386441" y="1065609"/>
                  </a:lnTo>
                  <a:lnTo>
                    <a:pt x="2379644" y="1080783"/>
                  </a:lnTo>
                  <a:lnTo>
                    <a:pt x="2371217" y="1095755"/>
                  </a:lnTo>
                </a:path>
                <a:path w="3560445" h="1173480">
                  <a:moveTo>
                    <a:pt x="2871343" y="658113"/>
                  </a:moveTo>
                  <a:lnTo>
                    <a:pt x="2935624" y="676113"/>
                  </a:lnTo>
                  <a:lnTo>
                    <a:pt x="2993116" y="697999"/>
                  </a:lnTo>
                  <a:lnTo>
                    <a:pt x="3043243" y="723327"/>
                  </a:lnTo>
                  <a:lnTo>
                    <a:pt x="3085433" y="751649"/>
                  </a:lnTo>
                  <a:lnTo>
                    <a:pt x="3119109" y="782519"/>
                  </a:lnTo>
                  <a:lnTo>
                    <a:pt x="3143698" y="815490"/>
                  </a:lnTo>
                  <a:lnTo>
                    <a:pt x="3158625" y="850117"/>
                  </a:lnTo>
                  <a:lnTo>
                    <a:pt x="3163316" y="885951"/>
                  </a:lnTo>
                </a:path>
                <a:path w="3560445" h="1173480">
                  <a:moveTo>
                    <a:pt x="3560064" y="415543"/>
                  </a:moveTo>
                  <a:lnTo>
                    <a:pt x="3535406" y="439505"/>
                  </a:lnTo>
                  <a:lnTo>
                    <a:pt x="3505295" y="461883"/>
                  </a:lnTo>
                  <a:lnTo>
                    <a:pt x="3470088" y="482427"/>
                  </a:lnTo>
                  <a:lnTo>
                    <a:pt x="3430143" y="500888"/>
                  </a:lnTo>
                </a:path>
                <a:path w="3560445" h="1173480">
                  <a:moveTo>
                    <a:pt x="3248152" y="98551"/>
                  </a:moveTo>
                  <a:lnTo>
                    <a:pt x="3251366" y="108577"/>
                  </a:lnTo>
                  <a:lnTo>
                    <a:pt x="3253581" y="118649"/>
                  </a:lnTo>
                  <a:lnTo>
                    <a:pt x="3254795" y="128770"/>
                  </a:lnTo>
                  <a:lnTo>
                    <a:pt x="3255009" y="138937"/>
                  </a:lnTo>
                </a:path>
                <a:path w="3560445" h="1173480">
                  <a:moveTo>
                    <a:pt x="2417699" y="51435"/>
                  </a:moveTo>
                  <a:lnTo>
                    <a:pt x="2431401" y="37754"/>
                  </a:lnTo>
                  <a:lnTo>
                    <a:pt x="2447115" y="24574"/>
                  </a:lnTo>
                  <a:lnTo>
                    <a:pt x="2464758" y="11965"/>
                  </a:lnTo>
                  <a:lnTo>
                    <a:pt x="2484247" y="0"/>
                  </a:lnTo>
                </a:path>
                <a:path w="3560445" h="1173480">
                  <a:moveTo>
                    <a:pt x="1794637" y="76073"/>
                  </a:moveTo>
                  <a:lnTo>
                    <a:pt x="1800516" y="64573"/>
                  </a:lnTo>
                  <a:lnTo>
                    <a:pt x="1807860" y="53324"/>
                  </a:lnTo>
                  <a:lnTo>
                    <a:pt x="1816657" y="42336"/>
                  </a:lnTo>
                  <a:lnTo>
                    <a:pt x="1826895" y="31623"/>
                  </a:lnTo>
                </a:path>
                <a:path w="3560445" h="1173480">
                  <a:moveTo>
                    <a:pt x="1063371" y="91059"/>
                  </a:moveTo>
                  <a:lnTo>
                    <a:pt x="1094555" y="100554"/>
                  </a:lnTo>
                  <a:lnTo>
                    <a:pt x="1124442" y="110918"/>
                  </a:lnTo>
                  <a:lnTo>
                    <a:pt x="1152971" y="122116"/>
                  </a:lnTo>
                  <a:lnTo>
                    <a:pt x="1180083" y="134112"/>
                  </a:lnTo>
                </a:path>
                <a:path w="3560445" h="1173480">
                  <a:moveTo>
                    <a:pt x="176656" y="429387"/>
                  </a:moveTo>
                  <a:lnTo>
                    <a:pt x="170158" y="418250"/>
                  </a:lnTo>
                  <a:lnTo>
                    <a:pt x="164576" y="406971"/>
                  </a:lnTo>
                  <a:lnTo>
                    <a:pt x="159922" y="395597"/>
                  </a:lnTo>
                  <a:lnTo>
                    <a:pt x="156209" y="384175"/>
                  </a:lnTo>
                </a:path>
              </a:pathLst>
            </a:custGeom>
            <a:ln w="9144">
              <a:solidFill>
                <a:srgbClr val="718F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AF5D2910-FE3E-7C7C-E879-DF0FD7616E27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80931" y="1505712"/>
              <a:ext cx="2337816" cy="513588"/>
            </a:xfrm>
            <a:prstGeom prst="rect">
              <a:avLst/>
            </a:prstGeom>
          </p:spPr>
        </p:pic>
        <p:pic>
          <p:nvPicPr>
            <p:cNvPr id="18" name="object 18">
              <a:extLst>
                <a:ext uri="{FF2B5EF4-FFF2-40B4-BE49-F238E27FC236}">
                  <a16:creationId xmlns:a16="http://schemas.microsoft.com/office/drawing/2014/main" id="{8AE4C3ED-6184-2B7A-375E-F88A198889D9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973311" y="1780031"/>
              <a:ext cx="2353055" cy="513588"/>
            </a:xfrm>
            <a:prstGeom prst="rect">
              <a:avLst/>
            </a:prstGeom>
          </p:spPr>
        </p:pic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B901E98D-2141-2513-92F4-66F8244E5966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159239" y="2054352"/>
              <a:ext cx="1930907" cy="513588"/>
            </a:xfrm>
            <a:prstGeom prst="rect">
              <a:avLst/>
            </a:prstGeom>
          </p:spPr>
        </p:pic>
      </p:grpSp>
      <p:sp>
        <p:nvSpPr>
          <p:cNvPr id="20" name="object 20">
            <a:extLst>
              <a:ext uri="{FF2B5EF4-FFF2-40B4-BE49-F238E27FC236}">
                <a16:creationId xmlns:a16="http://schemas.microsoft.com/office/drawing/2014/main" id="{5C2A5B74-E2B4-C4C4-F596-C5D4E0B0EAA9}"/>
              </a:ext>
            </a:extLst>
          </p:cNvPr>
          <p:cNvSpPr txBox="1"/>
          <p:nvPr/>
        </p:nvSpPr>
        <p:spPr>
          <a:xfrm>
            <a:off x="9105392" y="1555241"/>
            <a:ext cx="201866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Attention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past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hidded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states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as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dynamic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memory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7BAAD2F9-0AC9-802C-CB01-72A7E3B98CE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2918143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7616" y="2007107"/>
            <a:ext cx="11165205" cy="3499485"/>
            <a:chOff x="737616" y="2007107"/>
            <a:chExt cx="11165205" cy="34994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18832" y="2007107"/>
              <a:ext cx="4483818" cy="333603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7616" y="4800600"/>
              <a:ext cx="6986016" cy="7056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64751" y="3358896"/>
              <a:ext cx="393192" cy="38709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23604" y="3302508"/>
              <a:ext cx="475488" cy="5654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11996" y="3383280"/>
              <a:ext cx="298703" cy="29260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111996" y="3383280"/>
              <a:ext cx="299085" cy="292735"/>
            </a:xfrm>
            <a:custGeom>
              <a:avLst/>
              <a:gdLst/>
              <a:ahLst/>
              <a:cxnLst/>
              <a:rect l="l" t="t" r="r" b="b"/>
              <a:pathLst>
                <a:path w="299084" h="292735">
                  <a:moveTo>
                    <a:pt x="0" y="146304"/>
                  </a:moveTo>
                  <a:lnTo>
                    <a:pt x="7620" y="100071"/>
                  </a:lnTo>
                  <a:lnTo>
                    <a:pt x="28834" y="59911"/>
                  </a:lnTo>
                  <a:lnTo>
                    <a:pt x="61173" y="28236"/>
                  </a:lnTo>
                  <a:lnTo>
                    <a:pt x="102168" y="7461"/>
                  </a:lnTo>
                  <a:lnTo>
                    <a:pt x="149351" y="0"/>
                  </a:lnTo>
                  <a:lnTo>
                    <a:pt x="196535" y="7461"/>
                  </a:lnTo>
                  <a:lnTo>
                    <a:pt x="237530" y="28236"/>
                  </a:lnTo>
                  <a:lnTo>
                    <a:pt x="269869" y="59911"/>
                  </a:lnTo>
                  <a:lnTo>
                    <a:pt x="291083" y="100071"/>
                  </a:lnTo>
                  <a:lnTo>
                    <a:pt x="298703" y="146304"/>
                  </a:lnTo>
                  <a:lnTo>
                    <a:pt x="291083" y="192536"/>
                  </a:lnTo>
                  <a:lnTo>
                    <a:pt x="269869" y="232696"/>
                  </a:lnTo>
                  <a:lnTo>
                    <a:pt x="237530" y="264371"/>
                  </a:lnTo>
                  <a:lnTo>
                    <a:pt x="196535" y="285146"/>
                  </a:lnTo>
                  <a:lnTo>
                    <a:pt x="149351" y="292608"/>
                  </a:lnTo>
                  <a:lnTo>
                    <a:pt x="102168" y="285146"/>
                  </a:lnTo>
                  <a:lnTo>
                    <a:pt x="61173" y="264371"/>
                  </a:lnTo>
                  <a:lnTo>
                    <a:pt x="28834" y="232696"/>
                  </a:lnTo>
                  <a:lnTo>
                    <a:pt x="7620" y="192536"/>
                  </a:lnTo>
                  <a:lnTo>
                    <a:pt x="0" y="14630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Attention</a:t>
            </a:r>
            <a:r>
              <a:rPr spc="-50" dirty="0"/>
              <a:t> </a:t>
            </a:r>
            <a:r>
              <a:rPr dirty="0"/>
              <a:t>Mechanism</a:t>
            </a:r>
            <a:r>
              <a:rPr spc="-5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dirty="0"/>
              <a:t>Seq2Seq</a:t>
            </a:r>
            <a:r>
              <a:rPr spc="-70" dirty="0"/>
              <a:t> </a:t>
            </a:r>
            <a:r>
              <a:rPr spc="-10" dirty="0"/>
              <a:t>Models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688340" y="1306194"/>
            <a:ext cx="10383520" cy="2976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attention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function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mapping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query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key-</a:t>
            </a:r>
            <a:r>
              <a:rPr sz="2200" dirty="0">
                <a:latin typeface="Arial MT"/>
                <a:cs typeface="Arial MT"/>
              </a:rPr>
              <a:t>value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pairs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output.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2200" dirty="0">
              <a:latin typeface="Arial MT"/>
              <a:cs typeface="Arial MT"/>
            </a:endParaRPr>
          </a:p>
          <a:p>
            <a:pPr marL="12700" marR="3227705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Output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computed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weighted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sum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values,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where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weight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assigned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each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value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computed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-50" dirty="0">
                <a:latin typeface="Arial MT"/>
                <a:cs typeface="Arial MT"/>
              </a:rPr>
              <a:t> a </a:t>
            </a:r>
            <a:r>
              <a:rPr sz="2200" dirty="0">
                <a:latin typeface="Arial MT"/>
                <a:cs typeface="Arial MT"/>
              </a:rPr>
              <a:t>compatibility</a:t>
            </a:r>
            <a:r>
              <a:rPr sz="2200" spc="-1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function:</a:t>
            </a:r>
            <a:endParaRPr sz="2200" dirty="0">
              <a:latin typeface="Arial MT"/>
              <a:cs typeface="Arial MT"/>
            </a:endParaRPr>
          </a:p>
          <a:p>
            <a:pPr marR="1743075" algn="r">
              <a:lnSpc>
                <a:spcPts val="1950"/>
              </a:lnSpc>
              <a:spcBef>
                <a:spcPts val="196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ts val="2430"/>
              </a:lnSpc>
              <a:tabLst>
                <a:tab pos="469900" algn="l"/>
              </a:tabLst>
            </a:pPr>
            <a:r>
              <a:rPr sz="2200" spc="-25" dirty="0">
                <a:latin typeface="Arial MT"/>
                <a:cs typeface="Arial MT"/>
              </a:rPr>
              <a:t>1.</a:t>
            </a:r>
            <a:r>
              <a:rPr sz="2200" dirty="0">
                <a:latin typeface="Arial MT"/>
                <a:cs typeface="Arial MT"/>
              </a:rPr>
              <a:t>	Compare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current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target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hidden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state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h_t,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all</a:t>
            </a:r>
            <a:endParaRPr sz="22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source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states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h_s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derive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attention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scores</a:t>
            </a:r>
            <a:endParaRPr sz="2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18831" y="2007107"/>
            <a:ext cx="4483818" cy="3336036"/>
            <a:chOff x="7418831" y="2007107"/>
            <a:chExt cx="4483818" cy="3336036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18831" y="2007107"/>
              <a:ext cx="4483818" cy="333603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64751" y="3358896"/>
              <a:ext cx="393192" cy="38709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3603" y="3302508"/>
              <a:ext cx="475488" cy="5654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11995" y="3383280"/>
              <a:ext cx="298703" cy="29260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111995" y="3383280"/>
              <a:ext cx="299085" cy="292735"/>
            </a:xfrm>
            <a:custGeom>
              <a:avLst/>
              <a:gdLst/>
              <a:ahLst/>
              <a:cxnLst/>
              <a:rect l="l" t="t" r="r" b="b"/>
              <a:pathLst>
                <a:path w="299084" h="292735">
                  <a:moveTo>
                    <a:pt x="0" y="146304"/>
                  </a:moveTo>
                  <a:lnTo>
                    <a:pt x="7620" y="100071"/>
                  </a:lnTo>
                  <a:lnTo>
                    <a:pt x="28834" y="59911"/>
                  </a:lnTo>
                  <a:lnTo>
                    <a:pt x="61173" y="28236"/>
                  </a:lnTo>
                  <a:lnTo>
                    <a:pt x="102168" y="7461"/>
                  </a:lnTo>
                  <a:lnTo>
                    <a:pt x="149351" y="0"/>
                  </a:lnTo>
                  <a:lnTo>
                    <a:pt x="196535" y="7461"/>
                  </a:lnTo>
                  <a:lnTo>
                    <a:pt x="237530" y="28236"/>
                  </a:lnTo>
                  <a:lnTo>
                    <a:pt x="269869" y="59911"/>
                  </a:lnTo>
                  <a:lnTo>
                    <a:pt x="291083" y="100071"/>
                  </a:lnTo>
                  <a:lnTo>
                    <a:pt x="298703" y="146304"/>
                  </a:lnTo>
                  <a:lnTo>
                    <a:pt x="291083" y="192536"/>
                  </a:lnTo>
                  <a:lnTo>
                    <a:pt x="269869" y="232696"/>
                  </a:lnTo>
                  <a:lnTo>
                    <a:pt x="237530" y="264371"/>
                  </a:lnTo>
                  <a:lnTo>
                    <a:pt x="196535" y="285146"/>
                  </a:lnTo>
                  <a:lnTo>
                    <a:pt x="149351" y="292608"/>
                  </a:lnTo>
                  <a:lnTo>
                    <a:pt x="102168" y="285146"/>
                  </a:lnTo>
                  <a:lnTo>
                    <a:pt x="61173" y="264371"/>
                  </a:lnTo>
                  <a:lnTo>
                    <a:pt x="28834" y="232696"/>
                  </a:lnTo>
                  <a:lnTo>
                    <a:pt x="7620" y="192536"/>
                  </a:lnTo>
                  <a:lnTo>
                    <a:pt x="0" y="14630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59851" y="3066288"/>
              <a:ext cx="393192" cy="38709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18703" y="3009900"/>
              <a:ext cx="475488" cy="5654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07095" y="3090672"/>
              <a:ext cx="298703" cy="29260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007095" y="3090672"/>
              <a:ext cx="299085" cy="292735"/>
            </a:xfrm>
            <a:custGeom>
              <a:avLst/>
              <a:gdLst/>
              <a:ahLst/>
              <a:cxnLst/>
              <a:rect l="l" t="t" r="r" b="b"/>
              <a:pathLst>
                <a:path w="299084" h="292735">
                  <a:moveTo>
                    <a:pt x="0" y="146303"/>
                  </a:moveTo>
                  <a:lnTo>
                    <a:pt x="7620" y="100071"/>
                  </a:lnTo>
                  <a:lnTo>
                    <a:pt x="28834" y="59911"/>
                  </a:lnTo>
                  <a:lnTo>
                    <a:pt x="61173" y="28236"/>
                  </a:lnTo>
                  <a:lnTo>
                    <a:pt x="102168" y="7461"/>
                  </a:lnTo>
                  <a:lnTo>
                    <a:pt x="149351" y="0"/>
                  </a:lnTo>
                  <a:lnTo>
                    <a:pt x="196535" y="7461"/>
                  </a:lnTo>
                  <a:lnTo>
                    <a:pt x="237530" y="28236"/>
                  </a:lnTo>
                  <a:lnTo>
                    <a:pt x="269869" y="59911"/>
                  </a:lnTo>
                  <a:lnTo>
                    <a:pt x="291083" y="100071"/>
                  </a:lnTo>
                  <a:lnTo>
                    <a:pt x="298703" y="146303"/>
                  </a:lnTo>
                  <a:lnTo>
                    <a:pt x="291083" y="192536"/>
                  </a:lnTo>
                  <a:lnTo>
                    <a:pt x="269869" y="232696"/>
                  </a:lnTo>
                  <a:lnTo>
                    <a:pt x="237530" y="264371"/>
                  </a:lnTo>
                  <a:lnTo>
                    <a:pt x="196535" y="285146"/>
                  </a:lnTo>
                  <a:lnTo>
                    <a:pt x="149351" y="292607"/>
                  </a:lnTo>
                  <a:lnTo>
                    <a:pt x="102168" y="285146"/>
                  </a:lnTo>
                  <a:lnTo>
                    <a:pt x="61173" y="264371"/>
                  </a:lnTo>
                  <a:lnTo>
                    <a:pt x="28834" y="232696"/>
                  </a:lnTo>
                  <a:lnTo>
                    <a:pt x="7620" y="192536"/>
                  </a:lnTo>
                  <a:lnTo>
                    <a:pt x="0" y="146303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Attention</a:t>
            </a:r>
            <a:r>
              <a:rPr spc="-50" dirty="0"/>
              <a:t> </a:t>
            </a:r>
            <a:r>
              <a:rPr dirty="0"/>
              <a:t>Mechanism</a:t>
            </a:r>
            <a:r>
              <a:rPr spc="-5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dirty="0"/>
              <a:t>Seq2Seq</a:t>
            </a:r>
            <a:r>
              <a:rPr spc="-70" dirty="0"/>
              <a:t> </a:t>
            </a:r>
            <a:r>
              <a:rPr spc="-10" dirty="0"/>
              <a:t>Models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88340" y="1306194"/>
            <a:ext cx="10383520" cy="33438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attention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function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mapping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query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key-</a:t>
            </a:r>
            <a:r>
              <a:rPr sz="2200" dirty="0">
                <a:latin typeface="Arial MT"/>
                <a:cs typeface="Arial MT"/>
              </a:rPr>
              <a:t>value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pairs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output.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2200" dirty="0">
              <a:latin typeface="Arial MT"/>
              <a:cs typeface="Arial MT"/>
            </a:endParaRPr>
          </a:p>
          <a:p>
            <a:pPr marL="12700" marR="3227705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Output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computed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weighted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sum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values,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where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weight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assigned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each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value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computed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-50" dirty="0">
                <a:latin typeface="Arial MT"/>
                <a:cs typeface="Arial MT"/>
              </a:rPr>
              <a:t> a </a:t>
            </a:r>
            <a:r>
              <a:rPr sz="2200" dirty="0">
                <a:latin typeface="Arial MT"/>
                <a:cs typeface="Arial MT"/>
              </a:rPr>
              <a:t>compatibility</a:t>
            </a:r>
            <a:r>
              <a:rPr sz="2200" spc="-1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function:</a:t>
            </a:r>
            <a:endParaRPr sz="2200" dirty="0">
              <a:latin typeface="Arial MT"/>
              <a:cs typeface="Arial MT"/>
            </a:endParaRPr>
          </a:p>
          <a:p>
            <a:pPr marL="7411084">
              <a:lnSpc>
                <a:spcPts val="1820"/>
              </a:lnSpc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 dirty="0">
              <a:latin typeface="Calibri"/>
              <a:cs typeface="Calibri"/>
            </a:endParaRPr>
          </a:p>
          <a:p>
            <a:pPr marL="8515985">
              <a:lnSpc>
                <a:spcPts val="1950"/>
              </a:lnSpc>
              <a:spcBef>
                <a:spcPts val="145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ts val="2430"/>
              </a:lnSpc>
              <a:tabLst>
                <a:tab pos="469900" algn="l"/>
              </a:tabLst>
            </a:pPr>
            <a:r>
              <a:rPr sz="2200" spc="-25" dirty="0">
                <a:latin typeface="Arial MT"/>
                <a:cs typeface="Arial MT"/>
              </a:rPr>
              <a:t>2.</a:t>
            </a:r>
            <a:r>
              <a:rPr sz="2200" dirty="0">
                <a:latin typeface="Arial MT"/>
                <a:cs typeface="Arial MT"/>
              </a:rPr>
              <a:t>	Apply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softmax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function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attention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scores</a:t>
            </a:r>
            <a:endParaRPr sz="2200" dirty="0">
              <a:latin typeface="Arial MT"/>
              <a:cs typeface="Arial MT"/>
            </a:endParaRPr>
          </a:p>
          <a:p>
            <a:pPr marL="469900" marR="3932554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compute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attention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weights,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each </a:t>
            </a:r>
            <a:r>
              <a:rPr sz="2200" dirty="0">
                <a:latin typeface="Arial MT"/>
                <a:cs typeface="Arial MT"/>
              </a:rPr>
              <a:t>encoder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token</a:t>
            </a:r>
            <a:endParaRPr sz="2200" dirty="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15539" y="4721352"/>
            <a:ext cx="3855869" cy="873252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8831" y="2007107"/>
            <a:ext cx="4483818" cy="333603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Attention</a:t>
            </a:r>
            <a:r>
              <a:rPr spc="-50" dirty="0"/>
              <a:t> </a:t>
            </a:r>
            <a:r>
              <a:rPr dirty="0"/>
              <a:t>Mechanism</a:t>
            </a:r>
            <a:r>
              <a:rPr spc="-5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dirty="0"/>
              <a:t>Seq2Seq</a:t>
            </a:r>
            <a:r>
              <a:rPr spc="-70" dirty="0"/>
              <a:t> </a:t>
            </a:r>
            <a:r>
              <a:rPr spc="-10" dirty="0"/>
              <a:t>Models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8340" y="1306194"/>
            <a:ext cx="103835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attention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function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mapping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query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key-</a:t>
            </a:r>
            <a:r>
              <a:rPr sz="2200" dirty="0">
                <a:latin typeface="Arial MT"/>
                <a:cs typeface="Arial MT"/>
              </a:rPr>
              <a:t>value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pairs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output.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8340" y="2110562"/>
            <a:ext cx="7160895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 MT"/>
                <a:cs typeface="Arial MT"/>
              </a:rPr>
              <a:t>Output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computed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weighted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sum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values,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where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weight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assigned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each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value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computed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-50" dirty="0">
                <a:latin typeface="Arial MT"/>
                <a:cs typeface="Arial MT"/>
              </a:rPr>
              <a:t> a </a:t>
            </a:r>
            <a:r>
              <a:rPr sz="2200" dirty="0">
                <a:latin typeface="Arial MT"/>
                <a:cs typeface="Arial MT"/>
              </a:rPr>
              <a:t>compatibility</a:t>
            </a:r>
            <a:r>
              <a:rPr sz="2200" spc="-1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function: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8340" y="3586734"/>
            <a:ext cx="593598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834">
              <a:lnSpc>
                <a:spcPct val="100000"/>
              </a:lnSpc>
              <a:spcBef>
                <a:spcPts val="95"/>
              </a:spcBef>
              <a:tabLst>
                <a:tab pos="469900" algn="l"/>
              </a:tabLst>
            </a:pPr>
            <a:r>
              <a:rPr sz="2200" spc="-25" dirty="0">
                <a:latin typeface="Arial MT"/>
                <a:cs typeface="Arial MT"/>
              </a:rPr>
              <a:t>3.</a:t>
            </a:r>
            <a:r>
              <a:rPr sz="2200" dirty="0">
                <a:latin typeface="Arial MT"/>
                <a:cs typeface="Arial MT"/>
              </a:rPr>
              <a:t>	Compute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context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vector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weighted </a:t>
            </a:r>
            <a:r>
              <a:rPr sz="2200" dirty="0">
                <a:latin typeface="Arial MT"/>
                <a:cs typeface="Arial MT"/>
              </a:rPr>
              <a:t>average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source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states</a:t>
            </a:r>
            <a:endParaRPr sz="2200" dirty="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918704" y="3009900"/>
            <a:ext cx="1580515" cy="858519"/>
            <a:chOff x="7918704" y="3009900"/>
            <a:chExt cx="1580515" cy="858519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64752" y="3358895"/>
              <a:ext cx="393192" cy="38709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3604" y="3302508"/>
              <a:ext cx="475488" cy="5654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11996" y="3383279"/>
              <a:ext cx="298703" cy="29260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111996" y="3383279"/>
              <a:ext cx="299085" cy="292735"/>
            </a:xfrm>
            <a:custGeom>
              <a:avLst/>
              <a:gdLst/>
              <a:ahLst/>
              <a:cxnLst/>
              <a:rect l="l" t="t" r="r" b="b"/>
              <a:pathLst>
                <a:path w="299084" h="292735">
                  <a:moveTo>
                    <a:pt x="0" y="146304"/>
                  </a:moveTo>
                  <a:lnTo>
                    <a:pt x="7620" y="100071"/>
                  </a:lnTo>
                  <a:lnTo>
                    <a:pt x="28834" y="59911"/>
                  </a:lnTo>
                  <a:lnTo>
                    <a:pt x="61173" y="28236"/>
                  </a:lnTo>
                  <a:lnTo>
                    <a:pt x="102168" y="7461"/>
                  </a:lnTo>
                  <a:lnTo>
                    <a:pt x="149351" y="0"/>
                  </a:lnTo>
                  <a:lnTo>
                    <a:pt x="196535" y="7461"/>
                  </a:lnTo>
                  <a:lnTo>
                    <a:pt x="237530" y="28236"/>
                  </a:lnTo>
                  <a:lnTo>
                    <a:pt x="269869" y="59911"/>
                  </a:lnTo>
                  <a:lnTo>
                    <a:pt x="291083" y="100071"/>
                  </a:lnTo>
                  <a:lnTo>
                    <a:pt x="298703" y="146304"/>
                  </a:lnTo>
                  <a:lnTo>
                    <a:pt x="291083" y="192536"/>
                  </a:lnTo>
                  <a:lnTo>
                    <a:pt x="269869" y="232696"/>
                  </a:lnTo>
                  <a:lnTo>
                    <a:pt x="237530" y="264371"/>
                  </a:lnTo>
                  <a:lnTo>
                    <a:pt x="196535" y="285146"/>
                  </a:lnTo>
                  <a:lnTo>
                    <a:pt x="149351" y="292608"/>
                  </a:lnTo>
                  <a:lnTo>
                    <a:pt x="102168" y="285146"/>
                  </a:lnTo>
                  <a:lnTo>
                    <a:pt x="61173" y="264371"/>
                  </a:lnTo>
                  <a:lnTo>
                    <a:pt x="28834" y="232696"/>
                  </a:lnTo>
                  <a:lnTo>
                    <a:pt x="7620" y="192536"/>
                  </a:lnTo>
                  <a:lnTo>
                    <a:pt x="0" y="14630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59852" y="3066288"/>
              <a:ext cx="393192" cy="38709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18704" y="3009900"/>
              <a:ext cx="475488" cy="5654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07096" y="3090672"/>
              <a:ext cx="298703" cy="29260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007096" y="3090672"/>
              <a:ext cx="299085" cy="292735"/>
            </a:xfrm>
            <a:custGeom>
              <a:avLst/>
              <a:gdLst/>
              <a:ahLst/>
              <a:cxnLst/>
              <a:rect l="l" t="t" r="r" b="b"/>
              <a:pathLst>
                <a:path w="299084" h="292735">
                  <a:moveTo>
                    <a:pt x="0" y="146303"/>
                  </a:moveTo>
                  <a:lnTo>
                    <a:pt x="7620" y="100071"/>
                  </a:lnTo>
                  <a:lnTo>
                    <a:pt x="28834" y="59911"/>
                  </a:lnTo>
                  <a:lnTo>
                    <a:pt x="61173" y="28236"/>
                  </a:lnTo>
                  <a:lnTo>
                    <a:pt x="102168" y="7461"/>
                  </a:lnTo>
                  <a:lnTo>
                    <a:pt x="149351" y="0"/>
                  </a:lnTo>
                  <a:lnTo>
                    <a:pt x="196535" y="7461"/>
                  </a:lnTo>
                  <a:lnTo>
                    <a:pt x="237530" y="28236"/>
                  </a:lnTo>
                  <a:lnTo>
                    <a:pt x="269869" y="59911"/>
                  </a:lnTo>
                  <a:lnTo>
                    <a:pt x="291083" y="100071"/>
                  </a:lnTo>
                  <a:lnTo>
                    <a:pt x="298703" y="146303"/>
                  </a:lnTo>
                  <a:lnTo>
                    <a:pt x="291083" y="192536"/>
                  </a:lnTo>
                  <a:lnTo>
                    <a:pt x="269869" y="232696"/>
                  </a:lnTo>
                  <a:lnTo>
                    <a:pt x="237530" y="264371"/>
                  </a:lnTo>
                  <a:lnTo>
                    <a:pt x="196535" y="285146"/>
                  </a:lnTo>
                  <a:lnTo>
                    <a:pt x="149351" y="292607"/>
                  </a:lnTo>
                  <a:lnTo>
                    <a:pt x="102168" y="285146"/>
                  </a:lnTo>
                  <a:lnTo>
                    <a:pt x="61173" y="264371"/>
                  </a:lnTo>
                  <a:lnTo>
                    <a:pt x="28834" y="232696"/>
                  </a:lnTo>
                  <a:lnTo>
                    <a:pt x="7620" y="192536"/>
                  </a:lnTo>
                  <a:lnTo>
                    <a:pt x="0" y="146303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086725" y="3054731"/>
            <a:ext cx="1247140" cy="61023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  <a:p>
            <a:pPr marL="1117600">
              <a:lnSpc>
                <a:spcPct val="100000"/>
              </a:lnSpc>
              <a:spcBef>
                <a:spcPts val="14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99816" y="4648532"/>
            <a:ext cx="1809750" cy="694611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8724900" y="2401823"/>
            <a:ext cx="475615" cy="565785"/>
            <a:chOff x="8724900" y="2401823"/>
            <a:chExt cx="475615" cy="565785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66048" y="2458211"/>
              <a:ext cx="393192" cy="38709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24900" y="2401823"/>
              <a:ext cx="475488" cy="56540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13292" y="2482595"/>
              <a:ext cx="298703" cy="29260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813292" y="2482595"/>
              <a:ext cx="299085" cy="292735"/>
            </a:xfrm>
            <a:custGeom>
              <a:avLst/>
              <a:gdLst/>
              <a:ahLst/>
              <a:cxnLst/>
              <a:rect l="l" t="t" r="r" b="b"/>
              <a:pathLst>
                <a:path w="299084" h="292735">
                  <a:moveTo>
                    <a:pt x="0" y="146303"/>
                  </a:moveTo>
                  <a:lnTo>
                    <a:pt x="7620" y="100071"/>
                  </a:lnTo>
                  <a:lnTo>
                    <a:pt x="28834" y="59911"/>
                  </a:lnTo>
                  <a:lnTo>
                    <a:pt x="61173" y="28236"/>
                  </a:lnTo>
                  <a:lnTo>
                    <a:pt x="102168" y="7461"/>
                  </a:lnTo>
                  <a:lnTo>
                    <a:pt x="149351" y="0"/>
                  </a:lnTo>
                  <a:lnTo>
                    <a:pt x="196535" y="7461"/>
                  </a:lnTo>
                  <a:lnTo>
                    <a:pt x="237530" y="28236"/>
                  </a:lnTo>
                  <a:lnTo>
                    <a:pt x="269869" y="59911"/>
                  </a:lnTo>
                  <a:lnTo>
                    <a:pt x="291083" y="100071"/>
                  </a:lnTo>
                  <a:lnTo>
                    <a:pt x="298703" y="146303"/>
                  </a:lnTo>
                  <a:lnTo>
                    <a:pt x="291083" y="192536"/>
                  </a:lnTo>
                  <a:lnTo>
                    <a:pt x="269869" y="232696"/>
                  </a:lnTo>
                  <a:lnTo>
                    <a:pt x="237530" y="264371"/>
                  </a:lnTo>
                  <a:lnTo>
                    <a:pt x="196535" y="285146"/>
                  </a:lnTo>
                  <a:lnTo>
                    <a:pt x="149351" y="292607"/>
                  </a:lnTo>
                  <a:lnTo>
                    <a:pt x="102168" y="285146"/>
                  </a:lnTo>
                  <a:lnTo>
                    <a:pt x="61173" y="264371"/>
                  </a:lnTo>
                  <a:lnTo>
                    <a:pt x="28834" y="232696"/>
                  </a:lnTo>
                  <a:lnTo>
                    <a:pt x="7620" y="192536"/>
                  </a:lnTo>
                  <a:lnTo>
                    <a:pt x="0" y="146303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893302" y="246405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8831" y="2007107"/>
            <a:ext cx="4483818" cy="333603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Attention</a:t>
            </a:r>
            <a:r>
              <a:rPr spc="-50" dirty="0"/>
              <a:t> </a:t>
            </a:r>
            <a:r>
              <a:rPr dirty="0"/>
              <a:t>Mechanism</a:t>
            </a:r>
            <a:r>
              <a:rPr spc="-5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dirty="0"/>
              <a:t>Seq2Seq</a:t>
            </a:r>
            <a:r>
              <a:rPr spc="-70" dirty="0"/>
              <a:t> </a:t>
            </a:r>
            <a:r>
              <a:rPr spc="-10" dirty="0"/>
              <a:t>Models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8340" y="1306194"/>
            <a:ext cx="103835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attention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function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mapping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query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key-</a:t>
            </a:r>
            <a:r>
              <a:rPr sz="2200" dirty="0">
                <a:latin typeface="Arial MT"/>
                <a:cs typeface="Arial MT"/>
              </a:rPr>
              <a:t>value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pairs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output.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8340" y="2110562"/>
            <a:ext cx="7160895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 MT"/>
                <a:cs typeface="Arial MT"/>
              </a:rPr>
              <a:t>Output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computed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weighted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sum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values,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where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weight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assigned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each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value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computed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-50" dirty="0">
                <a:latin typeface="Arial MT"/>
                <a:cs typeface="Arial MT"/>
              </a:rPr>
              <a:t> a </a:t>
            </a:r>
            <a:r>
              <a:rPr sz="2200" dirty="0">
                <a:latin typeface="Arial MT"/>
                <a:cs typeface="Arial MT"/>
              </a:rPr>
              <a:t>compatibility</a:t>
            </a:r>
            <a:r>
              <a:rPr sz="2200" spc="-1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function:</a:t>
            </a:r>
            <a:endParaRPr sz="22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918704" y="3009900"/>
            <a:ext cx="1580515" cy="858519"/>
            <a:chOff x="7918704" y="3009900"/>
            <a:chExt cx="1580515" cy="85851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64752" y="3358895"/>
              <a:ext cx="393192" cy="38709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3604" y="3302508"/>
              <a:ext cx="475488" cy="56540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11996" y="3383279"/>
              <a:ext cx="298703" cy="29260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111996" y="3383279"/>
              <a:ext cx="299085" cy="292735"/>
            </a:xfrm>
            <a:custGeom>
              <a:avLst/>
              <a:gdLst/>
              <a:ahLst/>
              <a:cxnLst/>
              <a:rect l="l" t="t" r="r" b="b"/>
              <a:pathLst>
                <a:path w="299084" h="292735">
                  <a:moveTo>
                    <a:pt x="0" y="146304"/>
                  </a:moveTo>
                  <a:lnTo>
                    <a:pt x="7620" y="100071"/>
                  </a:lnTo>
                  <a:lnTo>
                    <a:pt x="28834" y="59911"/>
                  </a:lnTo>
                  <a:lnTo>
                    <a:pt x="61173" y="28236"/>
                  </a:lnTo>
                  <a:lnTo>
                    <a:pt x="102168" y="7461"/>
                  </a:lnTo>
                  <a:lnTo>
                    <a:pt x="149351" y="0"/>
                  </a:lnTo>
                  <a:lnTo>
                    <a:pt x="196535" y="7461"/>
                  </a:lnTo>
                  <a:lnTo>
                    <a:pt x="237530" y="28236"/>
                  </a:lnTo>
                  <a:lnTo>
                    <a:pt x="269869" y="59911"/>
                  </a:lnTo>
                  <a:lnTo>
                    <a:pt x="291083" y="100071"/>
                  </a:lnTo>
                  <a:lnTo>
                    <a:pt x="298703" y="146304"/>
                  </a:lnTo>
                  <a:lnTo>
                    <a:pt x="291083" y="192536"/>
                  </a:lnTo>
                  <a:lnTo>
                    <a:pt x="269869" y="232696"/>
                  </a:lnTo>
                  <a:lnTo>
                    <a:pt x="237530" y="264371"/>
                  </a:lnTo>
                  <a:lnTo>
                    <a:pt x="196535" y="285146"/>
                  </a:lnTo>
                  <a:lnTo>
                    <a:pt x="149351" y="292608"/>
                  </a:lnTo>
                  <a:lnTo>
                    <a:pt x="102168" y="285146"/>
                  </a:lnTo>
                  <a:lnTo>
                    <a:pt x="61173" y="264371"/>
                  </a:lnTo>
                  <a:lnTo>
                    <a:pt x="28834" y="232696"/>
                  </a:lnTo>
                  <a:lnTo>
                    <a:pt x="7620" y="192536"/>
                  </a:lnTo>
                  <a:lnTo>
                    <a:pt x="0" y="14630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59852" y="3066288"/>
              <a:ext cx="393192" cy="38709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18704" y="3009900"/>
              <a:ext cx="475488" cy="5654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07096" y="3090672"/>
              <a:ext cx="298703" cy="29260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007096" y="3090672"/>
              <a:ext cx="299085" cy="292735"/>
            </a:xfrm>
            <a:custGeom>
              <a:avLst/>
              <a:gdLst/>
              <a:ahLst/>
              <a:cxnLst/>
              <a:rect l="l" t="t" r="r" b="b"/>
              <a:pathLst>
                <a:path w="299084" h="292735">
                  <a:moveTo>
                    <a:pt x="0" y="146303"/>
                  </a:moveTo>
                  <a:lnTo>
                    <a:pt x="7620" y="100071"/>
                  </a:lnTo>
                  <a:lnTo>
                    <a:pt x="28834" y="59911"/>
                  </a:lnTo>
                  <a:lnTo>
                    <a:pt x="61173" y="28236"/>
                  </a:lnTo>
                  <a:lnTo>
                    <a:pt x="102168" y="7461"/>
                  </a:lnTo>
                  <a:lnTo>
                    <a:pt x="149351" y="0"/>
                  </a:lnTo>
                  <a:lnTo>
                    <a:pt x="196535" y="7461"/>
                  </a:lnTo>
                  <a:lnTo>
                    <a:pt x="237530" y="28236"/>
                  </a:lnTo>
                  <a:lnTo>
                    <a:pt x="269869" y="59911"/>
                  </a:lnTo>
                  <a:lnTo>
                    <a:pt x="291083" y="100071"/>
                  </a:lnTo>
                  <a:lnTo>
                    <a:pt x="298703" y="146303"/>
                  </a:lnTo>
                  <a:lnTo>
                    <a:pt x="291083" y="192536"/>
                  </a:lnTo>
                  <a:lnTo>
                    <a:pt x="269869" y="232696"/>
                  </a:lnTo>
                  <a:lnTo>
                    <a:pt x="237530" y="264371"/>
                  </a:lnTo>
                  <a:lnTo>
                    <a:pt x="196535" y="285146"/>
                  </a:lnTo>
                  <a:lnTo>
                    <a:pt x="149351" y="292607"/>
                  </a:lnTo>
                  <a:lnTo>
                    <a:pt x="102168" y="285146"/>
                  </a:lnTo>
                  <a:lnTo>
                    <a:pt x="61173" y="264371"/>
                  </a:lnTo>
                  <a:lnTo>
                    <a:pt x="28834" y="232696"/>
                  </a:lnTo>
                  <a:lnTo>
                    <a:pt x="7620" y="192536"/>
                  </a:lnTo>
                  <a:lnTo>
                    <a:pt x="0" y="146303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88340" y="3054731"/>
            <a:ext cx="8645525" cy="122745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7411084">
              <a:lnSpc>
                <a:spcPct val="100000"/>
              </a:lnSpc>
              <a:spcBef>
                <a:spcPts val="24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 dirty="0">
              <a:latin typeface="Calibri"/>
              <a:cs typeface="Calibri"/>
            </a:endParaRPr>
          </a:p>
          <a:p>
            <a:pPr marL="8515985">
              <a:lnSpc>
                <a:spcPts val="1950"/>
              </a:lnSpc>
              <a:spcBef>
                <a:spcPts val="14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ts val="2430"/>
              </a:lnSpc>
              <a:tabLst>
                <a:tab pos="469900" algn="l"/>
              </a:tabLst>
            </a:pPr>
            <a:r>
              <a:rPr sz="2200" spc="-25" dirty="0">
                <a:latin typeface="Arial MT"/>
                <a:cs typeface="Arial MT"/>
              </a:rPr>
              <a:t>4.</a:t>
            </a:r>
            <a:r>
              <a:rPr sz="2200" dirty="0">
                <a:latin typeface="Arial MT"/>
                <a:cs typeface="Arial MT"/>
              </a:rPr>
              <a:t>	Combine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context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vector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current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target</a:t>
            </a:r>
            <a:endParaRPr sz="22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hidden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state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yield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final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attention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vector</a:t>
            </a:r>
            <a:endParaRPr sz="2200" dirty="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724900" y="2401823"/>
            <a:ext cx="475615" cy="565785"/>
            <a:chOff x="8724900" y="2401823"/>
            <a:chExt cx="475615" cy="56578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66048" y="2458211"/>
              <a:ext cx="393192" cy="38709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24900" y="2401823"/>
              <a:ext cx="475488" cy="56540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813292" y="2482595"/>
              <a:ext cx="298703" cy="29260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813292" y="2482595"/>
              <a:ext cx="299085" cy="292735"/>
            </a:xfrm>
            <a:custGeom>
              <a:avLst/>
              <a:gdLst/>
              <a:ahLst/>
              <a:cxnLst/>
              <a:rect l="l" t="t" r="r" b="b"/>
              <a:pathLst>
                <a:path w="299084" h="292735">
                  <a:moveTo>
                    <a:pt x="0" y="146303"/>
                  </a:moveTo>
                  <a:lnTo>
                    <a:pt x="7620" y="100071"/>
                  </a:lnTo>
                  <a:lnTo>
                    <a:pt x="28834" y="59911"/>
                  </a:lnTo>
                  <a:lnTo>
                    <a:pt x="61173" y="28236"/>
                  </a:lnTo>
                  <a:lnTo>
                    <a:pt x="102168" y="7461"/>
                  </a:lnTo>
                  <a:lnTo>
                    <a:pt x="149351" y="0"/>
                  </a:lnTo>
                  <a:lnTo>
                    <a:pt x="196535" y="7461"/>
                  </a:lnTo>
                  <a:lnTo>
                    <a:pt x="237530" y="28236"/>
                  </a:lnTo>
                  <a:lnTo>
                    <a:pt x="269869" y="59911"/>
                  </a:lnTo>
                  <a:lnTo>
                    <a:pt x="291083" y="100071"/>
                  </a:lnTo>
                  <a:lnTo>
                    <a:pt x="298703" y="146303"/>
                  </a:lnTo>
                  <a:lnTo>
                    <a:pt x="291083" y="192536"/>
                  </a:lnTo>
                  <a:lnTo>
                    <a:pt x="269869" y="232696"/>
                  </a:lnTo>
                  <a:lnTo>
                    <a:pt x="237530" y="264371"/>
                  </a:lnTo>
                  <a:lnTo>
                    <a:pt x="196535" y="285146"/>
                  </a:lnTo>
                  <a:lnTo>
                    <a:pt x="149351" y="292607"/>
                  </a:lnTo>
                  <a:lnTo>
                    <a:pt x="102168" y="285146"/>
                  </a:lnTo>
                  <a:lnTo>
                    <a:pt x="61173" y="264371"/>
                  </a:lnTo>
                  <a:lnTo>
                    <a:pt x="28834" y="232696"/>
                  </a:lnTo>
                  <a:lnTo>
                    <a:pt x="7620" y="192536"/>
                  </a:lnTo>
                  <a:lnTo>
                    <a:pt x="0" y="146303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893302" y="246405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593580" y="2717292"/>
            <a:ext cx="475615" cy="565785"/>
            <a:chOff x="9593580" y="2717292"/>
            <a:chExt cx="475615" cy="565785"/>
          </a:xfrm>
        </p:grpSpPr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634728" y="2775204"/>
              <a:ext cx="393192" cy="38557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593580" y="2717292"/>
              <a:ext cx="475487" cy="56540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681972" y="2799588"/>
              <a:ext cx="298703" cy="29108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9681972" y="2799588"/>
              <a:ext cx="299085" cy="291465"/>
            </a:xfrm>
            <a:custGeom>
              <a:avLst/>
              <a:gdLst/>
              <a:ahLst/>
              <a:cxnLst/>
              <a:rect l="l" t="t" r="r" b="b"/>
              <a:pathLst>
                <a:path w="299084" h="291464">
                  <a:moveTo>
                    <a:pt x="0" y="145541"/>
                  </a:moveTo>
                  <a:lnTo>
                    <a:pt x="7620" y="99535"/>
                  </a:lnTo>
                  <a:lnTo>
                    <a:pt x="28834" y="59582"/>
                  </a:lnTo>
                  <a:lnTo>
                    <a:pt x="61173" y="28078"/>
                  </a:lnTo>
                  <a:lnTo>
                    <a:pt x="102168" y="7418"/>
                  </a:lnTo>
                  <a:lnTo>
                    <a:pt x="149351" y="0"/>
                  </a:lnTo>
                  <a:lnTo>
                    <a:pt x="196535" y="7418"/>
                  </a:lnTo>
                  <a:lnTo>
                    <a:pt x="237530" y="28078"/>
                  </a:lnTo>
                  <a:lnTo>
                    <a:pt x="269869" y="59582"/>
                  </a:lnTo>
                  <a:lnTo>
                    <a:pt x="291083" y="99535"/>
                  </a:lnTo>
                  <a:lnTo>
                    <a:pt x="298703" y="145541"/>
                  </a:lnTo>
                  <a:lnTo>
                    <a:pt x="291083" y="191548"/>
                  </a:lnTo>
                  <a:lnTo>
                    <a:pt x="269869" y="231501"/>
                  </a:lnTo>
                  <a:lnTo>
                    <a:pt x="237530" y="263005"/>
                  </a:lnTo>
                  <a:lnTo>
                    <a:pt x="196535" y="283665"/>
                  </a:lnTo>
                  <a:lnTo>
                    <a:pt x="149351" y="291084"/>
                  </a:lnTo>
                  <a:lnTo>
                    <a:pt x="102168" y="283665"/>
                  </a:lnTo>
                  <a:lnTo>
                    <a:pt x="61173" y="263005"/>
                  </a:lnTo>
                  <a:lnTo>
                    <a:pt x="28834" y="231501"/>
                  </a:lnTo>
                  <a:lnTo>
                    <a:pt x="7620" y="191548"/>
                  </a:lnTo>
                  <a:lnTo>
                    <a:pt x="0" y="145541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9762490" y="2780538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102475" y="4655481"/>
            <a:ext cx="4326752" cy="368469"/>
          </a:xfrm>
          <a:prstGeom prst="rect">
            <a:avLst/>
          </a:prstGeom>
        </p:spPr>
      </p:pic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B7C55-136C-3918-FC60-4A726F3E9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A9BCE19A-7596-41F1-CCD2-C823513B6DE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8831" y="2007107"/>
            <a:ext cx="4483818" cy="3336036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05A7DF94-A873-D1AB-8BDF-BB9B240329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3396" y="164718"/>
            <a:ext cx="9130183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Attention</a:t>
            </a:r>
            <a:r>
              <a:rPr spc="-50" dirty="0"/>
              <a:t> </a:t>
            </a:r>
            <a:r>
              <a:rPr dirty="0"/>
              <a:t>Mechanism</a:t>
            </a:r>
            <a:r>
              <a:rPr spc="-5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dirty="0"/>
              <a:t>Seq2Seq</a:t>
            </a:r>
            <a:r>
              <a:rPr spc="-70" dirty="0"/>
              <a:t> </a:t>
            </a:r>
            <a:r>
              <a:rPr spc="-10" dirty="0"/>
              <a:t>Models</a:t>
            </a:r>
            <a:r>
              <a:rPr lang="en-US" spc="-10" dirty="0"/>
              <a:t> : Example</a:t>
            </a:r>
            <a:endParaRPr spc="-1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CA66016-E226-0838-10BB-C1AF45BC774D}"/>
              </a:ext>
            </a:extLst>
          </p:cNvPr>
          <p:cNvSpPr txBox="1"/>
          <p:nvPr/>
        </p:nvSpPr>
        <p:spPr>
          <a:xfrm>
            <a:off x="451967" y="705053"/>
            <a:ext cx="10383520" cy="7636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it-IT" sz="2400" dirty="0"/>
              <a:t>Source </a:t>
            </a:r>
            <a:r>
              <a:rPr lang="it-IT" sz="2400" dirty="0" err="1"/>
              <a:t>sentence</a:t>
            </a:r>
            <a:r>
              <a:rPr lang="it-IT" sz="2400" dirty="0"/>
              <a:t> (Encoder input): S = ["I", "love", "NLP"]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it-IT" sz="2400" dirty="0"/>
              <a:t>Target </a:t>
            </a:r>
            <a:r>
              <a:rPr lang="it-IT" sz="2400" dirty="0" err="1"/>
              <a:t>sentence</a:t>
            </a:r>
            <a:r>
              <a:rPr lang="it-IT" sz="2400" dirty="0"/>
              <a:t> (Decoder output): </a:t>
            </a:r>
            <a:r>
              <a:rPr lang="ur-PK" sz="2400" dirty="0"/>
              <a:t>"محبت"</a:t>
            </a:r>
            <a:endParaRPr sz="2200" dirty="0">
              <a:latin typeface="Arial MT"/>
              <a:cs typeface="Arial M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1C43777F-5BAF-B85E-4846-7E2AE5E4A601}"/>
                  </a:ext>
                </a:extLst>
              </p:cNvPr>
              <p:cNvSpPr txBox="1"/>
              <p:nvPr/>
            </p:nvSpPr>
            <p:spPr>
              <a:xfrm>
                <a:off x="474573" y="1933792"/>
                <a:ext cx="7397268" cy="3868238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r>
                  <a:rPr lang="it-IT" sz="2400" b="1" dirty="0">
                    <a:solidFill>
                      <a:srgbClr val="FF0000"/>
                    </a:solidFill>
                  </a:rPr>
                  <a:t>Encoder </a:t>
                </a:r>
                <a:r>
                  <a:rPr lang="it-IT" sz="2400" b="1" dirty="0" err="1">
                    <a:solidFill>
                      <a:srgbClr val="FF0000"/>
                    </a:solidFill>
                  </a:rPr>
                  <a:t>Hidden</a:t>
                </a:r>
                <a:r>
                  <a:rPr lang="it-IT" sz="2400" b="1" dirty="0">
                    <a:solidFill>
                      <a:srgbClr val="FF0000"/>
                    </a:solidFill>
                  </a:rPr>
                  <a:t> States (Source States)</a:t>
                </a:r>
              </a:p>
              <a:p>
                <a:r>
                  <a:rPr lang="it-IT" sz="2400" dirty="0"/>
                  <a:t>Assume encoder (Bi-LSTM / LSTM) outputs: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r-PK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ur-PK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ur-PK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ur-PK" sz="240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r-PK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ur-PK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ur-PK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ur-PK" sz="240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r-PK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ur-PK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ur-PK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it-IT" sz="2400" b="1" dirty="0">
                    <a:solidFill>
                      <a:srgbClr val="FF0000"/>
                    </a:solidFill>
                  </a:rPr>
                  <a:t>Decoder </a:t>
                </a:r>
                <a:r>
                  <a:rPr lang="it-IT" sz="2400" b="1" dirty="0" err="1">
                    <a:solidFill>
                      <a:srgbClr val="FF0000"/>
                    </a:solidFill>
                  </a:rPr>
                  <a:t>Hidden</a:t>
                </a:r>
                <a:r>
                  <a:rPr lang="it-IT" sz="2400" b="1" dirty="0">
                    <a:solidFill>
                      <a:srgbClr val="FF0000"/>
                    </a:solidFill>
                  </a:rPr>
                  <a:t> State (Query)</a:t>
                </a:r>
              </a:p>
              <a:p>
                <a:r>
                  <a:rPr lang="it-IT" sz="2400" dirty="0"/>
                  <a:t>At </a:t>
                </a:r>
                <a:r>
                  <a:rPr lang="it-IT" sz="2400" dirty="0" err="1"/>
                  <a:t>decoding</a:t>
                </a:r>
                <a:r>
                  <a:rPr lang="it-IT" sz="2400" dirty="0"/>
                  <a:t> time step </a:t>
                </a:r>
                <a:r>
                  <a:rPr lang="it-IT" sz="2400" b="1" dirty="0"/>
                  <a:t>t</a:t>
                </a:r>
                <a:r>
                  <a:rPr lang="it-IT" sz="24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r-PK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ur-PK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ur-PK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ur-PK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ur-PK" sz="2400" dirty="0"/>
              </a:p>
              <a:p>
                <a:r>
                  <a:rPr lang="it-IT" sz="2400" dirty="0" err="1"/>
                  <a:t>This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represents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what</a:t>
                </a:r>
                <a:r>
                  <a:rPr lang="it-IT" sz="2400" dirty="0"/>
                  <a:t> the decoder </a:t>
                </a:r>
                <a:r>
                  <a:rPr lang="it-IT" sz="2400" b="1" dirty="0" err="1"/>
                  <a:t>currently</a:t>
                </a:r>
                <a:r>
                  <a:rPr lang="it-IT" sz="2400" b="1" dirty="0"/>
                  <a:t> </a:t>
                </a:r>
                <a:r>
                  <a:rPr lang="it-IT" sz="2400" b="1" dirty="0" err="1"/>
                  <a:t>needs</a:t>
                </a:r>
                <a:r>
                  <a:rPr lang="it-IT" sz="2400" dirty="0"/>
                  <a:t>.</a:t>
                </a:r>
              </a:p>
              <a:p>
                <a:endParaRPr lang="ur-PK" sz="2400" dirty="0"/>
              </a:p>
            </p:txBody>
          </p:sp>
        </mc:Choice>
        <mc:Fallback xmlns="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1C43777F-5BAF-B85E-4846-7E2AE5E4A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573" y="1933792"/>
                <a:ext cx="7397268" cy="3868238"/>
              </a:xfrm>
              <a:prstGeom prst="rect">
                <a:avLst/>
              </a:prstGeom>
              <a:blipFill>
                <a:blip r:embed="rId3"/>
                <a:stretch>
                  <a:fillRect l="-2556" t="-1890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object 6">
            <a:extLst>
              <a:ext uri="{FF2B5EF4-FFF2-40B4-BE49-F238E27FC236}">
                <a16:creationId xmlns:a16="http://schemas.microsoft.com/office/drawing/2014/main" id="{A1BADCB8-F1A5-A3D8-0A2E-7AF42C1BC2FC}"/>
              </a:ext>
            </a:extLst>
          </p:cNvPr>
          <p:cNvGrpSpPr/>
          <p:nvPr/>
        </p:nvGrpSpPr>
        <p:grpSpPr>
          <a:xfrm>
            <a:off x="7918704" y="3009900"/>
            <a:ext cx="1580515" cy="858519"/>
            <a:chOff x="7918704" y="3009900"/>
            <a:chExt cx="1580515" cy="858519"/>
          </a:xfrm>
        </p:grpSpPr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F8E2C680-8E11-2967-0532-384C9FCC7D7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64752" y="3358895"/>
              <a:ext cx="393192" cy="387095"/>
            </a:xfrm>
            <a:prstGeom prst="rect">
              <a:avLst/>
            </a:prstGeom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3F9CEB1E-B3E1-9E63-D958-1FDEEB2E6AB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23604" y="3302508"/>
              <a:ext cx="475488" cy="565403"/>
            </a:xfrm>
            <a:prstGeom prst="rect">
              <a:avLst/>
            </a:prstGeom>
          </p:spPr>
        </p:pic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E03FAE6A-53CA-1666-62D7-90666F562404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11996" y="3383279"/>
              <a:ext cx="298703" cy="292608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218912B3-78DC-489E-311A-D80701789EAE}"/>
                </a:ext>
              </a:extLst>
            </p:cNvPr>
            <p:cNvSpPr/>
            <p:nvPr/>
          </p:nvSpPr>
          <p:spPr>
            <a:xfrm>
              <a:off x="9111996" y="3383279"/>
              <a:ext cx="299085" cy="292735"/>
            </a:xfrm>
            <a:custGeom>
              <a:avLst/>
              <a:gdLst/>
              <a:ahLst/>
              <a:cxnLst/>
              <a:rect l="l" t="t" r="r" b="b"/>
              <a:pathLst>
                <a:path w="299084" h="292735">
                  <a:moveTo>
                    <a:pt x="0" y="146304"/>
                  </a:moveTo>
                  <a:lnTo>
                    <a:pt x="7620" y="100071"/>
                  </a:lnTo>
                  <a:lnTo>
                    <a:pt x="28834" y="59911"/>
                  </a:lnTo>
                  <a:lnTo>
                    <a:pt x="61173" y="28236"/>
                  </a:lnTo>
                  <a:lnTo>
                    <a:pt x="102168" y="7461"/>
                  </a:lnTo>
                  <a:lnTo>
                    <a:pt x="149351" y="0"/>
                  </a:lnTo>
                  <a:lnTo>
                    <a:pt x="196535" y="7461"/>
                  </a:lnTo>
                  <a:lnTo>
                    <a:pt x="237530" y="28236"/>
                  </a:lnTo>
                  <a:lnTo>
                    <a:pt x="269869" y="59911"/>
                  </a:lnTo>
                  <a:lnTo>
                    <a:pt x="291083" y="100071"/>
                  </a:lnTo>
                  <a:lnTo>
                    <a:pt x="298703" y="146304"/>
                  </a:lnTo>
                  <a:lnTo>
                    <a:pt x="291083" y="192536"/>
                  </a:lnTo>
                  <a:lnTo>
                    <a:pt x="269869" y="232696"/>
                  </a:lnTo>
                  <a:lnTo>
                    <a:pt x="237530" y="264371"/>
                  </a:lnTo>
                  <a:lnTo>
                    <a:pt x="196535" y="285146"/>
                  </a:lnTo>
                  <a:lnTo>
                    <a:pt x="149351" y="292608"/>
                  </a:lnTo>
                  <a:lnTo>
                    <a:pt x="102168" y="285146"/>
                  </a:lnTo>
                  <a:lnTo>
                    <a:pt x="61173" y="264371"/>
                  </a:lnTo>
                  <a:lnTo>
                    <a:pt x="28834" y="232696"/>
                  </a:lnTo>
                  <a:lnTo>
                    <a:pt x="7620" y="192536"/>
                  </a:lnTo>
                  <a:lnTo>
                    <a:pt x="0" y="14630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E1DB71C1-3AF2-310D-0191-21548053425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59852" y="3066288"/>
              <a:ext cx="393192" cy="387096"/>
            </a:xfrm>
            <a:prstGeom prst="rect">
              <a:avLst/>
            </a:prstGeom>
          </p:spPr>
        </p:pic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C78DE1DD-80DF-36BD-1806-A098ABB99BA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18704" y="3009900"/>
              <a:ext cx="475488" cy="565403"/>
            </a:xfrm>
            <a:prstGeom prst="rect">
              <a:avLst/>
            </a:prstGeom>
          </p:spPr>
        </p:pic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B4C7680E-65E7-00FA-5480-5EE2658A3066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07096" y="3090672"/>
              <a:ext cx="298703" cy="292607"/>
            </a:xfrm>
            <a:prstGeom prst="rect">
              <a:avLst/>
            </a:prstGeom>
          </p:spPr>
        </p:pic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E63047B9-D3DE-8679-C316-631F55B14727}"/>
                </a:ext>
              </a:extLst>
            </p:cNvPr>
            <p:cNvSpPr/>
            <p:nvPr/>
          </p:nvSpPr>
          <p:spPr>
            <a:xfrm>
              <a:off x="8007096" y="3090672"/>
              <a:ext cx="299085" cy="292735"/>
            </a:xfrm>
            <a:custGeom>
              <a:avLst/>
              <a:gdLst/>
              <a:ahLst/>
              <a:cxnLst/>
              <a:rect l="l" t="t" r="r" b="b"/>
              <a:pathLst>
                <a:path w="299084" h="292735">
                  <a:moveTo>
                    <a:pt x="0" y="146303"/>
                  </a:moveTo>
                  <a:lnTo>
                    <a:pt x="7620" y="100071"/>
                  </a:lnTo>
                  <a:lnTo>
                    <a:pt x="28834" y="59911"/>
                  </a:lnTo>
                  <a:lnTo>
                    <a:pt x="61173" y="28236"/>
                  </a:lnTo>
                  <a:lnTo>
                    <a:pt x="102168" y="7461"/>
                  </a:lnTo>
                  <a:lnTo>
                    <a:pt x="149351" y="0"/>
                  </a:lnTo>
                  <a:lnTo>
                    <a:pt x="196535" y="7461"/>
                  </a:lnTo>
                  <a:lnTo>
                    <a:pt x="237530" y="28236"/>
                  </a:lnTo>
                  <a:lnTo>
                    <a:pt x="269869" y="59911"/>
                  </a:lnTo>
                  <a:lnTo>
                    <a:pt x="291083" y="100071"/>
                  </a:lnTo>
                  <a:lnTo>
                    <a:pt x="298703" y="146303"/>
                  </a:lnTo>
                  <a:lnTo>
                    <a:pt x="291083" y="192536"/>
                  </a:lnTo>
                  <a:lnTo>
                    <a:pt x="269869" y="232696"/>
                  </a:lnTo>
                  <a:lnTo>
                    <a:pt x="237530" y="264371"/>
                  </a:lnTo>
                  <a:lnTo>
                    <a:pt x="196535" y="285146"/>
                  </a:lnTo>
                  <a:lnTo>
                    <a:pt x="149351" y="292607"/>
                  </a:lnTo>
                  <a:lnTo>
                    <a:pt x="102168" y="285146"/>
                  </a:lnTo>
                  <a:lnTo>
                    <a:pt x="61173" y="264371"/>
                  </a:lnTo>
                  <a:lnTo>
                    <a:pt x="28834" y="232696"/>
                  </a:lnTo>
                  <a:lnTo>
                    <a:pt x="7620" y="192536"/>
                  </a:lnTo>
                  <a:lnTo>
                    <a:pt x="0" y="146303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>
            <a:extLst>
              <a:ext uri="{FF2B5EF4-FFF2-40B4-BE49-F238E27FC236}">
                <a16:creationId xmlns:a16="http://schemas.microsoft.com/office/drawing/2014/main" id="{C6731A6A-B9C1-3C58-FE0E-2A25F5D9A64B}"/>
              </a:ext>
            </a:extLst>
          </p:cNvPr>
          <p:cNvGrpSpPr/>
          <p:nvPr/>
        </p:nvGrpSpPr>
        <p:grpSpPr>
          <a:xfrm>
            <a:off x="8724900" y="2401823"/>
            <a:ext cx="475615" cy="565785"/>
            <a:chOff x="8724900" y="2401823"/>
            <a:chExt cx="475615" cy="565785"/>
          </a:xfrm>
        </p:grpSpPr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4BDDAD1C-F772-75D7-A421-C6FB8A87F91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66048" y="2458211"/>
              <a:ext cx="393192" cy="387096"/>
            </a:xfrm>
            <a:prstGeom prst="rect">
              <a:avLst/>
            </a:prstGeom>
          </p:spPr>
        </p:pic>
        <p:pic>
          <p:nvPicPr>
            <p:cNvPr id="18" name="object 18">
              <a:extLst>
                <a:ext uri="{FF2B5EF4-FFF2-40B4-BE49-F238E27FC236}">
                  <a16:creationId xmlns:a16="http://schemas.microsoft.com/office/drawing/2014/main" id="{4D79E7D5-DD83-2C28-4B3A-BE38423007A6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24900" y="2401823"/>
              <a:ext cx="475488" cy="565403"/>
            </a:xfrm>
            <a:prstGeom prst="rect">
              <a:avLst/>
            </a:prstGeom>
          </p:spPr>
        </p:pic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AF873D2B-2DE1-BA23-BFEE-1B0AAB6CA611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13292" y="2482595"/>
              <a:ext cx="298703" cy="292607"/>
            </a:xfrm>
            <a:prstGeom prst="rect">
              <a:avLst/>
            </a:prstGeom>
          </p:spPr>
        </p:pic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020DACC2-A007-CE9F-0FD0-D0064DD7D3E5}"/>
                </a:ext>
              </a:extLst>
            </p:cNvPr>
            <p:cNvSpPr/>
            <p:nvPr/>
          </p:nvSpPr>
          <p:spPr>
            <a:xfrm>
              <a:off x="8813292" y="2482595"/>
              <a:ext cx="299085" cy="292735"/>
            </a:xfrm>
            <a:custGeom>
              <a:avLst/>
              <a:gdLst/>
              <a:ahLst/>
              <a:cxnLst/>
              <a:rect l="l" t="t" r="r" b="b"/>
              <a:pathLst>
                <a:path w="299084" h="292735">
                  <a:moveTo>
                    <a:pt x="0" y="146303"/>
                  </a:moveTo>
                  <a:lnTo>
                    <a:pt x="7620" y="100071"/>
                  </a:lnTo>
                  <a:lnTo>
                    <a:pt x="28834" y="59911"/>
                  </a:lnTo>
                  <a:lnTo>
                    <a:pt x="61173" y="28236"/>
                  </a:lnTo>
                  <a:lnTo>
                    <a:pt x="102168" y="7461"/>
                  </a:lnTo>
                  <a:lnTo>
                    <a:pt x="149351" y="0"/>
                  </a:lnTo>
                  <a:lnTo>
                    <a:pt x="196535" y="7461"/>
                  </a:lnTo>
                  <a:lnTo>
                    <a:pt x="237530" y="28236"/>
                  </a:lnTo>
                  <a:lnTo>
                    <a:pt x="269869" y="59911"/>
                  </a:lnTo>
                  <a:lnTo>
                    <a:pt x="291083" y="100071"/>
                  </a:lnTo>
                  <a:lnTo>
                    <a:pt x="298703" y="146303"/>
                  </a:lnTo>
                  <a:lnTo>
                    <a:pt x="291083" y="192536"/>
                  </a:lnTo>
                  <a:lnTo>
                    <a:pt x="269869" y="232696"/>
                  </a:lnTo>
                  <a:lnTo>
                    <a:pt x="237530" y="264371"/>
                  </a:lnTo>
                  <a:lnTo>
                    <a:pt x="196535" y="285146"/>
                  </a:lnTo>
                  <a:lnTo>
                    <a:pt x="149351" y="292607"/>
                  </a:lnTo>
                  <a:lnTo>
                    <a:pt x="102168" y="285146"/>
                  </a:lnTo>
                  <a:lnTo>
                    <a:pt x="61173" y="264371"/>
                  </a:lnTo>
                  <a:lnTo>
                    <a:pt x="28834" y="232696"/>
                  </a:lnTo>
                  <a:lnTo>
                    <a:pt x="7620" y="192536"/>
                  </a:lnTo>
                  <a:lnTo>
                    <a:pt x="0" y="146303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>
            <a:extLst>
              <a:ext uri="{FF2B5EF4-FFF2-40B4-BE49-F238E27FC236}">
                <a16:creationId xmlns:a16="http://schemas.microsoft.com/office/drawing/2014/main" id="{D16F0CCD-FC07-8EC3-4B7B-BB28FEDCD680}"/>
              </a:ext>
            </a:extLst>
          </p:cNvPr>
          <p:cNvSpPr txBox="1"/>
          <p:nvPr/>
        </p:nvSpPr>
        <p:spPr>
          <a:xfrm>
            <a:off x="8893302" y="246405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2" name="object 22">
            <a:extLst>
              <a:ext uri="{FF2B5EF4-FFF2-40B4-BE49-F238E27FC236}">
                <a16:creationId xmlns:a16="http://schemas.microsoft.com/office/drawing/2014/main" id="{76EF51BB-C515-5EF1-7C21-7D40A014B45C}"/>
              </a:ext>
            </a:extLst>
          </p:cNvPr>
          <p:cNvGrpSpPr/>
          <p:nvPr/>
        </p:nvGrpSpPr>
        <p:grpSpPr>
          <a:xfrm>
            <a:off x="9593580" y="2717292"/>
            <a:ext cx="475615" cy="565785"/>
            <a:chOff x="9593580" y="2717292"/>
            <a:chExt cx="475615" cy="565785"/>
          </a:xfrm>
        </p:grpSpPr>
        <p:pic>
          <p:nvPicPr>
            <p:cNvPr id="23" name="object 23">
              <a:extLst>
                <a:ext uri="{FF2B5EF4-FFF2-40B4-BE49-F238E27FC236}">
                  <a16:creationId xmlns:a16="http://schemas.microsoft.com/office/drawing/2014/main" id="{36BAA79B-D6B2-BC21-BEC3-D9BC2EED118A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634728" y="2775204"/>
              <a:ext cx="393192" cy="385572"/>
            </a:xfrm>
            <a:prstGeom prst="rect">
              <a:avLst/>
            </a:prstGeom>
          </p:spPr>
        </p:pic>
        <p:pic>
          <p:nvPicPr>
            <p:cNvPr id="24" name="object 24">
              <a:extLst>
                <a:ext uri="{FF2B5EF4-FFF2-40B4-BE49-F238E27FC236}">
                  <a16:creationId xmlns:a16="http://schemas.microsoft.com/office/drawing/2014/main" id="{0CF8A280-EA6C-A301-2A82-000853A459D9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593580" y="2717292"/>
              <a:ext cx="475487" cy="565403"/>
            </a:xfrm>
            <a:prstGeom prst="rect">
              <a:avLst/>
            </a:prstGeom>
          </p:spPr>
        </p:pic>
        <p:pic>
          <p:nvPicPr>
            <p:cNvPr id="25" name="object 25">
              <a:extLst>
                <a:ext uri="{FF2B5EF4-FFF2-40B4-BE49-F238E27FC236}">
                  <a16:creationId xmlns:a16="http://schemas.microsoft.com/office/drawing/2014/main" id="{E43D21C5-A398-3B36-6DD4-F4A5E905BAF1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681972" y="2799588"/>
              <a:ext cx="298703" cy="291084"/>
            </a:xfrm>
            <a:prstGeom prst="rect">
              <a:avLst/>
            </a:prstGeom>
          </p:spPr>
        </p:pic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ED36A047-CDE3-D582-7F10-090B60477CEC}"/>
                </a:ext>
              </a:extLst>
            </p:cNvPr>
            <p:cNvSpPr/>
            <p:nvPr/>
          </p:nvSpPr>
          <p:spPr>
            <a:xfrm>
              <a:off x="9681972" y="2799588"/>
              <a:ext cx="299085" cy="291465"/>
            </a:xfrm>
            <a:custGeom>
              <a:avLst/>
              <a:gdLst/>
              <a:ahLst/>
              <a:cxnLst/>
              <a:rect l="l" t="t" r="r" b="b"/>
              <a:pathLst>
                <a:path w="299084" h="291464">
                  <a:moveTo>
                    <a:pt x="0" y="145541"/>
                  </a:moveTo>
                  <a:lnTo>
                    <a:pt x="7620" y="99535"/>
                  </a:lnTo>
                  <a:lnTo>
                    <a:pt x="28834" y="59582"/>
                  </a:lnTo>
                  <a:lnTo>
                    <a:pt x="61173" y="28078"/>
                  </a:lnTo>
                  <a:lnTo>
                    <a:pt x="102168" y="7418"/>
                  </a:lnTo>
                  <a:lnTo>
                    <a:pt x="149351" y="0"/>
                  </a:lnTo>
                  <a:lnTo>
                    <a:pt x="196535" y="7418"/>
                  </a:lnTo>
                  <a:lnTo>
                    <a:pt x="237530" y="28078"/>
                  </a:lnTo>
                  <a:lnTo>
                    <a:pt x="269869" y="59582"/>
                  </a:lnTo>
                  <a:lnTo>
                    <a:pt x="291083" y="99535"/>
                  </a:lnTo>
                  <a:lnTo>
                    <a:pt x="298703" y="145541"/>
                  </a:lnTo>
                  <a:lnTo>
                    <a:pt x="291083" y="191548"/>
                  </a:lnTo>
                  <a:lnTo>
                    <a:pt x="269869" y="231501"/>
                  </a:lnTo>
                  <a:lnTo>
                    <a:pt x="237530" y="263005"/>
                  </a:lnTo>
                  <a:lnTo>
                    <a:pt x="196535" y="283665"/>
                  </a:lnTo>
                  <a:lnTo>
                    <a:pt x="149351" y="291084"/>
                  </a:lnTo>
                  <a:lnTo>
                    <a:pt x="102168" y="283665"/>
                  </a:lnTo>
                  <a:lnTo>
                    <a:pt x="61173" y="263005"/>
                  </a:lnTo>
                  <a:lnTo>
                    <a:pt x="28834" y="231501"/>
                  </a:lnTo>
                  <a:lnTo>
                    <a:pt x="7620" y="191548"/>
                  </a:lnTo>
                  <a:lnTo>
                    <a:pt x="0" y="145541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>
            <a:extLst>
              <a:ext uri="{FF2B5EF4-FFF2-40B4-BE49-F238E27FC236}">
                <a16:creationId xmlns:a16="http://schemas.microsoft.com/office/drawing/2014/main" id="{E674EE4E-41D5-C1E3-A015-9769F930C44E}"/>
              </a:ext>
            </a:extLst>
          </p:cNvPr>
          <p:cNvSpPr txBox="1"/>
          <p:nvPr/>
        </p:nvSpPr>
        <p:spPr>
          <a:xfrm>
            <a:off x="9762490" y="2780538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9236143C-8109-8C58-D4D4-4D35719E4E4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9848242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C8396-0760-411F-BD92-BC9CB114A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DAD32361-2DC5-2D82-9266-A06205686DB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8831" y="2007107"/>
            <a:ext cx="4483818" cy="3336036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011A56FD-9680-11AD-7A89-E714A046DC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3396" y="164718"/>
            <a:ext cx="9130183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Attention</a:t>
            </a:r>
            <a:r>
              <a:rPr spc="-50" dirty="0"/>
              <a:t> </a:t>
            </a:r>
            <a:r>
              <a:rPr dirty="0"/>
              <a:t>Mechanism</a:t>
            </a:r>
            <a:r>
              <a:rPr spc="-5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dirty="0"/>
              <a:t>Seq2Seq</a:t>
            </a:r>
            <a:r>
              <a:rPr spc="-70" dirty="0"/>
              <a:t> </a:t>
            </a:r>
            <a:r>
              <a:rPr spc="-10" dirty="0"/>
              <a:t>Models</a:t>
            </a:r>
            <a:r>
              <a:rPr lang="en-US" spc="-10" dirty="0"/>
              <a:t> : Example</a:t>
            </a:r>
            <a:endParaRPr spc="-1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982241CD-571F-4EA8-86BB-BF3FFBED9371}"/>
                  </a:ext>
                </a:extLst>
              </p:cNvPr>
              <p:cNvSpPr txBox="1"/>
              <p:nvPr/>
            </p:nvSpPr>
            <p:spPr>
              <a:xfrm>
                <a:off x="463396" y="917497"/>
                <a:ext cx="7397268" cy="466724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r>
                  <a:rPr lang="it-IT" sz="2400" b="1" dirty="0">
                    <a:solidFill>
                      <a:srgbClr val="0070C0"/>
                    </a:solidFill>
                  </a:rPr>
                  <a:t>Step 1: Compute </a:t>
                </a:r>
                <a:r>
                  <a:rPr lang="it-IT" sz="2400" b="1" dirty="0" err="1">
                    <a:solidFill>
                      <a:srgbClr val="0070C0"/>
                    </a:solidFill>
                  </a:rPr>
                  <a:t>Attention</a:t>
                </a:r>
                <a:r>
                  <a:rPr lang="it-IT" sz="2400" b="1" dirty="0">
                    <a:solidFill>
                      <a:srgbClr val="0070C0"/>
                    </a:solidFill>
                  </a:rPr>
                  <a:t> Scores</a:t>
                </a:r>
              </a:p>
              <a:p>
                <a:r>
                  <a:rPr lang="it-IT" sz="2400" dirty="0"/>
                  <a:t>(</a:t>
                </a:r>
                <a:r>
                  <a:rPr lang="it-IT" sz="2400" dirty="0" err="1"/>
                  <a:t>using</a:t>
                </a:r>
                <a:r>
                  <a:rPr lang="it-IT" sz="2400" dirty="0"/>
                  <a:t> dot-product </a:t>
                </a:r>
                <a:r>
                  <a:rPr lang="it-IT" sz="2400" dirty="0" err="1"/>
                  <a:t>attention</a:t>
                </a:r>
                <a:r>
                  <a:rPr lang="it-IT" sz="2400" dirty="0"/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0"/>
                        <m:t>score</m:t>
                      </m:r>
                      <m:d>
                        <m:dPr>
                          <m:sepChr m:val=","/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ur-P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r-PK" sz="2400" b="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ur-PK" sz="2400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ur-P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r-PK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ur-PK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  <m:r>
                        <a:rPr lang="ur-PK" sz="240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ur-PK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ur-PK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r-PK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ur-PK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it-IT" sz="2400" b="1" dirty="0"/>
                  <a:t>Scores: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it-IT" sz="2400" b="0"/>
                            <m:t>score</m:t>
                          </m:r>
                        </m:e>
                        <m:sub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ur-PK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ur-PK" sz="2400" i="1"/>
                            <m:t>  </m:t>
                          </m:r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ur-PK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ur-PK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ur-PK" sz="24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ur-PK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it-IT" sz="2400" b="0"/>
                            <m:t>score</m:t>
                          </m:r>
                        </m:e>
                        <m:sub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ur-PK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ur-PK" sz="2400" i="1"/>
                            <m:t>  </m:t>
                          </m:r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ur-PK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ur-PK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ur-PK" sz="240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ur-PK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it-IT" sz="2400" b="0"/>
                            <m:t>score</m:t>
                          </m:r>
                        </m:e>
                        <m:sub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ur-PK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ur-PK" sz="2400" i="1"/>
                            <m:t>  </m:t>
                          </m:r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ur-PK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ur-PK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ur-PK" sz="24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ur-PK" sz="2400" b="0" dirty="0"/>
              </a:p>
              <a:p>
                <a:endParaRPr lang="en-US" sz="2400" dirty="0"/>
              </a:p>
              <a:p>
                <a:endParaRPr lang="ur-PK" sz="2400" b="0" dirty="0"/>
              </a:p>
            </p:txBody>
          </p:sp>
        </mc:Choice>
        <mc:Fallback xmlns="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982241CD-571F-4EA8-86BB-BF3FFBED9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96" y="917497"/>
                <a:ext cx="7397268" cy="4667240"/>
              </a:xfrm>
              <a:prstGeom prst="rect">
                <a:avLst/>
              </a:prstGeom>
              <a:blipFill>
                <a:blip r:embed="rId3"/>
                <a:stretch>
                  <a:fillRect l="-2473" t="-169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object 6">
            <a:extLst>
              <a:ext uri="{FF2B5EF4-FFF2-40B4-BE49-F238E27FC236}">
                <a16:creationId xmlns:a16="http://schemas.microsoft.com/office/drawing/2014/main" id="{9C686A5E-D2CC-AE6C-8B78-75D59991F398}"/>
              </a:ext>
            </a:extLst>
          </p:cNvPr>
          <p:cNvGrpSpPr/>
          <p:nvPr/>
        </p:nvGrpSpPr>
        <p:grpSpPr>
          <a:xfrm>
            <a:off x="7918704" y="3009900"/>
            <a:ext cx="1580515" cy="858519"/>
            <a:chOff x="7918704" y="3009900"/>
            <a:chExt cx="1580515" cy="858519"/>
          </a:xfrm>
        </p:grpSpPr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274BB5F5-8A0C-5F4F-DF25-122278A38EA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64752" y="3358895"/>
              <a:ext cx="393192" cy="387095"/>
            </a:xfrm>
            <a:prstGeom prst="rect">
              <a:avLst/>
            </a:prstGeom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0C5F10CA-6DE8-54F4-5406-F8E23A98B3D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23604" y="3302508"/>
              <a:ext cx="475488" cy="565403"/>
            </a:xfrm>
            <a:prstGeom prst="rect">
              <a:avLst/>
            </a:prstGeom>
          </p:spPr>
        </p:pic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5617A770-FF3C-C2BF-0B07-184630C2779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11996" y="3383279"/>
              <a:ext cx="298703" cy="292608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78CC0BBA-12D8-7878-F12F-299E040D313E}"/>
                </a:ext>
              </a:extLst>
            </p:cNvPr>
            <p:cNvSpPr/>
            <p:nvPr/>
          </p:nvSpPr>
          <p:spPr>
            <a:xfrm>
              <a:off x="9111996" y="3383279"/>
              <a:ext cx="299085" cy="292735"/>
            </a:xfrm>
            <a:custGeom>
              <a:avLst/>
              <a:gdLst/>
              <a:ahLst/>
              <a:cxnLst/>
              <a:rect l="l" t="t" r="r" b="b"/>
              <a:pathLst>
                <a:path w="299084" h="292735">
                  <a:moveTo>
                    <a:pt x="0" y="146304"/>
                  </a:moveTo>
                  <a:lnTo>
                    <a:pt x="7620" y="100071"/>
                  </a:lnTo>
                  <a:lnTo>
                    <a:pt x="28834" y="59911"/>
                  </a:lnTo>
                  <a:lnTo>
                    <a:pt x="61173" y="28236"/>
                  </a:lnTo>
                  <a:lnTo>
                    <a:pt x="102168" y="7461"/>
                  </a:lnTo>
                  <a:lnTo>
                    <a:pt x="149351" y="0"/>
                  </a:lnTo>
                  <a:lnTo>
                    <a:pt x="196535" y="7461"/>
                  </a:lnTo>
                  <a:lnTo>
                    <a:pt x="237530" y="28236"/>
                  </a:lnTo>
                  <a:lnTo>
                    <a:pt x="269869" y="59911"/>
                  </a:lnTo>
                  <a:lnTo>
                    <a:pt x="291083" y="100071"/>
                  </a:lnTo>
                  <a:lnTo>
                    <a:pt x="298703" y="146304"/>
                  </a:lnTo>
                  <a:lnTo>
                    <a:pt x="291083" y="192536"/>
                  </a:lnTo>
                  <a:lnTo>
                    <a:pt x="269869" y="232696"/>
                  </a:lnTo>
                  <a:lnTo>
                    <a:pt x="237530" y="264371"/>
                  </a:lnTo>
                  <a:lnTo>
                    <a:pt x="196535" y="285146"/>
                  </a:lnTo>
                  <a:lnTo>
                    <a:pt x="149351" y="292608"/>
                  </a:lnTo>
                  <a:lnTo>
                    <a:pt x="102168" y="285146"/>
                  </a:lnTo>
                  <a:lnTo>
                    <a:pt x="61173" y="264371"/>
                  </a:lnTo>
                  <a:lnTo>
                    <a:pt x="28834" y="232696"/>
                  </a:lnTo>
                  <a:lnTo>
                    <a:pt x="7620" y="192536"/>
                  </a:lnTo>
                  <a:lnTo>
                    <a:pt x="0" y="14630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C6892633-6077-1E9D-3ED4-02CA21E9917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59852" y="3066288"/>
              <a:ext cx="393192" cy="387096"/>
            </a:xfrm>
            <a:prstGeom prst="rect">
              <a:avLst/>
            </a:prstGeom>
          </p:spPr>
        </p:pic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010857D6-64D6-9885-AD3A-49A666DBEB2A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18704" y="3009900"/>
              <a:ext cx="475488" cy="565403"/>
            </a:xfrm>
            <a:prstGeom prst="rect">
              <a:avLst/>
            </a:prstGeom>
          </p:spPr>
        </p:pic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67E15AC9-778D-476A-EB1A-61FFC81FE523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07096" y="3090672"/>
              <a:ext cx="298703" cy="292607"/>
            </a:xfrm>
            <a:prstGeom prst="rect">
              <a:avLst/>
            </a:prstGeom>
          </p:spPr>
        </p:pic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69244680-BE82-EA0C-1862-BB0C0CF97A7D}"/>
                </a:ext>
              </a:extLst>
            </p:cNvPr>
            <p:cNvSpPr/>
            <p:nvPr/>
          </p:nvSpPr>
          <p:spPr>
            <a:xfrm>
              <a:off x="8007096" y="3090672"/>
              <a:ext cx="299085" cy="292735"/>
            </a:xfrm>
            <a:custGeom>
              <a:avLst/>
              <a:gdLst/>
              <a:ahLst/>
              <a:cxnLst/>
              <a:rect l="l" t="t" r="r" b="b"/>
              <a:pathLst>
                <a:path w="299084" h="292735">
                  <a:moveTo>
                    <a:pt x="0" y="146303"/>
                  </a:moveTo>
                  <a:lnTo>
                    <a:pt x="7620" y="100071"/>
                  </a:lnTo>
                  <a:lnTo>
                    <a:pt x="28834" y="59911"/>
                  </a:lnTo>
                  <a:lnTo>
                    <a:pt x="61173" y="28236"/>
                  </a:lnTo>
                  <a:lnTo>
                    <a:pt x="102168" y="7461"/>
                  </a:lnTo>
                  <a:lnTo>
                    <a:pt x="149351" y="0"/>
                  </a:lnTo>
                  <a:lnTo>
                    <a:pt x="196535" y="7461"/>
                  </a:lnTo>
                  <a:lnTo>
                    <a:pt x="237530" y="28236"/>
                  </a:lnTo>
                  <a:lnTo>
                    <a:pt x="269869" y="59911"/>
                  </a:lnTo>
                  <a:lnTo>
                    <a:pt x="291083" y="100071"/>
                  </a:lnTo>
                  <a:lnTo>
                    <a:pt x="298703" y="146303"/>
                  </a:lnTo>
                  <a:lnTo>
                    <a:pt x="291083" y="192536"/>
                  </a:lnTo>
                  <a:lnTo>
                    <a:pt x="269869" y="232696"/>
                  </a:lnTo>
                  <a:lnTo>
                    <a:pt x="237530" y="264371"/>
                  </a:lnTo>
                  <a:lnTo>
                    <a:pt x="196535" y="285146"/>
                  </a:lnTo>
                  <a:lnTo>
                    <a:pt x="149351" y="292607"/>
                  </a:lnTo>
                  <a:lnTo>
                    <a:pt x="102168" y="285146"/>
                  </a:lnTo>
                  <a:lnTo>
                    <a:pt x="61173" y="264371"/>
                  </a:lnTo>
                  <a:lnTo>
                    <a:pt x="28834" y="232696"/>
                  </a:lnTo>
                  <a:lnTo>
                    <a:pt x="7620" y="192536"/>
                  </a:lnTo>
                  <a:lnTo>
                    <a:pt x="0" y="146303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>
            <a:extLst>
              <a:ext uri="{FF2B5EF4-FFF2-40B4-BE49-F238E27FC236}">
                <a16:creationId xmlns:a16="http://schemas.microsoft.com/office/drawing/2014/main" id="{F8516907-A935-A311-D580-1AF8D952CBEE}"/>
              </a:ext>
            </a:extLst>
          </p:cNvPr>
          <p:cNvGrpSpPr/>
          <p:nvPr/>
        </p:nvGrpSpPr>
        <p:grpSpPr>
          <a:xfrm>
            <a:off x="8724900" y="2401823"/>
            <a:ext cx="475615" cy="565785"/>
            <a:chOff x="8724900" y="2401823"/>
            <a:chExt cx="475615" cy="565785"/>
          </a:xfrm>
        </p:grpSpPr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15B8119F-67FF-F2FB-BAA7-554849E66D2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66048" y="2458211"/>
              <a:ext cx="393192" cy="387096"/>
            </a:xfrm>
            <a:prstGeom prst="rect">
              <a:avLst/>
            </a:prstGeom>
          </p:spPr>
        </p:pic>
        <p:pic>
          <p:nvPicPr>
            <p:cNvPr id="18" name="object 18">
              <a:extLst>
                <a:ext uri="{FF2B5EF4-FFF2-40B4-BE49-F238E27FC236}">
                  <a16:creationId xmlns:a16="http://schemas.microsoft.com/office/drawing/2014/main" id="{CA336611-D881-45CB-A5FB-38BB5D2F08C9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24900" y="2401823"/>
              <a:ext cx="475488" cy="565403"/>
            </a:xfrm>
            <a:prstGeom prst="rect">
              <a:avLst/>
            </a:prstGeom>
          </p:spPr>
        </p:pic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6C7C7905-CC8B-4808-2DE4-A3F2461D3BB5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13292" y="2482595"/>
              <a:ext cx="298703" cy="292607"/>
            </a:xfrm>
            <a:prstGeom prst="rect">
              <a:avLst/>
            </a:prstGeom>
          </p:spPr>
        </p:pic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530F495F-4699-460E-A09A-626FCC2EE9F9}"/>
                </a:ext>
              </a:extLst>
            </p:cNvPr>
            <p:cNvSpPr/>
            <p:nvPr/>
          </p:nvSpPr>
          <p:spPr>
            <a:xfrm>
              <a:off x="8813292" y="2482595"/>
              <a:ext cx="299085" cy="292735"/>
            </a:xfrm>
            <a:custGeom>
              <a:avLst/>
              <a:gdLst/>
              <a:ahLst/>
              <a:cxnLst/>
              <a:rect l="l" t="t" r="r" b="b"/>
              <a:pathLst>
                <a:path w="299084" h="292735">
                  <a:moveTo>
                    <a:pt x="0" y="146303"/>
                  </a:moveTo>
                  <a:lnTo>
                    <a:pt x="7620" y="100071"/>
                  </a:lnTo>
                  <a:lnTo>
                    <a:pt x="28834" y="59911"/>
                  </a:lnTo>
                  <a:lnTo>
                    <a:pt x="61173" y="28236"/>
                  </a:lnTo>
                  <a:lnTo>
                    <a:pt x="102168" y="7461"/>
                  </a:lnTo>
                  <a:lnTo>
                    <a:pt x="149351" y="0"/>
                  </a:lnTo>
                  <a:lnTo>
                    <a:pt x="196535" y="7461"/>
                  </a:lnTo>
                  <a:lnTo>
                    <a:pt x="237530" y="28236"/>
                  </a:lnTo>
                  <a:lnTo>
                    <a:pt x="269869" y="59911"/>
                  </a:lnTo>
                  <a:lnTo>
                    <a:pt x="291083" y="100071"/>
                  </a:lnTo>
                  <a:lnTo>
                    <a:pt x="298703" y="146303"/>
                  </a:lnTo>
                  <a:lnTo>
                    <a:pt x="291083" y="192536"/>
                  </a:lnTo>
                  <a:lnTo>
                    <a:pt x="269869" y="232696"/>
                  </a:lnTo>
                  <a:lnTo>
                    <a:pt x="237530" y="264371"/>
                  </a:lnTo>
                  <a:lnTo>
                    <a:pt x="196535" y="285146"/>
                  </a:lnTo>
                  <a:lnTo>
                    <a:pt x="149351" y="292607"/>
                  </a:lnTo>
                  <a:lnTo>
                    <a:pt x="102168" y="285146"/>
                  </a:lnTo>
                  <a:lnTo>
                    <a:pt x="61173" y="264371"/>
                  </a:lnTo>
                  <a:lnTo>
                    <a:pt x="28834" y="232696"/>
                  </a:lnTo>
                  <a:lnTo>
                    <a:pt x="7620" y="192536"/>
                  </a:lnTo>
                  <a:lnTo>
                    <a:pt x="0" y="146303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>
            <a:extLst>
              <a:ext uri="{FF2B5EF4-FFF2-40B4-BE49-F238E27FC236}">
                <a16:creationId xmlns:a16="http://schemas.microsoft.com/office/drawing/2014/main" id="{C5CB54DD-C44F-B385-8DAF-29799D4C94F0}"/>
              </a:ext>
            </a:extLst>
          </p:cNvPr>
          <p:cNvSpPr txBox="1"/>
          <p:nvPr/>
        </p:nvSpPr>
        <p:spPr>
          <a:xfrm>
            <a:off x="8893302" y="246405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2" name="object 22">
            <a:extLst>
              <a:ext uri="{FF2B5EF4-FFF2-40B4-BE49-F238E27FC236}">
                <a16:creationId xmlns:a16="http://schemas.microsoft.com/office/drawing/2014/main" id="{4B3CCCEF-F0A8-CBCE-B5FA-531CC4C4CB6D}"/>
              </a:ext>
            </a:extLst>
          </p:cNvPr>
          <p:cNvGrpSpPr/>
          <p:nvPr/>
        </p:nvGrpSpPr>
        <p:grpSpPr>
          <a:xfrm>
            <a:off x="9593580" y="2717292"/>
            <a:ext cx="475615" cy="565785"/>
            <a:chOff x="9593580" y="2717292"/>
            <a:chExt cx="475615" cy="565785"/>
          </a:xfrm>
        </p:grpSpPr>
        <p:pic>
          <p:nvPicPr>
            <p:cNvPr id="23" name="object 23">
              <a:extLst>
                <a:ext uri="{FF2B5EF4-FFF2-40B4-BE49-F238E27FC236}">
                  <a16:creationId xmlns:a16="http://schemas.microsoft.com/office/drawing/2014/main" id="{CBC5FF45-B1BB-8F5D-03B5-60354E53E53D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634728" y="2775204"/>
              <a:ext cx="393192" cy="385572"/>
            </a:xfrm>
            <a:prstGeom prst="rect">
              <a:avLst/>
            </a:prstGeom>
          </p:spPr>
        </p:pic>
        <p:pic>
          <p:nvPicPr>
            <p:cNvPr id="24" name="object 24">
              <a:extLst>
                <a:ext uri="{FF2B5EF4-FFF2-40B4-BE49-F238E27FC236}">
                  <a16:creationId xmlns:a16="http://schemas.microsoft.com/office/drawing/2014/main" id="{24690435-3099-A339-D932-142C5E27F34A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593580" y="2717292"/>
              <a:ext cx="475487" cy="565403"/>
            </a:xfrm>
            <a:prstGeom prst="rect">
              <a:avLst/>
            </a:prstGeom>
          </p:spPr>
        </p:pic>
        <p:pic>
          <p:nvPicPr>
            <p:cNvPr id="25" name="object 25">
              <a:extLst>
                <a:ext uri="{FF2B5EF4-FFF2-40B4-BE49-F238E27FC236}">
                  <a16:creationId xmlns:a16="http://schemas.microsoft.com/office/drawing/2014/main" id="{35574EA0-5C0C-7A5C-F3AB-EA04C29ADDC3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681972" y="2799588"/>
              <a:ext cx="298703" cy="291084"/>
            </a:xfrm>
            <a:prstGeom prst="rect">
              <a:avLst/>
            </a:prstGeom>
          </p:spPr>
        </p:pic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08E2E442-95D7-F4F2-A868-CD5DB98FF0C5}"/>
                </a:ext>
              </a:extLst>
            </p:cNvPr>
            <p:cNvSpPr/>
            <p:nvPr/>
          </p:nvSpPr>
          <p:spPr>
            <a:xfrm>
              <a:off x="9681972" y="2799588"/>
              <a:ext cx="299085" cy="291465"/>
            </a:xfrm>
            <a:custGeom>
              <a:avLst/>
              <a:gdLst/>
              <a:ahLst/>
              <a:cxnLst/>
              <a:rect l="l" t="t" r="r" b="b"/>
              <a:pathLst>
                <a:path w="299084" h="291464">
                  <a:moveTo>
                    <a:pt x="0" y="145541"/>
                  </a:moveTo>
                  <a:lnTo>
                    <a:pt x="7620" y="99535"/>
                  </a:lnTo>
                  <a:lnTo>
                    <a:pt x="28834" y="59582"/>
                  </a:lnTo>
                  <a:lnTo>
                    <a:pt x="61173" y="28078"/>
                  </a:lnTo>
                  <a:lnTo>
                    <a:pt x="102168" y="7418"/>
                  </a:lnTo>
                  <a:lnTo>
                    <a:pt x="149351" y="0"/>
                  </a:lnTo>
                  <a:lnTo>
                    <a:pt x="196535" y="7418"/>
                  </a:lnTo>
                  <a:lnTo>
                    <a:pt x="237530" y="28078"/>
                  </a:lnTo>
                  <a:lnTo>
                    <a:pt x="269869" y="59582"/>
                  </a:lnTo>
                  <a:lnTo>
                    <a:pt x="291083" y="99535"/>
                  </a:lnTo>
                  <a:lnTo>
                    <a:pt x="298703" y="145541"/>
                  </a:lnTo>
                  <a:lnTo>
                    <a:pt x="291083" y="191548"/>
                  </a:lnTo>
                  <a:lnTo>
                    <a:pt x="269869" y="231501"/>
                  </a:lnTo>
                  <a:lnTo>
                    <a:pt x="237530" y="263005"/>
                  </a:lnTo>
                  <a:lnTo>
                    <a:pt x="196535" y="283665"/>
                  </a:lnTo>
                  <a:lnTo>
                    <a:pt x="149351" y="291084"/>
                  </a:lnTo>
                  <a:lnTo>
                    <a:pt x="102168" y="283665"/>
                  </a:lnTo>
                  <a:lnTo>
                    <a:pt x="61173" y="263005"/>
                  </a:lnTo>
                  <a:lnTo>
                    <a:pt x="28834" y="231501"/>
                  </a:lnTo>
                  <a:lnTo>
                    <a:pt x="7620" y="191548"/>
                  </a:lnTo>
                  <a:lnTo>
                    <a:pt x="0" y="145541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>
            <a:extLst>
              <a:ext uri="{FF2B5EF4-FFF2-40B4-BE49-F238E27FC236}">
                <a16:creationId xmlns:a16="http://schemas.microsoft.com/office/drawing/2014/main" id="{4924EC43-EDD9-66E6-B3EF-DA96EBD9F0B6}"/>
              </a:ext>
            </a:extLst>
          </p:cNvPr>
          <p:cNvSpPr txBox="1"/>
          <p:nvPr/>
        </p:nvSpPr>
        <p:spPr>
          <a:xfrm>
            <a:off x="9762490" y="2780538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0E5945D7-A1A3-387A-8D72-FAB3749F031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3874066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B76FE-4F97-DF39-FA4D-6F239B3FE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341F027D-9797-9E5C-91C9-96EC74F0236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8831" y="2007107"/>
            <a:ext cx="4483818" cy="3336036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2E548AAB-9349-4B4F-69A3-4AA3271E06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3396" y="164718"/>
            <a:ext cx="9130183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Attention</a:t>
            </a:r>
            <a:r>
              <a:rPr spc="-50" dirty="0"/>
              <a:t> </a:t>
            </a:r>
            <a:r>
              <a:rPr dirty="0"/>
              <a:t>Mechanism</a:t>
            </a:r>
            <a:r>
              <a:rPr spc="-5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dirty="0"/>
              <a:t>Seq2Seq</a:t>
            </a:r>
            <a:r>
              <a:rPr spc="-70" dirty="0"/>
              <a:t> </a:t>
            </a:r>
            <a:r>
              <a:rPr spc="-10" dirty="0"/>
              <a:t>Models</a:t>
            </a:r>
            <a:r>
              <a:rPr lang="en-US" spc="-10" dirty="0"/>
              <a:t> : Example</a:t>
            </a:r>
            <a:endParaRPr spc="-1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DCBDD538-0605-3511-9798-D4BEAD409BEC}"/>
                  </a:ext>
                </a:extLst>
              </p:cNvPr>
              <p:cNvSpPr txBox="1"/>
              <p:nvPr/>
            </p:nvSpPr>
            <p:spPr>
              <a:xfrm>
                <a:off x="463396" y="917497"/>
                <a:ext cx="7397268" cy="4859279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r>
                  <a:rPr lang="it-IT" sz="2400" b="1" dirty="0">
                    <a:solidFill>
                      <a:srgbClr val="0070C0"/>
                    </a:solidFill>
                  </a:rPr>
                  <a:t>Step 2: </a:t>
                </a:r>
                <a:r>
                  <a:rPr lang="it-IT" sz="2400" b="1" dirty="0" err="1">
                    <a:solidFill>
                      <a:srgbClr val="0070C0"/>
                    </a:solidFill>
                  </a:rPr>
                  <a:t>Apply</a:t>
                </a:r>
                <a:r>
                  <a:rPr lang="it-IT" sz="2400" b="1" dirty="0">
                    <a:solidFill>
                      <a:srgbClr val="0070C0"/>
                    </a:solidFill>
                  </a:rPr>
                  <a:t> </a:t>
                </a:r>
                <a:r>
                  <a:rPr lang="it-IT" sz="2400" b="1" dirty="0" err="1">
                    <a:solidFill>
                      <a:srgbClr val="0070C0"/>
                    </a:solidFill>
                  </a:rPr>
                  <a:t>Softmax</a:t>
                </a:r>
                <a:r>
                  <a:rPr lang="it-IT" sz="2400" b="1" dirty="0">
                    <a:solidFill>
                      <a:srgbClr val="0070C0"/>
                    </a:solidFill>
                  </a:rPr>
                  <a:t> (</a:t>
                </a:r>
                <a:r>
                  <a:rPr lang="it-IT" sz="2400" b="1" dirty="0" err="1">
                    <a:solidFill>
                      <a:srgbClr val="0070C0"/>
                    </a:solidFill>
                  </a:rPr>
                  <a:t>Attention</a:t>
                </a:r>
                <a:r>
                  <a:rPr lang="it-IT" sz="2400" b="1" dirty="0">
                    <a:solidFill>
                      <a:srgbClr val="0070C0"/>
                    </a:solidFill>
                  </a:rPr>
                  <a:t> Weights)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r-PK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ur-PK" sz="2400" i="1">
                              <a:latin typeface="Cambria Math" panose="02040503050406030204" pitchFamily="18" charset="0"/>
                            </a:rPr>
                            <m:t>𝑡𝑠</m:t>
                          </m:r>
                        </m:sub>
                      </m:sSub>
                      <m:r>
                        <a:rPr lang="ur-PK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ur-PK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ur-PK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ur-P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it-IT" sz="2400" i="1"/>
                                    <m:t>score</m:t>
                                  </m:r>
                                </m:e>
                                <m:sub>
                                  <m:r>
                                    <a:rPr lang="ur-PK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ur-PK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ur-PK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ur-PK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nor/>
                                    </m:rPr>
                                    <a:rPr lang="it-IT" sz="2400" i="1"/>
                                    <m:t>score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ur-PK" sz="2400" b="0" dirty="0"/>
              </a:p>
              <a:p>
                <a:r>
                  <a:rPr lang="it-IT" sz="2400" b="1" dirty="0"/>
                  <a:t>Compute </a:t>
                </a:r>
                <a:r>
                  <a:rPr lang="it-IT" sz="2400" b="1" dirty="0" err="1"/>
                  <a:t>exponentials</a:t>
                </a:r>
                <a:r>
                  <a:rPr lang="it-IT" sz="2400" b="1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ur-PK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ur-PK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ur-PK" sz="24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ur-PK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ur-PK" sz="2400">
                          <a:latin typeface="Cambria Math" panose="02040503050406030204" pitchFamily="18" charset="0"/>
                        </a:rPr>
                        <m:t>71</m:t>
                      </m:r>
                      <m:r>
                        <a:rPr lang="ur-PK" sz="240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ur-PK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ur-PK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ur-PK" sz="240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ur-PK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ur-PK" sz="2400">
                          <a:latin typeface="Cambria Math" panose="02040503050406030204" pitchFamily="18" charset="0"/>
                        </a:rPr>
                        <m:t>09</m:t>
                      </m:r>
                    </m:oMath>
                  </m:oMathPara>
                </a14:m>
                <a:endParaRPr lang="ur-PK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2400" b="0"/>
                        <m:t>Sum</m:t>
                      </m:r>
                      <m:r>
                        <a:rPr lang="it-IT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4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it-IT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it-IT" sz="2400">
                          <a:latin typeface="Cambria Math" panose="02040503050406030204" pitchFamily="18" charset="0"/>
                        </a:rPr>
                        <m:t>71</m:t>
                      </m:r>
                      <m:r>
                        <a:rPr lang="it-IT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240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it-IT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it-IT" sz="2400">
                          <a:latin typeface="Cambria Math" panose="02040503050406030204" pitchFamily="18" charset="0"/>
                        </a:rPr>
                        <m:t>09</m:t>
                      </m:r>
                      <m:r>
                        <a:rPr lang="it-IT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24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it-IT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it-IT" sz="2400">
                          <a:latin typeface="Cambria Math" panose="02040503050406030204" pitchFamily="18" charset="0"/>
                        </a:rPr>
                        <m:t>71</m:t>
                      </m:r>
                      <m:r>
                        <a:rPr lang="it-IT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400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it-IT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it-IT" sz="2400">
                          <a:latin typeface="Cambria Math" panose="02040503050406030204" pitchFamily="18" charset="0"/>
                        </a:rPr>
                        <m:t>51</m:t>
                      </m:r>
                    </m:oMath>
                  </m:oMathPara>
                </a14:m>
                <a:endParaRPr lang="it-IT" sz="2400" b="0" dirty="0"/>
              </a:p>
              <a:p>
                <a:r>
                  <a:rPr lang="it-IT" sz="2400" b="1" dirty="0" err="1"/>
                  <a:t>Attention</a:t>
                </a:r>
                <a:r>
                  <a:rPr lang="it-IT" sz="2400" b="1" dirty="0"/>
                  <a:t> weights: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r-PK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ur-PK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71</m:t>
                          </m:r>
                        </m:num>
                        <m:den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25</m:t>
                          </m:r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51</m:t>
                          </m:r>
                        </m:den>
                      </m:f>
                      <m:r>
                        <a:rPr lang="ur-PK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ur-PK" sz="24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ur-PK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ur-PK" sz="240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ur-PK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r-PK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ur-PK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09</m:t>
                          </m:r>
                        </m:num>
                        <m:den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25</m:t>
                          </m:r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51</m:t>
                          </m:r>
                        </m:den>
                      </m:f>
                      <m:r>
                        <a:rPr lang="ur-PK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ur-PK" sz="24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ur-PK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ur-PK" sz="2400">
                          <a:latin typeface="Cambria Math" panose="02040503050406030204" pitchFamily="18" charset="0"/>
                        </a:rPr>
                        <m:t>79</m:t>
                      </m:r>
                    </m:oMath>
                  </m:oMathPara>
                </a14:m>
                <a:endParaRPr lang="ur-PK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r-PK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ur-PK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71</m:t>
                          </m:r>
                        </m:num>
                        <m:den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25</m:t>
                          </m:r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51</m:t>
                          </m:r>
                        </m:den>
                      </m:f>
                      <m:r>
                        <a:rPr lang="ur-PK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ur-PK" sz="24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ur-PK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ur-PK" sz="240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ur-PK" sz="2400" dirty="0"/>
              </a:p>
            </p:txBody>
          </p:sp>
        </mc:Choice>
        <mc:Fallback xmlns="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DCBDD538-0605-3511-9798-D4BEAD409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96" y="917497"/>
                <a:ext cx="7397268" cy="4859279"/>
              </a:xfrm>
              <a:prstGeom prst="rect">
                <a:avLst/>
              </a:prstGeom>
              <a:blipFill>
                <a:blip r:embed="rId3"/>
                <a:stretch>
                  <a:fillRect l="-2473" t="-163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object 6">
            <a:extLst>
              <a:ext uri="{FF2B5EF4-FFF2-40B4-BE49-F238E27FC236}">
                <a16:creationId xmlns:a16="http://schemas.microsoft.com/office/drawing/2014/main" id="{6218F0B3-D305-D8C3-4B40-2852BAE7091A}"/>
              </a:ext>
            </a:extLst>
          </p:cNvPr>
          <p:cNvGrpSpPr/>
          <p:nvPr/>
        </p:nvGrpSpPr>
        <p:grpSpPr>
          <a:xfrm>
            <a:off x="7918704" y="3009900"/>
            <a:ext cx="1580515" cy="858519"/>
            <a:chOff x="7918704" y="3009900"/>
            <a:chExt cx="1580515" cy="858519"/>
          </a:xfrm>
        </p:grpSpPr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2BE50496-AB41-D3C0-A51D-241B6845480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64752" y="3358895"/>
              <a:ext cx="393192" cy="387095"/>
            </a:xfrm>
            <a:prstGeom prst="rect">
              <a:avLst/>
            </a:prstGeom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3DF53EB7-BDD4-5B50-E05A-EF1CD5AC3BF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23604" y="3302508"/>
              <a:ext cx="475488" cy="565403"/>
            </a:xfrm>
            <a:prstGeom prst="rect">
              <a:avLst/>
            </a:prstGeom>
          </p:spPr>
        </p:pic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3A956CF4-66CC-DD87-FB14-A2237936825A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11996" y="3383279"/>
              <a:ext cx="298703" cy="292608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82BFDFC1-1077-2E9A-DE51-D9EC6DDE7C1E}"/>
                </a:ext>
              </a:extLst>
            </p:cNvPr>
            <p:cNvSpPr/>
            <p:nvPr/>
          </p:nvSpPr>
          <p:spPr>
            <a:xfrm>
              <a:off x="9111996" y="3383279"/>
              <a:ext cx="299085" cy="292735"/>
            </a:xfrm>
            <a:custGeom>
              <a:avLst/>
              <a:gdLst/>
              <a:ahLst/>
              <a:cxnLst/>
              <a:rect l="l" t="t" r="r" b="b"/>
              <a:pathLst>
                <a:path w="299084" h="292735">
                  <a:moveTo>
                    <a:pt x="0" y="146304"/>
                  </a:moveTo>
                  <a:lnTo>
                    <a:pt x="7620" y="100071"/>
                  </a:lnTo>
                  <a:lnTo>
                    <a:pt x="28834" y="59911"/>
                  </a:lnTo>
                  <a:lnTo>
                    <a:pt x="61173" y="28236"/>
                  </a:lnTo>
                  <a:lnTo>
                    <a:pt x="102168" y="7461"/>
                  </a:lnTo>
                  <a:lnTo>
                    <a:pt x="149351" y="0"/>
                  </a:lnTo>
                  <a:lnTo>
                    <a:pt x="196535" y="7461"/>
                  </a:lnTo>
                  <a:lnTo>
                    <a:pt x="237530" y="28236"/>
                  </a:lnTo>
                  <a:lnTo>
                    <a:pt x="269869" y="59911"/>
                  </a:lnTo>
                  <a:lnTo>
                    <a:pt x="291083" y="100071"/>
                  </a:lnTo>
                  <a:lnTo>
                    <a:pt x="298703" y="146304"/>
                  </a:lnTo>
                  <a:lnTo>
                    <a:pt x="291083" y="192536"/>
                  </a:lnTo>
                  <a:lnTo>
                    <a:pt x="269869" y="232696"/>
                  </a:lnTo>
                  <a:lnTo>
                    <a:pt x="237530" y="264371"/>
                  </a:lnTo>
                  <a:lnTo>
                    <a:pt x="196535" y="285146"/>
                  </a:lnTo>
                  <a:lnTo>
                    <a:pt x="149351" y="292608"/>
                  </a:lnTo>
                  <a:lnTo>
                    <a:pt x="102168" y="285146"/>
                  </a:lnTo>
                  <a:lnTo>
                    <a:pt x="61173" y="264371"/>
                  </a:lnTo>
                  <a:lnTo>
                    <a:pt x="28834" y="232696"/>
                  </a:lnTo>
                  <a:lnTo>
                    <a:pt x="7620" y="192536"/>
                  </a:lnTo>
                  <a:lnTo>
                    <a:pt x="0" y="14630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488723BA-20AA-1469-CBCD-BC6FEA21FDF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59852" y="3066288"/>
              <a:ext cx="393192" cy="387096"/>
            </a:xfrm>
            <a:prstGeom prst="rect">
              <a:avLst/>
            </a:prstGeom>
          </p:spPr>
        </p:pic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F5F993BF-7F7A-C6B2-862D-AD20A3F7EAE9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18704" y="3009900"/>
              <a:ext cx="475488" cy="565403"/>
            </a:xfrm>
            <a:prstGeom prst="rect">
              <a:avLst/>
            </a:prstGeom>
          </p:spPr>
        </p:pic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F1FA28FF-F2C7-15D1-004B-26045D79D997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07096" y="3090672"/>
              <a:ext cx="298703" cy="292607"/>
            </a:xfrm>
            <a:prstGeom prst="rect">
              <a:avLst/>
            </a:prstGeom>
          </p:spPr>
        </p:pic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05ED8232-0876-CB81-B15D-6F266C02932D}"/>
                </a:ext>
              </a:extLst>
            </p:cNvPr>
            <p:cNvSpPr/>
            <p:nvPr/>
          </p:nvSpPr>
          <p:spPr>
            <a:xfrm>
              <a:off x="8007096" y="3090672"/>
              <a:ext cx="299085" cy="292735"/>
            </a:xfrm>
            <a:custGeom>
              <a:avLst/>
              <a:gdLst/>
              <a:ahLst/>
              <a:cxnLst/>
              <a:rect l="l" t="t" r="r" b="b"/>
              <a:pathLst>
                <a:path w="299084" h="292735">
                  <a:moveTo>
                    <a:pt x="0" y="146303"/>
                  </a:moveTo>
                  <a:lnTo>
                    <a:pt x="7620" y="100071"/>
                  </a:lnTo>
                  <a:lnTo>
                    <a:pt x="28834" y="59911"/>
                  </a:lnTo>
                  <a:lnTo>
                    <a:pt x="61173" y="28236"/>
                  </a:lnTo>
                  <a:lnTo>
                    <a:pt x="102168" y="7461"/>
                  </a:lnTo>
                  <a:lnTo>
                    <a:pt x="149351" y="0"/>
                  </a:lnTo>
                  <a:lnTo>
                    <a:pt x="196535" y="7461"/>
                  </a:lnTo>
                  <a:lnTo>
                    <a:pt x="237530" y="28236"/>
                  </a:lnTo>
                  <a:lnTo>
                    <a:pt x="269869" y="59911"/>
                  </a:lnTo>
                  <a:lnTo>
                    <a:pt x="291083" y="100071"/>
                  </a:lnTo>
                  <a:lnTo>
                    <a:pt x="298703" y="146303"/>
                  </a:lnTo>
                  <a:lnTo>
                    <a:pt x="291083" y="192536"/>
                  </a:lnTo>
                  <a:lnTo>
                    <a:pt x="269869" y="232696"/>
                  </a:lnTo>
                  <a:lnTo>
                    <a:pt x="237530" y="264371"/>
                  </a:lnTo>
                  <a:lnTo>
                    <a:pt x="196535" y="285146"/>
                  </a:lnTo>
                  <a:lnTo>
                    <a:pt x="149351" y="292607"/>
                  </a:lnTo>
                  <a:lnTo>
                    <a:pt x="102168" y="285146"/>
                  </a:lnTo>
                  <a:lnTo>
                    <a:pt x="61173" y="264371"/>
                  </a:lnTo>
                  <a:lnTo>
                    <a:pt x="28834" y="232696"/>
                  </a:lnTo>
                  <a:lnTo>
                    <a:pt x="7620" y="192536"/>
                  </a:lnTo>
                  <a:lnTo>
                    <a:pt x="0" y="146303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>
            <a:extLst>
              <a:ext uri="{FF2B5EF4-FFF2-40B4-BE49-F238E27FC236}">
                <a16:creationId xmlns:a16="http://schemas.microsoft.com/office/drawing/2014/main" id="{3968D155-E832-5430-3DA9-4BCE01F370C8}"/>
              </a:ext>
            </a:extLst>
          </p:cNvPr>
          <p:cNvGrpSpPr/>
          <p:nvPr/>
        </p:nvGrpSpPr>
        <p:grpSpPr>
          <a:xfrm>
            <a:off x="8724900" y="2401823"/>
            <a:ext cx="475615" cy="565785"/>
            <a:chOff x="8724900" y="2401823"/>
            <a:chExt cx="475615" cy="565785"/>
          </a:xfrm>
        </p:grpSpPr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065E458B-2150-55D8-90A2-AC08C383AD1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66048" y="2458211"/>
              <a:ext cx="393192" cy="387096"/>
            </a:xfrm>
            <a:prstGeom prst="rect">
              <a:avLst/>
            </a:prstGeom>
          </p:spPr>
        </p:pic>
        <p:pic>
          <p:nvPicPr>
            <p:cNvPr id="18" name="object 18">
              <a:extLst>
                <a:ext uri="{FF2B5EF4-FFF2-40B4-BE49-F238E27FC236}">
                  <a16:creationId xmlns:a16="http://schemas.microsoft.com/office/drawing/2014/main" id="{20AA8216-B347-A3B8-0454-A760BB803CE7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24900" y="2401823"/>
              <a:ext cx="475488" cy="565403"/>
            </a:xfrm>
            <a:prstGeom prst="rect">
              <a:avLst/>
            </a:prstGeom>
          </p:spPr>
        </p:pic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20A13E22-AD36-B1F0-B524-085B95BE5656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13292" y="2482595"/>
              <a:ext cx="298703" cy="292607"/>
            </a:xfrm>
            <a:prstGeom prst="rect">
              <a:avLst/>
            </a:prstGeom>
          </p:spPr>
        </p:pic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A124D4AC-A315-06DB-101A-90BB578B00CD}"/>
                </a:ext>
              </a:extLst>
            </p:cNvPr>
            <p:cNvSpPr/>
            <p:nvPr/>
          </p:nvSpPr>
          <p:spPr>
            <a:xfrm>
              <a:off x="8813292" y="2482595"/>
              <a:ext cx="299085" cy="292735"/>
            </a:xfrm>
            <a:custGeom>
              <a:avLst/>
              <a:gdLst/>
              <a:ahLst/>
              <a:cxnLst/>
              <a:rect l="l" t="t" r="r" b="b"/>
              <a:pathLst>
                <a:path w="299084" h="292735">
                  <a:moveTo>
                    <a:pt x="0" y="146303"/>
                  </a:moveTo>
                  <a:lnTo>
                    <a:pt x="7620" y="100071"/>
                  </a:lnTo>
                  <a:lnTo>
                    <a:pt x="28834" y="59911"/>
                  </a:lnTo>
                  <a:lnTo>
                    <a:pt x="61173" y="28236"/>
                  </a:lnTo>
                  <a:lnTo>
                    <a:pt x="102168" y="7461"/>
                  </a:lnTo>
                  <a:lnTo>
                    <a:pt x="149351" y="0"/>
                  </a:lnTo>
                  <a:lnTo>
                    <a:pt x="196535" y="7461"/>
                  </a:lnTo>
                  <a:lnTo>
                    <a:pt x="237530" y="28236"/>
                  </a:lnTo>
                  <a:lnTo>
                    <a:pt x="269869" y="59911"/>
                  </a:lnTo>
                  <a:lnTo>
                    <a:pt x="291083" y="100071"/>
                  </a:lnTo>
                  <a:lnTo>
                    <a:pt x="298703" y="146303"/>
                  </a:lnTo>
                  <a:lnTo>
                    <a:pt x="291083" y="192536"/>
                  </a:lnTo>
                  <a:lnTo>
                    <a:pt x="269869" y="232696"/>
                  </a:lnTo>
                  <a:lnTo>
                    <a:pt x="237530" y="264371"/>
                  </a:lnTo>
                  <a:lnTo>
                    <a:pt x="196535" y="285146"/>
                  </a:lnTo>
                  <a:lnTo>
                    <a:pt x="149351" y="292607"/>
                  </a:lnTo>
                  <a:lnTo>
                    <a:pt x="102168" y="285146"/>
                  </a:lnTo>
                  <a:lnTo>
                    <a:pt x="61173" y="264371"/>
                  </a:lnTo>
                  <a:lnTo>
                    <a:pt x="28834" y="232696"/>
                  </a:lnTo>
                  <a:lnTo>
                    <a:pt x="7620" y="192536"/>
                  </a:lnTo>
                  <a:lnTo>
                    <a:pt x="0" y="146303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>
            <a:extLst>
              <a:ext uri="{FF2B5EF4-FFF2-40B4-BE49-F238E27FC236}">
                <a16:creationId xmlns:a16="http://schemas.microsoft.com/office/drawing/2014/main" id="{77E0B93E-4188-F4FF-883B-E03F3C5CB2BD}"/>
              </a:ext>
            </a:extLst>
          </p:cNvPr>
          <p:cNvSpPr txBox="1"/>
          <p:nvPr/>
        </p:nvSpPr>
        <p:spPr>
          <a:xfrm>
            <a:off x="8893302" y="246405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2" name="object 22">
            <a:extLst>
              <a:ext uri="{FF2B5EF4-FFF2-40B4-BE49-F238E27FC236}">
                <a16:creationId xmlns:a16="http://schemas.microsoft.com/office/drawing/2014/main" id="{112EC0F7-A0D4-0446-30C9-68D799FCF84A}"/>
              </a:ext>
            </a:extLst>
          </p:cNvPr>
          <p:cNvGrpSpPr/>
          <p:nvPr/>
        </p:nvGrpSpPr>
        <p:grpSpPr>
          <a:xfrm>
            <a:off x="9593580" y="2717292"/>
            <a:ext cx="475615" cy="565785"/>
            <a:chOff x="9593580" y="2717292"/>
            <a:chExt cx="475615" cy="565785"/>
          </a:xfrm>
        </p:grpSpPr>
        <p:pic>
          <p:nvPicPr>
            <p:cNvPr id="23" name="object 23">
              <a:extLst>
                <a:ext uri="{FF2B5EF4-FFF2-40B4-BE49-F238E27FC236}">
                  <a16:creationId xmlns:a16="http://schemas.microsoft.com/office/drawing/2014/main" id="{0062EEA5-22F3-17E7-C925-4E103147A269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634728" y="2775204"/>
              <a:ext cx="393192" cy="385572"/>
            </a:xfrm>
            <a:prstGeom prst="rect">
              <a:avLst/>
            </a:prstGeom>
          </p:spPr>
        </p:pic>
        <p:pic>
          <p:nvPicPr>
            <p:cNvPr id="24" name="object 24">
              <a:extLst>
                <a:ext uri="{FF2B5EF4-FFF2-40B4-BE49-F238E27FC236}">
                  <a16:creationId xmlns:a16="http://schemas.microsoft.com/office/drawing/2014/main" id="{FBA1763F-0060-ECC4-E322-682434D71D7E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593580" y="2717292"/>
              <a:ext cx="475487" cy="565403"/>
            </a:xfrm>
            <a:prstGeom prst="rect">
              <a:avLst/>
            </a:prstGeom>
          </p:spPr>
        </p:pic>
        <p:pic>
          <p:nvPicPr>
            <p:cNvPr id="25" name="object 25">
              <a:extLst>
                <a:ext uri="{FF2B5EF4-FFF2-40B4-BE49-F238E27FC236}">
                  <a16:creationId xmlns:a16="http://schemas.microsoft.com/office/drawing/2014/main" id="{DC3BE97A-6D29-C59E-1039-381702BD04D2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681972" y="2799588"/>
              <a:ext cx="298703" cy="291084"/>
            </a:xfrm>
            <a:prstGeom prst="rect">
              <a:avLst/>
            </a:prstGeom>
          </p:spPr>
        </p:pic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0939679D-D2CE-5C47-E3AF-31583A7FB424}"/>
                </a:ext>
              </a:extLst>
            </p:cNvPr>
            <p:cNvSpPr/>
            <p:nvPr/>
          </p:nvSpPr>
          <p:spPr>
            <a:xfrm>
              <a:off x="9681972" y="2799588"/>
              <a:ext cx="299085" cy="291465"/>
            </a:xfrm>
            <a:custGeom>
              <a:avLst/>
              <a:gdLst/>
              <a:ahLst/>
              <a:cxnLst/>
              <a:rect l="l" t="t" r="r" b="b"/>
              <a:pathLst>
                <a:path w="299084" h="291464">
                  <a:moveTo>
                    <a:pt x="0" y="145541"/>
                  </a:moveTo>
                  <a:lnTo>
                    <a:pt x="7620" y="99535"/>
                  </a:lnTo>
                  <a:lnTo>
                    <a:pt x="28834" y="59582"/>
                  </a:lnTo>
                  <a:lnTo>
                    <a:pt x="61173" y="28078"/>
                  </a:lnTo>
                  <a:lnTo>
                    <a:pt x="102168" y="7418"/>
                  </a:lnTo>
                  <a:lnTo>
                    <a:pt x="149351" y="0"/>
                  </a:lnTo>
                  <a:lnTo>
                    <a:pt x="196535" y="7418"/>
                  </a:lnTo>
                  <a:lnTo>
                    <a:pt x="237530" y="28078"/>
                  </a:lnTo>
                  <a:lnTo>
                    <a:pt x="269869" y="59582"/>
                  </a:lnTo>
                  <a:lnTo>
                    <a:pt x="291083" y="99535"/>
                  </a:lnTo>
                  <a:lnTo>
                    <a:pt x="298703" y="145541"/>
                  </a:lnTo>
                  <a:lnTo>
                    <a:pt x="291083" y="191548"/>
                  </a:lnTo>
                  <a:lnTo>
                    <a:pt x="269869" y="231501"/>
                  </a:lnTo>
                  <a:lnTo>
                    <a:pt x="237530" y="263005"/>
                  </a:lnTo>
                  <a:lnTo>
                    <a:pt x="196535" y="283665"/>
                  </a:lnTo>
                  <a:lnTo>
                    <a:pt x="149351" y="291084"/>
                  </a:lnTo>
                  <a:lnTo>
                    <a:pt x="102168" y="283665"/>
                  </a:lnTo>
                  <a:lnTo>
                    <a:pt x="61173" y="263005"/>
                  </a:lnTo>
                  <a:lnTo>
                    <a:pt x="28834" y="231501"/>
                  </a:lnTo>
                  <a:lnTo>
                    <a:pt x="7620" y="191548"/>
                  </a:lnTo>
                  <a:lnTo>
                    <a:pt x="0" y="145541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>
            <a:extLst>
              <a:ext uri="{FF2B5EF4-FFF2-40B4-BE49-F238E27FC236}">
                <a16:creationId xmlns:a16="http://schemas.microsoft.com/office/drawing/2014/main" id="{E1D5688B-B8B7-1A9F-8361-9500D1D33C8E}"/>
              </a:ext>
            </a:extLst>
          </p:cNvPr>
          <p:cNvSpPr txBox="1"/>
          <p:nvPr/>
        </p:nvSpPr>
        <p:spPr>
          <a:xfrm>
            <a:off x="9762490" y="2780538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75F573E6-F5F5-4018-6175-541727594C9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3511659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6EB09-CA6C-020C-1FF9-FCE13F5D6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4E995029-BB78-5358-69A9-1CB0C9C2CC6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8831" y="2007107"/>
            <a:ext cx="4483818" cy="3336036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3A245288-F6BE-1503-93DA-C6D92009F5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3396" y="164718"/>
            <a:ext cx="9130183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Attention</a:t>
            </a:r>
            <a:r>
              <a:rPr spc="-50" dirty="0"/>
              <a:t> </a:t>
            </a:r>
            <a:r>
              <a:rPr dirty="0"/>
              <a:t>Mechanism</a:t>
            </a:r>
            <a:r>
              <a:rPr spc="-5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dirty="0"/>
              <a:t>Seq2Seq</a:t>
            </a:r>
            <a:r>
              <a:rPr spc="-70" dirty="0"/>
              <a:t> </a:t>
            </a:r>
            <a:r>
              <a:rPr spc="-10" dirty="0"/>
              <a:t>Models</a:t>
            </a:r>
            <a:r>
              <a:rPr lang="en-US" spc="-10" dirty="0"/>
              <a:t> : Example</a:t>
            </a:r>
            <a:endParaRPr spc="-1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DCE570B7-2FF1-4088-4EAF-64E403F83B4B}"/>
                  </a:ext>
                </a:extLst>
              </p:cNvPr>
              <p:cNvSpPr txBox="1"/>
              <p:nvPr/>
            </p:nvSpPr>
            <p:spPr>
              <a:xfrm>
                <a:off x="463396" y="917497"/>
                <a:ext cx="7397268" cy="4645567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r>
                  <a:rPr lang="it-IT" sz="2400" b="1" dirty="0">
                    <a:solidFill>
                      <a:srgbClr val="0070C0"/>
                    </a:solidFill>
                  </a:rPr>
                  <a:t>Step 3: Compute </a:t>
                </a:r>
                <a:r>
                  <a:rPr lang="it-IT" sz="2400" b="1" dirty="0" err="1">
                    <a:solidFill>
                      <a:srgbClr val="0070C0"/>
                    </a:solidFill>
                  </a:rPr>
                  <a:t>Context</a:t>
                </a:r>
                <a:r>
                  <a:rPr lang="it-IT" sz="2400" b="1" dirty="0">
                    <a:solidFill>
                      <a:srgbClr val="0070C0"/>
                    </a:solidFill>
                  </a:rPr>
                  <a:t> </a:t>
                </a:r>
                <a:r>
                  <a:rPr lang="it-IT" sz="2400" b="1" dirty="0" err="1">
                    <a:solidFill>
                      <a:srgbClr val="0070C0"/>
                    </a:solidFill>
                  </a:rPr>
                  <a:t>Vector</a:t>
                </a:r>
                <a:endParaRPr lang="it-IT" sz="2400" b="1" dirty="0">
                  <a:solidFill>
                    <a:srgbClr val="0070C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r-PK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ur-PK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ur-PK" sz="24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ur-PK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ur-P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r-PK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ur-PK" sz="2400" i="1">
                                  <a:latin typeface="Cambria Math" panose="02040503050406030204" pitchFamily="18" charset="0"/>
                                </a:rPr>
                                <m:t>𝑡𝑠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r-PK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ur-PK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ur-PK" sz="2400" dirty="0"/>
              </a:p>
              <a:p>
                <a:r>
                  <a:rPr lang="it-IT" sz="2400" b="1" dirty="0" err="1"/>
                  <a:t>Weighted</a:t>
                </a:r>
                <a:r>
                  <a:rPr lang="it-IT" sz="2400" b="1" dirty="0"/>
                  <a:t> </a:t>
                </a:r>
                <a:r>
                  <a:rPr lang="it-IT" sz="2400" b="1" dirty="0" err="1"/>
                  <a:t>hidden</a:t>
                </a:r>
                <a:r>
                  <a:rPr lang="it-IT" sz="2400" b="1" dirty="0"/>
                  <a:t> </a:t>
                </a:r>
                <a:r>
                  <a:rPr lang="it-IT" sz="2400" b="1" dirty="0" err="1"/>
                  <a:t>states</a:t>
                </a:r>
                <a:r>
                  <a:rPr lang="it-IT" sz="2400" b="1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it-IT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it-IT" sz="2400">
                          <a:latin typeface="Cambria Math" panose="02040503050406030204" pitchFamily="18" charset="0"/>
                        </a:rPr>
                        <m:t>11</m:t>
                      </m:r>
                      <m:r>
                        <a:rPr lang="it-IT" sz="240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r-PK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ur-PK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ur-PK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mr>
                            <m:mr>
                              <m:e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ur-PK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ur-PK" sz="24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ur-PK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ur-PK" sz="2400">
                          <a:latin typeface="Cambria Math" panose="02040503050406030204" pitchFamily="18" charset="0"/>
                        </a:rPr>
                        <m:t>79</m:t>
                      </m:r>
                      <m:r>
                        <a:rPr lang="ur-PK" sz="240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r-PK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ur-PK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ur-PK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58</m:t>
                                </m:r>
                              </m:e>
                            </m:mr>
                            <m:mr>
                              <m:e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79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ur-PK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ur-PK" sz="24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ur-PK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ur-PK" sz="2400">
                          <a:latin typeface="Cambria Math" panose="02040503050406030204" pitchFamily="18" charset="0"/>
                        </a:rPr>
                        <m:t>11</m:t>
                      </m:r>
                      <m:r>
                        <a:rPr lang="ur-PK" sz="240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r-PK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ur-PK" sz="240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ur-PK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ur-PK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ur-PK" sz="2400" dirty="0"/>
              </a:p>
              <a:p>
                <a:r>
                  <a:rPr lang="it-IT" sz="2400" b="1" dirty="0"/>
                  <a:t>Sum: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r-PK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ur-PK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ur-PK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ur-PK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69</m:t>
                                </m:r>
                              </m:e>
                            </m:mr>
                            <m:mr>
                              <m:e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90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ur-PK" sz="2400" dirty="0"/>
              </a:p>
            </p:txBody>
          </p:sp>
        </mc:Choice>
        <mc:Fallback xmlns="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DCE570B7-2FF1-4088-4EAF-64E403F83B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96" y="917497"/>
                <a:ext cx="7397268" cy="4645567"/>
              </a:xfrm>
              <a:prstGeom prst="rect">
                <a:avLst/>
              </a:prstGeom>
              <a:blipFill>
                <a:blip r:embed="rId3"/>
                <a:stretch>
                  <a:fillRect l="-2473" t="-170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object 6">
            <a:extLst>
              <a:ext uri="{FF2B5EF4-FFF2-40B4-BE49-F238E27FC236}">
                <a16:creationId xmlns:a16="http://schemas.microsoft.com/office/drawing/2014/main" id="{014B87C2-15FF-C021-3068-D2C4E8260381}"/>
              </a:ext>
            </a:extLst>
          </p:cNvPr>
          <p:cNvGrpSpPr/>
          <p:nvPr/>
        </p:nvGrpSpPr>
        <p:grpSpPr>
          <a:xfrm>
            <a:off x="7918704" y="3009900"/>
            <a:ext cx="1580515" cy="858519"/>
            <a:chOff x="7918704" y="3009900"/>
            <a:chExt cx="1580515" cy="858519"/>
          </a:xfrm>
        </p:grpSpPr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0C9CA125-DB2B-B62A-00CF-56C0639B7C0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64752" y="3358895"/>
              <a:ext cx="393192" cy="387095"/>
            </a:xfrm>
            <a:prstGeom prst="rect">
              <a:avLst/>
            </a:prstGeom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FFC3C716-669D-BC7A-172A-5D0C24D0752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23604" y="3302508"/>
              <a:ext cx="475488" cy="565403"/>
            </a:xfrm>
            <a:prstGeom prst="rect">
              <a:avLst/>
            </a:prstGeom>
          </p:spPr>
        </p:pic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3D820A0C-4D4A-639C-72C7-67C9AA23B984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11996" y="3383279"/>
              <a:ext cx="298703" cy="292608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3A16D4B0-FAF0-232C-A5C9-B95C7582B753}"/>
                </a:ext>
              </a:extLst>
            </p:cNvPr>
            <p:cNvSpPr/>
            <p:nvPr/>
          </p:nvSpPr>
          <p:spPr>
            <a:xfrm>
              <a:off x="9111996" y="3383279"/>
              <a:ext cx="299085" cy="292735"/>
            </a:xfrm>
            <a:custGeom>
              <a:avLst/>
              <a:gdLst/>
              <a:ahLst/>
              <a:cxnLst/>
              <a:rect l="l" t="t" r="r" b="b"/>
              <a:pathLst>
                <a:path w="299084" h="292735">
                  <a:moveTo>
                    <a:pt x="0" y="146304"/>
                  </a:moveTo>
                  <a:lnTo>
                    <a:pt x="7620" y="100071"/>
                  </a:lnTo>
                  <a:lnTo>
                    <a:pt x="28834" y="59911"/>
                  </a:lnTo>
                  <a:lnTo>
                    <a:pt x="61173" y="28236"/>
                  </a:lnTo>
                  <a:lnTo>
                    <a:pt x="102168" y="7461"/>
                  </a:lnTo>
                  <a:lnTo>
                    <a:pt x="149351" y="0"/>
                  </a:lnTo>
                  <a:lnTo>
                    <a:pt x="196535" y="7461"/>
                  </a:lnTo>
                  <a:lnTo>
                    <a:pt x="237530" y="28236"/>
                  </a:lnTo>
                  <a:lnTo>
                    <a:pt x="269869" y="59911"/>
                  </a:lnTo>
                  <a:lnTo>
                    <a:pt x="291083" y="100071"/>
                  </a:lnTo>
                  <a:lnTo>
                    <a:pt x="298703" y="146304"/>
                  </a:lnTo>
                  <a:lnTo>
                    <a:pt x="291083" y="192536"/>
                  </a:lnTo>
                  <a:lnTo>
                    <a:pt x="269869" y="232696"/>
                  </a:lnTo>
                  <a:lnTo>
                    <a:pt x="237530" y="264371"/>
                  </a:lnTo>
                  <a:lnTo>
                    <a:pt x="196535" y="285146"/>
                  </a:lnTo>
                  <a:lnTo>
                    <a:pt x="149351" y="292608"/>
                  </a:lnTo>
                  <a:lnTo>
                    <a:pt x="102168" y="285146"/>
                  </a:lnTo>
                  <a:lnTo>
                    <a:pt x="61173" y="264371"/>
                  </a:lnTo>
                  <a:lnTo>
                    <a:pt x="28834" y="232696"/>
                  </a:lnTo>
                  <a:lnTo>
                    <a:pt x="7620" y="192536"/>
                  </a:lnTo>
                  <a:lnTo>
                    <a:pt x="0" y="14630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16DB5F5F-066C-87FF-7FA2-C01860FFC57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59852" y="3066288"/>
              <a:ext cx="393192" cy="387096"/>
            </a:xfrm>
            <a:prstGeom prst="rect">
              <a:avLst/>
            </a:prstGeom>
          </p:spPr>
        </p:pic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58046611-6E2A-1E1D-122F-A868260E44A7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18704" y="3009900"/>
              <a:ext cx="475488" cy="565403"/>
            </a:xfrm>
            <a:prstGeom prst="rect">
              <a:avLst/>
            </a:prstGeom>
          </p:spPr>
        </p:pic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16AEC97A-FD2C-8103-39B0-FE90A90F7835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07096" y="3090672"/>
              <a:ext cx="298703" cy="292607"/>
            </a:xfrm>
            <a:prstGeom prst="rect">
              <a:avLst/>
            </a:prstGeom>
          </p:spPr>
        </p:pic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08B2F5EC-C72F-C094-2038-06A852B2B8CA}"/>
                </a:ext>
              </a:extLst>
            </p:cNvPr>
            <p:cNvSpPr/>
            <p:nvPr/>
          </p:nvSpPr>
          <p:spPr>
            <a:xfrm>
              <a:off x="8007096" y="3090672"/>
              <a:ext cx="299085" cy="292735"/>
            </a:xfrm>
            <a:custGeom>
              <a:avLst/>
              <a:gdLst/>
              <a:ahLst/>
              <a:cxnLst/>
              <a:rect l="l" t="t" r="r" b="b"/>
              <a:pathLst>
                <a:path w="299084" h="292735">
                  <a:moveTo>
                    <a:pt x="0" y="146303"/>
                  </a:moveTo>
                  <a:lnTo>
                    <a:pt x="7620" y="100071"/>
                  </a:lnTo>
                  <a:lnTo>
                    <a:pt x="28834" y="59911"/>
                  </a:lnTo>
                  <a:lnTo>
                    <a:pt x="61173" y="28236"/>
                  </a:lnTo>
                  <a:lnTo>
                    <a:pt x="102168" y="7461"/>
                  </a:lnTo>
                  <a:lnTo>
                    <a:pt x="149351" y="0"/>
                  </a:lnTo>
                  <a:lnTo>
                    <a:pt x="196535" y="7461"/>
                  </a:lnTo>
                  <a:lnTo>
                    <a:pt x="237530" y="28236"/>
                  </a:lnTo>
                  <a:lnTo>
                    <a:pt x="269869" y="59911"/>
                  </a:lnTo>
                  <a:lnTo>
                    <a:pt x="291083" y="100071"/>
                  </a:lnTo>
                  <a:lnTo>
                    <a:pt x="298703" y="146303"/>
                  </a:lnTo>
                  <a:lnTo>
                    <a:pt x="291083" y="192536"/>
                  </a:lnTo>
                  <a:lnTo>
                    <a:pt x="269869" y="232696"/>
                  </a:lnTo>
                  <a:lnTo>
                    <a:pt x="237530" y="264371"/>
                  </a:lnTo>
                  <a:lnTo>
                    <a:pt x="196535" y="285146"/>
                  </a:lnTo>
                  <a:lnTo>
                    <a:pt x="149351" y="292607"/>
                  </a:lnTo>
                  <a:lnTo>
                    <a:pt x="102168" y="285146"/>
                  </a:lnTo>
                  <a:lnTo>
                    <a:pt x="61173" y="264371"/>
                  </a:lnTo>
                  <a:lnTo>
                    <a:pt x="28834" y="232696"/>
                  </a:lnTo>
                  <a:lnTo>
                    <a:pt x="7620" y="192536"/>
                  </a:lnTo>
                  <a:lnTo>
                    <a:pt x="0" y="146303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>
            <a:extLst>
              <a:ext uri="{FF2B5EF4-FFF2-40B4-BE49-F238E27FC236}">
                <a16:creationId xmlns:a16="http://schemas.microsoft.com/office/drawing/2014/main" id="{B9CE69DD-6A2E-8BB5-3E83-F5BE7D736CF7}"/>
              </a:ext>
            </a:extLst>
          </p:cNvPr>
          <p:cNvGrpSpPr/>
          <p:nvPr/>
        </p:nvGrpSpPr>
        <p:grpSpPr>
          <a:xfrm>
            <a:off x="8724900" y="2401823"/>
            <a:ext cx="475615" cy="565785"/>
            <a:chOff x="8724900" y="2401823"/>
            <a:chExt cx="475615" cy="565785"/>
          </a:xfrm>
        </p:grpSpPr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4247C163-6B16-8EC1-3A49-44964AA4476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66048" y="2458211"/>
              <a:ext cx="393192" cy="387096"/>
            </a:xfrm>
            <a:prstGeom prst="rect">
              <a:avLst/>
            </a:prstGeom>
          </p:spPr>
        </p:pic>
        <p:pic>
          <p:nvPicPr>
            <p:cNvPr id="18" name="object 18">
              <a:extLst>
                <a:ext uri="{FF2B5EF4-FFF2-40B4-BE49-F238E27FC236}">
                  <a16:creationId xmlns:a16="http://schemas.microsoft.com/office/drawing/2014/main" id="{8BB9FCA3-D231-2F4A-A5C3-B2A410301D04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24900" y="2401823"/>
              <a:ext cx="475488" cy="565403"/>
            </a:xfrm>
            <a:prstGeom prst="rect">
              <a:avLst/>
            </a:prstGeom>
          </p:spPr>
        </p:pic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8ADC00B2-0FA1-3A07-9606-3A0E11E4263E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13292" y="2482595"/>
              <a:ext cx="298703" cy="292607"/>
            </a:xfrm>
            <a:prstGeom prst="rect">
              <a:avLst/>
            </a:prstGeom>
          </p:spPr>
        </p:pic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0901CD09-5A31-B3F1-13AB-93FA1FBA55D6}"/>
                </a:ext>
              </a:extLst>
            </p:cNvPr>
            <p:cNvSpPr/>
            <p:nvPr/>
          </p:nvSpPr>
          <p:spPr>
            <a:xfrm>
              <a:off x="8813292" y="2482595"/>
              <a:ext cx="299085" cy="292735"/>
            </a:xfrm>
            <a:custGeom>
              <a:avLst/>
              <a:gdLst/>
              <a:ahLst/>
              <a:cxnLst/>
              <a:rect l="l" t="t" r="r" b="b"/>
              <a:pathLst>
                <a:path w="299084" h="292735">
                  <a:moveTo>
                    <a:pt x="0" y="146303"/>
                  </a:moveTo>
                  <a:lnTo>
                    <a:pt x="7620" y="100071"/>
                  </a:lnTo>
                  <a:lnTo>
                    <a:pt x="28834" y="59911"/>
                  </a:lnTo>
                  <a:lnTo>
                    <a:pt x="61173" y="28236"/>
                  </a:lnTo>
                  <a:lnTo>
                    <a:pt x="102168" y="7461"/>
                  </a:lnTo>
                  <a:lnTo>
                    <a:pt x="149351" y="0"/>
                  </a:lnTo>
                  <a:lnTo>
                    <a:pt x="196535" y="7461"/>
                  </a:lnTo>
                  <a:lnTo>
                    <a:pt x="237530" y="28236"/>
                  </a:lnTo>
                  <a:lnTo>
                    <a:pt x="269869" y="59911"/>
                  </a:lnTo>
                  <a:lnTo>
                    <a:pt x="291083" y="100071"/>
                  </a:lnTo>
                  <a:lnTo>
                    <a:pt x="298703" y="146303"/>
                  </a:lnTo>
                  <a:lnTo>
                    <a:pt x="291083" y="192536"/>
                  </a:lnTo>
                  <a:lnTo>
                    <a:pt x="269869" y="232696"/>
                  </a:lnTo>
                  <a:lnTo>
                    <a:pt x="237530" y="264371"/>
                  </a:lnTo>
                  <a:lnTo>
                    <a:pt x="196535" y="285146"/>
                  </a:lnTo>
                  <a:lnTo>
                    <a:pt x="149351" y="292607"/>
                  </a:lnTo>
                  <a:lnTo>
                    <a:pt x="102168" y="285146"/>
                  </a:lnTo>
                  <a:lnTo>
                    <a:pt x="61173" y="264371"/>
                  </a:lnTo>
                  <a:lnTo>
                    <a:pt x="28834" y="232696"/>
                  </a:lnTo>
                  <a:lnTo>
                    <a:pt x="7620" y="192536"/>
                  </a:lnTo>
                  <a:lnTo>
                    <a:pt x="0" y="146303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>
            <a:extLst>
              <a:ext uri="{FF2B5EF4-FFF2-40B4-BE49-F238E27FC236}">
                <a16:creationId xmlns:a16="http://schemas.microsoft.com/office/drawing/2014/main" id="{0CA001F7-8BCA-EEC3-18CE-DBFA426BD758}"/>
              </a:ext>
            </a:extLst>
          </p:cNvPr>
          <p:cNvSpPr txBox="1"/>
          <p:nvPr/>
        </p:nvSpPr>
        <p:spPr>
          <a:xfrm>
            <a:off x="8893302" y="246405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2" name="object 22">
            <a:extLst>
              <a:ext uri="{FF2B5EF4-FFF2-40B4-BE49-F238E27FC236}">
                <a16:creationId xmlns:a16="http://schemas.microsoft.com/office/drawing/2014/main" id="{933351EB-86E5-27BD-EA4B-424506EC9530}"/>
              </a:ext>
            </a:extLst>
          </p:cNvPr>
          <p:cNvGrpSpPr/>
          <p:nvPr/>
        </p:nvGrpSpPr>
        <p:grpSpPr>
          <a:xfrm>
            <a:off x="9593580" y="2717292"/>
            <a:ext cx="475615" cy="565785"/>
            <a:chOff x="9593580" y="2717292"/>
            <a:chExt cx="475615" cy="565785"/>
          </a:xfrm>
        </p:grpSpPr>
        <p:pic>
          <p:nvPicPr>
            <p:cNvPr id="23" name="object 23">
              <a:extLst>
                <a:ext uri="{FF2B5EF4-FFF2-40B4-BE49-F238E27FC236}">
                  <a16:creationId xmlns:a16="http://schemas.microsoft.com/office/drawing/2014/main" id="{A3CC6CE1-221D-8560-38F7-A229EC8A23B2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634728" y="2775204"/>
              <a:ext cx="393192" cy="385572"/>
            </a:xfrm>
            <a:prstGeom prst="rect">
              <a:avLst/>
            </a:prstGeom>
          </p:spPr>
        </p:pic>
        <p:pic>
          <p:nvPicPr>
            <p:cNvPr id="24" name="object 24">
              <a:extLst>
                <a:ext uri="{FF2B5EF4-FFF2-40B4-BE49-F238E27FC236}">
                  <a16:creationId xmlns:a16="http://schemas.microsoft.com/office/drawing/2014/main" id="{A8377D8A-3CFC-DCCE-67A5-6818D568BC0F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593580" y="2717292"/>
              <a:ext cx="475487" cy="565403"/>
            </a:xfrm>
            <a:prstGeom prst="rect">
              <a:avLst/>
            </a:prstGeom>
          </p:spPr>
        </p:pic>
        <p:pic>
          <p:nvPicPr>
            <p:cNvPr id="25" name="object 25">
              <a:extLst>
                <a:ext uri="{FF2B5EF4-FFF2-40B4-BE49-F238E27FC236}">
                  <a16:creationId xmlns:a16="http://schemas.microsoft.com/office/drawing/2014/main" id="{5DF2DD96-6A98-45FB-0D80-2E44017ABE81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681972" y="2799588"/>
              <a:ext cx="298703" cy="291084"/>
            </a:xfrm>
            <a:prstGeom prst="rect">
              <a:avLst/>
            </a:prstGeom>
          </p:spPr>
        </p:pic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F1EB919A-AF1E-5011-1EF5-8840FBAE47C2}"/>
                </a:ext>
              </a:extLst>
            </p:cNvPr>
            <p:cNvSpPr/>
            <p:nvPr/>
          </p:nvSpPr>
          <p:spPr>
            <a:xfrm>
              <a:off x="9681972" y="2799588"/>
              <a:ext cx="299085" cy="291465"/>
            </a:xfrm>
            <a:custGeom>
              <a:avLst/>
              <a:gdLst/>
              <a:ahLst/>
              <a:cxnLst/>
              <a:rect l="l" t="t" r="r" b="b"/>
              <a:pathLst>
                <a:path w="299084" h="291464">
                  <a:moveTo>
                    <a:pt x="0" y="145541"/>
                  </a:moveTo>
                  <a:lnTo>
                    <a:pt x="7620" y="99535"/>
                  </a:lnTo>
                  <a:lnTo>
                    <a:pt x="28834" y="59582"/>
                  </a:lnTo>
                  <a:lnTo>
                    <a:pt x="61173" y="28078"/>
                  </a:lnTo>
                  <a:lnTo>
                    <a:pt x="102168" y="7418"/>
                  </a:lnTo>
                  <a:lnTo>
                    <a:pt x="149351" y="0"/>
                  </a:lnTo>
                  <a:lnTo>
                    <a:pt x="196535" y="7418"/>
                  </a:lnTo>
                  <a:lnTo>
                    <a:pt x="237530" y="28078"/>
                  </a:lnTo>
                  <a:lnTo>
                    <a:pt x="269869" y="59582"/>
                  </a:lnTo>
                  <a:lnTo>
                    <a:pt x="291083" y="99535"/>
                  </a:lnTo>
                  <a:lnTo>
                    <a:pt x="298703" y="145541"/>
                  </a:lnTo>
                  <a:lnTo>
                    <a:pt x="291083" y="191548"/>
                  </a:lnTo>
                  <a:lnTo>
                    <a:pt x="269869" y="231501"/>
                  </a:lnTo>
                  <a:lnTo>
                    <a:pt x="237530" y="263005"/>
                  </a:lnTo>
                  <a:lnTo>
                    <a:pt x="196535" y="283665"/>
                  </a:lnTo>
                  <a:lnTo>
                    <a:pt x="149351" y="291084"/>
                  </a:lnTo>
                  <a:lnTo>
                    <a:pt x="102168" y="283665"/>
                  </a:lnTo>
                  <a:lnTo>
                    <a:pt x="61173" y="263005"/>
                  </a:lnTo>
                  <a:lnTo>
                    <a:pt x="28834" y="231501"/>
                  </a:lnTo>
                  <a:lnTo>
                    <a:pt x="7620" y="191548"/>
                  </a:lnTo>
                  <a:lnTo>
                    <a:pt x="0" y="145541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>
            <a:extLst>
              <a:ext uri="{FF2B5EF4-FFF2-40B4-BE49-F238E27FC236}">
                <a16:creationId xmlns:a16="http://schemas.microsoft.com/office/drawing/2014/main" id="{718BEFA0-47EC-694F-E575-B3AE1C1F494F}"/>
              </a:ext>
            </a:extLst>
          </p:cNvPr>
          <p:cNvSpPr txBox="1"/>
          <p:nvPr/>
        </p:nvSpPr>
        <p:spPr>
          <a:xfrm>
            <a:off x="9762490" y="2780538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C80FAA07-5F10-03F8-BFA0-77F1A23C830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4578404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B898E-BD92-4C83-29BF-982A4394E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1C7F5F8F-872F-4C0B-77CC-8D06BC18D3B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8831" y="2007107"/>
            <a:ext cx="4483818" cy="3336036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034698EF-7E1F-294B-DB67-8CB6A5001E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3396" y="164718"/>
            <a:ext cx="9130183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Attention</a:t>
            </a:r>
            <a:r>
              <a:rPr spc="-50" dirty="0"/>
              <a:t> </a:t>
            </a:r>
            <a:r>
              <a:rPr dirty="0"/>
              <a:t>Mechanism</a:t>
            </a:r>
            <a:r>
              <a:rPr spc="-5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dirty="0"/>
              <a:t>Seq2Seq</a:t>
            </a:r>
            <a:r>
              <a:rPr spc="-70" dirty="0"/>
              <a:t> </a:t>
            </a:r>
            <a:r>
              <a:rPr spc="-10" dirty="0"/>
              <a:t>Models</a:t>
            </a:r>
            <a:r>
              <a:rPr lang="en-US" spc="-10" dirty="0"/>
              <a:t> : Example</a:t>
            </a:r>
            <a:endParaRPr spc="-1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D984938A-0465-C38C-DD0A-53562325F7A8}"/>
                  </a:ext>
                </a:extLst>
              </p:cNvPr>
              <p:cNvSpPr txBox="1"/>
              <p:nvPr/>
            </p:nvSpPr>
            <p:spPr>
              <a:xfrm>
                <a:off x="410818" y="1057525"/>
                <a:ext cx="7613804" cy="4525919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r>
                  <a:rPr lang="it-IT" sz="2400" b="1" dirty="0">
                    <a:solidFill>
                      <a:srgbClr val="0070C0"/>
                    </a:solidFill>
                  </a:rPr>
                  <a:t>Step 4: Combine </a:t>
                </a:r>
                <a:r>
                  <a:rPr lang="it-IT" sz="2400" b="1" dirty="0" err="1">
                    <a:solidFill>
                      <a:srgbClr val="0070C0"/>
                    </a:solidFill>
                  </a:rPr>
                  <a:t>Context</a:t>
                </a:r>
                <a:r>
                  <a:rPr lang="it-IT" sz="2400" b="1" dirty="0">
                    <a:solidFill>
                      <a:srgbClr val="0070C0"/>
                    </a:solidFill>
                  </a:rPr>
                  <a:t> </a:t>
                </a:r>
                <a:r>
                  <a:rPr lang="it-IT" sz="2400" b="1" dirty="0" err="1">
                    <a:solidFill>
                      <a:srgbClr val="0070C0"/>
                    </a:solidFill>
                  </a:rPr>
                  <a:t>Vector</a:t>
                </a:r>
                <a:r>
                  <a:rPr lang="it-IT" sz="2400" b="1" dirty="0">
                    <a:solidFill>
                      <a:srgbClr val="0070C0"/>
                    </a:solidFill>
                  </a:rPr>
                  <a:t> with Decoder State</a:t>
                </a:r>
              </a:p>
              <a:p>
                <a:r>
                  <a:rPr lang="it-IT" sz="2400" dirty="0"/>
                  <a:t>Concatenate: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sepChr m:val=";"/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ur-P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r-PK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ur-PK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ur-P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r-PK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ur-PK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ur-PK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ur-PK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69</m:t>
                                </m:r>
                              </m:e>
                            </m:mr>
                            <m:mr>
                              <m:e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90</m:t>
                                </m:r>
                              </m:e>
                            </m:mr>
                            <m:mr>
                              <m:e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ur-PK" sz="2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ur-PK" sz="2400" dirty="0"/>
              </a:p>
              <a:p>
                <a:r>
                  <a:rPr lang="it-IT" sz="2400" dirty="0" err="1"/>
                  <a:t>Apply</a:t>
                </a:r>
                <a:r>
                  <a:rPr lang="it-IT" sz="2400" dirty="0"/>
                  <a:t> linear </a:t>
                </a:r>
                <a:r>
                  <a:rPr lang="it-IT" sz="2400" dirty="0" err="1"/>
                  <a:t>layer</a:t>
                </a:r>
                <a:r>
                  <a:rPr lang="it-IT" sz="2400" dirty="0"/>
                  <a:t> + </a:t>
                </a:r>
                <a:r>
                  <a:rPr lang="it-IT" sz="2400" dirty="0" err="1"/>
                  <a:t>tanh</a:t>
                </a:r>
                <a:r>
                  <a:rPr lang="it-IT" sz="2400" dirty="0"/>
                  <a:t>:</a:t>
                </a:r>
              </a:p>
              <a:p>
                <a:r>
                  <a:rPr lang="it-IT" sz="2400" dirty="0" err="1"/>
                  <a:t>This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produces</a:t>
                </a:r>
                <a:r>
                  <a:rPr lang="it-IT" sz="2400" dirty="0"/>
                  <a:t> the </a:t>
                </a:r>
                <a:r>
                  <a:rPr lang="it-IT" sz="2400" b="1" dirty="0" err="1"/>
                  <a:t>final</a:t>
                </a:r>
                <a:r>
                  <a:rPr lang="it-IT" sz="2400" b="1" dirty="0"/>
                  <a:t> </a:t>
                </a:r>
                <a:r>
                  <a:rPr lang="it-IT" sz="2400" b="1" dirty="0" err="1"/>
                  <a:t>attention-aware</a:t>
                </a:r>
                <a:r>
                  <a:rPr lang="it-IT" sz="2400" b="1" dirty="0"/>
                  <a:t> </a:t>
                </a:r>
                <a:r>
                  <a:rPr lang="it-IT" sz="2400" b="1" dirty="0" err="1"/>
                  <a:t>vector</a:t>
                </a:r>
                <a:r>
                  <a:rPr lang="it-IT" sz="2400" dirty="0"/>
                  <a:t>.</a:t>
                </a:r>
              </a:p>
              <a:p>
                <a:endParaRPr lang="it-IT" sz="2400" dirty="0"/>
              </a:p>
              <a:p>
                <a:r>
                  <a:rPr lang="it-IT" sz="2400" b="1" dirty="0">
                    <a:solidFill>
                      <a:srgbClr val="0070C0"/>
                    </a:solidFill>
                  </a:rPr>
                  <a:t>Step 5: </a:t>
                </a:r>
                <a:r>
                  <a:rPr lang="it-IT" sz="2400" b="1" dirty="0" err="1">
                    <a:solidFill>
                      <a:srgbClr val="0070C0"/>
                    </a:solidFill>
                  </a:rPr>
                  <a:t>Predict</a:t>
                </a:r>
                <a:r>
                  <a:rPr lang="it-IT" sz="2400" b="1" dirty="0">
                    <a:solidFill>
                      <a:srgbClr val="0070C0"/>
                    </a:solidFill>
                  </a:rPr>
                  <a:t> Output Word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ur-P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r-PK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ur-PK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ur-PK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it-IT" sz="2400" i="1"/>
                        <m:t>softmax</m:t>
                      </m:r>
                      <m:d>
                        <m:dPr>
                          <m:ctrlPr>
                            <a:rPr lang="ur-PK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ur-P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r-PK" sz="24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ur-PK" sz="2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sSub>
                            <m:sSubPr>
                              <m:ctrlPr>
                                <a:rPr lang="ur-PK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ur-PK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ur-PK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acc>
                            </m:e>
                            <m:sub>
                              <m:r>
                                <a:rPr lang="ur-PK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ur-PK" sz="2400" b="0" dirty="0"/>
              </a:p>
              <a:p>
                <a:endParaRPr lang="it-IT" sz="2400" dirty="0"/>
              </a:p>
            </p:txBody>
          </p:sp>
        </mc:Choice>
        <mc:Fallback xmlns="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D984938A-0465-C38C-DD0A-53562325F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818" y="1057525"/>
                <a:ext cx="7613804" cy="4525919"/>
              </a:xfrm>
              <a:prstGeom prst="rect">
                <a:avLst/>
              </a:prstGeom>
              <a:blipFill>
                <a:blip r:embed="rId3"/>
                <a:stretch>
                  <a:fillRect l="-2402" t="-1615" r="-80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object 6">
            <a:extLst>
              <a:ext uri="{FF2B5EF4-FFF2-40B4-BE49-F238E27FC236}">
                <a16:creationId xmlns:a16="http://schemas.microsoft.com/office/drawing/2014/main" id="{3DC04575-D65C-190B-96B1-EC30DC727E2A}"/>
              </a:ext>
            </a:extLst>
          </p:cNvPr>
          <p:cNvGrpSpPr/>
          <p:nvPr/>
        </p:nvGrpSpPr>
        <p:grpSpPr>
          <a:xfrm>
            <a:off x="7918704" y="3009900"/>
            <a:ext cx="1580515" cy="858519"/>
            <a:chOff x="7918704" y="3009900"/>
            <a:chExt cx="1580515" cy="858519"/>
          </a:xfrm>
        </p:grpSpPr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3B74CE4C-9B6F-3A4B-9D37-94E6AFF4847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64752" y="3358895"/>
              <a:ext cx="393192" cy="387095"/>
            </a:xfrm>
            <a:prstGeom prst="rect">
              <a:avLst/>
            </a:prstGeom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C2CEF9F3-A525-2B2C-30C3-39CD8AA00D5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23604" y="3302508"/>
              <a:ext cx="475488" cy="565403"/>
            </a:xfrm>
            <a:prstGeom prst="rect">
              <a:avLst/>
            </a:prstGeom>
          </p:spPr>
        </p:pic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282F0D2C-6EF9-3DEF-3148-E9EFE35DBB3C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11996" y="3383279"/>
              <a:ext cx="298703" cy="292608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953E82CF-52AC-245E-1124-0470C7D102A5}"/>
                </a:ext>
              </a:extLst>
            </p:cNvPr>
            <p:cNvSpPr/>
            <p:nvPr/>
          </p:nvSpPr>
          <p:spPr>
            <a:xfrm>
              <a:off x="9111996" y="3383279"/>
              <a:ext cx="299085" cy="292735"/>
            </a:xfrm>
            <a:custGeom>
              <a:avLst/>
              <a:gdLst/>
              <a:ahLst/>
              <a:cxnLst/>
              <a:rect l="l" t="t" r="r" b="b"/>
              <a:pathLst>
                <a:path w="299084" h="292735">
                  <a:moveTo>
                    <a:pt x="0" y="146304"/>
                  </a:moveTo>
                  <a:lnTo>
                    <a:pt x="7620" y="100071"/>
                  </a:lnTo>
                  <a:lnTo>
                    <a:pt x="28834" y="59911"/>
                  </a:lnTo>
                  <a:lnTo>
                    <a:pt x="61173" y="28236"/>
                  </a:lnTo>
                  <a:lnTo>
                    <a:pt x="102168" y="7461"/>
                  </a:lnTo>
                  <a:lnTo>
                    <a:pt x="149351" y="0"/>
                  </a:lnTo>
                  <a:lnTo>
                    <a:pt x="196535" y="7461"/>
                  </a:lnTo>
                  <a:lnTo>
                    <a:pt x="237530" y="28236"/>
                  </a:lnTo>
                  <a:lnTo>
                    <a:pt x="269869" y="59911"/>
                  </a:lnTo>
                  <a:lnTo>
                    <a:pt x="291083" y="100071"/>
                  </a:lnTo>
                  <a:lnTo>
                    <a:pt x="298703" y="146304"/>
                  </a:lnTo>
                  <a:lnTo>
                    <a:pt x="291083" y="192536"/>
                  </a:lnTo>
                  <a:lnTo>
                    <a:pt x="269869" y="232696"/>
                  </a:lnTo>
                  <a:lnTo>
                    <a:pt x="237530" y="264371"/>
                  </a:lnTo>
                  <a:lnTo>
                    <a:pt x="196535" y="285146"/>
                  </a:lnTo>
                  <a:lnTo>
                    <a:pt x="149351" y="292608"/>
                  </a:lnTo>
                  <a:lnTo>
                    <a:pt x="102168" y="285146"/>
                  </a:lnTo>
                  <a:lnTo>
                    <a:pt x="61173" y="264371"/>
                  </a:lnTo>
                  <a:lnTo>
                    <a:pt x="28834" y="232696"/>
                  </a:lnTo>
                  <a:lnTo>
                    <a:pt x="7620" y="192536"/>
                  </a:lnTo>
                  <a:lnTo>
                    <a:pt x="0" y="14630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CA1C805B-D708-918C-8DD9-CCCF95CBD0A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59852" y="3066288"/>
              <a:ext cx="393192" cy="387096"/>
            </a:xfrm>
            <a:prstGeom prst="rect">
              <a:avLst/>
            </a:prstGeom>
          </p:spPr>
        </p:pic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DFC65732-6581-4E68-1238-F858FD130308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18704" y="3009900"/>
              <a:ext cx="475488" cy="565403"/>
            </a:xfrm>
            <a:prstGeom prst="rect">
              <a:avLst/>
            </a:prstGeom>
          </p:spPr>
        </p:pic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67E0228F-2A1D-E7A1-1E1A-763346FB4D1F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07096" y="3090672"/>
              <a:ext cx="298703" cy="292607"/>
            </a:xfrm>
            <a:prstGeom prst="rect">
              <a:avLst/>
            </a:prstGeom>
          </p:spPr>
        </p:pic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40324F2E-EC66-CAE4-607C-311C9659AC6B}"/>
                </a:ext>
              </a:extLst>
            </p:cNvPr>
            <p:cNvSpPr/>
            <p:nvPr/>
          </p:nvSpPr>
          <p:spPr>
            <a:xfrm>
              <a:off x="8007096" y="3090672"/>
              <a:ext cx="299085" cy="292735"/>
            </a:xfrm>
            <a:custGeom>
              <a:avLst/>
              <a:gdLst/>
              <a:ahLst/>
              <a:cxnLst/>
              <a:rect l="l" t="t" r="r" b="b"/>
              <a:pathLst>
                <a:path w="299084" h="292735">
                  <a:moveTo>
                    <a:pt x="0" y="146303"/>
                  </a:moveTo>
                  <a:lnTo>
                    <a:pt x="7620" y="100071"/>
                  </a:lnTo>
                  <a:lnTo>
                    <a:pt x="28834" y="59911"/>
                  </a:lnTo>
                  <a:lnTo>
                    <a:pt x="61173" y="28236"/>
                  </a:lnTo>
                  <a:lnTo>
                    <a:pt x="102168" y="7461"/>
                  </a:lnTo>
                  <a:lnTo>
                    <a:pt x="149351" y="0"/>
                  </a:lnTo>
                  <a:lnTo>
                    <a:pt x="196535" y="7461"/>
                  </a:lnTo>
                  <a:lnTo>
                    <a:pt x="237530" y="28236"/>
                  </a:lnTo>
                  <a:lnTo>
                    <a:pt x="269869" y="59911"/>
                  </a:lnTo>
                  <a:lnTo>
                    <a:pt x="291083" y="100071"/>
                  </a:lnTo>
                  <a:lnTo>
                    <a:pt x="298703" y="146303"/>
                  </a:lnTo>
                  <a:lnTo>
                    <a:pt x="291083" y="192536"/>
                  </a:lnTo>
                  <a:lnTo>
                    <a:pt x="269869" y="232696"/>
                  </a:lnTo>
                  <a:lnTo>
                    <a:pt x="237530" y="264371"/>
                  </a:lnTo>
                  <a:lnTo>
                    <a:pt x="196535" y="285146"/>
                  </a:lnTo>
                  <a:lnTo>
                    <a:pt x="149351" y="292607"/>
                  </a:lnTo>
                  <a:lnTo>
                    <a:pt x="102168" y="285146"/>
                  </a:lnTo>
                  <a:lnTo>
                    <a:pt x="61173" y="264371"/>
                  </a:lnTo>
                  <a:lnTo>
                    <a:pt x="28834" y="232696"/>
                  </a:lnTo>
                  <a:lnTo>
                    <a:pt x="7620" y="192536"/>
                  </a:lnTo>
                  <a:lnTo>
                    <a:pt x="0" y="146303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>
            <a:extLst>
              <a:ext uri="{FF2B5EF4-FFF2-40B4-BE49-F238E27FC236}">
                <a16:creationId xmlns:a16="http://schemas.microsoft.com/office/drawing/2014/main" id="{C40F2E91-90A2-CFD6-C14D-0316782D0A4D}"/>
              </a:ext>
            </a:extLst>
          </p:cNvPr>
          <p:cNvGrpSpPr/>
          <p:nvPr/>
        </p:nvGrpSpPr>
        <p:grpSpPr>
          <a:xfrm>
            <a:off x="8724900" y="2401823"/>
            <a:ext cx="475615" cy="565785"/>
            <a:chOff x="8724900" y="2401823"/>
            <a:chExt cx="475615" cy="565785"/>
          </a:xfrm>
        </p:grpSpPr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CE196D97-FFA1-D357-0ADC-2A5BB7B9553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66048" y="2458211"/>
              <a:ext cx="393192" cy="387096"/>
            </a:xfrm>
            <a:prstGeom prst="rect">
              <a:avLst/>
            </a:prstGeom>
          </p:spPr>
        </p:pic>
        <p:pic>
          <p:nvPicPr>
            <p:cNvPr id="18" name="object 18">
              <a:extLst>
                <a:ext uri="{FF2B5EF4-FFF2-40B4-BE49-F238E27FC236}">
                  <a16:creationId xmlns:a16="http://schemas.microsoft.com/office/drawing/2014/main" id="{FECED55D-FC3B-27B6-2B8B-54CCACA47410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24900" y="2401823"/>
              <a:ext cx="475488" cy="565403"/>
            </a:xfrm>
            <a:prstGeom prst="rect">
              <a:avLst/>
            </a:prstGeom>
          </p:spPr>
        </p:pic>
        <p:pic>
          <p:nvPicPr>
            <p:cNvPr id="19" name="object 19">
              <a:extLst>
                <a:ext uri="{FF2B5EF4-FFF2-40B4-BE49-F238E27FC236}">
                  <a16:creationId xmlns:a16="http://schemas.microsoft.com/office/drawing/2014/main" id="{DB79DC9F-EBF9-BDAF-AB51-146AB78B55C6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13292" y="2482595"/>
              <a:ext cx="298703" cy="292607"/>
            </a:xfrm>
            <a:prstGeom prst="rect">
              <a:avLst/>
            </a:prstGeom>
          </p:spPr>
        </p:pic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E3496F0A-24A9-1205-F695-481665152289}"/>
                </a:ext>
              </a:extLst>
            </p:cNvPr>
            <p:cNvSpPr/>
            <p:nvPr/>
          </p:nvSpPr>
          <p:spPr>
            <a:xfrm>
              <a:off x="8813292" y="2482595"/>
              <a:ext cx="299085" cy="292735"/>
            </a:xfrm>
            <a:custGeom>
              <a:avLst/>
              <a:gdLst/>
              <a:ahLst/>
              <a:cxnLst/>
              <a:rect l="l" t="t" r="r" b="b"/>
              <a:pathLst>
                <a:path w="299084" h="292735">
                  <a:moveTo>
                    <a:pt x="0" y="146303"/>
                  </a:moveTo>
                  <a:lnTo>
                    <a:pt x="7620" y="100071"/>
                  </a:lnTo>
                  <a:lnTo>
                    <a:pt x="28834" y="59911"/>
                  </a:lnTo>
                  <a:lnTo>
                    <a:pt x="61173" y="28236"/>
                  </a:lnTo>
                  <a:lnTo>
                    <a:pt x="102168" y="7461"/>
                  </a:lnTo>
                  <a:lnTo>
                    <a:pt x="149351" y="0"/>
                  </a:lnTo>
                  <a:lnTo>
                    <a:pt x="196535" y="7461"/>
                  </a:lnTo>
                  <a:lnTo>
                    <a:pt x="237530" y="28236"/>
                  </a:lnTo>
                  <a:lnTo>
                    <a:pt x="269869" y="59911"/>
                  </a:lnTo>
                  <a:lnTo>
                    <a:pt x="291083" y="100071"/>
                  </a:lnTo>
                  <a:lnTo>
                    <a:pt x="298703" y="146303"/>
                  </a:lnTo>
                  <a:lnTo>
                    <a:pt x="291083" y="192536"/>
                  </a:lnTo>
                  <a:lnTo>
                    <a:pt x="269869" y="232696"/>
                  </a:lnTo>
                  <a:lnTo>
                    <a:pt x="237530" y="264371"/>
                  </a:lnTo>
                  <a:lnTo>
                    <a:pt x="196535" y="285146"/>
                  </a:lnTo>
                  <a:lnTo>
                    <a:pt x="149351" y="292607"/>
                  </a:lnTo>
                  <a:lnTo>
                    <a:pt x="102168" y="285146"/>
                  </a:lnTo>
                  <a:lnTo>
                    <a:pt x="61173" y="264371"/>
                  </a:lnTo>
                  <a:lnTo>
                    <a:pt x="28834" y="232696"/>
                  </a:lnTo>
                  <a:lnTo>
                    <a:pt x="7620" y="192536"/>
                  </a:lnTo>
                  <a:lnTo>
                    <a:pt x="0" y="146303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>
            <a:extLst>
              <a:ext uri="{FF2B5EF4-FFF2-40B4-BE49-F238E27FC236}">
                <a16:creationId xmlns:a16="http://schemas.microsoft.com/office/drawing/2014/main" id="{C9BC2032-1D26-032C-90F1-131F91AEC483}"/>
              </a:ext>
            </a:extLst>
          </p:cNvPr>
          <p:cNvSpPr txBox="1"/>
          <p:nvPr/>
        </p:nvSpPr>
        <p:spPr>
          <a:xfrm>
            <a:off x="8893302" y="246405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2" name="object 22">
            <a:extLst>
              <a:ext uri="{FF2B5EF4-FFF2-40B4-BE49-F238E27FC236}">
                <a16:creationId xmlns:a16="http://schemas.microsoft.com/office/drawing/2014/main" id="{5E3AC6AC-914E-5B6A-2EAD-73B6484B0DD6}"/>
              </a:ext>
            </a:extLst>
          </p:cNvPr>
          <p:cNvGrpSpPr/>
          <p:nvPr/>
        </p:nvGrpSpPr>
        <p:grpSpPr>
          <a:xfrm>
            <a:off x="9593580" y="2717292"/>
            <a:ext cx="475615" cy="565785"/>
            <a:chOff x="9593580" y="2717292"/>
            <a:chExt cx="475615" cy="565785"/>
          </a:xfrm>
        </p:grpSpPr>
        <p:pic>
          <p:nvPicPr>
            <p:cNvPr id="23" name="object 23">
              <a:extLst>
                <a:ext uri="{FF2B5EF4-FFF2-40B4-BE49-F238E27FC236}">
                  <a16:creationId xmlns:a16="http://schemas.microsoft.com/office/drawing/2014/main" id="{0F4AAB2D-2156-7EF4-61DE-003A2DF15730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634728" y="2775204"/>
              <a:ext cx="393192" cy="385572"/>
            </a:xfrm>
            <a:prstGeom prst="rect">
              <a:avLst/>
            </a:prstGeom>
          </p:spPr>
        </p:pic>
        <p:pic>
          <p:nvPicPr>
            <p:cNvPr id="24" name="object 24">
              <a:extLst>
                <a:ext uri="{FF2B5EF4-FFF2-40B4-BE49-F238E27FC236}">
                  <a16:creationId xmlns:a16="http://schemas.microsoft.com/office/drawing/2014/main" id="{68181AE6-7150-ADD4-4956-8FBD59A90CEE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593580" y="2717292"/>
              <a:ext cx="475487" cy="565403"/>
            </a:xfrm>
            <a:prstGeom prst="rect">
              <a:avLst/>
            </a:prstGeom>
          </p:spPr>
        </p:pic>
        <p:pic>
          <p:nvPicPr>
            <p:cNvPr id="25" name="object 25">
              <a:extLst>
                <a:ext uri="{FF2B5EF4-FFF2-40B4-BE49-F238E27FC236}">
                  <a16:creationId xmlns:a16="http://schemas.microsoft.com/office/drawing/2014/main" id="{BECA5984-0198-5689-E451-E08FB8B66B8F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681972" y="2799588"/>
              <a:ext cx="298703" cy="291084"/>
            </a:xfrm>
            <a:prstGeom prst="rect">
              <a:avLst/>
            </a:prstGeom>
          </p:spPr>
        </p:pic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5AAEA9DF-8163-06E3-C826-83E89C5E13A7}"/>
                </a:ext>
              </a:extLst>
            </p:cNvPr>
            <p:cNvSpPr/>
            <p:nvPr/>
          </p:nvSpPr>
          <p:spPr>
            <a:xfrm>
              <a:off x="9681972" y="2799588"/>
              <a:ext cx="299085" cy="291465"/>
            </a:xfrm>
            <a:custGeom>
              <a:avLst/>
              <a:gdLst/>
              <a:ahLst/>
              <a:cxnLst/>
              <a:rect l="l" t="t" r="r" b="b"/>
              <a:pathLst>
                <a:path w="299084" h="291464">
                  <a:moveTo>
                    <a:pt x="0" y="145541"/>
                  </a:moveTo>
                  <a:lnTo>
                    <a:pt x="7620" y="99535"/>
                  </a:lnTo>
                  <a:lnTo>
                    <a:pt x="28834" y="59582"/>
                  </a:lnTo>
                  <a:lnTo>
                    <a:pt x="61173" y="28078"/>
                  </a:lnTo>
                  <a:lnTo>
                    <a:pt x="102168" y="7418"/>
                  </a:lnTo>
                  <a:lnTo>
                    <a:pt x="149351" y="0"/>
                  </a:lnTo>
                  <a:lnTo>
                    <a:pt x="196535" y="7418"/>
                  </a:lnTo>
                  <a:lnTo>
                    <a:pt x="237530" y="28078"/>
                  </a:lnTo>
                  <a:lnTo>
                    <a:pt x="269869" y="59582"/>
                  </a:lnTo>
                  <a:lnTo>
                    <a:pt x="291083" y="99535"/>
                  </a:lnTo>
                  <a:lnTo>
                    <a:pt x="298703" y="145541"/>
                  </a:lnTo>
                  <a:lnTo>
                    <a:pt x="291083" y="191548"/>
                  </a:lnTo>
                  <a:lnTo>
                    <a:pt x="269869" y="231501"/>
                  </a:lnTo>
                  <a:lnTo>
                    <a:pt x="237530" y="263005"/>
                  </a:lnTo>
                  <a:lnTo>
                    <a:pt x="196535" y="283665"/>
                  </a:lnTo>
                  <a:lnTo>
                    <a:pt x="149351" y="291084"/>
                  </a:lnTo>
                  <a:lnTo>
                    <a:pt x="102168" y="283665"/>
                  </a:lnTo>
                  <a:lnTo>
                    <a:pt x="61173" y="263005"/>
                  </a:lnTo>
                  <a:lnTo>
                    <a:pt x="28834" y="231501"/>
                  </a:lnTo>
                  <a:lnTo>
                    <a:pt x="7620" y="191548"/>
                  </a:lnTo>
                  <a:lnTo>
                    <a:pt x="0" y="145541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>
            <a:extLst>
              <a:ext uri="{FF2B5EF4-FFF2-40B4-BE49-F238E27FC236}">
                <a16:creationId xmlns:a16="http://schemas.microsoft.com/office/drawing/2014/main" id="{D1F82C9E-BC86-53AD-F307-9B8B9E9CCED8}"/>
              </a:ext>
            </a:extLst>
          </p:cNvPr>
          <p:cNvSpPr txBox="1"/>
          <p:nvPr/>
        </p:nvSpPr>
        <p:spPr>
          <a:xfrm>
            <a:off x="9762490" y="2780538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2D3DEC01-81E6-1BD2-DD9A-8E3950E284A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227607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96980" y="890179"/>
            <a:ext cx="4803775" cy="5256530"/>
            <a:chOff x="7296980" y="890179"/>
            <a:chExt cx="4803775" cy="52565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96980" y="890179"/>
              <a:ext cx="4686144" cy="486894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13319" y="1031747"/>
              <a:ext cx="4587239" cy="24231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556753" y="1094231"/>
              <a:ext cx="4423410" cy="78105"/>
            </a:xfrm>
            <a:custGeom>
              <a:avLst/>
              <a:gdLst/>
              <a:ahLst/>
              <a:cxnLst/>
              <a:rect l="l" t="t" r="r" b="b"/>
              <a:pathLst>
                <a:path w="4423409" h="78105">
                  <a:moveTo>
                    <a:pt x="4345686" y="0"/>
                  </a:moveTo>
                  <a:lnTo>
                    <a:pt x="4345686" y="77723"/>
                  </a:lnTo>
                  <a:lnTo>
                    <a:pt x="4397502" y="51815"/>
                  </a:lnTo>
                  <a:lnTo>
                    <a:pt x="4358640" y="51815"/>
                  </a:lnTo>
                  <a:lnTo>
                    <a:pt x="4358640" y="25907"/>
                  </a:lnTo>
                  <a:lnTo>
                    <a:pt x="4397502" y="25907"/>
                  </a:lnTo>
                  <a:lnTo>
                    <a:pt x="4345686" y="0"/>
                  </a:lnTo>
                  <a:close/>
                </a:path>
                <a:path w="4423409" h="78105">
                  <a:moveTo>
                    <a:pt x="4345686" y="25907"/>
                  </a:moveTo>
                  <a:lnTo>
                    <a:pt x="0" y="25907"/>
                  </a:lnTo>
                  <a:lnTo>
                    <a:pt x="0" y="51815"/>
                  </a:lnTo>
                  <a:lnTo>
                    <a:pt x="4345686" y="51815"/>
                  </a:lnTo>
                  <a:lnTo>
                    <a:pt x="4345686" y="25907"/>
                  </a:lnTo>
                  <a:close/>
                </a:path>
                <a:path w="4423409" h="78105">
                  <a:moveTo>
                    <a:pt x="4397502" y="25907"/>
                  </a:moveTo>
                  <a:lnTo>
                    <a:pt x="4358640" y="25907"/>
                  </a:lnTo>
                  <a:lnTo>
                    <a:pt x="4358640" y="51815"/>
                  </a:lnTo>
                  <a:lnTo>
                    <a:pt x="4397502" y="51815"/>
                  </a:lnTo>
                  <a:lnTo>
                    <a:pt x="4423410" y="38862"/>
                  </a:lnTo>
                  <a:lnTo>
                    <a:pt x="4397502" y="25907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35595" y="1104900"/>
              <a:ext cx="242315" cy="50413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517891" y="1126997"/>
              <a:ext cx="78105" cy="4878705"/>
            </a:xfrm>
            <a:custGeom>
              <a:avLst/>
              <a:gdLst/>
              <a:ahLst/>
              <a:cxnLst/>
              <a:rect l="l" t="t" r="r" b="b"/>
              <a:pathLst>
                <a:path w="78104" h="4878705">
                  <a:moveTo>
                    <a:pt x="25907" y="4800739"/>
                  </a:moveTo>
                  <a:lnTo>
                    <a:pt x="0" y="4800739"/>
                  </a:lnTo>
                  <a:lnTo>
                    <a:pt x="38861" y="4878463"/>
                  </a:lnTo>
                  <a:lnTo>
                    <a:pt x="71240" y="4813706"/>
                  </a:lnTo>
                  <a:lnTo>
                    <a:pt x="25907" y="4813706"/>
                  </a:lnTo>
                  <a:lnTo>
                    <a:pt x="25907" y="4800739"/>
                  </a:lnTo>
                  <a:close/>
                </a:path>
                <a:path w="78104" h="4878705">
                  <a:moveTo>
                    <a:pt x="51815" y="0"/>
                  </a:moveTo>
                  <a:lnTo>
                    <a:pt x="25907" y="0"/>
                  </a:lnTo>
                  <a:lnTo>
                    <a:pt x="25907" y="4813706"/>
                  </a:lnTo>
                  <a:lnTo>
                    <a:pt x="51815" y="4813706"/>
                  </a:lnTo>
                  <a:lnTo>
                    <a:pt x="51815" y="0"/>
                  </a:lnTo>
                  <a:close/>
                </a:path>
                <a:path w="78104" h="4878705">
                  <a:moveTo>
                    <a:pt x="77724" y="4800739"/>
                  </a:moveTo>
                  <a:lnTo>
                    <a:pt x="51815" y="4800739"/>
                  </a:lnTo>
                  <a:lnTo>
                    <a:pt x="51815" y="4813706"/>
                  </a:lnTo>
                  <a:lnTo>
                    <a:pt x="71240" y="4813706"/>
                  </a:lnTo>
                  <a:lnTo>
                    <a:pt x="77724" y="4800739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Attention</a:t>
            </a:r>
            <a:r>
              <a:rPr spc="-65" dirty="0"/>
              <a:t> </a:t>
            </a:r>
            <a:r>
              <a:rPr spc="-10" dirty="0"/>
              <a:t>Visualization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688340" y="1629613"/>
            <a:ext cx="6548755" cy="3982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 MT"/>
                <a:cs typeface="Arial MT"/>
              </a:rPr>
              <a:t>Alignment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matrix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visualize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attention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weights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Arial MT"/>
                <a:cs typeface="Arial MT"/>
              </a:rPr>
              <a:t>between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source</a:t>
            </a:r>
            <a:r>
              <a:rPr sz="220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006FC0"/>
                </a:solidFill>
                <a:latin typeface="Arial MT"/>
                <a:cs typeface="Arial MT"/>
              </a:rPr>
              <a:t>target</a:t>
            </a:r>
            <a:r>
              <a:rPr sz="2200" spc="-50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sentences.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2200">
              <a:latin typeface="Arial MT"/>
              <a:cs typeface="Arial MT"/>
            </a:endParaRPr>
          </a:p>
          <a:p>
            <a:pPr marL="12700" marR="139700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each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decoding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step,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i.e.,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each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generated </a:t>
            </a:r>
            <a:r>
              <a:rPr sz="2200" dirty="0">
                <a:latin typeface="Arial MT"/>
                <a:cs typeface="Arial MT"/>
              </a:rPr>
              <a:t>target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token,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describes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which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source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tokens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more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present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weighted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sum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that </a:t>
            </a:r>
            <a:r>
              <a:rPr sz="2200" dirty="0">
                <a:latin typeface="Arial MT"/>
                <a:cs typeface="Arial MT"/>
              </a:rPr>
              <a:t>conditioned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decoding.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2200">
              <a:latin typeface="Arial MT"/>
              <a:cs typeface="Arial MT"/>
            </a:endParaRPr>
          </a:p>
          <a:p>
            <a:pPr marL="12700" marR="215265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We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see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attention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tool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network’s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bag </a:t>
            </a:r>
            <a:r>
              <a:rPr sz="2200" dirty="0">
                <a:latin typeface="Arial MT"/>
                <a:cs typeface="Arial MT"/>
              </a:rPr>
              <a:t>that,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while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decoding,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allows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pay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attention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on </a:t>
            </a:r>
            <a:r>
              <a:rPr sz="2200" dirty="0">
                <a:latin typeface="Arial MT"/>
                <a:cs typeface="Arial MT"/>
              </a:rPr>
              <a:t>different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parts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source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sentence.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Attention</a:t>
            </a:r>
            <a:r>
              <a:rPr spc="-65" dirty="0"/>
              <a:t> </a:t>
            </a:r>
            <a:r>
              <a:rPr spc="-10" dirty="0"/>
              <a:t>Visualization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91384" y="985138"/>
            <a:ext cx="3996181" cy="454422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686" y="1394806"/>
            <a:ext cx="3772594" cy="39292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18796" y="1218906"/>
            <a:ext cx="3972910" cy="407094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Attention</a:t>
            </a:r>
            <a:r>
              <a:rPr spc="-45" dirty="0"/>
              <a:t> </a:t>
            </a:r>
            <a:r>
              <a:rPr dirty="0"/>
              <a:t>Mechanism</a:t>
            </a:r>
            <a:r>
              <a:rPr spc="-50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spc="-10" dirty="0"/>
              <a:t>Translation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042" y="2531236"/>
            <a:ext cx="11188638" cy="333405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871204" y="355091"/>
            <a:ext cx="3058795" cy="1365885"/>
            <a:chOff x="8871204" y="355091"/>
            <a:chExt cx="3058795" cy="136588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71204" y="355091"/>
              <a:ext cx="3058668" cy="136550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919811" y="380416"/>
              <a:ext cx="2962275" cy="1122045"/>
            </a:xfrm>
            <a:custGeom>
              <a:avLst/>
              <a:gdLst/>
              <a:ahLst/>
              <a:cxnLst/>
              <a:rect l="l" t="t" r="r" b="b"/>
              <a:pathLst>
                <a:path w="2962275" h="1122045">
                  <a:moveTo>
                    <a:pt x="1787916" y="0"/>
                  </a:moveTo>
                  <a:lnTo>
                    <a:pt x="1737395" y="4006"/>
                  </a:lnTo>
                  <a:lnTo>
                    <a:pt x="1689056" y="12348"/>
                  </a:lnTo>
                  <a:lnTo>
                    <a:pt x="1644029" y="24830"/>
                  </a:lnTo>
                  <a:lnTo>
                    <a:pt x="1603450" y="41258"/>
                  </a:lnTo>
                  <a:lnTo>
                    <a:pt x="1568450" y="61434"/>
                  </a:lnTo>
                  <a:lnTo>
                    <a:pt x="1540162" y="85165"/>
                  </a:lnTo>
                  <a:lnTo>
                    <a:pt x="1520672" y="75927"/>
                  </a:lnTo>
                  <a:lnTo>
                    <a:pt x="1478119" y="59787"/>
                  </a:lnTo>
                  <a:lnTo>
                    <a:pt x="1405664" y="41633"/>
                  </a:lnTo>
                  <a:lnTo>
                    <a:pt x="1354760" y="34400"/>
                  </a:lnTo>
                  <a:lnTo>
                    <a:pt x="1303250" y="31088"/>
                  </a:lnTo>
                  <a:lnTo>
                    <a:pt x="1251900" y="31573"/>
                  </a:lnTo>
                  <a:lnTo>
                    <a:pt x="1201474" y="35736"/>
                  </a:lnTo>
                  <a:lnTo>
                    <a:pt x="1152738" y="43455"/>
                  </a:lnTo>
                  <a:lnTo>
                    <a:pt x="1106456" y="54609"/>
                  </a:lnTo>
                  <a:lnTo>
                    <a:pt x="1063393" y="69075"/>
                  </a:lnTo>
                  <a:lnTo>
                    <a:pt x="1024315" y="86733"/>
                  </a:lnTo>
                  <a:lnTo>
                    <a:pt x="989985" y="107461"/>
                  </a:lnTo>
                  <a:lnTo>
                    <a:pt x="961169" y="131139"/>
                  </a:lnTo>
                  <a:lnTo>
                    <a:pt x="915347" y="118976"/>
                  </a:lnTo>
                  <a:lnTo>
                    <a:pt x="867476" y="109572"/>
                  </a:lnTo>
                  <a:lnTo>
                    <a:pt x="818024" y="102977"/>
                  </a:lnTo>
                  <a:lnTo>
                    <a:pt x="767461" y="99238"/>
                  </a:lnTo>
                  <a:lnTo>
                    <a:pt x="716256" y="98407"/>
                  </a:lnTo>
                  <a:lnTo>
                    <a:pt x="664878" y="100532"/>
                  </a:lnTo>
                  <a:lnTo>
                    <a:pt x="603259" y="107059"/>
                  </a:lnTo>
                  <a:lnTo>
                    <a:pt x="545270" y="117536"/>
                  </a:lnTo>
                  <a:lnTo>
                    <a:pt x="491384" y="131643"/>
                  </a:lnTo>
                  <a:lnTo>
                    <a:pt x="442073" y="149060"/>
                  </a:lnTo>
                  <a:lnTo>
                    <a:pt x="397809" y="169467"/>
                  </a:lnTo>
                  <a:lnTo>
                    <a:pt x="359062" y="192543"/>
                  </a:lnTo>
                  <a:lnTo>
                    <a:pt x="326306" y="217969"/>
                  </a:lnTo>
                  <a:lnTo>
                    <a:pt x="280652" y="274589"/>
                  </a:lnTo>
                  <a:lnTo>
                    <a:pt x="264620" y="336765"/>
                  </a:lnTo>
                  <a:lnTo>
                    <a:pt x="268892" y="369137"/>
                  </a:lnTo>
                  <a:lnTo>
                    <a:pt x="266352" y="372566"/>
                  </a:lnTo>
                  <a:lnTo>
                    <a:pt x="211177" y="378303"/>
                  </a:lnTo>
                  <a:lnTo>
                    <a:pt x="159715" y="389143"/>
                  </a:lnTo>
                  <a:lnTo>
                    <a:pt x="113208" y="404670"/>
                  </a:lnTo>
                  <a:lnTo>
                    <a:pt x="72902" y="424471"/>
                  </a:lnTo>
                  <a:lnTo>
                    <a:pt x="40038" y="448131"/>
                  </a:lnTo>
                  <a:lnTo>
                    <a:pt x="12337" y="480724"/>
                  </a:lnTo>
                  <a:lnTo>
                    <a:pt x="0" y="514628"/>
                  </a:lnTo>
                  <a:lnTo>
                    <a:pt x="2389" y="548571"/>
                  </a:lnTo>
                  <a:lnTo>
                    <a:pt x="18868" y="581285"/>
                  </a:lnTo>
                  <a:lnTo>
                    <a:pt x="48799" y="611496"/>
                  </a:lnTo>
                  <a:lnTo>
                    <a:pt x="91543" y="637935"/>
                  </a:lnTo>
                  <a:lnTo>
                    <a:pt x="146464" y="659332"/>
                  </a:lnTo>
                  <a:lnTo>
                    <a:pt x="107410" y="686149"/>
                  </a:lnTo>
                  <a:lnTo>
                    <a:pt x="80821" y="716323"/>
                  </a:lnTo>
                  <a:lnTo>
                    <a:pt x="67401" y="748736"/>
                  </a:lnTo>
                  <a:lnTo>
                    <a:pt x="67851" y="782268"/>
                  </a:lnTo>
                  <a:lnTo>
                    <a:pt x="104749" y="840291"/>
                  </a:lnTo>
                  <a:lnTo>
                    <a:pt x="138016" y="864573"/>
                  </a:lnTo>
                  <a:lnTo>
                    <a:pt x="179389" y="884979"/>
                  </a:lnTo>
                  <a:lnTo>
                    <a:pt x="227536" y="900968"/>
                  </a:lnTo>
                  <a:lnTo>
                    <a:pt x="281128" y="911998"/>
                  </a:lnTo>
                  <a:lnTo>
                    <a:pt x="338833" y="917528"/>
                  </a:lnTo>
                  <a:lnTo>
                    <a:pt x="399321" y="917015"/>
                  </a:lnTo>
                  <a:lnTo>
                    <a:pt x="403131" y="920317"/>
                  </a:lnTo>
                  <a:lnTo>
                    <a:pt x="435111" y="945117"/>
                  </a:lnTo>
                  <a:lnTo>
                    <a:pt x="469038" y="966290"/>
                  </a:lnTo>
                  <a:lnTo>
                    <a:pt x="506324" y="985311"/>
                  </a:lnTo>
                  <a:lnTo>
                    <a:pt x="546605" y="1002135"/>
                  </a:lnTo>
                  <a:lnTo>
                    <a:pt x="589517" y="1016713"/>
                  </a:lnTo>
                  <a:lnTo>
                    <a:pt x="634692" y="1028999"/>
                  </a:lnTo>
                  <a:lnTo>
                    <a:pt x="681768" y="1038946"/>
                  </a:lnTo>
                  <a:lnTo>
                    <a:pt x="730378" y="1046507"/>
                  </a:lnTo>
                  <a:lnTo>
                    <a:pt x="780159" y="1051635"/>
                  </a:lnTo>
                  <a:lnTo>
                    <a:pt x="830744" y="1054282"/>
                  </a:lnTo>
                  <a:lnTo>
                    <a:pt x="881768" y="1054401"/>
                  </a:lnTo>
                  <a:lnTo>
                    <a:pt x="932868" y="1051946"/>
                  </a:lnTo>
                  <a:lnTo>
                    <a:pt x="983677" y="1046870"/>
                  </a:lnTo>
                  <a:lnTo>
                    <a:pt x="1033832" y="1039125"/>
                  </a:lnTo>
                  <a:lnTo>
                    <a:pt x="1082965" y="1028664"/>
                  </a:lnTo>
                  <a:lnTo>
                    <a:pt x="1130714" y="1015440"/>
                  </a:lnTo>
                  <a:lnTo>
                    <a:pt x="1169807" y="1041592"/>
                  </a:lnTo>
                  <a:lnTo>
                    <a:pt x="1215130" y="1064543"/>
                  </a:lnTo>
                  <a:lnTo>
                    <a:pt x="1265963" y="1084020"/>
                  </a:lnTo>
                  <a:lnTo>
                    <a:pt x="1321588" y="1099747"/>
                  </a:lnTo>
                  <a:lnTo>
                    <a:pt x="1381285" y="1111452"/>
                  </a:lnTo>
                  <a:lnTo>
                    <a:pt x="1437856" y="1118378"/>
                  </a:lnTo>
                  <a:lnTo>
                    <a:pt x="1494373" y="1121553"/>
                  </a:lnTo>
                  <a:lnTo>
                    <a:pt x="1550297" y="1121128"/>
                  </a:lnTo>
                  <a:lnTo>
                    <a:pt x="1605086" y="1117252"/>
                  </a:lnTo>
                  <a:lnTo>
                    <a:pt x="1658201" y="1110076"/>
                  </a:lnTo>
                  <a:lnTo>
                    <a:pt x="1709101" y="1099748"/>
                  </a:lnTo>
                  <a:lnTo>
                    <a:pt x="1757246" y="1086419"/>
                  </a:lnTo>
                  <a:lnTo>
                    <a:pt x="1802095" y="1070239"/>
                  </a:lnTo>
                  <a:lnTo>
                    <a:pt x="1843108" y="1051358"/>
                  </a:lnTo>
                  <a:lnTo>
                    <a:pt x="1879744" y="1029924"/>
                  </a:lnTo>
                  <a:lnTo>
                    <a:pt x="1911464" y="1006089"/>
                  </a:lnTo>
                  <a:lnTo>
                    <a:pt x="1957992" y="951813"/>
                  </a:lnTo>
                  <a:lnTo>
                    <a:pt x="2006211" y="965031"/>
                  </a:lnTo>
                  <a:lnTo>
                    <a:pt x="2057227" y="974689"/>
                  </a:lnTo>
                  <a:lnTo>
                    <a:pt x="2110315" y="980656"/>
                  </a:lnTo>
                  <a:lnTo>
                    <a:pt x="2164748" y="982801"/>
                  </a:lnTo>
                  <a:lnTo>
                    <a:pt x="2229061" y="980390"/>
                  </a:lnTo>
                  <a:lnTo>
                    <a:pt x="2290157" y="972902"/>
                  </a:lnTo>
                  <a:lnTo>
                    <a:pt x="2347213" y="960753"/>
                  </a:lnTo>
                  <a:lnTo>
                    <a:pt x="2399406" y="944361"/>
                  </a:lnTo>
                  <a:lnTo>
                    <a:pt x="2445910" y="924143"/>
                  </a:lnTo>
                  <a:lnTo>
                    <a:pt x="2485904" y="900514"/>
                  </a:lnTo>
                  <a:lnTo>
                    <a:pt x="2518562" y="873892"/>
                  </a:lnTo>
                  <a:lnTo>
                    <a:pt x="2543062" y="844694"/>
                  </a:lnTo>
                  <a:lnTo>
                    <a:pt x="2564290" y="780236"/>
                  </a:lnTo>
                  <a:lnTo>
                    <a:pt x="2622615" y="773927"/>
                  </a:lnTo>
                  <a:lnTo>
                    <a:pt x="2678654" y="763869"/>
                  </a:lnTo>
                  <a:lnTo>
                    <a:pt x="2731740" y="750214"/>
                  </a:lnTo>
                  <a:lnTo>
                    <a:pt x="2781206" y="733119"/>
                  </a:lnTo>
                  <a:lnTo>
                    <a:pt x="2832544" y="709514"/>
                  </a:lnTo>
                  <a:lnTo>
                    <a:pt x="2875563" y="682966"/>
                  </a:lnTo>
                  <a:lnTo>
                    <a:pt x="2910132" y="653996"/>
                  </a:lnTo>
                  <a:lnTo>
                    <a:pt x="2936119" y="623123"/>
                  </a:lnTo>
                  <a:lnTo>
                    <a:pt x="2961821" y="557751"/>
                  </a:lnTo>
                  <a:lnTo>
                    <a:pt x="2961272" y="524293"/>
                  </a:lnTo>
                  <a:lnTo>
                    <a:pt x="2951616" y="491015"/>
                  </a:lnTo>
                  <a:lnTo>
                    <a:pt x="2932719" y="458436"/>
                  </a:lnTo>
                  <a:lnTo>
                    <a:pt x="2904450" y="427076"/>
                  </a:lnTo>
                  <a:lnTo>
                    <a:pt x="2866677" y="397458"/>
                  </a:lnTo>
                  <a:lnTo>
                    <a:pt x="2871438" y="391336"/>
                  </a:lnTo>
                  <a:lnTo>
                    <a:pt x="2875805" y="385155"/>
                  </a:lnTo>
                  <a:lnTo>
                    <a:pt x="2879768" y="378902"/>
                  </a:lnTo>
                  <a:lnTo>
                    <a:pt x="2883314" y="372566"/>
                  </a:lnTo>
                  <a:lnTo>
                    <a:pt x="2894912" y="339029"/>
                  </a:lnTo>
                  <a:lnTo>
                    <a:pt x="2894796" y="305912"/>
                  </a:lnTo>
                  <a:lnTo>
                    <a:pt x="2862318" y="243552"/>
                  </a:lnTo>
                  <a:lnTo>
                    <a:pt x="2831403" y="215618"/>
                  </a:lnTo>
                  <a:lnTo>
                    <a:pt x="2791667" y="190721"/>
                  </a:lnTo>
                  <a:lnTo>
                    <a:pt x="2743835" y="169514"/>
                  </a:lnTo>
                  <a:lnTo>
                    <a:pt x="2688630" y="152653"/>
                  </a:lnTo>
                  <a:lnTo>
                    <a:pt x="2626774" y="140791"/>
                  </a:lnTo>
                  <a:lnTo>
                    <a:pt x="2611786" y="112238"/>
                  </a:lnTo>
                  <a:lnTo>
                    <a:pt x="2554997" y="61513"/>
                  </a:lnTo>
                  <a:lnTo>
                    <a:pt x="2514506" y="40461"/>
                  </a:lnTo>
                  <a:lnTo>
                    <a:pt x="2470513" y="24227"/>
                  </a:lnTo>
                  <a:lnTo>
                    <a:pt x="2423301" y="12152"/>
                  </a:lnTo>
                  <a:lnTo>
                    <a:pt x="2373835" y="4195"/>
                  </a:lnTo>
                  <a:lnTo>
                    <a:pt x="2323080" y="315"/>
                  </a:lnTo>
                  <a:lnTo>
                    <a:pt x="2272000" y="472"/>
                  </a:lnTo>
                  <a:lnTo>
                    <a:pt x="2221560" y="4625"/>
                  </a:lnTo>
                  <a:lnTo>
                    <a:pt x="2172725" y="12736"/>
                  </a:lnTo>
                  <a:lnTo>
                    <a:pt x="2126459" y="24762"/>
                  </a:lnTo>
                  <a:lnTo>
                    <a:pt x="2083728" y="40663"/>
                  </a:lnTo>
                  <a:lnTo>
                    <a:pt x="2045495" y="60400"/>
                  </a:lnTo>
                  <a:lnTo>
                    <a:pt x="2023274" y="47007"/>
                  </a:lnTo>
                  <a:lnTo>
                    <a:pt x="1970879" y="24699"/>
                  </a:lnTo>
                  <a:lnTo>
                    <a:pt x="1890965" y="5776"/>
                  </a:lnTo>
                  <a:lnTo>
                    <a:pt x="1839483" y="524"/>
                  </a:lnTo>
                  <a:lnTo>
                    <a:pt x="1787916" y="0"/>
                  </a:lnTo>
                  <a:close/>
                </a:path>
              </a:pathLst>
            </a:custGeom>
            <a:solidFill>
              <a:srgbClr val="718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42679" y="1377314"/>
              <a:ext cx="370459" cy="27343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9811" y="380416"/>
              <a:ext cx="2962275" cy="1122045"/>
            </a:xfrm>
            <a:custGeom>
              <a:avLst/>
              <a:gdLst/>
              <a:ahLst/>
              <a:cxnLst/>
              <a:rect l="l" t="t" r="r" b="b"/>
              <a:pathLst>
                <a:path w="2962275" h="1122045">
                  <a:moveTo>
                    <a:pt x="268892" y="369137"/>
                  </a:moveTo>
                  <a:lnTo>
                    <a:pt x="264620" y="336765"/>
                  </a:lnTo>
                  <a:lnTo>
                    <a:pt x="268697" y="305143"/>
                  </a:lnTo>
                  <a:lnTo>
                    <a:pt x="280652" y="274589"/>
                  </a:lnTo>
                  <a:lnTo>
                    <a:pt x="326306" y="217969"/>
                  </a:lnTo>
                  <a:lnTo>
                    <a:pt x="359062" y="192543"/>
                  </a:lnTo>
                  <a:lnTo>
                    <a:pt x="397809" y="169467"/>
                  </a:lnTo>
                  <a:lnTo>
                    <a:pt x="442073" y="149060"/>
                  </a:lnTo>
                  <a:lnTo>
                    <a:pt x="491384" y="131643"/>
                  </a:lnTo>
                  <a:lnTo>
                    <a:pt x="545270" y="117536"/>
                  </a:lnTo>
                  <a:lnTo>
                    <a:pt x="603259" y="107059"/>
                  </a:lnTo>
                  <a:lnTo>
                    <a:pt x="664878" y="100532"/>
                  </a:lnTo>
                  <a:lnTo>
                    <a:pt x="716256" y="98407"/>
                  </a:lnTo>
                  <a:lnTo>
                    <a:pt x="767461" y="99238"/>
                  </a:lnTo>
                  <a:lnTo>
                    <a:pt x="818024" y="102977"/>
                  </a:lnTo>
                  <a:lnTo>
                    <a:pt x="867476" y="109572"/>
                  </a:lnTo>
                  <a:lnTo>
                    <a:pt x="915347" y="118976"/>
                  </a:lnTo>
                  <a:lnTo>
                    <a:pt x="961169" y="131139"/>
                  </a:lnTo>
                  <a:lnTo>
                    <a:pt x="989985" y="107461"/>
                  </a:lnTo>
                  <a:lnTo>
                    <a:pt x="1024315" y="86733"/>
                  </a:lnTo>
                  <a:lnTo>
                    <a:pt x="1063393" y="69075"/>
                  </a:lnTo>
                  <a:lnTo>
                    <a:pt x="1106456" y="54609"/>
                  </a:lnTo>
                  <a:lnTo>
                    <a:pt x="1152738" y="43455"/>
                  </a:lnTo>
                  <a:lnTo>
                    <a:pt x="1201474" y="35736"/>
                  </a:lnTo>
                  <a:lnTo>
                    <a:pt x="1251900" y="31573"/>
                  </a:lnTo>
                  <a:lnTo>
                    <a:pt x="1303250" y="31088"/>
                  </a:lnTo>
                  <a:lnTo>
                    <a:pt x="1354760" y="34400"/>
                  </a:lnTo>
                  <a:lnTo>
                    <a:pt x="1405664" y="41633"/>
                  </a:lnTo>
                  <a:lnTo>
                    <a:pt x="1455199" y="52907"/>
                  </a:lnTo>
                  <a:lnTo>
                    <a:pt x="1499967" y="67464"/>
                  </a:lnTo>
                  <a:lnTo>
                    <a:pt x="1540162" y="85165"/>
                  </a:lnTo>
                  <a:lnTo>
                    <a:pt x="1568450" y="61434"/>
                  </a:lnTo>
                  <a:lnTo>
                    <a:pt x="1603450" y="41258"/>
                  </a:lnTo>
                  <a:lnTo>
                    <a:pt x="1644029" y="24830"/>
                  </a:lnTo>
                  <a:lnTo>
                    <a:pt x="1689056" y="12348"/>
                  </a:lnTo>
                  <a:lnTo>
                    <a:pt x="1737395" y="4006"/>
                  </a:lnTo>
                  <a:lnTo>
                    <a:pt x="1787916" y="0"/>
                  </a:lnTo>
                  <a:lnTo>
                    <a:pt x="1839483" y="524"/>
                  </a:lnTo>
                  <a:lnTo>
                    <a:pt x="1890965" y="5776"/>
                  </a:lnTo>
                  <a:lnTo>
                    <a:pt x="1941228" y="15950"/>
                  </a:lnTo>
                  <a:lnTo>
                    <a:pt x="1998315" y="35079"/>
                  </a:lnTo>
                  <a:lnTo>
                    <a:pt x="2045495" y="60400"/>
                  </a:lnTo>
                  <a:lnTo>
                    <a:pt x="2083728" y="40663"/>
                  </a:lnTo>
                  <a:lnTo>
                    <a:pt x="2126459" y="24762"/>
                  </a:lnTo>
                  <a:lnTo>
                    <a:pt x="2172725" y="12736"/>
                  </a:lnTo>
                  <a:lnTo>
                    <a:pt x="2221560" y="4625"/>
                  </a:lnTo>
                  <a:lnTo>
                    <a:pt x="2272000" y="472"/>
                  </a:lnTo>
                  <a:lnTo>
                    <a:pt x="2323080" y="315"/>
                  </a:lnTo>
                  <a:lnTo>
                    <a:pt x="2373835" y="4195"/>
                  </a:lnTo>
                  <a:lnTo>
                    <a:pt x="2423301" y="12152"/>
                  </a:lnTo>
                  <a:lnTo>
                    <a:pt x="2470513" y="24227"/>
                  </a:lnTo>
                  <a:lnTo>
                    <a:pt x="2514506" y="40461"/>
                  </a:lnTo>
                  <a:lnTo>
                    <a:pt x="2554997" y="61513"/>
                  </a:lnTo>
                  <a:lnTo>
                    <a:pt x="2587642" y="85625"/>
                  </a:lnTo>
                  <a:lnTo>
                    <a:pt x="2626774" y="140791"/>
                  </a:lnTo>
                  <a:lnTo>
                    <a:pt x="2688630" y="152653"/>
                  </a:lnTo>
                  <a:lnTo>
                    <a:pt x="2743835" y="169514"/>
                  </a:lnTo>
                  <a:lnTo>
                    <a:pt x="2791667" y="190721"/>
                  </a:lnTo>
                  <a:lnTo>
                    <a:pt x="2831403" y="215618"/>
                  </a:lnTo>
                  <a:lnTo>
                    <a:pt x="2862318" y="243552"/>
                  </a:lnTo>
                  <a:lnTo>
                    <a:pt x="2894796" y="305912"/>
                  </a:lnTo>
                  <a:lnTo>
                    <a:pt x="2894912" y="339029"/>
                  </a:lnTo>
                  <a:lnTo>
                    <a:pt x="2883314" y="372566"/>
                  </a:lnTo>
                  <a:lnTo>
                    <a:pt x="2879768" y="378902"/>
                  </a:lnTo>
                  <a:lnTo>
                    <a:pt x="2875805" y="385155"/>
                  </a:lnTo>
                  <a:lnTo>
                    <a:pt x="2871438" y="391336"/>
                  </a:lnTo>
                  <a:lnTo>
                    <a:pt x="2866677" y="397458"/>
                  </a:lnTo>
                  <a:lnTo>
                    <a:pt x="2904450" y="427076"/>
                  </a:lnTo>
                  <a:lnTo>
                    <a:pt x="2932719" y="458436"/>
                  </a:lnTo>
                  <a:lnTo>
                    <a:pt x="2951616" y="491015"/>
                  </a:lnTo>
                  <a:lnTo>
                    <a:pt x="2961272" y="524293"/>
                  </a:lnTo>
                  <a:lnTo>
                    <a:pt x="2961821" y="557751"/>
                  </a:lnTo>
                  <a:lnTo>
                    <a:pt x="2953392" y="590868"/>
                  </a:lnTo>
                  <a:lnTo>
                    <a:pt x="2910132" y="653996"/>
                  </a:lnTo>
                  <a:lnTo>
                    <a:pt x="2875563" y="682966"/>
                  </a:lnTo>
                  <a:lnTo>
                    <a:pt x="2832544" y="709514"/>
                  </a:lnTo>
                  <a:lnTo>
                    <a:pt x="2781206" y="733119"/>
                  </a:lnTo>
                  <a:lnTo>
                    <a:pt x="2731740" y="750214"/>
                  </a:lnTo>
                  <a:lnTo>
                    <a:pt x="2678654" y="763869"/>
                  </a:lnTo>
                  <a:lnTo>
                    <a:pt x="2622615" y="773927"/>
                  </a:lnTo>
                  <a:lnTo>
                    <a:pt x="2564290" y="780236"/>
                  </a:lnTo>
                  <a:lnTo>
                    <a:pt x="2558579" y="813336"/>
                  </a:lnTo>
                  <a:lnTo>
                    <a:pt x="2518562" y="873892"/>
                  </a:lnTo>
                  <a:lnTo>
                    <a:pt x="2485904" y="900514"/>
                  </a:lnTo>
                  <a:lnTo>
                    <a:pt x="2445910" y="924143"/>
                  </a:lnTo>
                  <a:lnTo>
                    <a:pt x="2399406" y="944361"/>
                  </a:lnTo>
                  <a:lnTo>
                    <a:pt x="2347213" y="960753"/>
                  </a:lnTo>
                  <a:lnTo>
                    <a:pt x="2290157" y="972902"/>
                  </a:lnTo>
                  <a:lnTo>
                    <a:pt x="2229061" y="980390"/>
                  </a:lnTo>
                  <a:lnTo>
                    <a:pt x="2164748" y="982801"/>
                  </a:lnTo>
                  <a:lnTo>
                    <a:pt x="2110315" y="980656"/>
                  </a:lnTo>
                  <a:lnTo>
                    <a:pt x="2057227" y="974689"/>
                  </a:lnTo>
                  <a:lnTo>
                    <a:pt x="2006211" y="965031"/>
                  </a:lnTo>
                  <a:lnTo>
                    <a:pt x="1957992" y="951813"/>
                  </a:lnTo>
                  <a:lnTo>
                    <a:pt x="1937727" y="980002"/>
                  </a:lnTo>
                  <a:lnTo>
                    <a:pt x="1879744" y="1029924"/>
                  </a:lnTo>
                  <a:lnTo>
                    <a:pt x="1843108" y="1051358"/>
                  </a:lnTo>
                  <a:lnTo>
                    <a:pt x="1802095" y="1070239"/>
                  </a:lnTo>
                  <a:lnTo>
                    <a:pt x="1757246" y="1086419"/>
                  </a:lnTo>
                  <a:lnTo>
                    <a:pt x="1709101" y="1099748"/>
                  </a:lnTo>
                  <a:lnTo>
                    <a:pt x="1658201" y="1110076"/>
                  </a:lnTo>
                  <a:lnTo>
                    <a:pt x="1605086" y="1117252"/>
                  </a:lnTo>
                  <a:lnTo>
                    <a:pt x="1550297" y="1121128"/>
                  </a:lnTo>
                  <a:lnTo>
                    <a:pt x="1494373" y="1121553"/>
                  </a:lnTo>
                  <a:lnTo>
                    <a:pt x="1437856" y="1118378"/>
                  </a:lnTo>
                  <a:lnTo>
                    <a:pt x="1381285" y="1111452"/>
                  </a:lnTo>
                  <a:lnTo>
                    <a:pt x="1321588" y="1099747"/>
                  </a:lnTo>
                  <a:lnTo>
                    <a:pt x="1265963" y="1084020"/>
                  </a:lnTo>
                  <a:lnTo>
                    <a:pt x="1215130" y="1064543"/>
                  </a:lnTo>
                  <a:lnTo>
                    <a:pt x="1169807" y="1041592"/>
                  </a:lnTo>
                  <a:lnTo>
                    <a:pt x="1130714" y="1015440"/>
                  </a:lnTo>
                  <a:lnTo>
                    <a:pt x="1082965" y="1028664"/>
                  </a:lnTo>
                  <a:lnTo>
                    <a:pt x="1033832" y="1039125"/>
                  </a:lnTo>
                  <a:lnTo>
                    <a:pt x="983677" y="1046870"/>
                  </a:lnTo>
                  <a:lnTo>
                    <a:pt x="932868" y="1051946"/>
                  </a:lnTo>
                  <a:lnTo>
                    <a:pt x="881768" y="1054401"/>
                  </a:lnTo>
                  <a:lnTo>
                    <a:pt x="830744" y="1054282"/>
                  </a:lnTo>
                  <a:lnTo>
                    <a:pt x="780159" y="1051635"/>
                  </a:lnTo>
                  <a:lnTo>
                    <a:pt x="730378" y="1046507"/>
                  </a:lnTo>
                  <a:lnTo>
                    <a:pt x="681768" y="1038946"/>
                  </a:lnTo>
                  <a:lnTo>
                    <a:pt x="634692" y="1028999"/>
                  </a:lnTo>
                  <a:lnTo>
                    <a:pt x="589517" y="1016713"/>
                  </a:lnTo>
                  <a:lnTo>
                    <a:pt x="546605" y="1002135"/>
                  </a:lnTo>
                  <a:lnTo>
                    <a:pt x="506324" y="985311"/>
                  </a:lnTo>
                  <a:lnTo>
                    <a:pt x="469038" y="966290"/>
                  </a:lnTo>
                  <a:lnTo>
                    <a:pt x="435111" y="945117"/>
                  </a:lnTo>
                  <a:lnTo>
                    <a:pt x="404909" y="921841"/>
                  </a:lnTo>
                  <a:lnTo>
                    <a:pt x="401226" y="918666"/>
                  </a:lnTo>
                  <a:lnTo>
                    <a:pt x="399321" y="917015"/>
                  </a:lnTo>
                  <a:lnTo>
                    <a:pt x="338833" y="917528"/>
                  </a:lnTo>
                  <a:lnTo>
                    <a:pt x="281128" y="911998"/>
                  </a:lnTo>
                  <a:lnTo>
                    <a:pt x="227536" y="900968"/>
                  </a:lnTo>
                  <a:lnTo>
                    <a:pt x="179389" y="884979"/>
                  </a:lnTo>
                  <a:lnTo>
                    <a:pt x="138016" y="864573"/>
                  </a:lnTo>
                  <a:lnTo>
                    <a:pt x="104749" y="840291"/>
                  </a:lnTo>
                  <a:lnTo>
                    <a:pt x="67851" y="782268"/>
                  </a:lnTo>
                  <a:lnTo>
                    <a:pt x="67401" y="748736"/>
                  </a:lnTo>
                  <a:lnTo>
                    <a:pt x="80821" y="716323"/>
                  </a:lnTo>
                  <a:lnTo>
                    <a:pt x="107410" y="686149"/>
                  </a:lnTo>
                  <a:lnTo>
                    <a:pt x="146464" y="659332"/>
                  </a:lnTo>
                  <a:lnTo>
                    <a:pt x="91543" y="637935"/>
                  </a:lnTo>
                  <a:lnTo>
                    <a:pt x="48799" y="611496"/>
                  </a:lnTo>
                  <a:lnTo>
                    <a:pt x="18868" y="581285"/>
                  </a:lnTo>
                  <a:lnTo>
                    <a:pt x="2389" y="548571"/>
                  </a:lnTo>
                  <a:lnTo>
                    <a:pt x="0" y="514628"/>
                  </a:lnTo>
                  <a:lnTo>
                    <a:pt x="12337" y="480724"/>
                  </a:lnTo>
                  <a:lnTo>
                    <a:pt x="40038" y="448131"/>
                  </a:lnTo>
                  <a:lnTo>
                    <a:pt x="72902" y="424471"/>
                  </a:lnTo>
                  <a:lnTo>
                    <a:pt x="113208" y="404670"/>
                  </a:lnTo>
                  <a:lnTo>
                    <a:pt x="159715" y="389143"/>
                  </a:lnTo>
                  <a:lnTo>
                    <a:pt x="211177" y="378303"/>
                  </a:lnTo>
                  <a:lnTo>
                    <a:pt x="266352" y="372566"/>
                  </a:lnTo>
                  <a:lnTo>
                    <a:pt x="268892" y="369137"/>
                  </a:lnTo>
                  <a:close/>
                </a:path>
              </a:pathLst>
            </a:custGeom>
            <a:ln w="9144">
              <a:solidFill>
                <a:srgbClr val="718F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38107" y="1372742"/>
              <a:ext cx="379603" cy="28257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069451" y="1035430"/>
              <a:ext cx="1827530" cy="356235"/>
            </a:xfrm>
            <a:custGeom>
              <a:avLst/>
              <a:gdLst/>
              <a:ahLst/>
              <a:cxnLst/>
              <a:rect l="l" t="t" r="r" b="b"/>
              <a:pathLst>
                <a:path w="1827529" h="356234">
                  <a:moveTo>
                    <a:pt x="173608" y="20701"/>
                  </a:moveTo>
                  <a:lnTo>
                    <a:pt x="128301" y="20716"/>
                  </a:lnTo>
                  <a:lnTo>
                    <a:pt x="83756" y="17208"/>
                  </a:lnTo>
                  <a:lnTo>
                    <a:pt x="40735" y="10271"/>
                  </a:lnTo>
                  <a:lnTo>
                    <a:pt x="0" y="0"/>
                  </a:lnTo>
                </a:path>
                <a:path w="1827529" h="356234">
                  <a:moveTo>
                    <a:pt x="326644" y="247142"/>
                  </a:moveTo>
                  <a:lnTo>
                    <a:pt x="308205" y="250565"/>
                  </a:lnTo>
                  <a:lnTo>
                    <a:pt x="289337" y="253380"/>
                  </a:lnTo>
                  <a:lnTo>
                    <a:pt x="270136" y="255553"/>
                  </a:lnTo>
                  <a:lnTo>
                    <a:pt x="250698" y="257048"/>
                  </a:lnTo>
                </a:path>
                <a:path w="1827529" h="356234">
                  <a:moveTo>
                    <a:pt x="980948" y="355981"/>
                  </a:moveTo>
                  <a:lnTo>
                    <a:pt x="967785" y="345148"/>
                  </a:lnTo>
                  <a:lnTo>
                    <a:pt x="955754" y="333994"/>
                  </a:lnTo>
                  <a:lnTo>
                    <a:pt x="944889" y="322530"/>
                  </a:lnTo>
                  <a:lnTo>
                    <a:pt x="935227" y="310769"/>
                  </a:lnTo>
                </a:path>
                <a:path w="1827529" h="356234">
                  <a:moveTo>
                    <a:pt x="1827022" y="243332"/>
                  </a:moveTo>
                  <a:lnTo>
                    <a:pt x="1824307" y="255875"/>
                  </a:lnTo>
                  <a:lnTo>
                    <a:pt x="1820354" y="268335"/>
                  </a:lnTo>
                  <a:lnTo>
                    <a:pt x="1815163" y="280675"/>
                  </a:lnTo>
                  <a:lnTo>
                    <a:pt x="1808733" y="292862"/>
                  </a:lnTo>
                </a:path>
              </a:pathLst>
            </a:custGeom>
            <a:ln w="9144">
              <a:solidFill>
                <a:srgbClr val="718F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255121" y="967866"/>
              <a:ext cx="231901" cy="19443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188704" y="437133"/>
              <a:ext cx="2596515" cy="407670"/>
            </a:xfrm>
            <a:custGeom>
              <a:avLst/>
              <a:gdLst/>
              <a:ahLst/>
              <a:cxnLst/>
              <a:rect l="l" t="t" r="r" b="b"/>
              <a:pathLst>
                <a:path w="2596515" h="407669">
                  <a:moveTo>
                    <a:pt x="2596388" y="337946"/>
                  </a:moveTo>
                  <a:lnTo>
                    <a:pt x="2577550" y="357445"/>
                  </a:lnTo>
                  <a:lnTo>
                    <a:pt x="2554557" y="375634"/>
                  </a:lnTo>
                  <a:lnTo>
                    <a:pt x="2527682" y="392346"/>
                  </a:lnTo>
                  <a:lnTo>
                    <a:pt x="2497201" y="407415"/>
                  </a:lnTo>
                </a:path>
                <a:path w="2596515" h="407669">
                  <a:moveTo>
                    <a:pt x="2358390" y="80137"/>
                  </a:moveTo>
                  <a:lnTo>
                    <a:pt x="2360846" y="88330"/>
                  </a:lnTo>
                  <a:lnTo>
                    <a:pt x="2362517" y="96535"/>
                  </a:lnTo>
                  <a:lnTo>
                    <a:pt x="2363426" y="104765"/>
                  </a:lnTo>
                  <a:lnTo>
                    <a:pt x="2363597" y="113029"/>
                  </a:lnTo>
                </a:path>
                <a:path w="2596515" h="407669">
                  <a:moveTo>
                    <a:pt x="1724914" y="41910"/>
                  </a:moveTo>
                  <a:lnTo>
                    <a:pt x="1735387" y="30771"/>
                  </a:lnTo>
                  <a:lnTo>
                    <a:pt x="1747361" y="20050"/>
                  </a:lnTo>
                  <a:lnTo>
                    <a:pt x="1760811" y="9780"/>
                  </a:lnTo>
                  <a:lnTo>
                    <a:pt x="1775714" y="0"/>
                  </a:lnTo>
                </a:path>
                <a:path w="2596515" h="407669">
                  <a:moveTo>
                    <a:pt x="1249679" y="61849"/>
                  </a:moveTo>
                  <a:lnTo>
                    <a:pt x="1254154" y="52516"/>
                  </a:lnTo>
                  <a:lnTo>
                    <a:pt x="1259760" y="43386"/>
                  </a:lnTo>
                  <a:lnTo>
                    <a:pt x="1266485" y="34470"/>
                  </a:lnTo>
                  <a:lnTo>
                    <a:pt x="1274318" y="25780"/>
                  </a:lnTo>
                </a:path>
                <a:path w="2596515" h="407669">
                  <a:moveTo>
                    <a:pt x="691896" y="74040"/>
                  </a:moveTo>
                  <a:lnTo>
                    <a:pt x="715700" y="81750"/>
                  </a:lnTo>
                  <a:lnTo>
                    <a:pt x="738504" y="90185"/>
                  </a:lnTo>
                  <a:lnTo>
                    <a:pt x="760261" y="99312"/>
                  </a:lnTo>
                  <a:lnTo>
                    <a:pt x="780923" y="109092"/>
                  </a:lnTo>
                </a:path>
                <a:path w="2596515" h="407669">
                  <a:moveTo>
                    <a:pt x="15494" y="349250"/>
                  </a:moveTo>
                  <a:lnTo>
                    <a:pt x="10590" y="340155"/>
                  </a:lnTo>
                  <a:lnTo>
                    <a:pt x="6365" y="330977"/>
                  </a:lnTo>
                  <a:lnTo>
                    <a:pt x="2831" y="321728"/>
                  </a:lnTo>
                  <a:lnTo>
                    <a:pt x="0" y="312419"/>
                  </a:lnTo>
                </a:path>
              </a:pathLst>
            </a:custGeom>
            <a:ln w="9144">
              <a:solidFill>
                <a:srgbClr val="718F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84208" y="696467"/>
              <a:ext cx="2043683" cy="51358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88340" y="746252"/>
            <a:ext cx="10871835" cy="1177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87985" algn="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Check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demo!!!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sz="2200" dirty="0">
                <a:latin typeface="Arial MT"/>
                <a:cs typeface="Arial MT"/>
              </a:rPr>
              <a:t>Attention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allows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processing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input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pass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along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information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about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each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word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sees,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then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generating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output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focus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words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they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become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relevant.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Attention</a:t>
            </a:r>
            <a:r>
              <a:rPr spc="-55" dirty="0"/>
              <a:t> </a:t>
            </a:r>
            <a:r>
              <a:rPr dirty="0"/>
              <a:t>Mechanism</a:t>
            </a:r>
            <a:r>
              <a:rPr spc="-60" dirty="0"/>
              <a:t> </a:t>
            </a:r>
            <a:r>
              <a:rPr dirty="0"/>
              <a:t>in</a:t>
            </a:r>
            <a:r>
              <a:rPr spc="-75" dirty="0"/>
              <a:t> </a:t>
            </a:r>
            <a:r>
              <a:rPr spc="-20" dirty="0"/>
              <a:t>Voice</a:t>
            </a:r>
            <a:r>
              <a:rPr spc="-75" dirty="0"/>
              <a:t> </a:t>
            </a:r>
            <a:r>
              <a:rPr spc="-10" dirty="0"/>
              <a:t>Recognition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352" y="2285408"/>
            <a:ext cx="11134809" cy="382570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871204" y="355091"/>
            <a:ext cx="3058795" cy="1365885"/>
            <a:chOff x="8871204" y="355091"/>
            <a:chExt cx="3058795" cy="136588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71204" y="355091"/>
              <a:ext cx="3058668" cy="136550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919811" y="380416"/>
              <a:ext cx="2962275" cy="1122045"/>
            </a:xfrm>
            <a:custGeom>
              <a:avLst/>
              <a:gdLst/>
              <a:ahLst/>
              <a:cxnLst/>
              <a:rect l="l" t="t" r="r" b="b"/>
              <a:pathLst>
                <a:path w="2962275" h="1122045">
                  <a:moveTo>
                    <a:pt x="1787916" y="0"/>
                  </a:moveTo>
                  <a:lnTo>
                    <a:pt x="1737395" y="4006"/>
                  </a:lnTo>
                  <a:lnTo>
                    <a:pt x="1689056" y="12348"/>
                  </a:lnTo>
                  <a:lnTo>
                    <a:pt x="1644029" y="24830"/>
                  </a:lnTo>
                  <a:lnTo>
                    <a:pt x="1603450" y="41258"/>
                  </a:lnTo>
                  <a:lnTo>
                    <a:pt x="1568450" y="61434"/>
                  </a:lnTo>
                  <a:lnTo>
                    <a:pt x="1540162" y="85165"/>
                  </a:lnTo>
                  <a:lnTo>
                    <a:pt x="1520672" y="75927"/>
                  </a:lnTo>
                  <a:lnTo>
                    <a:pt x="1478119" y="59787"/>
                  </a:lnTo>
                  <a:lnTo>
                    <a:pt x="1405664" y="41633"/>
                  </a:lnTo>
                  <a:lnTo>
                    <a:pt x="1354760" y="34400"/>
                  </a:lnTo>
                  <a:lnTo>
                    <a:pt x="1303250" y="31088"/>
                  </a:lnTo>
                  <a:lnTo>
                    <a:pt x="1251900" y="31573"/>
                  </a:lnTo>
                  <a:lnTo>
                    <a:pt x="1201474" y="35736"/>
                  </a:lnTo>
                  <a:lnTo>
                    <a:pt x="1152738" y="43455"/>
                  </a:lnTo>
                  <a:lnTo>
                    <a:pt x="1106456" y="54609"/>
                  </a:lnTo>
                  <a:lnTo>
                    <a:pt x="1063393" y="69075"/>
                  </a:lnTo>
                  <a:lnTo>
                    <a:pt x="1024315" y="86733"/>
                  </a:lnTo>
                  <a:lnTo>
                    <a:pt x="989985" y="107461"/>
                  </a:lnTo>
                  <a:lnTo>
                    <a:pt x="961169" y="131139"/>
                  </a:lnTo>
                  <a:lnTo>
                    <a:pt x="915347" y="118976"/>
                  </a:lnTo>
                  <a:lnTo>
                    <a:pt x="867476" y="109572"/>
                  </a:lnTo>
                  <a:lnTo>
                    <a:pt x="818024" y="102977"/>
                  </a:lnTo>
                  <a:lnTo>
                    <a:pt x="767461" y="99238"/>
                  </a:lnTo>
                  <a:lnTo>
                    <a:pt x="716256" y="98407"/>
                  </a:lnTo>
                  <a:lnTo>
                    <a:pt x="664878" y="100532"/>
                  </a:lnTo>
                  <a:lnTo>
                    <a:pt x="603259" y="107059"/>
                  </a:lnTo>
                  <a:lnTo>
                    <a:pt x="545270" y="117536"/>
                  </a:lnTo>
                  <a:lnTo>
                    <a:pt x="491384" y="131643"/>
                  </a:lnTo>
                  <a:lnTo>
                    <a:pt x="442073" y="149060"/>
                  </a:lnTo>
                  <a:lnTo>
                    <a:pt x="397809" y="169467"/>
                  </a:lnTo>
                  <a:lnTo>
                    <a:pt x="359062" y="192543"/>
                  </a:lnTo>
                  <a:lnTo>
                    <a:pt x="326306" y="217969"/>
                  </a:lnTo>
                  <a:lnTo>
                    <a:pt x="280652" y="274589"/>
                  </a:lnTo>
                  <a:lnTo>
                    <a:pt x="264620" y="336765"/>
                  </a:lnTo>
                  <a:lnTo>
                    <a:pt x="268892" y="369137"/>
                  </a:lnTo>
                  <a:lnTo>
                    <a:pt x="266352" y="372566"/>
                  </a:lnTo>
                  <a:lnTo>
                    <a:pt x="211177" y="378303"/>
                  </a:lnTo>
                  <a:lnTo>
                    <a:pt x="159715" y="389143"/>
                  </a:lnTo>
                  <a:lnTo>
                    <a:pt x="113208" y="404670"/>
                  </a:lnTo>
                  <a:lnTo>
                    <a:pt x="72902" y="424471"/>
                  </a:lnTo>
                  <a:lnTo>
                    <a:pt x="40038" y="448131"/>
                  </a:lnTo>
                  <a:lnTo>
                    <a:pt x="12337" y="480724"/>
                  </a:lnTo>
                  <a:lnTo>
                    <a:pt x="0" y="514628"/>
                  </a:lnTo>
                  <a:lnTo>
                    <a:pt x="2389" y="548571"/>
                  </a:lnTo>
                  <a:lnTo>
                    <a:pt x="18868" y="581285"/>
                  </a:lnTo>
                  <a:lnTo>
                    <a:pt x="48799" y="611496"/>
                  </a:lnTo>
                  <a:lnTo>
                    <a:pt x="91543" y="637935"/>
                  </a:lnTo>
                  <a:lnTo>
                    <a:pt x="146464" y="659332"/>
                  </a:lnTo>
                  <a:lnTo>
                    <a:pt x="107410" y="686149"/>
                  </a:lnTo>
                  <a:lnTo>
                    <a:pt x="80821" y="716323"/>
                  </a:lnTo>
                  <a:lnTo>
                    <a:pt x="67401" y="748736"/>
                  </a:lnTo>
                  <a:lnTo>
                    <a:pt x="67851" y="782268"/>
                  </a:lnTo>
                  <a:lnTo>
                    <a:pt x="104749" y="840291"/>
                  </a:lnTo>
                  <a:lnTo>
                    <a:pt x="138016" y="864573"/>
                  </a:lnTo>
                  <a:lnTo>
                    <a:pt x="179389" y="884979"/>
                  </a:lnTo>
                  <a:lnTo>
                    <a:pt x="227536" y="900968"/>
                  </a:lnTo>
                  <a:lnTo>
                    <a:pt x="281128" y="911998"/>
                  </a:lnTo>
                  <a:lnTo>
                    <a:pt x="338833" y="917528"/>
                  </a:lnTo>
                  <a:lnTo>
                    <a:pt x="399321" y="917015"/>
                  </a:lnTo>
                  <a:lnTo>
                    <a:pt x="403131" y="920317"/>
                  </a:lnTo>
                  <a:lnTo>
                    <a:pt x="435111" y="945117"/>
                  </a:lnTo>
                  <a:lnTo>
                    <a:pt x="469038" y="966290"/>
                  </a:lnTo>
                  <a:lnTo>
                    <a:pt x="506324" y="985311"/>
                  </a:lnTo>
                  <a:lnTo>
                    <a:pt x="546605" y="1002135"/>
                  </a:lnTo>
                  <a:lnTo>
                    <a:pt x="589517" y="1016713"/>
                  </a:lnTo>
                  <a:lnTo>
                    <a:pt x="634692" y="1028999"/>
                  </a:lnTo>
                  <a:lnTo>
                    <a:pt x="681768" y="1038946"/>
                  </a:lnTo>
                  <a:lnTo>
                    <a:pt x="730378" y="1046507"/>
                  </a:lnTo>
                  <a:lnTo>
                    <a:pt x="780159" y="1051635"/>
                  </a:lnTo>
                  <a:lnTo>
                    <a:pt x="830744" y="1054282"/>
                  </a:lnTo>
                  <a:lnTo>
                    <a:pt x="881768" y="1054401"/>
                  </a:lnTo>
                  <a:lnTo>
                    <a:pt x="932868" y="1051946"/>
                  </a:lnTo>
                  <a:lnTo>
                    <a:pt x="983677" y="1046870"/>
                  </a:lnTo>
                  <a:lnTo>
                    <a:pt x="1033832" y="1039125"/>
                  </a:lnTo>
                  <a:lnTo>
                    <a:pt x="1082965" y="1028664"/>
                  </a:lnTo>
                  <a:lnTo>
                    <a:pt x="1130714" y="1015440"/>
                  </a:lnTo>
                  <a:lnTo>
                    <a:pt x="1169807" y="1041592"/>
                  </a:lnTo>
                  <a:lnTo>
                    <a:pt x="1215130" y="1064543"/>
                  </a:lnTo>
                  <a:lnTo>
                    <a:pt x="1265963" y="1084020"/>
                  </a:lnTo>
                  <a:lnTo>
                    <a:pt x="1321588" y="1099747"/>
                  </a:lnTo>
                  <a:lnTo>
                    <a:pt x="1381285" y="1111452"/>
                  </a:lnTo>
                  <a:lnTo>
                    <a:pt x="1437856" y="1118378"/>
                  </a:lnTo>
                  <a:lnTo>
                    <a:pt x="1494373" y="1121553"/>
                  </a:lnTo>
                  <a:lnTo>
                    <a:pt x="1550297" y="1121128"/>
                  </a:lnTo>
                  <a:lnTo>
                    <a:pt x="1605086" y="1117252"/>
                  </a:lnTo>
                  <a:lnTo>
                    <a:pt x="1658201" y="1110076"/>
                  </a:lnTo>
                  <a:lnTo>
                    <a:pt x="1709101" y="1099748"/>
                  </a:lnTo>
                  <a:lnTo>
                    <a:pt x="1757246" y="1086419"/>
                  </a:lnTo>
                  <a:lnTo>
                    <a:pt x="1802095" y="1070239"/>
                  </a:lnTo>
                  <a:lnTo>
                    <a:pt x="1843108" y="1051358"/>
                  </a:lnTo>
                  <a:lnTo>
                    <a:pt x="1879744" y="1029924"/>
                  </a:lnTo>
                  <a:lnTo>
                    <a:pt x="1911464" y="1006089"/>
                  </a:lnTo>
                  <a:lnTo>
                    <a:pt x="1957992" y="951813"/>
                  </a:lnTo>
                  <a:lnTo>
                    <a:pt x="2006211" y="965031"/>
                  </a:lnTo>
                  <a:lnTo>
                    <a:pt x="2057227" y="974689"/>
                  </a:lnTo>
                  <a:lnTo>
                    <a:pt x="2110315" y="980656"/>
                  </a:lnTo>
                  <a:lnTo>
                    <a:pt x="2164748" y="982801"/>
                  </a:lnTo>
                  <a:lnTo>
                    <a:pt x="2229061" y="980390"/>
                  </a:lnTo>
                  <a:lnTo>
                    <a:pt x="2290157" y="972902"/>
                  </a:lnTo>
                  <a:lnTo>
                    <a:pt x="2347213" y="960753"/>
                  </a:lnTo>
                  <a:lnTo>
                    <a:pt x="2399406" y="944361"/>
                  </a:lnTo>
                  <a:lnTo>
                    <a:pt x="2445910" y="924143"/>
                  </a:lnTo>
                  <a:lnTo>
                    <a:pt x="2485904" y="900514"/>
                  </a:lnTo>
                  <a:lnTo>
                    <a:pt x="2518562" y="873892"/>
                  </a:lnTo>
                  <a:lnTo>
                    <a:pt x="2543062" y="844694"/>
                  </a:lnTo>
                  <a:lnTo>
                    <a:pt x="2564290" y="780236"/>
                  </a:lnTo>
                  <a:lnTo>
                    <a:pt x="2622615" y="773927"/>
                  </a:lnTo>
                  <a:lnTo>
                    <a:pt x="2678654" y="763869"/>
                  </a:lnTo>
                  <a:lnTo>
                    <a:pt x="2731740" y="750214"/>
                  </a:lnTo>
                  <a:lnTo>
                    <a:pt x="2781206" y="733119"/>
                  </a:lnTo>
                  <a:lnTo>
                    <a:pt x="2832544" y="709514"/>
                  </a:lnTo>
                  <a:lnTo>
                    <a:pt x="2875563" y="682966"/>
                  </a:lnTo>
                  <a:lnTo>
                    <a:pt x="2910132" y="653996"/>
                  </a:lnTo>
                  <a:lnTo>
                    <a:pt x="2936119" y="623123"/>
                  </a:lnTo>
                  <a:lnTo>
                    <a:pt x="2961821" y="557751"/>
                  </a:lnTo>
                  <a:lnTo>
                    <a:pt x="2961272" y="524293"/>
                  </a:lnTo>
                  <a:lnTo>
                    <a:pt x="2951616" y="491015"/>
                  </a:lnTo>
                  <a:lnTo>
                    <a:pt x="2932719" y="458436"/>
                  </a:lnTo>
                  <a:lnTo>
                    <a:pt x="2904450" y="427076"/>
                  </a:lnTo>
                  <a:lnTo>
                    <a:pt x="2866677" y="397458"/>
                  </a:lnTo>
                  <a:lnTo>
                    <a:pt x="2871438" y="391336"/>
                  </a:lnTo>
                  <a:lnTo>
                    <a:pt x="2875805" y="385155"/>
                  </a:lnTo>
                  <a:lnTo>
                    <a:pt x="2879768" y="378902"/>
                  </a:lnTo>
                  <a:lnTo>
                    <a:pt x="2883314" y="372566"/>
                  </a:lnTo>
                  <a:lnTo>
                    <a:pt x="2894912" y="339029"/>
                  </a:lnTo>
                  <a:lnTo>
                    <a:pt x="2894796" y="305912"/>
                  </a:lnTo>
                  <a:lnTo>
                    <a:pt x="2862318" y="243552"/>
                  </a:lnTo>
                  <a:lnTo>
                    <a:pt x="2831403" y="215618"/>
                  </a:lnTo>
                  <a:lnTo>
                    <a:pt x="2791667" y="190721"/>
                  </a:lnTo>
                  <a:lnTo>
                    <a:pt x="2743835" y="169514"/>
                  </a:lnTo>
                  <a:lnTo>
                    <a:pt x="2688630" y="152653"/>
                  </a:lnTo>
                  <a:lnTo>
                    <a:pt x="2626774" y="140791"/>
                  </a:lnTo>
                  <a:lnTo>
                    <a:pt x="2611786" y="112238"/>
                  </a:lnTo>
                  <a:lnTo>
                    <a:pt x="2554997" y="61513"/>
                  </a:lnTo>
                  <a:lnTo>
                    <a:pt x="2514506" y="40461"/>
                  </a:lnTo>
                  <a:lnTo>
                    <a:pt x="2470513" y="24227"/>
                  </a:lnTo>
                  <a:lnTo>
                    <a:pt x="2423301" y="12152"/>
                  </a:lnTo>
                  <a:lnTo>
                    <a:pt x="2373835" y="4195"/>
                  </a:lnTo>
                  <a:lnTo>
                    <a:pt x="2323080" y="315"/>
                  </a:lnTo>
                  <a:lnTo>
                    <a:pt x="2272000" y="472"/>
                  </a:lnTo>
                  <a:lnTo>
                    <a:pt x="2221560" y="4625"/>
                  </a:lnTo>
                  <a:lnTo>
                    <a:pt x="2172725" y="12736"/>
                  </a:lnTo>
                  <a:lnTo>
                    <a:pt x="2126459" y="24762"/>
                  </a:lnTo>
                  <a:lnTo>
                    <a:pt x="2083728" y="40663"/>
                  </a:lnTo>
                  <a:lnTo>
                    <a:pt x="2045495" y="60400"/>
                  </a:lnTo>
                  <a:lnTo>
                    <a:pt x="2023274" y="47007"/>
                  </a:lnTo>
                  <a:lnTo>
                    <a:pt x="1970879" y="24699"/>
                  </a:lnTo>
                  <a:lnTo>
                    <a:pt x="1890965" y="5776"/>
                  </a:lnTo>
                  <a:lnTo>
                    <a:pt x="1839483" y="524"/>
                  </a:lnTo>
                  <a:lnTo>
                    <a:pt x="1787916" y="0"/>
                  </a:lnTo>
                  <a:close/>
                </a:path>
              </a:pathLst>
            </a:custGeom>
            <a:solidFill>
              <a:srgbClr val="718F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42679" y="1377314"/>
              <a:ext cx="370459" cy="27343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19811" y="380416"/>
              <a:ext cx="2962275" cy="1122045"/>
            </a:xfrm>
            <a:custGeom>
              <a:avLst/>
              <a:gdLst/>
              <a:ahLst/>
              <a:cxnLst/>
              <a:rect l="l" t="t" r="r" b="b"/>
              <a:pathLst>
                <a:path w="2962275" h="1122045">
                  <a:moveTo>
                    <a:pt x="268892" y="369137"/>
                  </a:moveTo>
                  <a:lnTo>
                    <a:pt x="264620" y="336765"/>
                  </a:lnTo>
                  <a:lnTo>
                    <a:pt x="268697" y="305143"/>
                  </a:lnTo>
                  <a:lnTo>
                    <a:pt x="280652" y="274589"/>
                  </a:lnTo>
                  <a:lnTo>
                    <a:pt x="326306" y="217969"/>
                  </a:lnTo>
                  <a:lnTo>
                    <a:pt x="359062" y="192543"/>
                  </a:lnTo>
                  <a:lnTo>
                    <a:pt x="397809" y="169467"/>
                  </a:lnTo>
                  <a:lnTo>
                    <a:pt x="442073" y="149060"/>
                  </a:lnTo>
                  <a:lnTo>
                    <a:pt x="491384" y="131643"/>
                  </a:lnTo>
                  <a:lnTo>
                    <a:pt x="545270" y="117536"/>
                  </a:lnTo>
                  <a:lnTo>
                    <a:pt x="603259" y="107059"/>
                  </a:lnTo>
                  <a:lnTo>
                    <a:pt x="664878" y="100532"/>
                  </a:lnTo>
                  <a:lnTo>
                    <a:pt x="716256" y="98407"/>
                  </a:lnTo>
                  <a:lnTo>
                    <a:pt x="767461" y="99238"/>
                  </a:lnTo>
                  <a:lnTo>
                    <a:pt x="818024" y="102977"/>
                  </a:lnTo>
                  <a:lnTo>
                    <a:pt x="867476" y="109572"/>
                  </a:lnTo>
                  <a:lnTo>
                    <a:pt x="915347" y="118976"/>
                  </a:lnTo>
                  <a:lnTo>
                    <a:pt x="961169" y="131139"/>
                  </a:lnTo>
                  <a:lnTo>
                    <a:pt x="989985" y="107461"/>
                  </a:lnTo>
                  <a:lnTo>
                    <a:pt x="1024315" y="86733"/>
                  </a:lnTo>
                  <a:lnTo>
                    <a:pt x="1063393" y="69075"/>
                  </a:lnTo>
                  <a:lnTo>
                    <a:pt x="1106456" y="54609"/>
                  </a:lnTo>
                  <a:lnTo>
                    <a:pt x="1152738" y="43455"/>
                  </a:lnTo>
                  <a:lnTo>
                    <a:pt x="1201474" y="35736"/>
                  </a:lnTo>
                  <a:lnTo>
                    <a:pt x="1251900" y="31573"/>
                  </a:lnTo>
                  <a:lnTo>
                    <a:pt x="1303250" y="31088"/>
                  </a:lnTo>
                  <a:lnTo>
                    <a:pt x="1354760" y="34400"/>
                  </a:lnTo>
                  <a:lnTo>
                    <a:pt x="1405664" y="41633"/>
                  </a:lnTo>
                  <a:lnTo>
                    <a:pt x="1455199" y="52907"/>
                  </a:lnTo>
                  <a:lnTo>
                    <a:pt x="1499967" y="67464"/>
                  </a:lnTo>
                  <a:lnTo>
                    <a:pt x="1540162" y="85165"/>
                  </a:lnTo>
                  <a:lnTo>
                    <a:pt x="1568450" y="61434"/>
                  </a:lnTo>
                  <a:lnTo>
                    <a:pt x="1603450" y="41258"/>
                  </a:lnTo>
                  <a:lnTo>
                    <a:pt x="1644029" y="24830"/>
                  </a:lnTo>
                  <a:lnTo>
                    <a:pt x="1689056" y="12348"/>
                  </a:lnTo>
                  <a:lnTo>
                    <a:pt x="1737395" y="4006"/>
                  </a:lnTo>
                  <a:lnTo>
                    <a:pt x="1787916" y="0"/>
                  </a:lnTo>
                  <a:lnTo>
                    <a:pt x="1839483" y="524"/>
                  </a:lnTo>
                  <a:lnTo>
                    <a:pt x="1890965" y="5776"/>
                  </a:lnTo>
                  <a:lnTo>
                    <a:pt x="1941228" y="15950"/>
                  </a:lnTo>
                  <a:lnTo>
                    <a:pt x="1998315" y="35079"/>
                  </a:lnTo>
                  <a:lnTo>
                    <a:pt x="2045495" y="60400"/>
                  </a:lnTo>
                  <a:lnTo>
                    <a:pt x="2083728" y="40663"/>
                  </a:lnTo>
                  <a:lnTo>
                    <a:pt x="2126459" y="24762"/>
                  </a:lnTo>
                  <a:lnTo>
                    <a:pt x="2172725" y="12736"/>
                  </a:lnTo>
                  <a:lnTo>
                    <a:pt x="2221560" y="4625"/>
                  </a:lnTo>
                  <a:lnTo>
                    <a:pt x="2272000" y="472"/>
                  </a:lnTo>
                  <a:lnTo>
                    <a:pt x="2323080" y="315"/>
                  </a:lnTo>
                  <a:lnTo>
                    <a:pt x="2373835" y="4195"/>
                  </a:lnTo>
                  <a:lnTo>
                    <a:pt x="2423301" y="12152"/>
                  </a:lnTo>
                  <a:lnTo>
                    <a:pt x="2470513" y="24227"/>
                  </a:lnTo>
                  <a:lnTo>
                    <a:pt x="2514506" y="40461"/>
                  </a:lnTo>
                  <a:lnTo>
                    <a:pt x="2554997" y="61513"/>
                  </a:lnTo>
                  <a:lnTo>
                    <a:pt x="2587642" y="85625"/>
                  </a:lnTo>
                  <a:lnTo>
                    <a:pt x="2626774" y="140791"/>
                  </a:lnTo>
                  <a:lnTo>
                    <a:pt x="2688630" y="152653"/>
                  </a:lnTo>
                  <a:lnTo>
                    <a:pt x="2743835" y="169514"/>
                  </a:lnTo>
                  <a:lnTo>
                    <a:pt x="2791667" y="190721"/>
                  </a:lnTo>
                  <a:lnTo>
                    <a:pt x="2831403" y="215618"/>
                  </a:lnTo>
                  <a:lnTo>
                    <a:pt x="2862318" y="243552"/>
                  </a:lnTo>
                  <a:lnTo>
                    <a:pt x="2894796" y="305912"/>
                  </a:lnTo>
                  <a:lnTo>
                    <a:pt x="2894912" y="339029"/>
                  </a:lnTo>
                  <a:lnTo>
                    <a:pt x="2883314" y="372566"/>
                  </a:lnTo>
                  <a:lnTo>
                    <a:pt x="2879768" y="378902"/>
                  </a:lnTo>
                  <a:lnTo>
                    <a:pt x="2875805" y="385155"/>
                  </a:lnTo>
                  <a:lnTo>
                    <a:pt x="2871438" y="391336"/>
                  </a:lnTo>
                  <a:lnTo>
                    <a:pt x="2866677" y="397458"/>
                  </a:lnTo>
                  <a:lnTo>
                    <a:pt x="2904450" y="427076"/>
                  </a:lnTo>
                  <a:lnTo>
                    <a:pt x="2932719" y="458436"/>
                  </a:lnTo>
                  <a:lnTo>
                    <a:pt x="2951616" y="491015"/>
                  </a:lnTo>
                  <a:lnTo>
                    <a:pt x="2961272" y="524293"/>
                  </a:lnTo>
                  <a:lnTo>
                    <a:pt x="2961821" y="557751"/>
                  </a:lnTo>
                  <a:lnTo>
                    <a:pt x="2953392" y="590868"/>
                  </a:lnTo>
                  <a:lnTo>
                    <a:pt x="2910132" y="653996"/>
                  </a:lnTo>
                  <a:lnTo>
                    <a:pt x="2875563" y="682966"/>
                  </a:lnTo>
                  <a:lnTo>
                    <a:pt x="2832544" y="709514"/>
                  </a:lnTo>
                  <a:lnTo>
                    <a:pt x="2781206" y="733119"/>
                  </a:lnTo>
                  <a:lnTo>
                    <a:pt x="2731740" y="750214"/>
                  </a:lnTo>
                  <a:lnTo>
                    <a:pt x="2678654" y="763869"/>
                  </a:lnTo>
                  <a:lnTo>
                    <a:pt x="2622615" y="773927"/>
                  </a:lnTo>
                  <a:lnTo>
                    <a:pt x="2564290" y="780236"/>
                  </a:lnTo>
                  <a:lnTo>
                    <a:pt x="2558579" y="813336"/>
                  </a:lnTo>
                  <a:lnTo>
                    <a:pt x="2518562" y="873892"/>
                  </a:lnTo>
                  <a:lnTo>
                    <a:pt x="2485904" y="900514"/>
                  </a:lnTo>
                  <a:lnTo>
                    <a:pt x="2445910" y="924143"/>
                  </a:lnTo>
                  <a:lnTo>
                    <a:pt x="2399406" y="944361"/>
                  </a:lnTo>
                  <a:lnTo>
                    <a:pt x="2347213" y="960753"/>
                  </a:lnTo>
                  <a:lnTo>
                    <a:pt x="2290157" y="972902"/>
                  </a:lnTo>
                  <a:lnTo>
                    <a:pt x="2229061" y="980390"/>
                  </a:lnTo>
                  <a:lnTo>
                    <a:pt x="2164748" y="982801"/>
                  </a:lnTo>
                  <a:lnTo>
                    <a:pt x="2110315" y="980656"/>
                  </a:lnTo>
                  <a:lnTo>
                    <a:pt x="2057227" y="974689"/>
                  </a:lnTo>
                  <a:lnTo>
                    <a:pt x="2006211" y="965031"/>
                  </a:lnTo>
                  <a:lnTo>
                    <a:pt x="1957992" y="951813"/>
                  </a:lnTo>
                  <a:lnTo>
                    <a:pt x="1937727" y="980002"/>
                  </a:lnTo>
                  <a:lnTo>
                    <a:pt x="1879744" y="1029924"/>
                  </a:lnTo>
                  <a:lnTo>
                    <a:pt x="1843108" y="1051358"/>
                  </a:lnTo>
                  <a:lnTo>
                    <a:pt x="1802095" y="1070239"/>
                  </a:lnTo>
                  <a:lnTo>
                    <a:pt x="1757246" y="1086419"/>
                  </a:lnTo>
                  <a:lnTo>
                    <a:pt x="1709101" y="1099748"/>
                  </a:lnTo>
                  <a:lnTo>
                    <a:pt x="1658201" y="1110076"/>
                  </a:lnTo>
                  <a:lnTo>
                    <a:pt x="1605086" y="1117252"/>
                  </a:lnTo>
                  <a:lnTo>
                    <a:pt x="1550297" y="1121128"/>
                  </a:lnTo>
                  <a:lnTo>
                    <a:pt x="1494373" y="1121553"/>
                  </a:lnTo>
                  <a:lnTo>
                    <a:pt x="1437856" y="1118378"/>
                  </a:lnTo>
                  <a:lnTo>
                    <a:pt x="1381285" y="1111452"/>
                  </a:lnTo>
                  <a:lnTo>
                    <a:pt x="1321588" y="1099747"/>
                  </a:lnTo>
                  <a:lnTo>
                    <a:pt x="1265963" y="1084020"/>
                  </a:lnTo>
                  <a:lnTo>
                    <a:pt x="1215130" y="1064543"/>
                  </a:lnTo>
                  <a:lnTo>
                    <a:pt x="1169807" y="1041592"/>
                  </a:lnTo>
                  <a:lnTo>
                    <a:pt x="1130714" y="1015440"/>
                  </a:lnTo>
                  <a:lnTo>
                    <a:pt x="1082965" y="1028664"/>
                  </a:lnTo>
                  <a:lnTo>
                    <a:pt x="1033832" y="1039125"/>
                  </a:lnTo>
                  <a:lnTo>
                    <a:pt x="983677" y="1046870"/>
                  </a:lnTo>
                  <a:lnTo>
                    <a:pt x="932868" y="1051946"/>
                  </a:lnTo>
                  <a:lnTo>
                    <a:pt x="881768" y="1054401"/>
                  </a:lnTo>
                  <a:lnTo>
                    <a:pt x="830744" y="1054282"/>
                  </a:lnTo>
                  <a:lnTo>
                    <a:pt x="780159" y="1051635"/>
                  </a:lnTo>
                  <a:lnTo>
                    <a:pt x="730378" y="1046507"/>
                  </a:lnTo>
                  <a:lnTo>
                    <a:pt x="681768" y="1038946"/>
                  </a:lnTo>
                  <a:lnTo>
                    <a:pt x="634692" y="1028999"/>
                  </a:lnTo>
                  <a:lnTo>
                    <a:pt x="589517" y="1016713"/>
                  </a:lnTo>
                  <a:lnTo>
                    <a:pt x="546605" y="1002135"/>
                  </a:lnTo>
                  <a:lnTo>
                    <a:pt x="506324" y="985311"/>
                  </a:lnTo>
                  <a:lnTo>
                    <a:pt x="469038" y="966290"/>
                  </a:lnTo>
                  <a:lnTo>
                    <a:pt x="435111" y="945117"/>
                  </a:lnTo>
                  <a:lnTo>
                    <a:pt x="404909" y="921841"/>
                  </a:lnTo>
                  <a:lnTo>
                    <a:pt x="401226" y="918666"/>
                  </a:lnTo>
                  <a:lnTo>
                    <a:pt x="399321" y="917015"/>
                  </a:lnTo>
                  <a:lnTo>
                    <a:pt x="338833" y="917528"/>
                  </a:lnTo>
                  <a:lnTo>
                    <a:pt x="281128" y="911998"/>
                  </a:lnTo>
                  <a:lnTo>
                    <a:pt x="227536" y="900968"/>
                  </a:lnTo>
                  <a:lnTo>
                    <a:pt x="179389" y="884979"/>
                  </a:lnTo>
                  <a:lnTo>
                    <a:pt x="138016" y="864573"/>
                  </a:lnTo>
                  <a:lnTo>
                    <a:pt x="104749" y="840291"/>
                  </a:lnTo>
                  <a:lnTo>
                    <a:pt x="67851" y="782268"/>
                  </a:lnTo>
                  <a:lnTo>
                    <a:pt x="67401" y="748736"/>
                  </a:lnTo>
                  <a:lnTo>
                    <a:pt x="80821" y="716323"/>
                  </a:lnTo>
                  <a:lnTo>
                    <a:pt x="107410" y="686149"/>
                  </a:lnTo>
                  <a:lnTo>
                    <a:pt x="146464" y="659332"/>
                  </a:lnTo>
                  <a:lnTo>
                    <a:pt x="91543" y="637935"/>
                  </a:lnTo>
                  <a:lnTo>
                    <a:pt x="48799" y="611496"/>
                  </a:lnTo>
                  <a:lnTo>
                    <a:pt x="18868" y="581285"/>
                  </a:lnTo>
                  <a:lnTo>
                    <a:pt x="2389" y="548571"/>
                  </a:lnTo>
                  <a:lnTo>
                    <a:pt x="0" y="514628"/>
                  </a:lnTo>
                  <a:lnTo>
                    <a:pt x="12337" y="480724"/>
                  </a:lnTo>
                  <a:lnTo>
                    <a:pt x="40038" y="448131"/>
                  </a:lnTo>
                  <a:lnTo>
                    <a:pt x="72902" y="424471"/>
                  </a:lnTo>
                  <a:lnTo>
                    <a:pt x="113208" y="404670"/>
                  </a:lnTo>
                  <a:lnTo>
                    <a:pt x="159715" y="389143"/>
                  </a:lnTo>
                  <a:lnTo>
                    <a:pt x="211177" y="378303"/>
                  </a:lnTo>
                  <a:lnTo>
                    <a:pt x="266352" y="372566"/>
                  </a:lnTo>
                  <a:lnTo>
                    <a:pt x="268892" y="369137"/>
                  </a:lnTo>
                  <a:close/>
                </a:path>
              </a:pathLst>
            </a:custGeom>
            <a:ln w="9144">
              <a:solidFill>
                <a:srgbClr val="718F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38107" y="1372742"/>
              <a:ext cx="379603" cy="28257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069451" y="1035430"/>
              <a:ext cx="1827530" cy="356235"/>
            </a:xfrm>
            <a:custGeom>
              <a:avLst/>
              <a:gdLst/>
              <a:ahLst/>
              <a:cxnLst/>
              <a:rect l="l" t="t" r="r" b="b"/>
              <a:pathLst>
                <a:path w="1827529" h="356234">
                  <a:moveTo>
                    <a:pt x="173608" y="20701"/>
                  </a:moveTo>
                  <a:lnTo>
                    <a:pt x="128301" y="20716"/>
                  </a:lnTo>
                  <a:lnTo>
                    <a:pt x="83756" y="17208"/>
                  </a:lnTo>
                  <a:lnTo>
                    <a:pt x="40735" y="10271"/>
                  </a:lnTo>
                  <a:lnTo>
                    <a:pt x="0" y="0"/>
                  </a:lnTo>
                </a:path>
                <a:path w="1827529" h="356234">
                  <a:moveTo>
                    <a:pt x="326644" y="247142"/>
                  </a:moveTo>
                  <a:lnTo>
                    <a:pt x="308205" y="250565"/>
                  </a:lnTo>
                  <a:lnTo>
                    <a:pt x="289337" y="253380"/>
                  </a:lnTo>
                  <a:lnTo>
                    <a:pt x="270136" y="255553"/>
                  </a:lnTo>
                  <a:lnTo>
                    <a:pt x="250698" y="257048"/>
                  </a:lnTo>
                </a:path>
                <a:path w="1827529" h="356234">
                  <a:moveTo>
                    <a:pt x="980948" y="355981"/>
                  </a:moveTo>
                  <a:lnTo>
                    <a:pt x="967785" y="345148"/>
                  </a:lnTo>
                  <a:lnTo>
                    <a:pt x="955754" y="333994"/>
                  </a:lnTo>
                  <a:lnTo>
                    <a:pt x="944889" y="322530"/>
                  </a:lnTo>
                  <a:lnTo>
                    <a:pt x="935227" y="310769"/>
                  </a:lnTo>
                </a:path>
                <a:path w="1827529" h="356234">
                  <a:moveTo>
                    <a:pt x="1827022" y="243332"/>
                  </a:moveTo>
                  <a:lnTo>
                    <a:pt x="1824307" y="255875"/>
                  </a:lnTo>
                  <a:lnTo>
                    <a:pt x="1820354" y="268335"/>
                  </a:lnTo>
                  <a:lnTo>
                    <a:pt x="1815163" y="280675"/>
                  </a:lnTo>
                  <a:lnTo>
                    <a:pt x="1808733" y="292862"/>
                  </a:lnTo>
                </a:path>
              </a:pathLst>
            </a:custGeom>
            <a:ln w="9144">
              <a:solidFill>
                <a:srgbClr val="718F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255121" y="967866"/>
              <a:ext cx="231901" cy="19443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188704" y="437133"/>
              <a:ext cx="2596515" cy="407670"/>
            </a:xfrm>
            <a:custGeom>
              <a:avLst/>
              <a:gdLst/>
              <a:ahLst/>
              <a:cxnLst/>
              <a:rect l="l" t="t" r="r" b="b"/>
              <a:pathLst>
                <a:path w="2596515" h="407669">
                  <a:moveTo>
                    <a:pt x="2596388" y="337946"/>
                  </a:moveTo>
                  <a:lnTo>
                    <a:pt x="2577550" y="357445"/>
                  </a:lnTo>
                  <a:lnTo>
                    <a:pt x="2554557" y="375634"/>
                  </a:lnTo>
                  <a:lnTo>
                    <a:pt x="2527682" y="392346"/>
                  </a:lnTo>
                  <a:lnTo>
                    <a:pt x="2497201" y="407415"/>
                  </a:lnTo>
                </a:path>
                <a:path w="2596515" h="407669">
                  <a:moveTo>
                    <a:pt x="2358390" y="80137"/>
                  </a:moveTo>
                  <a:lnTo>
                    <a:pt x="2360846" y="88330"/>
                  </a:lnTo>
                  <a:lnTo>
                    <a:pt x="2362517" y="96535"/>
                  </a:lnTo>
                  <a:lnTo>
                    <a:pt x="2363426" y="104765"/>
                  </a:lnTo>
                  <a:lnTo>
                    <a:pt x="2363597" y="113029"/>
                  </a:lnTo>
                </a:path>
                <a:path w="2596515" h="407669">
                  <a:moveTo>
                    <a:pt x="1724914" y="41910"/>
                  </a:moveTo>
                  <a:lnTo>
                    <a:pt x="1735387" y="30771"/>
                  </a:lnTo>
                  <a:lnTo>
                    <a:pt x="1747361" y="20050"/>
                  </a:lnTo>
                  <a:lnTo>
                    <a:pt x="1760811" y="9780"/>
                  </a:lnTo>
                  <a:lnTo>
                    <a:pt x="1775714" y="0"/>
                  </a:lnTo>
                </a:path>
                <a:path w="2596515" h="407669">
                  <a:moveTo>
                    <a:pt x="1249679" y="61849"/>
                  </a:moveTo>
                  <a:lnTo>
                    <a:pt x="1254154" y="52516"/>
                  </a:lnTo>
                  <a:lnTo>
                    <a:pt x="1259760" y="43386"/>
                  </a:lnTo>
                  <a:lnTo>
                    <a:pt x="1266485" y="34470"/>
                  </a:lnTo>
                  <a:lnTo>
                    <a:pt x="1274318" y="25780"/>
                  </a:lnTo>
                </a:path>
                <a:path w="2596515" h="407669">
                  <a:moveTo>
                    <a:pt x="691896" y="74040"/>
                  </a:moveTo>
                  <a:lnTo>
                    <a:pt x="715700" y="81750"/>
                  </a:lnTo>
                  <a:lnTo>
                    <a:pt x="738504" y="90185"/>
                  </a:lnTo>
                  <a:lnTo>
                    <a:pt x="760261" y="99312"/>
                  </a:lnTo>
                  <a:lnTo>
                    <a:pt x="780923" y="109092"/>
                  </a:lnTo>
                </a:path>
                <a:path w="2596515" h="407669">
                  <a:moveTo>
                    <a:pt x="15494" y="349250"/>
                  </a:moveTo>
                  <a:lnTo>
                    <a:pt x="10590" y="340155"/>
                  </a:lnTo>
                  <a:lnTo>
                    <a:pt x="6365" y="330977"/>
                  </a:lnTo>
                  <a:lnTo>
                    <a:pt x="2831" y="321728"/>
                  </a:lnTo>
                  <a:lnTo>
                    <a:pt x="0" y="312419"/>
                  </a:lnTo>
                </a:path>
              </a:pathLst>
            </a:custGeom>
            <a:ln w="9144">
              <a:solidFill>
                <a:srgbClr val="718F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84208" y="696467"/>
              <a:ext cx="2043683" cy="51358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88340" y="746252"/>
            <a:ext cx="10930255" cy="1177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46405" algn="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Check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demo!!!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sz="2200" dirty="0">
                <a:latin typeface="Arial MT"/>
                <a:cs typeface="Arial MT"/>
              </a:rPr>
              <a:t>Attention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allows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RNN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process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audio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have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another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RNN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skim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over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it,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focusing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relevant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parts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generates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transcript.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Attention</a:t>
            </a:r>
            <a:r>
              <a:rPr spc="-40" dirty="0"/>
              <a:t> </a:t>
            </a:r>
            <a:r>
              <a:rPr dirty="0"/>
              <a:t>Mechanism</a:t>
            </a:r>
            <a:r>
              <a:rPr spc="-45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Image</a:t>
            </a:r>
            <a:r>
              <a:rPr spc="-75" dirty="0"/>
              <a:t> </a:t>
            </a:r>
            <a:r>
              <a:rPr spc="-10" dirty="0"/>
              <a:t>Captioning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-155" dirty="0"/>
              <a:t> </a:t>
            </a:r>
            <a:r>
              <a:rPr dirty="0"/>
              <a:t>CNN</a:t>
            </a:r>
            <a:r>
              <a:rPr spc="-75" dirty="0"/>
              <a:t> </a:t>
            </a:r>
            <a:r>
              <a:rPr dirty="0"/>
              <a:t>processes</a:t>
            </a:r>
            <a:r>
              <a:rPr spc="-5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image,</a:t>
            </a:r>
            <a:r>
              <a:rPr spc="-40" dirty="0"/>
              <a:t> </a:t>
            </a:r>
            <a:r>
              <a:rPr dirty="0"/>
              <a:t>extracting</a:t>
            </a:r>
            <a:r>
              <a:rPr spc="-60" dirty="0"/>
              <a:t> </a:t>
            </a:r>
            <a:r>
              <a:rPr spc="-10" dirty="0"/>
              <a:t>high-</a:t>
            </a:r>
            <a:r>
              <a:rPr dirty="0"/>
              <a:t>level</a:t>
            </a:r>
            <a:r>
              <a:rPr spc="-55" dirty="0"/>
              <a:t> </a:t>
            </a:r>
            <a:r>
              <a:rPr dirty="0"/>
              <a:t>features.</a:t>
            </a:r>
            <a:r>
              <a:rPr spc="-90" dirty="0"/>
              <a:t> </a:t>
            </a:r>
            <a:r>
              <a:rPr dirty="0"/>
              <a:t>Then</a:t>
            </a:r>
            <a:r>
              <a:rPr spc="-50" dirty="0"/>
              <a:t> </a:t>
            </a:r>
            <a:r>
              <a:rPr dirty="0"/>
              <a:t>an</a:t>
            </a:r>
            <a:r>
              <a:rPr spc="-60" dirty="0"/>
              <a:t> </a:t>
            </a:r>
            <a:r>
              <a:rPr dirty="0"/>
              <a:t>RNN</a:t>
            </a:r>
            <a:r>
              <a:rPr spc="-55" dirty="0"/>
              <a:t> </a:t>
            </a:r>
            <a:r>
              <a:rPr spc="-10" dirty="0"/>
              <a:t>runs,</a:t>
            </a:r>
          </a:p>
          <a:p>
            <a:pPr marL="12700">
              <a:lnSpc>
                <a:spcPct val="100000"/>
              </a:lnSpc>
            </a:pPr>
            <a:r>
              <a:rPr dirty="0"/>
              <a:t>generating</a:t>
            </a:r>
            <a:r>
              <a:rPr spc="-5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description</a:t>
            </a:r>
            <a:r>
              <a:rPr spc="-7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image</a:t>
            </a:r>
            <a:r>
              <a:rPr spc="-50" dirty="0"/>
              <a:t> </a:t>
            </a:r>
            <a:r>
              <a:rPr dirty="0"/>
              <a:t>based</a:t>
            </a:r>
            <a:r>
              <a:rPr spc="-60" dirty="0"/>
              <a:t> </a:t>
            </a:r>
            <a:r>
              <a:rPr dirty="0"/>
              <a:t>on</a:t>
            </a:r>
            <a:r>
              <a:rPr spc="-60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spc="-10" dirty="0"/>
              <a:t>features.</a:t>
            </a:r>
          </a:p>
          <a:p>
            <a:pPr marL="12700" marR="572770">
              <a:lnSpc>
                <a:spcPct val="100000"/>
              </a:lnSpc>
              <a:spcBef>
                <a:spcPts val="530"/>
              </a:spcBef>
            </a:pPr>
            <a:r>
              <a:rPr dirty="0"/>
              <a:t>As</a:t>
            </a:r>
            <a:r>
              <a:rPr spc="-45" dirty="0"/>
              <a:t> </a:t>
            </a:r>
            <a:r>
              <a:rPr dirty="0"/>
              <a:t>it</a:t>
            </a:r>
            <a:r>
              <a:rPr spc="-55" dirty="0"/>
              <a:t> </a:t>
            </a:r>
            <a:r>
              <a:rPr dirty="0"/>
              <a:t>generates</a:t>
            </a:r>
            <a:r>
              <a:rPr spc="-30" dirty="0"/>
              <a:t> </a:t>
            </a:r>
            <a:r>
              <a:rPr dirty="0"/>
              <a:t>each</a:t>
            </a:r>
            <a:r>
              <a:rPr spc="-55" dirty="0"/>
              <a:t> </a:t>
            </a:r>
            <a:r>
              <a:rPr dirty="0"/>
              <a:t>word</a:t>
            </a:r>
            <a:r>
              <a:rPr spc="-40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description,</a:t>
            </a:r>
            <a:r>
              <a:rPr spc="-5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RNN</a:t>
            </a:r>
            <a:r>
              <a:rPr spc="-45" dirty="0"/>
              <a:t> </a:t>
            </a:r>
            <a:r>
              <a:rPr dirty="0"/>
              <a:t>focuses</a:t>
            </a:r>
            <a:r>
              <a:rPr spc="-55" dirty="0"/>
              <a:t> </a:t>
            </a:r>
            <a:r>
              <a:rPr dirty="0"/>
              <a:t>on</a:t>
            </a:r>
            <a:r>
              <a:rPr spc="-5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25" dirty="0"/>
              <a:t>CNN </a:t>
            </a:r>
            <a:r>
              <a:rPr dirty="0"/>
              <a:t>interpretation</a:t>
            </a:r>
            <a:r>
              <a:rPr spc="-35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relevant</a:t>
            </a:r>
            <a:r>
              <a:rPr spc="-35" dirty="0"/>
              <a:t> </a:t>
            </a:r>
            <a:r>
              <a:rPr dirty="0"/>
              <a:t>parts</a:t>
            </a:r>
            <a:r>
              <a:rPr spc="-5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10" dirty="0"/>
              <a:t>image.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068" y="3159251"/>
            <a:ext cx="11884152" cy="237571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Attention</a:t>
            </a:r>
            <a:r>
              <a:rPr spc="-4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dirty="0"/>
              <a:t>Response</a:t>
            </a:r>
            <a:r>
              <a:rPr spc="-50" dirty="0"/>
              <a:t> </a:t>
            </a:r>
            <a:r>
              <a:rPr dirty="0"/>
              <a:t>Generation</a:t>
            </a:r>
            <a:r>
              <a:rPr spc="-40" dirty="0"/>
              <a:t> </a:t>
            </a:r>
            <a:r>
              <a:rPr dirty="0"/>
              <a:t>(i.e.,</a:t>
            </a:r>
            <a:r>
              <a:rPr spc="-35" dirty="0"/>
              <a:t> </a:t>
            </a:r>
            <a:r>
              <a:rPr spc="-10" dirty="0"/>
              <a:t>Chatbots)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6270" y="781930"/>
            <a:ext cx="8331834" cy="5137785"/>
            <a:chOff x="146270" y="781930"/>
            <a:chExt cx="8331834" cy="51377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270" y="781930"/>
              <a:ext cx="8331774" cy="513728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3944" y="949452"/>
              <a:ext cx="7798308" cy="456742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09371" y="944880"/>
              <a:ext cx="7807959" cy="4577080"/>
            </a:xfrm>
            <a:custGeom>
              <a:avLst/>
              <a:gdLst/>
              <a:ahLst/>
              <a:cxnLst/>
              <a:rect l="l" t="t" r="r" b="b"/>
              <a:pathLst>
                <a:path w="7807959" h="4577080">
                  <a:moveTo>
                    <a:pt x="0" y="4576572"/>
                  </a:moveTo>
                  <a:lnTo>
                    <a:pt x="7807452" y="4576572"/>
                  </a:lnTo>
                  <a:lnTo>
                    <a:pt x="7807452" y="0"/>
                  </a:lnTo>
                  <a:lnTo>
                    <a:pt x="0" y="0"/>
                  </a:lnTo>
                  <a:lnTo>
                    <a:pt x="0" y="4576572"/>
                  </a:lnTo>
                  <a:close/>
                </a:path>
              </a:pathLst>
            </a:custGeom>
            <a:ln w="9144">
              <a:solidFill>
                <a:srgbClr val="718F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833498" y="5764479"/>
            <a:ext cx="5727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Sources:</a:t>
            </a:r>
            <a:r>
              <a:rPr sz="1200" i="1" u="sng" spc="5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48152" y="5764479"/>
            <a:ext cx="4832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https://blog.appliedai.com/chatbot-benefits/</a:t>
            </a:r>
            <a:r>
              <a:rPr sz="1200" i="1" spc="-10" dirty="0">
                <a:latin typeface="Calibri"/>
                <a:cs typeface="Calibri"/>
              </a:rPr>
              <a:t> </a:t>
            </a:r>
            <a:r>
              <a:rPr sz="12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https://blog.growthbot.org/chatbots-were-the-next-big-thing-what-happened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60080" y="928116"/>
            <a:ext cx="3773424" cy="5198364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60080" y="928116"/>
            <a:ext cx="3773424" cy="504788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Attention</a:t>
            </a:r>
            <a:r>
              <a:rPr spc="-4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dirty="0"/>
              <a:t>Response</a:t>
            </a:r>
            <a:r>
              <a:rPr spc="-50" dirty="0"/>
              <a:t> </a:t>
            </a:r>
            <a:r>
              <a:rPr dirty="0"/>
              <a:t>Generation</a:t>
            </a:r>
            <a:r>
              <a:rPr spc="-40" dirty="0"/>
              <a:t> </a:t>
            </a:r>
            <a:r>
              <a:rPr dirty="0"/>
              <a:t>(i.e.,</a:t>
            </a:r>
            <a:r>
              <a:rPr spc="-35" dirty="0"/>
              <a:t> </a:t>
            </a:r>
            <a:r>
              <a:rPr spc="-10" dirty="0"/>
              <a:t>Chatbots)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688340" y="1227581"/>
            <a:ext cx="7542530" cy="4250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 MT"/>
                <a:cs typeface="Arial MT"/>
              </a:rPr>
              <a:t>Chatbots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defined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along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least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two</a:t>
            </a:r>
            <a:r>
              <a:rPr sz="2200" spc="-10" dirty="0">
                <a:latin typeface="Arial MT"/>
                <a:cs typeface="Arial MT"/>
              </a:rPr>
              <a:t> dimensions,</a:t>
            </a:r>
            <a:endParaRPr sz="2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b="1" i="1" dirty="0">
                <a:solidFill>
                  <a:srgbClr val="718FA4"/>
                </a:solidFill>
                <a:latin typeface="Arial"/>
                <a:cs typeface="Arial"/>
              </a:rPr>
              <a:t>core</a:t>
            </a:r>
            <a:r>
              <a:rPr sz="2200" b="1" i="1" spc="-55" dirty="0">
                <a:solidFill>
                  <a:srgbClr val="718FA4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718FA4"/>
                </a:solidFill>
                <a:latin typeface="Arial"/>
                <a:cs typeface="Arial"/>
              </a:rPr>
              <a:t>algorithm</a:t>
            </a:r>
            <a:r>
              <a:rPr sz="2200" b="1" i="1" spc="-50" dirty="0">
                <a:solidFill>
                  <a:srgbClr val="718FA4"/>
                </a:solidFill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context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handling:</a:t>
            </a:r>
            <a:endParaRPr sz="2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2200" dirty="0">
              <a:latin typeface="Arial MT"/>
              <a:cs typeface="Arial MT"/>
            </a:endParaRPr>
          </a:p>
          <a:p>
            <a:pPr marL="892175" marR="218440" indent="-342900">
              <a:lnSpc>
                <a:spcPct val="100000"/>
              </a:lnSpc>
              <a:spcBef>
                <a:spcPts val="5"/>
              </a:spcBef>
              <a:buClr>
                <a:srgbClr val="718FA4"/>
              </a:buClr>
              <a:buSzPct val="120454"/>
              <a:buChar char="•"/>
              <a:tabLst>
                <a:tab pos="892175" algn="l"/>
              </a:tabLst>
            </a:pPr>
            <a:r>
              <a:rPr sz="2200" dirty="0">
                <a:latin typeface="Arial MT"/>
                <a:cs typeface="Arial MT"/>
              </a:rPr>
              <a:t>Generative: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encode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question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into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context </a:t>
            </a:r>
            <a:r>
              <a:rPr sz="2200" dirty="0">
                <a:latin typeface="Arial MT"/>
                <a:cs typeface="Arial MT"/>
              </a:rPr>
              <a:t>vector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generate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answer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word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word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using </a:t>
            </a:r>
            <a:r>
              <a:rPr sz="2200" dirty="0">
                <a:latin typeface="Arial MT"/>
                <a:cs typeface="Arial MT"/>
              </a:rPr>
              <a:t>conditioned</a:t>
            </a:r>
            <a:r>
              <a:rPr sz="2200" spc="-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probability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distribution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over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answer’s </a:t>
            </a:r>
            <a:r>
              <a:rPr sz="2200" spc="-20" dirty="0">
                <a:latin typeface="Arial MT"/>
                <a:cs typeface="Arial MT"/>
              </a:rPr>
              <a:t>vocabulary.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E.g.,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encoder-</a:t>
            </a:r>
            <a:r>
              <a:rPr sz="2200" dirty="0">
                <a:latin typeface="Arial MT"/>
                <a:cs typeface="Arial MT"/>
              </a:rPr>
              <a:t>decoder</a:t>
            </a:r>
            <a:r>
              <a:rPr sz="2200" spc="-10" dirty="0">
                <a:latin typeface="Arial MT"/>
                <a:cs typeface="Arial MT"/>
              </a:rPr>
              <a:t> model.</a:t>
            </a:r>
            <a:endParaRPr sz="2200" dirty="0">
              <a:latin typeface="Arial MT"/>
              <a:cs typeface="Arial MT"/>
            </a:endParaRPr>
          </a:p>
          <a:p>
            <a:pPr marL="892175" marR="5080" indent="-342900">
              <a:lnSpc>
                <a:spcPct val="100000"/>
              </a:lnSpc>
              <a:spcBef>
                <a:spcPts val="530"/>
              </a:spcBef>
              <a:buClr>
                <a:srgbClr val="718FA4"/>
              </a:buClr>
              <a:buSzPct val="120454"/>
              <a:buChar char="•"/>
              <a:tabLst>
                <a:tab pos="892175" algn="l"/>
              </a:tabLst>
            </a:pPr>
            <a:r>
              <a:rPr sz="2200" dirty="0">
                <a:latin typeface="Arial MT"/>
                <a:cs typeface="Arial MT"/>
              </a:rPr>
              <a:t>Retrieval: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rely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knowledge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base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question-</a:t>
            </a:r>
            <a:r>
              <a:rPr sz="2200" spc="-10" dirty="0">
                <a:latin typeface="Arial MT"/>
                <a:cs typeface="Arial MT"/>
              </a:rPr>
              <a:t>answer </a:t>
            </a:r>
            <a:r>
              <a:rPr sz="2200" dirty="0">
                <a:latin typeface="Arial MT"/>
                <a:cs typeface="Arial MT"/>
              </a:rPr>
              <a:t>pairs.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When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new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question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comes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in,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inference </a:t>
            </a:r>
            <a:r>
              <a:rPr sz="2200" dirty="0">
                <a:latin typeface="Arial MT"/>
                <a:cs typeface="Arial MT"/>
              </a:rPr>
              <a:t>phase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encodes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context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vector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 </a:t>
            </a:r>
            <a:r>
              <a:rPr sz="2200" spc="-10" dirty="0">
                <a:latin typeface="Arial MT"/>
                <a:cs typeface="Arial MT"/>
              </a:rPr>
              <a:t>using </a:t>
            </a:r>
            <a:r>
              <a:rPr sz="2200" dirty="0">
                <a:latin typeface="Arial MT"/>
                <a:cs typeface="Arial MT"/>
              </a:rPr>
              <a:t>similarity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measure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retrieves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top-</a:t>
            </a:r>
            <a:r>
              <a:rPr sz="2200" dirty="0">
                <a:latin typeface="Arial MT"/>
                <a:cs typeface="Arial MT"/>
              </a:rPr>
              <a:t>k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neighbor </a:t>
            </a:r>
            <a:r>
              <a:rPr sz="2200" dirty="0">
                <a:latin typeface="Arial MT"/>
                <a:cs typeface="Arial MT"/>
              </a:rPr>
              <a:t>knowledge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base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items.</a:t>
            </a:r>
            <a:endParaRPr sz="2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60080" y="928116"/>
            <a:ext cx="3773424" cy="504788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Attention</a:t>
            </a:r>
            <a:r>
              <a:rPr spc="-4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dirty="0"/>
              <a:t>Response</a:t>
            </a:r>
            <a:r>
              <a:rPr spc="-50" dirty="0"/>
              <a:t> </a:t>
            </a:r>
            <a:r>
              <a:rPr dirty="0"/>
              <a:t>Generation</a:t>
            </a:r>
            <a:r>
              <a:rPr spc="-40" dirty="0"/>
              <a:t> </a:t>
            </a:r>
            <a:r>
              <a:rPr dirty="0"/>
              <a:t>(i.e.,</a:t>
            </a:r>
            <a:r>
              <a:rPr spc="-35" dirty="0"/>
              <a:t> </a:t>
            </a:r>
            <a:r>
              <a:rPr spc="-10" dirty="0"/>
              <a:t>Chatbots)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8340" y="1227581"/>
            <a:ext cx="7186295" cy="4144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Arial MT"/>
                <a:cs typeface="Arial MT"/>
              </a:rPr>
              <a:t>Chatbots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can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defined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along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least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two</a:t>
            </a:r>
            <a:r>
              <a:rPr sz="2200" spc="-10" dirty="0">
                <a:latin typeface="Arial MT"/>
                <a:cs typeface="Arial MT"/>
              </a:rPr>
              <a:t> dimensions,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core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algorithm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b="1" i="1" dirty="0">
                <a:solidFill>
                  <a:srgbClr val="718FA4"/>
                </a:solidFill>
                <a:latin typeface="Arial"/>
                <a:cs typeface="Arial"/>
              </a:rPr>
              <a:t>context</a:t>
            </a:r>
            <a:r>
              <a:rPr sz="2200" b="1" i="1" spc="-50" dirty="0">
                <a:solidFill>
                  <a:srgbClr val="718FA4"/>
                </a:solidFill>
                <a:latin typeface="Arial"/>
                <a:cs typeface="Arial"/>
              </a:rPr>
              <a:t> </a:t>
            </a:r>
            <a:r>
              <a:rPr sz="2200" b="1" i="1" spc="-10" dirty="0">
                <a:solidFill>
                  <a:srgbClr val="718FA4"/>
                </a:solidFill>
                <a:latin typeface="Arial"/>
                <a:cs typeface="Arial"/>
              </a:rPr>
              <a:t>handling</a:t>
            </a:r>
            <a:r>
              <a:rPr sz="2200" spc="-10" dirty="0">
                <a:latin typeface="Arial MT"/>
                <a:cs typeface="Arial MT"/>
              </a:rPr>
              <a:t>: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2200">
              <a:latin typeface="Arial MT"/>
              <a:cs typeface="Arial MT"/>
            </a:endParaRPr>
          </a:p>
          <a:p>
            <a:pPr marL="892175" marR="315595" indent="-342900" algn="just">
              <a:lnSpc>
                <a:spcPct val="100000"/>
              </a:lnSpc>
              <a:spcBef>
                <a:spcPts val="5"/>
              </a:spcBef>
              <a:buClr>
                <a:srgbClr val="718FA4"/>
              </a:buClr>
              <a:buSzPct val="120454"/>
              <a:buChar char="•"/>
              <a:tabLst>
                <a:tab pos="892175" algn="l"/>
              </a:tabLst>
            </a:pPr>
            <a:r>
              <a:rPr sz="2200" spc="-20" dirty="0">
                <a:latin typeface="Arial MT"/>
                <a:cs typeface="Arial MT"/>
              </a:rPr>
              <a:t>Single-</a:t>
            </a:r>
            <a:r>
              <a:rPr sz="2200" dirty="0">
                <a:latin typeface="Arial MT"/>
                <a:cs typeface="Arial MT"/>
              </a:rPr>
              <a:t>turn: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build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input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vector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considering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incoming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question.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They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may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lose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important </a:t>
            </a:r>
            <a:r>
              <a:rPr sz="2200" dirty="0">
                <a:latin typeface="Arial MT"/>
                <a:cs typeface="Arial MT"/>
              </a:rPr>
              <a:t>information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about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history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conversation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generate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irrelevant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responses.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40"/>
              </a:spcBef>
              <a:buClr>
                <a:srgbClr val="718FA4"/>
              </a:buClr>
              <a:buFont typeface="Arial MT"/>
              <a:buChar char="•"/>
            </a:pPr>
            <a:endParaRPr sz="2200">
              <a:latin typeface="Arial MT"/>
              <a:cs typeface="Arial MT"/>
            </a:endParaRPr>
          </a:p>
          <a:p>
            <a:pPr marL="892175" indent="-342900">
              <a:lnSpc>
                <a:spcPct val="100000"/>
              </a:lnSpc>
              <a:buClr>
                <a:srgbClr val="718FA4"/>
              </a:buClr>
              <a:buSzPct val="120454"/>
              <a:buChar char="•"/>
              <a:tabLst>
                <a:tab pos="892175" algn="l"/>
              </a:tabLst>
            </a:pPr>
            <a:r>
              <a:rPr sz="2200" spc="-20" dirty="0">
                <a:latin typeface="Arial MT"/>
                <a:cs typeface="Arial MT"/>
              </a:rPr>
              <a:t>Multi-</a:t>
            </a:r>
            <a:r>
              <a:rPr sz="2200" dirty="0">
                <a:latin typeface="Arial MT"/>
                <a:cs typeface="Arial MT"/>
              </a:rPr>
              <a:t>turn: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input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vector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built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considering</a:t>
            </a:r>
            <a:endParaRPr sz="2200">
              <a:latin typeface="Arial MT"/>
              <a:cs typeface="Arial MT"/>
            </a:endParaRPr>
          </a:p>
          <a:p>
            <a:pPr marL="892175" marR="5080">
              <a:lnSpc>
                <a:spcPct val="100000"/>
              </a:lnSpc>
            </a:pPr>
            <a:r>
              <a:rPr sz="2200" dirty="0">
                <a:latin typeface="Arial MT"/>
                <a:cs typeface="Arial MT"/>
              </a:rPr>
              <a:t>a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multi-</a:t>
            </a:r>
            <a:r>
              <a:rPr sz="2200" dirty="0">
                <a:latin typeface="Arial MT"/>
                <a:cs typeface="Arial MT"/>
              </a:rPr>
              <a:t>turn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conversational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context,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containing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also </a:t>
            </a:r>
            <a:r>
              <a:rPr sz="2200" dirty="0">
                <a:latin typeface="Arial MT"/>
                <a:cs typeface="Arial MT"/>
              </a:rPr>
              <a:t>incoming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question.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81427" y="5496066"/>
            <a:ext cx="4624097" cy="37822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16998" y="3866477"/>
            <a:ext cx="1330255" cy="33047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1007</TotalTime>
  <Words>2318</Words>
  <Application>Microsoft Office PowerPoint</Application>
  <PresentationFormat>Widescreen</PresentationFormat>
  <Paragraphs>328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Aptos</vt:lpstr>
      <vt:lpstr>Arial</vt:lpstr>
      <vt:lpstr>Arial MT</vt:lpstr>
      <vt:lpstr>Calibri</vt:lpstr>
      <vt:lpstr>Cambria Math</vt:lpstr>
      <vt:lpstr>Office Theme</vt:lpstr>
      <vt:lpstr>PowerPoint Presentation</vt:lpstr>
      <vt:lpstr>Let’s Recall LSTM Networks</vt:lpstr>
      <vt:lpstr>Let’s Recall LSTM Networks</vt:lpstr>
      <vt:lpstr>Sequential Data Problems</vt:lpstr>
      <vt:lpstr>Sequence to Sequence Learning Examples (1/3)</vt:lpstr>
      <vt:lpstr>Sequence to Sequence Learning Examples (2/3)</vt:lpstr>
      <vt:lpstr>Sequence to Sequence Learning Examples (3/3)</vt:lpstr>
      <vt:lpstr>High Level Concept of Encoder Decoder</vt:lpstr>
      <vt:lpstr>Seq2Seq Model Architecture</vt:lpstr>
      <vt:lpstr>Seq2Seq Model Anatomy</vt:lpstr>
      <vt:lpstr>Seq2Seq Training Process</vt:lpstr>
      <vt:lpstr>Seq2Seq Training Process</vt:lpstr>
      <vt:lpstr>Seq2Seq Inference Process</vt:lpstr>
      <vt:lpstr>Seq2Seq Training Process</vt:lpstr>
      <vt:lpstr>Special Characters</vt:lpstr>
      <vt:lpstr>Sequence to Sequence Modeling</vt:lpstr>
      <vt:lpstr>Multiple Layers and Bidirectional LSTM Networks</vt:lpstr>
      <vt:lpstr>Extending Recurrent Neural Networks</vt:lpstr>
      <vt:lpstr>Attention Mechanism in Seq2Seq Models</vt:lpstr>
      <vt:lpstr>Attention Mechanism in Seq2Seq Models: Why This Is Powerful </vt:lpstr>
      <vt:lpstr>Attention Mechanism in Seq2Seq Models</vt:lpstr>
      <vt:lpstr>Attention Mechanism in Seq2Seq Models</vt:lpstr>
      <vt:lpstr>Attention Mechanism in Seq2Seq Models</vt:lpstr>
      <vt:lpstr>Attention Mechanism in Seq2Seq Models</vt:lpstr>
      <vt:lpstr>Attention Mechanism in Seq2Seq Models</vt:lpstr>
      <vt:lpstr>Attention Mechanism in Seq2Seq Models : Example</vt:lpstr>
      <vt:lpstr>Attention Mechanism in Seq2Seq Models : Example</vt:lpstr>
      <vt:lpstr>Attention Mechanism in Seq2Seq Models : Example</vt:lpstr>
      <vt:lpstr>Attention Mechanism in Seq2Seq Models : Example</vt:lpstr>
      <vt:lpstr>Attention Mechanism in Seq2Seq Models : Example</vt:lpstr>
      <vt:lpstr>Attention Visualization</vt:lpstr>
      <vt:lpstr>Attention Visualization</vt:lpstr>
      <vt:lpstr>Attention Mechanism in Translation</vt:lpstr>
      <vt:lpstr>Attention Mechanism in Voice Recognition</vt:lpstr>
      <vt:lpstr>Attention Mechanism in Image Captioning</vt:lpstr>
      <vt:lpstr>Attention in Response Generation (i.e., Chatbots)</vt:lpstr>
      <vt:lpstr>Attention in Response Generation (i.e., Chatbots)</vt:lpstr>
      <vt:lpstr>Attention in Response Generation (i.e., Chatbots)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Alessandro Colleoni</dc:creator>
  <cp:lastModifiedBy>Waqar Ashiq</cp:lastModifiedBy>
  <cp:revision>15</cp:revision>
  <dcterms:created xsi:type="dcterms:W3CDTF">2025-01-08T04:40:15Z</dcterms:created>
  <dcterms:modified xsi:type="dcterms:W3CDTF">2026-01-12T09:21:42Z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2019-02-07T00:00:00Z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2025-01-08T00:00:00Z</vt:filetime>
  </property>
  <property fmtid="{D5CDD505-2E9C-101B-9397-08002B2CF9AE}" pid="5" name="Producer">
    <vt:lpwstr>Microsoft® PowerPoint® 2013</vt:lpwstr>
  </property>
</Properties>
</file>